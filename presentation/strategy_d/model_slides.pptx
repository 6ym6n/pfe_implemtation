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Personalized, Context-Aware Itinerary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9FC0C0"/>
                </a:solidFill>
                <a:latin typeface="Calibri"/>
              </a:rPr>
              <a:t>A next-POI engine — GCN + GRU + user embedding +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…decoded into full tourist itineraries (Frozen Rollout)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BFC7D9"/>
                </a:solidFill>
                <a:latin typeface="Calibri"/>
              </a:rPr>
              <a:t>Master's thesis · [Your name]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A tourist with limited time wants a </a:t>
            </a:r>
            <a:r>
              <a:rPr sz="1800" b="1">
                <a:solidFill>
                  <a:srgbClr val="1B2A4E"/>
                </a:solidFill>
                <a:latin typeface="Calibri"/>
              </a:rPr>
              <a:t>personalized day plan</a:t>
            </a:r>
            <a:r>
              <a:rPr sz="1800" b="0">
                <a:solidFill>
                  <a:srgbClr val="555555"/>
                </a:solidFill>
                <a:latin typeface="Calibri"/>
              </a:rPr>
              <a:t> — an </a:t>
            </a:r>
            <a:r>
              <a:rPr sz="1800" b="1">
                <a:solidFill>
                  <a:srgbClr val="1B2A4E"/>
                </a:solidFill>
                <a:latin typeface="Calibri"/>
              </a:rPr>
              <a:t>ordered route</a:t>
            </a:r>
            <a:r>
              <a:rPr sz="1800" b="0">
                <a:solidFill>
                  <a:srgbClr val="555555"/>
                </a:solidFill>
                <a:latin typeface="Calibri"/>
              </a:rPr>
              <a:t> of places to visit.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The plan must reflect </a:t>
            </a:r>
            <a:r>
              <a:rPr sz="1800" b="1">
                <a:solidFill>
                  <a:srgbClr val="1B2A4E"/>
                </a:solidFill>
                <a:latin typeface="Calibri"/>
              </a:rPr>
              <a:t>who they are</a:t>
            </a:r>
            <a:r>
              <a:rPr sz="1800" b="0">
                <a:solidFill>
                  <a:srgbClr val="555555"/>
                </a:solidFill>
                <a:latin typeface="Calibri"/>
              </a:rPr>
              <a:t> (preferences) and </a:t>
            </a:r>
            <a:r>
              <a:rPr sz="1800" b="1">
                <a:solidFill>
                  <a:srgbClr val="1B2A4E"/>
                </a:solidFill>
                <a:latin typeface="Calibri"/>
              </a:rPr>
              <a:t>context</a:t>
            </a:r>
            <a:r>
              <a:rPr sz="1800" b="0">
                <a:solidFill>
                  <a:srgbClr val="555555"/>
                </a:solidFill>
                <a:latin typeface="Calibri"/>
              </a:rPr>
              <a:t> (distances, time).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4206240"/>
            <a:ext cx="9235440" cy="128016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My approach: one model does both —</a:t>
            </a:r>
          </a:p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a personalized next-POI engine, decoded into an itinerary.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3657600" cy="155448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THE MODEL</a:t>
            </a:r>
          </a:p>
          <a:p>
            <a:pPr algn="ctr"/>
            <a:r>
              <a:rPr sz="1600" b="1">
                <a:solidFill>
                  <a:srgbClr val="3F51B5"/>
                </a:solidFill>
                <a:latin typeface="Calibri"/>
              </a:rPr>
              <a:t>next-POI engine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GCN + GRU + user + context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2468880"/>
            <a:ext cx="3291840" cy="155448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Frozen Rollout</a:t>
            </a:r>
          </a:p>
          <a:p>
            <a:pPr algn="ctr"/>
            <a:r>
              <a:rPr sz="1600" b="1">
                <a:solidFill>
                  <a:srgbClr val="E07A1F"/>
                </a:solidFill>
                <a:latin typeface="Calibri"/>
              </a:rPr>
              <a:t>roll it out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(decode the engine)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32104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52560" y="2468880"/>
            <a:ext cx="2468880" cy="155448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itinerary</a:t>
            </a:r>
          </a:p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ordered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My </a:t>
            </a:r>
            <a:r>
              <a:rPr sz="1800" b="1" i="0">
                <a:solidFill>
                  <a:srgbClr val="3F51B5"/>
                </a:solidFill>
                <a:latin typeface="Calibri"/>
              </a:rPr>
              <a:t>model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is a next-POI engine; my </a:t>
            </a:r>
            <a:r>
              <a:rPr sz="1800" b="1" i="0">
                <a:solidFill>
                  <a:srgbClr val="E07A1F"/>
                </a:solidFill>
                <a:latin typeface="Calibri"/>
              </a:rPr>
              <a:t>itinerary method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decodes it. Everything else (training a separate model, the benchmark) is an experiment around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—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108960" cy="9144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POI graph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kNN ∪ co-visit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108960" cy="9144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Δdistance, Δtime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371600"/>
            <a:ext cx="3108960" cy="9144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identity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2560320"/>
            <a:ext cx="3108960" cy="6858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2-layer GCN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89120" y="2560320"/>
            <a:ext cx="3108960" cy="6858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 MLPs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92639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59" y="2560320"/>
            <a:ext cx="3108960" cy="6858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 embedding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6400800" cy="7772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concat per step → GRU → h_T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3995928"/>
            <a:ext cx="82296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63840" y="3611880"/>
            <a:ext cx="3657600" cy="77724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[h_T ; user] → MLP head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43200" y="4800600"/>
            <a:ext cx="6675120" cy="7772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1B2A4E"/>
                </a:solidFill>
                <a:latin typeface="Calibri"/>
              </a:rPr>
              <a:t>→ a score for every POI (what to visit next)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4389120"/>
            <a:ext cx="0" cy="41148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Three signals → graph + sequence + user → a next-POI score. </a:t>
            </a:r>
            <a:r>
              <a:rPr sz="1400" b="1" i="0">
                <a:solidFill>
                  <a:srgbClr val="1B2A4E"/>
                </a:solidFill>
                <a:latin typeface="Calibri"/>
              </a:rPr>
              <a:t>This is the model I built.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How each part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model,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POI graph + GCN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places are linked if they're close or often visited together; the GCN gives each POI a “fingerprint” aware of its neighbourhood.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Context (Δd, Δt)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how far and how long since the last place; small networks turn these into vectors.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User embedding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a small “taste profile” per tourist → the title's user preferences.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0E7C7B"/>
                </a:solidFill>
                <a:latin typeface="Calibri"/>
              </a:rPr>
              <a:t>GRU sequence model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reads the places visited so far and summarises them into one state.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Scoring head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combines the state + the user, and scores every POI for “what to visit next”.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carries the thesis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why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  <a:latin typeface="Calibri"/>
              </a:rPr>
              <a:t>“Personalized Tourist Itinerary Recommendation Based on </a:t>
            </a:r>
            <a:r>
              <a:rPr sz="1700" b="1" i="1">
                <a:solidFill>
                  <a:srgbClr val="3F51B5"/>
                </a:solidFill>
                <a:latin typeface="Calibri"/>
              </a:rPr>
              <a:t>User Preferences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 and </a:t>
            </a:r>
            <a:r>
              <a:rPr sz="1700" b="1" i="1">
                <a:solidFill>
                  <a:srgbClr val="E07A1F"/>
                </a:solidFill>
                <a:latin typeface="Calibri"/>
              </a:rPr>
              <a:t>Contextual Data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5120640" cy="219456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3F51B5"/>
                </a:solidFill>
                <a:latin typeface="Calibri"/>
              </a:rPr>
              <a:t>User preferences</a:t>
            </a:r>
          </a:p>
          <a:p>
            <a:pPr algn="ctr"/>
            <a:r>
              <a:rPr sz="600" b="0">
                <a:solidFill>
                  <a:srgbClr val="3F51B5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the user embedding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learned taste profile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for each tourist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5120640" cy="219456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E07A1F"/>
                </a:solidFill>
                <a:latin typeface="Calibri"/>
              </a:rPr>
              <a:t>Contextual data</a:t>
            </a:r>
          </a:p>
          <a:p>
            <a:pPr algn="ctr"/>
            <a:r>
              <a:rPr sz="600" b="0">
                <a:solidFill>
                  <a:srgbClr val="E07A1F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Δdistance and Δtime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spatial + temporal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gaps between places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Both are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inside the model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so the title is a description of the architecture, not an aspiration.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engine works (Phase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evidence the model is sound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3657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HR@5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0.476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0.316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41732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Ours (GCN+GRU+user)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STAN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0.220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GETNext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STHGCN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0.270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LLM4POI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0.340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On Foursquare NYC the engine reaches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HR@1 = 0.187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the honest LSTM/STGCN tier. A strong, leakage-free engine to build itineraries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Frozen Rollout — turning the engine into an itinerary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itinerary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Roll the engine out: build the route one POI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468880" cy="118872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route = [start]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103120"/>
            <a:ext cx="2468880" cy="118872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engine scores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all POIs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59" y="2103120"/>
            <a:ext cx="2468880" cy="118872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mask visited;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reserve the end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0" y="2697480"/>
            <a:ext cx="411479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19" y="2103120"/>
            <a:ext cx="2468880" cy="118872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append the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best POI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83080" y="3749039"/>
            <a:ext cx="8321040" cy="0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8308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0" y="37947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0E7C7B"/>
                </a:solidFill>
                <a:latin typeface="Calibri"/>
              </a:rPr>
              <a:t>repeat until length K, ending at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No new training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reuse the frozen engine; the itinerary is an inference-time decoder.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Always valid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loop-free, exactly K stops, starts at s and ends at 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Frozen Rollout — worked example (Edinburgh)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how it builds a route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840480" cy="109728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3F51B5"/>
                </a:solidFill>
                <a:latin typeface="Calibri"/>
              </a:rPr>
              <a:t>QUERY</a:t>
            </a:r>
          </a:p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start 15 · end 16 · 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83464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83464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7033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45720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last hop → reserved end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79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result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79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440679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matches the real trip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Frozen Rollout — results, and why it's 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 (NYC, len≥3)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pairs-F1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Frozen Rollout (greedy)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0.289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Frozen Rollout (beam 3)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Trained Pointer (no context)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Trained Pointer (+ context)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0.261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17320"/>
            <a:ext cx="3291840" cy="210312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Frozen Rollout wins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decoding the strong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engine beats training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separate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Best of my itinerary methods</a:t>
            </a:r>
            <a:r>
              <a:rPr sz="1600" b="0">
                <a:solidFill>
                  <a:srgbClr val="555555"/>
                </a:solidFill>
                <a:latin typeface="Calibri"/>
              </a:rPr>
              <a:t> on NYC (~0.29 pairs-F1).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Simplest and most interpretable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easy to explain and trust.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Reuses the personalized engine directly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so the itinerary inherits user preferences +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Validation — my approach is on the literature's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rigor</a:t>
            </a:r>
          </a:p>
        </p:txBody>
      </p:sp>
      <p:pic>
        <p:nvPicPr>
          <p:cNvPr id="6" name="Picture 5" descr="char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955279" cy="4066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5544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Reproduces Chen 2016</a:t>
            </a:r>
            <a:r>
              <a:rPr sz="1400" b="0">
                <a:solidFill>
                  <a:srgbClr val="555555"/>
                </a:solidFill>
                <a:latin typeface="Calibri"/>
              </a:rPr>
              <a:t> (Random baseline) → the setup is fair.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On the published</a:t>
            </a:r>
            <a:r>
              <a:rPr sz="1400" b="0">
                <a:solidFill>
                  <a:srgbClr val="555555"/>
                </a:solidFill>
                <a:latin typeface="Calibri"/>
              </a:rPr>
              <a:t> 0.3–0.85 pairs-F1 scale.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C0392B"/>
                </a:solidFill>
                <a:latin typeface="Calibri"/>
              </a:rPr>
              <a:t>Honest:</a:t>
            </a:r>
            <a:r>
              <a:rPr sz="1400" b="0">
                <a:solidFill>
                  <a:srgbClr val="555555"/>
                </a:solidFill>
                <a:latin typeface="Calibri"/>
              </a:rPr>
              <a:t> a simple Markov baseline is strong on tiny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The Flickr Benchmark re-runs everything on the standard Flickr datasets — validating, not replacing, the headline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else I tested (and found)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scientific 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an integrated model beat decoupling?</a:t>
            </a:r>
            <a:r>
              <a:rPr sz="1650" b="0">
                <a:solidFill>
                  <a:srgbClr val="555555"/>
                </a:solidFill>
                <a:latin typeface="Calibri"/>
              </a:rPr>
              <a:t> I trained a dedicated pointer (the Trained Pointer) end-to-end. It did NOT beat the Frozen Rollout — because the engine has far denser training signal. (Tests Halder/DLIR's integration claim.)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Is the neural model better than simple baselines?</a:t>
            </a:r>
            <a:r>
              <a:rPr sz="1650" b="0">
                <a:solidFill>
                  <a:srgbClr val="555555"/>
                </a:solidFill>
                <a:latin typeface="Calibri"/>
              </a:rPr>
              <a:t> On the small Flickr data, a Markov transition baseline is the strongest of my methods — an honest result I quantified rather than hid.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personalization help?</a:t>
            </a:r>
            <a:r>
              <a:rPr sz="1650" b="0">
                <a:solidFill>
                  <a:srgbClr val="555555"/>
                </a:solidFill>
                <a:latin typeface="Calibri"/>
              </a:rPr>
              <a:t> I ablate the user embedding (on/off) per city — measured on the next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Does personalization help? (measured)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“user preferences”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  <a:latin typeface="Calibri"/>
              </a:rPr>
              <a:t>I switch the user embedding OFF vs ON (identical otherwise) on the comparable Flickr benchmark: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63040" y="1920240"/>
          <a:ext cx="9235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 user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 user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recurring users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Osaka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0.435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-0.007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Glasgow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0.451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0.489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+0.038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Toronto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-0.017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Edinburgh, Melbourne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(GPU run)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59%, 61%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Mixed / near-neutral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a clear gain on Glasgow (+0.038), roughly neutral on Osaka and Toronto.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Honest reason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in leave-one-out, even recurring users have very few trips, so the embedding is weakly estimated (cold-start). Personalization is a real lever, not a guaranteed win on small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Light context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Δd/Δt only; add time-of-day, opening hours, queuing.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No scheduling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add explicit time budgets (the DLIR direction) for realistic days.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Integrate properly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share/warm-start the engine with the trained model to lift it past A.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Stronger personalization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richer user features beyond a single embedding.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Robustness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multi-seed, more cities, component ablations.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My model — in one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97135" cy="1737360"/>
          </a:xfrm>
          <a:prstGeom prst="roundRect">
            <a:avLst/>
          </a:prstGeom>
          <a:solidFill>
            <a:srgbClr val="1B2A4E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 personalized, context-aware next-POI engine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(GCN + GRU + user + context), decoded into tourist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itineraries by rolling it out (the Frozen Rollout).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8056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Strongest of my itinerary methods, and the simplest to explain.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Built on a validated engine; benchmarked honestly against the literature.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Integration (B) and the Flickr benchmark (D) are experiments that support — not replace —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7286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07A1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