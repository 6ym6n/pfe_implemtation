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17520"/>
            <a:ext cx="12191695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62895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The Model</a:t>
            </a:r>
          </a:p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A Personalized, Context-Aware Itinerary Recommender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6289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 i="1">
                <a:solidFill>
                  <a:srgbClr val="9FC0C0"/>
                </a:solidFill>
                <a:latin typeface="Calibri"/>
              </a:rPr>
              <a:t>A next-POI engine — GCN + GRU + user embedding +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3628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…decoded into full tourist itineraries (Frozen Rollout)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852160"/>
            <a:ext cx="103628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BFC7D9"/>
                </a:solidFill>
                <a:latin typeface="Calibri"/>
              </a:rPr>
              <a:t>Master's thesis · [Your name] ·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The goal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"/>
            <a:ext cx="11185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BFC7D9"/>
                </a:solidFill>
                <a:latin typeface="Calibri"/>
              </a:rPr>
              <a:t>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800" b="1">
                <a:solidFill>
                  <a:srgbClr val="0E7C7B"/>
                </a:solidFill>
              </a:rPr>
              <a:t>▸  </a:t>
            </a:r>
            <a:r>
              <a:rPr sz="1800" b="0">
                <a:solidFill>
                  <a:srgbClr val="555555"/>
                </a:solidFill>
                <a:latin typeface="Calibri"/>
              </a:rPr>
              <a:t>A tourist with limited time wants a </a:t>
            </a:r>
            <a:r>
              <a:rPr sz="1800" b="1">
                <a:solidFill>
                  <a:srgbClr val="1B2A4E"/>
                </a:solidFill>
                <a:latin typeface="Calibri"/>
              </a:rPr>
              <a:t>personalized day plan</a:t>
            </a:r>
            <a:r>
              <a:rPr sz="1800" b="0">
                <a:solidFill>
                  <a:srgbClr val="555555"/>
                </a:solidFill>
                <a:latin typeface="Calibri"/>
              </a:rPr>
              <a:t> — an </a:t>
            </a:r>
            <a:r>
              <a:rPr sz="1800" b="1">
                <a:solidFill>
                  <a:srgbClr val="1B2A4E"/>
                </a:solidFill>
                <a:latin typeface="Calibri"/>
              </a:rPr>
              <a:t>ordered route</a:t>
            </a:r>
            <a:r>
              <a:rPr sz="1800" b="0">
                <a:solidFill>
                  <a:srgbClr val="555555"/>
                </a:solidFill>
                <a:latin typeface="Calibri"/>
              </a:rPr>
              <a:t> of places to visit.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800" b="1">
                <a:solidFill>
                  <a:srgbClr val="0E7C7B"/>
                </a:solidFill>
              </a:rPr>
              <a:t>▸  </a:t>
            </a:r>
            <a:r>
              <a:rPr sz="1800" b="0">
                <a:solidFill>
                  <a:srgbClr val="555555"/>
                </a:solidFill>
                <a:latin typeface="Calibri"/>
              </a:rPr>
              <a:t>The plan must reflect </a:t>
            </a:r>
            <a:r>
              <a:rPr sz="1800" b="1">
                <a:solidFill>
                  <a:srgbClr val="1B2A4E"/>
                </a:solidFill>
                <a:latin typeface="Calibri"/>
              </a:rPr>
              <a:t>who they are</a:t>
            </a:r>
            <a:r>
              <a:rPr sz="1800" b="0">
                <a:solidFill>
                  <a:srgbClr val="555555"/>
                </a:solidFill>
                <a:latin typeface="Calibri"/>
              </a:rPr>
              <a:t> (preferences) and </a:t>
            </a:r>
            <a:r>
              <a:rPr sz="1800" b="1">
                <a:solidFill>
                  <a:srgbClr val="1B2A4E"/>
                </a:solidFill>
                <a:latin typeface="Calibri"/>
              </a:rPr>
              <a:t>context</a:t>
            </a:r>
            <a:r>
              <a:rPr sz="1800" b="0">
                <a:solidFill>
                  <a:srgbClr val="555555"/>
                </a:solidFill>
                <a:latin typeface="Calibri"/>
              </a:rPr>
              <a:t> (distances, time).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63040" y="4206240"/>
            <a:ext cx="9235440" cy="1280160"/>
          </a:xfrm>
          <a:prstGeom prst="roundRect">
            <a:avLst/>
          </a:prstGeom>
          <a:solidFill>
            <a:srgbClr val="E8F5E9"/>
          </a:solidFill>
          <a:ln w="222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800" b="1">
                <a:solidFill>
                  <a:srgbClr val="1B2A4E"/>
                </a:solidFill>
                <a:latin typeface="Calibri"/>
              </a:rPr>
              <a:t>My approach: one model does both —</a:t>
            </a:r>
          </a:p>
          <a:p>
            <a:pPr algn="ctr"/>
            <a:r>
              <a:rPr sz="1800" b="1">
                <a:solidFill>
                  <a:srgbClr val="1B2A4E"/>
                </a:solidFill>
                <a:latin typeface="Calibri"/>
              </a:rPr>
              <a:t>a personalized next-POI engine, decoded into an itinerary.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Calibri"/>
              </a:rPr>
              <a:t>A personalized, context-aware itinerary recommender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The model in one picture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"/>
            <a:ext cx="11185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BFC7D9"/>
                </a:solidFill>
                <a:latin typeface="Calibri"/>
              </a:rPr>
              <a:t>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468880"/>
            <a:ext cx="3657600" cy="1554480"/>
          </a:xfrm>
          <a:prstGeom prst="roundRect">
            <a:avLst/>
          </a:prstGeom>
          <a:solidFill>
            <a:srgbClr val="E3F2FD"/>
          </a:solidFill>
          <a:ln w="22225">
            <a:solidFill>
              <a:srgbClr val="3F5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3F51B5"/>
                </a:solidFill>
                <a:latin typeface="Calibri"/>
              </a:rPr>
              <a:t>THE MODEL</a:t>
            </a:r>
          </a:p>
          <a:p>
            <a:pPr algn="ctr"/>
            <a:r>
              <a:rPr sz="1600" b="1">
                <a:solidFill>
                  <a:srgbClr val="3F51B5"/>
                </a:solidFill>
                <a:latin typeface="Calibri"/>
              </a:rPr>
              <a:t>next-POI engine</a:t>
            </a:r>
          </a:p>
          <a:p>
            <a:pPr algn="ctr"/>
            <a:r>
              <a:rPr sz="1100" b="0">
                <a:solidFill>
                  <a:srgbClr val="555555"/>
                </a:solidFill>
                <a:latin typeface="Calibri"/>
              </a:rPr>
              <a:t>GCN + GRU + user + context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297680" y="3246120"/>
            <a:ext cx="731520" cy="0"/>
          </a:xfrm>
          <a:prstGeom prst="line">
            <a:avLst/>
          </a:prstGeom>
          <a:ln w="25400">
            <a:solidFill>
              <a:srgbClr val="1B2A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029200" y="2468880"/>
            <a:ext cx="3291840" cy="1554480"/>
          </a:xfrm>
          <a:prstGeom prst="roundRect">
            <a:avLst/>
          </a:prstGeom>
          <a:solidFill>
            <a:srgbClr val="FFEBEE"/>
          </a:solidFill>
          <a:ln w="22225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E07A1F"/>
                </a:solidFill>
                <a:latin typeface="Calibri"/>
              </a:rPr>
              <a:t>Frozen Rollout</a:t>
            </a:r>
          </a:p>
          <a:p>
            <a:pPr algn="ctr"/>
            <a:r>
              <a:rPr sz="1600" b="1">
                <a:solidFill>
                  <a:srgbClr val="E07A1F"/>
                </a:solidFill>
                <a:latin typeface="Calibri"/>
              </a:rPr>
              <a:t>roll it out</a:t>
            </a:r>
          </a:p>
          <a:p>
            <a:pPr algn="ctr"/>
            <a:r>
              <a:rPr sz="1100" b="0">
                <a:solidFill>
                  <a:srgbClr val="555555"/>
                </a:solidFill>
                <a:latin typeface="Calibri"/>
              </a:rPr>
              <a:t>(decode the engine)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321040" y="3246120"/>
            <a:ext cx="731520" cy="0"/>
          </a:xfrm>
          <a:prstGeom prst="line">
            <a:avLst/>
          </a:prstGeom>
          <a:ln w="25400">
            <a:solidFill>
              <a:srgbClr val="1B2A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052560" y="2468880"/>
            <a:ext cx="2468880" cy="1554480"/>
          </a:xfrm>
          <a:prstGeom prst="roundRect">
            <a:avLst/>
          </a:prstGeom>
          <a:solidFill>
            <a:srgbClr val="E8F5E9"/>
          </a:solidFill>
          <a:ln w="222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>
                <a:solidFill>
                  <a:srgbClr val="0E7C7B"/>
                </a:solidFill>
                <a:latin typeface="Calibri"/>
              </a:rPr>
              <a:t>itinerary</a:t>
            </a:r>
          </a:p>
          <a:p>
            <a:pPr algn="ctr"/>
            <a:r>
              <a:rPr sz="1200" b="0">
                <a:solidFill>
                  <a:srgbClr val="555555"/>
                </a:solidFill>
                <a:latin typeface="Calibri"/>
              </a:rPr>
              <a:t>ordered route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57200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555555"/>
                </a:solidFill>
                <a:latin typeface="Calibri"/>
              </a:rPr>
              <a:t>My </a:t>
            </a:r>
            <a:r>
              <a:rPr sz="1800" b="1" i="0">
                <a:solidFill>
                  <a:srgbClr val="3F51B5"/>
                </a:solidFill>
                <a:latin typeface="Calibri"/>
              </a:rPr>
              <a:t>model</a:t>
            </a:r>
            <a:r>
              <a:rPr sz="1800" b="0" i="0">
                <a:solidFill>
                  <a:srgbClr val="555555"/>
                </a:solidFill>
                <a:latin typeface="Calibri"/>
              </a:rPr>
              <a:t> is a next-POI engine; my </a:t>
            </a:r>
            <a:r>
              <a:rPr sz="1800" b="1" i="0">
                <a:solidFill>
                  <a:srgbClr val="E07A1F"/>
                </a:solidFill>
                <a:latin typeface="Calibri"/>
              </a:rPr>
              <a:t>itinerary method</a:t>
            </a:r>
            <a:r>
              <a:rPr sz="1800" b="0" i="0">
                <a:solidFill>
                  <a:srgbClr val="555555"/>
                </a:solidFill>
                <a:latin typeface="Calibri"/>
              </a:rPr>
              <a:t> decodes it. Everything else (training a separate model, the benchmark) is an experiment around this.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11535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Calibri"/>
              </a:rPr>
              <a:t>A personalized, context-aware itinerary recommender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The model —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"/>
            <a:ext cx="11185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BFC7D9"/>
                </a:solidFill>
                <a:latin typeface="Calibri"/>
              </a:rPr>
              <a:t>THE 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3108960" cy="914400"/>
          </a:xfrm>
          <a:prstGeom prst="roundRect">
            <a:avLst/>
          </a:prstGeom>
          <a:solidFill>
            <a:srgbClr val="E3F2FD"/>
          </a:solidFill>
          <a:ln w="22225">
            <a:solidFill>
              <a:srgbClr val="3F5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3F51B5"/>
                </a:solidFill>
                <a:latin typeface="Calibri"/>
              </a:rPr>
              <a:t>POI graph</a:t>
            </a:r>
          </a:p>
          <a:p>
            <a:pPr algn="ctr"/>
            <a:r>
              <a:rPr sz="1300" b="0">
                <a:solidFill>
                  <a:srgbClr val="555555"/>
                </a:solidFill>
                <a:latin typeface="Calibri"/>
              </a:rPr>
              <a:t>kNN ∪ co-visit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108960" cy="914400"/>
          </a:xfrm>
          <a:prstGeom prst="roundRect">
            <a:avLst/>
          </a:prstGeom>
          <a:solidFill>
            <a:srgbClr val="FFF3E0"/>
          </a:solidFill>
          <a:ln w="22225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E07A1F"/>
                </a:solidFill>
                <a:latin typeface="Calibri"/>
              </a:rPr>
              <a:t>context</a:t>
            </a:r>
          </a:p>
          <a:p>
            <a:pPr algn="ctr"/>
            <a:r>
              <a:rPr sz="1300" b="0">
                <a:solidFill>
                  <a:srgbClr val="555555"/>
                </a:solidFill>
                <a:latin typeface="Calibri"/>
              </a:rPr>
              <a:t>Δdistance, Δtime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59" y="1371600"/>
            <a:ext cx="3108960" cy="914400"/>
          </a:xfrm>
          <a:prstGeom prst="roundRect">
            <a:avLst/>
          </a:prstGeom>
          <a:solidFill>
            <a:srgbClr val="F3E5F5"/>
          </a:solidFill>
          <a:ln w="22225">
            <a:solidFill>
              <a:srgbClr val="3F5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3F51B5"/>
                </a:solidFill>
                <a:latin typeface="Calibri"/>
              </a:rPr>
              <a:t>user</a:t>
            </a:r>
          </a:p>
          <a:p>
            <a:pPr algn="ctr"/>
            <a:r>
              <a:rPr sz="1300" b="0">
                <a:solidFill>
                  <a:srgbClr val="555555"/>
                </a:solidFill>
                <a:latin typeface="Calibri"/>
              </a:rPr>
              <a:t>identity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94560" y="2286000"/>
            <a:ext cx="0" cy="274320"/>
          </a:xfrm>
          <a:prstGeom prst="line">
            <a:avLst/>
          </a:prstGeom>
          <a:ln w="25400">
            <a:solidFill>
              <a:srgbClr val="1B2A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40080" y="2560320"/>
            <a:ext cx="3108960" cy="685800"/>
          </a:xfrm>
          <a:prstGeom prst="roundRect">
            <a:avLst/>
          </a:prstGeom>
          <a:solidFill>
            <a:srgbClr val="E3F2FD"/>
          </a:solidFill>
          <a:ln w="22225">
            <a:solidFill>
              <a:srgbClr val="3F5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3F51B5"/>
                </a:solidFill>
                <a:latin typeface="Calibri"/>
              </a:rPr>
              <a:t>2-layer GCN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43600" y="2286000"/>
            <a:ext cx="0" cy="274320"/>
          </a:xfrm>
          <a:prstGeom prst="line">
            <a:avLst/>
          </a:prstGeom>
          <a:ln w="25400">
            <a:solidFill>
              <a:srgbClr val="1B2A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389120" y="2560320"/>
            <a:ext cx="3108960" cy="685800"/>
          </a:xfrm>
          <a:prstGeom prst="roundRect">
            <a:avLst/>
          </a:prstGeom>
          <a:solidFill>
            <a:srgbClr val="FFF3E0"/>
          </a:solidFill>
          <a:ln w="22225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E07A1F"/>
                </a:solidFill>
                <a:latin typeface="Calibri"/>
              </a:rPr>
              <a:t>context MLPs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692639" y="2286000"/>
            <a:ext cx="0" cy="274320"/>
          </a:xfrm>
          <a:prstGeom prst="line">
            <a:avLst/>
          </a:prstGeom>
          <a:ln w="25400">
            <a:solidFill>
              <a:srgbClr val="1B2A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138159" y="2560320"/>
            <a:ext cx="3108960" cy="685800"/>
          </a:xfrm>
          <a:prstGeom prst="roundRect">
            <a:avLst/>
          </a:prstGeom>
          <a:solidFill>
            <a:srgbClr val="F3E5F5"/>
          </a:solidFill>
          <a:ln w="22225">
            <a:solidFill>
              <a:srgbClr val="3F5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3F51B5"/>
                </a:solidFill>
                <a:latin typeface="Calibri"/>
              </a:rPr>
              <a:t>user embedding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611880"/>
            <a:ext cx="6400800" cy="777240"/>
          </a:xfrm>
          <a:prstGeom prst="roundRect">
            <a:avLst/>
          </a:prstGeom>
          <a:solidFill>
            <a:srgbClr val="E8F5E9"/>
          </a:solidFill>
          <a:ln w="222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400" b="1">
                <a:solidFill>
                  <a:srgbClr val="0E7C7B"/>
                </a:solidFill>
                <a:latin typeface="Calibri"/>
              </a:rPr>
              <a:t>concat per step → GRU → h_T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011680" y="3246120"/>
            <a:ext cx="0" cy="365760"/>
          </a:xfrm>
          <a:prstGeom prst="line">
            <a:avLst/>
          </a:prstGeom>
          <a:ln w="25400">
            <a:solidFill>
              <a:srgbClr val="1B2A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60720" y="3246120"/>
            <a:ext cx="0" cy="365760"/>
          </a:xfrm>
          <a:prstGeom prst="line">
            <a:avLst/>
          </a:prstGeom>
          <a:ln w="25400">
            <a:solidFill>
              <a:srgbClr val="1B2A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040880" y="3995928"/>
            <a:ext cx="822960" cy="0"/>
          </a:xfrm>
          <a:prstGeom prst="line">
            <a:avLst/>
          </a:prstGeom>
          <a:ln w="25400">
            <a:solidFill>
              <a:srgbClr val="1B2A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863840" y="3611880"/>
            <a:ext cx="3657600" cy="777240"/>
          </a:xfrm>
          <a:prstGeom prst="roundRect">
            <a:avLst/>
          </a:prstGeom>
          <a:solidFill>
            <a:srgbClr val="FFEBEE"/>
          </a:solidFill>
          <a:ln w="22225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E07A1F"/>
                </a:solidFill>
                <a:latin typeface="Calibri"/>
              </a:rPr>
              <a:t>[h_T ; user] → MLP head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229600" y="3246120"/>
            <a:ext cx="0" cy="365760"/>
          </a:xfrm>
          <a:prstGeom prst="line">
            <a:avLst/>
          </a:prstGeom>
          <a:ln w="25400">
            <a:solidFill>
              <a:srgbClr val="1B2A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743200" y="4800600"/>
            <a:ext cx="6675120" cy="777240"/>
          </a:xfrm>
          <a:prstGeom prst="roundRect">
            <a:avLst/>
          </a:prstGeom>
          <a:solidFill>
            <a:srgbClr val="ECEEF3"/>
          </a:solidFill>
          <a:ln w="22225">
            <a:solidFill>
              <a:srgbClr val="1B2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500" b="1">
                <a:solidFill>
                  <a:srgbClr val="1B2A4E"/>
                </a:solidFill>
                <a:latin typeface="Calibri"/>
              </a:rPr>
              <a:t>→ a score for every POI (what to visit next)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35040" y="4389120"/>
            <a:ext cx="0" cy="411480"/>
          </a:xfrm>
          <a:prstGeom prst="line">
            <a:avLst/>
          </a:prstGeom>
          <a:ln w="25400">
            <a:solidFill>
              <a:srgbClr val="1B2A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40080" y="58521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  <a:latin typeface="Calibri"/>
              </a:rPr>
              <a:t>Three signals → graph + sequence + user → a next-POI score. </a:t>
            </a:r>
            <a:r>
              <a:rPr sz="1400" b="1" i="0">
                <a:solidFill>
                  <a:srgbClr val="1B2A4E"/>
                </a:solidFill>
                <a:latin typeface="Calibri"/>
              </a:rPr>
              <a:t>This is the model I built.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11535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465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Calibri"/>
              </a:rPr>
              <a:t>A personalized, context-aware itinerary recommender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How each part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"/>
            <a:ext cx="11185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BFC7D9"/>
                </a:solidFill>
                <a:latin typeface="Calibri"/>
              </a:rPr>
              <a:t>the model, explained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300"/>
              </a:spcAft>
            </a:pPr>
            <a:r>
              <a:rPr sz="1650" b="1">
                <a:solidFill>
                  <a:srgbClr val="0E7C7B"/>
                </a:solidFill>
              </a:rPr>
              <a:t>▸  </a:t>
            </a:r>
            <a:r>
              <a:rPr sz="1650" b="1">
                <a:solidFill>
                  <a:srgbClr val="3F51B5"/>
                </a:solidFill>
                <a:latin typeface="Calibri"/>
              </a:rPr>
              <a:t>POI graph + GCN</a:t>
            </a:r>
            <a:r>
              <a:rPr sz="1650" b="0">
                <a:solidFill>
                  <a:srgbClr val="555555"/>
                </a:solidFill>
                <a:latin typeface="Calibri"/>
              </a:rPr>
              <a:t> — places are linked if they're close or often visited together; the GCN gives each POI a “fingerprint” aware of its neighbourhood.</a:t>
            </a:r>
          </a:p>
          <a:p>
            <a:pPr>
              <a:spcBef>
                <a:spcPts val="200"/>
              </a:spcBef>
              <a:spcAft>
                <a:spcPts val="1300"/>
              </a:spcAft>
            </a:pPr>
            <a:r>
              <a:rPr sz="1650" b="1">
                <a:solidFill>
                  <a:srgbClr val="0E7C7B"/>
                </a:solidFill>
              </a:rPr>
              <a:t>▸  </a:t>
            </a:r>
            <a:r>
              <a:rPr sz="1650" b="1">
                <a:solidFill>
                  <a:srgbClr val="E07A1F"/>
                </a:solidFill>
                <a:latin typeface="Calibri"/>
              </a:rPr>
              <a:t>Context (Δd, Δt)</a:t>
            </a:r>
            <a:r>
              <a:rPr sz="1650" b="0">
                <a:solidFill>
                  <a:srgbClr val="555555"/>
                </a:solidFill>
                <a:latin typeface="Calibri"/>
              </a:rPr>
              <a:t> — how far and how long since the last place; small networks turn these into vectors.</a:t>
            </a:r>
          </a:p>
          <a:p>
            <a:pPr>
              <a:spcBef>
                <a:spcPts val="200"/>
              </a:spcBef>
              <a:spcAft>
                <a:spcPts val="1300"/>
              </a:spcAft>
            </a:pPr>
            <a:r>
              <a:rPr sz="1650" b="1">
                <a:solidFill>
                  <a:srgbClr val="0E7C7B"/>
                </a:solidFill>
              </a:rPr>
              <a:t>▸  </a:t>
            </a:r>
            <a:r>
              <a:rPr sz="1650" b="1">
                <a:solidFill>
                  <a:srgbClr val="3F51B5"/>
                </a:solidFill>
                <a:latin typeface="Calibri"/>
              </a:rPr>
              <a:t>User embedding</a:t>
            </a:r>
            <a:r>
              <a:rPr sz="1650" b="0">
                <a:solidFill>
                  <a:srgbClr val="555555"/>
                </a:solidFill>
                <a:latin typeface="Calibri"/>
              </a:rPr>
              <a:t> — a small “taste profile” per tourist → the title's user preferences.</a:t>
            </a:r>
          </a:p>
          <a:p>
            <a:pPr>
              <a:spcBef>
                <a:spcPts val="200"/>
              </a:spcBef>
              <a:spcAft>
                <a:spcPts val="1300"/>
              </a:spcAft>
            </a:pPr>
            <a:r>
              <a:rPr sz="1650" b="1">
                <a:solidFill>
                  <a:srgbClr val="0E7C7B"/>
                </a:solidFill>
              </a:rPr>
              <a:t>▸  </a:t>
            </a:r>
            <a:r>
              <a:rPr sz="1650" b="1">
                <a:solidFill>
                  <a:srgbClr val="0E7C7B"/>
                </a:solidFill>
                <a:latin typeface="Calibri"/>
              </a:rPr>
              <a:t>GRU sequence model</a:t>
            </a:r>
            <a:r>
              <a:rPr sz="1650" b="0">
                <a:solidFill>
                  <a:srgbClr val="555555"/>
                </a:solidFill>
                <a:latin typeface="Calibri"/>
              </a:rPr>
              <a:t> — reads the places visited so far and summarises them into one state.</a:t>
            </a:r>
          </a:p>
          <a:p>
            <a:pPr>
              <a:spcBef>
                <a:spcPts val="200"/>
              </a:spcBef>
              <a:spcAft>
                <a:spcPts val="1300"/>
              </a:spcAft>
            </a:pPr>
            <a:r>
              <a:rPr sz="1650" b="1">
                <a:solidFill>
                  <a:srgbClr val="0E7C7B"/>
                </a:solidFill>
              </a:rPr>
              <a:t>▸  </a:t>
            </a:r>
            <a:r>
              <a:rPr sz="1650" b="1">
                <a:solidFill>
                  <a:srgbClr val="E07A1F"/>
                </a:solidFill>
                <a:latin typeface="Calibri"/>
              </a:rPr>
              <a:t>Scoring head</a:t>
            </a:r>
            <a:r>
              <a:rPr sz="1650" b="0">
                <a:solidFill>
                  <a:srgbClr val="555555"/>
                </a:solidFill>
                <a:latin typeface="Calibri"/>
              </a:rPr>
              <a:t> — combines the state + the user, and scores every POI for “what to visit next”.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Calibri"/>
              </a:rPr>
              <a:t>A personalized, context-aware itinerary recommender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The model carries the thesis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"/>
            <a:ext cx="11185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BFC7D9"/>
                </a:solidFill>
                <a:latin typeface="Calibri"/>
              </a:rPr>
              <a:t>why this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1">
                <a:solidFill>
                  <a:srgbClr val="555555"/>
                </a:solidFill>
                <a:latin typeface="Calibri"/>
              </a:rPr>
              <a:t>“Personalized Tourist Itinerary Recommendation Based on </a:t>
            </a:r>
            <a:r>
              <a:rPr sz="1700" b="1" i="1">
                <a:solidFill>
                  <a:srgbClr val="3F51B5"/>
                </a:solidFill>
                <a:latin typeface="Calibri"/>
              </a:rPr>
              <a:t>User Preferences</a:t>
            </a:r>
            <a:r>
              <a:rPr sz="1700" b="0" i="1">
                <a:solidFill>
                  <a:srgbClr val="555555"/>
                </a:solidFill>
                <a:latin typeface="Calibri"/>
              </a:rPr>
              <a:t> and </a:t>
            </a:r>
            <a:r>
              <a:rPr sz="1700" b="1" i="1">
                <a:solidFill>
                  <a:srgbClr val="E07A1F"/>
                </a:solidFill>
                <a:latin typeface="Calibri"/>
              </a:rPr>
              <a:t>Contextual Data</a:t>
            </a:r>
            <a:r>
              <a:rPr sz="1700" b="0" i="1">
                <a:solidFill>
                  <a:srgbClr val="555555"/>
                </a:solidFill>
                <a:latin typeface="Calibri"/>
              </a:rPr>
              <a:t>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468880"/>
            <a:ext cx="5120640" cy="2194560"/>
          </a:xfrm>
          <a:prstGeom prst="roundRect">
            <a:avLst/>
          </a:prstGeom>
          <a:solidFill>
            <a:srgbClr val="F3E5F5"/>
          </a:solidFill>
          <a:ln w="22225">
            <a:solidFill>
              <a:srgbClr val="3F5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800" b="1">
                <a:solidFill>
                  <a:srgbClr val="3F51B5"/>
                </a:solidFill>
                <a:latin typeface="Calibri"/>
              </a:rPr>
              <a:t>User preferences</a:t>
            </a:r>
          </a:p>
          <a:p>
            <a:pPr algn="ctr"/>
            <a:r>
              <a:rPr sz="600" b="0">
                <a:solidFill>
                  <a:srgbClr val="3F51B5"/>
                </a:solidFill>
                <a:latin typeface="Calibri"/>
              </a:rPr>
              <a:t/>
            </a:r>
          </a:p>
          <a:p>
            <a:pPr algn="ctr"/>
            <a:r>
              <a:rPr sz="1500" b="1">
                <a:solidFill>
                  <a:srgbClr val="555555"/>
                </a:solidFill>
                <a:latin typeface="Calibri"/>
              </a:rPr>
              <a:t>= the user embedding</a:t>
            </a:r>
          </a:p>
          <a:p>
            <a:pPr algn="ctr"/>
            <a:r>
              <a:rPr sz="1300" b="0">
                <a:solidFill>
                  <a:srgbClr val="555555"/>
                </a:solidFill>
                <a:latin typeface="Calibri"/>
              </a:rPr>
              <a:t>a learned taste profile</a:t>
            </a:r>
          </a:p>
          <a:p>
            <a:pPr algn="ctr"/>
            <a:r>
              <a:rPr sz="1300" b="0">
                <a:solidFill>
                  <a:srgbClr val="555555"/>
                </a:solidFill>
                <a:latin typeface="Calibri"/>
              </a:rPr>
              <a:t>for each tourist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468880"/>
            <a:ext cx="5120640" cy="2194560"/>
          </a:xfrm>
          <a:prstGeom prst="roundRect">
            <a:avLst/>
          </a:prstGeom>
          <a:solidFill>
            <a:srgbClr val="FFF3E0"/>
          </a:solidFill>
          <a:ln w="22225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800" b="1">
                <a:solidFill>
                  <a:srgbClr val="E07A1F"/>
                </a:solidFill>
                <a:latin typeface="Calibri"/>
              </a:rPr>
              <a:t>Contextual data</a:t>
            </a:r>
          </a:p>
          <a:p>
            <a:pPr algn="ctr"/>
            <a:r>
              <a:rPr sz="600" b="0">
                <a:solidFill>
                  <a:srgbClr val="E07A1F"/>
                </a:solidFill>
                <a:latin typeface="Calibri"/>
              </a:rPr>
              <a:t/>
            </a:r>
          </a:p>
          <a:p>
            <a:pPr algn="ctr"/>
            <a:r>
              <a:rPr sz="1500" b="1">
                <a:solidFill>
                  <a:srgbClr val="555555"/>
                </a:solidFill>
                <a:latin typeface="Calibri"/>
              </a:rPr>
              <a:t>= Δdistance and Δtime</a:t>
            </a:r>
          </a:p>
          <a:p>
            <a:pPr algn="ctr"/>
            <a:r>
              <a:rPr sz="1300" b="0">
                <a:solidFill>
                  <a:srgbClr val="555555"/>
                </a:solidFill>
                <a:latin typeface="Calibri"/>
              </a:rPr>
              <a:t>spatial + temporal</a:t>
            </a:r>
          </a:p>
          <a:p>
            <a:pPr algn="ctr"/>
            <a:r>
              <a:rPr sz="1300" b="0">
                <a:solidFill>
                  <a:srgbClr val="555555"/>
                </a:solidFill>
                <a:latin typeface="Calibri"/>
              </a:rPr>
              <a:t>gaps between places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1206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  <a:latin typeface="Calibri"/>
              </a:rPr>
              <a:t>Both are </a:t>
            </a:r>
            <a:r>
              <a:rPr sz="1600" b="1" i="0">
                <a:solidFill>
                  <a:srgbClr val="1B2A4E"/>
                </a:solidFill>
                <a:latin typeface="Calibri"/>
              </a:rPr>
              <a:t>inside the model</a:t>
            </a:r>
            <a:r>
              <a:rPr sz="1600" b="0" i="0">
                <a:solidFill>
                  <a:srgbClr val="555555"/>
                </a:solidFill>
                <a:latin typeface="Calibri"/>
              </a:rPr>
              <a:t> — so the title is a description of the architecture, not an aspiration.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Calibri"/>
              </a:rPr>
              <a:t>A personalized, context-aware itinerary recommender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The engine works (Phase 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"/>
            <a:ext cx="11185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BFC7D9"/>
                </a:solidFill>
                <a:latin typeface="Calibri"/>
              </a:rPr>
              <a:t>evidence the model is sound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17320"/>
          <a:ext cx="36576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T="38100" marB="38100" anchor="ctr">
                    <a:solidFill>
                      <a:srgbClr val="1B2A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T="38100" marB="38100" anchor="ctr">
                    <a:solidFill>
                      <a:srgbClr val="1B2A4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555555"/>
                          </a:solidFill>
                          <a:latin typeface="Calibri"/>
                        </a:rPr>
                        <a:t>HR@1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555555"/>
                          </a:solidFill>
                          <a:latin typeface="Calibri"/>
                        </a:rPr>
                        <a:t>0.187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555555"/>
                          </a:solidFill>
                          <a:latin typeface="Calibri"/>
                        </a:rPr>
                        <a:t>HR@5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555555"/>
                          </a:solidFill>
                          <a:latin typeface="Calibri"/>
                        </a:rPr>
                        <a:t>0.476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555555"/>
                          </a:solidFill>
                          <a:latin typeface="Calibri"/>
                        </a:rPr>
                        <a:t>HR@10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555555"/>
                          </a:solidFill>
                          <a:latin typeface="Calibri"/>
                        </a:rPr>
                        <a:t>0.588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555555"/>
                          </a:solidFill>
                          <a:latin typeface="Calibri"/>
                        </a:rPr>
                        <a:t>MRR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555555"/>
                          </a:solidFill>
                          <a:latin typeface="Calibri"/>
                        </a:rPr>
                        <a:t>0.316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754880" y="1417320"/>
          <a:ext cx="67665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338328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T="38100" marB="38100" anchor="ctr">
                    <a:solidFill>
                      <a:srgbClr val="1B2A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HR@1</a:t>
                      </a:r>
                    </a:p>
                  </a:txBody>
                  <a:tcPr marT="38100" marB="38100" anchor="ctr">
                    <a:solidFill>
                      <a:srgbClr val="1B2A4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555555"/>
                          </a:solidFill>
                          <a:latin typeface="Calibri"/>
                        </a:rPr>
                        <a:t>LSTM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555555"/>
                          </a:solidFill>
                          <a:latin typeface="Calibri"/>
                        </a:rPr>
                        <a:t>0.130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555555"/>
                          </a:solidFill>
                          <a:latin typeface="Calibri"/>
                        </a:rPr>
                        <a:t>STGCN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555555"/>
                          </a:solidFill>
                          <a:latin typeface="Calibri"/>
                        </a:rPr>
                        <a:t>0.180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Ours (GCN+GRU+user)</a:t>
                      </a:r>
                    </a:p>
                  </a:txBody>
                  <a:tcPr marT="38100" marB="38100" anchor="ctr"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0.187</a:t>
                      </a:r>
                    </a:p>
                  </a:txBody>
                  <a:tcPr marT="38100" marB="38100" anchor="ctr">
                    <a:solidFill>
                      <a:srgbClr val="0E7C7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555555"/>
                          </a:solidFill>
                          <a:latin typeface="Calibri"/>
                        </a:rPr>
                        <a:t>STAN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555555"/>
                          </a:solidFill>
                          <a:latin typeface="Calibri"/>
                        </a:rPr>
                        <a:t>0.220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555555"/>
                          </a:solidFill>
                          <a:latin typeface="Calibri"/>
                        </a:rPr>
                        <a:t>GETNext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555555"/>
                          </a:solidFill>
                          <a:latin typeface="Calibri"/>
                        </a:rPr>
                        <a:t>0.240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555555"/>
                          </a:solidFill>
                          <a:latin typeface="Calibri"/>
                        </a:rPr>
                        <a:t>STHGCN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555555"/>
                          </a:solidFill>
                          <a:latin typeface="Calibri"/>
                        </a:rPr>
                        <a:t>0.270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555555"/>
                          </a:solidFill>
                          <a:latin typeface="Calibri"/>
                        </a:rPr>
                        <a:t>LLM4POI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555555"/>
                          </a:solidFill>
                          <a:latin typeface="Calibri"/>
                        </a:rPr>
                        <a:t>0.340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0292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  <a:latin typeface="Calibri"/>
              </a:rPr>
              <a:t>On Foursquare NYC the engine reaches </a:t>
            </a:r>
            <a:r>
              <a:rPr sz="1600" b="1" i="0">
                <a:solidFill>
                  <a:srgbClr val="1B2A4E"/>
                </a:solidFill>
                <a:latin typeface="Calibri"/>
              </a:rPr>
              <a:t>HR@1 = 0.187</a:t>
            </a:r>
            <a:r>
              <a:rPr sz="1600" b="0" i="0">
                <a:solidFill>
                  <a:srgbClr val="555555"/>
                </a:solidFill>
                <a:latin typeface="Calibri"/>
              </a:rPr>
              <a:t> — the honest LSTM/STGCN tier. A strong, leakage-free engine to build itineraries 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Calibri"/>
              </a:rPr>
              <a:t>A personalized, context-aware itinerary recommender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Frozen Rollout — turning the engine into an itinerary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"/>
            <a:ext cx="11185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BFC7D9"/>
                </a:solidFill>
                <a:latin typeface="Calibri"/>
              </a:rPr>
              <a:t>my itinerary 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555555"/>
                </a:solidFill>
                <a:latin typeface="Calibri"/>
              </a:rPr>
              <a:t>Roll the engine out: build the route one POI at a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2468880" cy="1188720"/>
          </a:xfrm>
          <a:prstGeom prst="roundRect">
            <a:avLst/>
          </a:prstGeom>
          <a:solidFill>
            <a:srgbClr val="F3E5F5"/>
          </a:solidFill>
          <a:ln w="22225">
            <a:solidFill>
              <a:srgbClr val="3F5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3F51B5"/>
                </a:solidFill>
                <a:latin typeface="Calibri"/>
              </a:rPr>
              <a:t>route = [start]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17520" y="2697480"/>
            <a:ext cx="411480" cy="0"/>
          </a:xfrm>
          <a:prstGeom prst="line">
            <a:avLst/>
          </a:prstGeom>
          <a:ln w="25400">
            <a:solidFill>
              <a:srgbClr val="1B2A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429000" y="2103120"/>
            <a:ext cx="2468880" cy="1188720"/>
          </a:xfrm>
          <a:prstGeom prst="roundRect">
            <a:avLst/>
          </a:prstGeom>
          <a:solidFill>
            <a:srgbClr val="E3F2FD"/>
          </a:solidFill>
          <a:ln w="22225">
            <a:solidFill>
              <a:srgbClr val="3F5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3F51B5"/>
                </a:solidFill>
                <a:latin typeface="Calibri"/>
              </a:rPr>
              <a:t>engine scores</a:t>
            </a:r>
          </a:p>
          <a:p>
            <a:pPr algn="ctr"/>
            <a:r>
              <a:rPr sz="1300" b="0">
                <a:solidFill>
                  <a:srgbClr val="555555"/>
                </a:solidFill>
                <a:latin typeface="Calibri"/>
              </a:rPr>
              <a:t>all POIs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897880" y="2697480"/>
            <a:ext cx="411480" cy="0"/>
          </a:xfrm>
          <a:prstGeom prst="line">
            <a:avLst/>
          </a:prstGeom>
          <a:ln w="25400">
            <a:solidFill>
              <a:srgbClr val="1B2A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309359" y="2103120"/>
            <a:ext cx="2468880" cy="1188720"/>
          </a:xfrm>
          <a:prstGeom prst="roundRect">
            <a:avLst/>
          </a:prstGeom>
          <a:solidFill>
            <a:srgbClr val="FFF3E0"/>
          </a:solidFill>
          <a:ln w="22225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E07A1F"/>
                </a:solidFill>
                <a:latin typeface="Calibri"/>
              </a:rPr>
              <a:t>mask visited;</a:t>
            </a:r>
          </a:p>
          <a:p>
            <a:pPr algn="ctr"/>
            <a:r>
              <a:rPr sz="1300" b="0">
                <a:solidFill>
                  <a:srgbClr val="555555"/>
                </a:solidFill>
                <a:latin typeface="Calibri"/>
              </a:rPr>
              <a:t>reserve the end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778240" y="2697480"/>
            <a:ext cx="411479" cy="0"/>
          </a:xfrm>
          <a:prstGeom prst="line">
            <a:avLst/>
          </a:prstGeom>
          <a:ln w="25400">
            <a:solidFill>
              <a:srgbClr val="1B2A4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189719" y="2103120"/>
            <a:ext cx="2468880" cy="1188720"/>
          </a:xfrm>
          <a:prstGeom prst="roundRect">
            <a:avLst/>
          </a:prstGeom>
          <a:solidFill>
            <a:srgbClr val="FFEBEE"/>
          </a:solidFill>
          <a:ln w="22225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300" b="1">
                <a:solidFill>
                  <a:srgbClr val="E07A1F"/>
                </a:solidFill>
                <a:latin typeface="Calibri"/>
              </a:rPr>
              <a:t>append the</a:t>
            </a:r>
          </a:p>
          <a:p>
            <a:pPr algn="ctr"/>
            <a:r>
              <a:rPr sz="1300" b="0">
                <a:solidFill>
                  <a:srgbClr val="555555"/>
                </a:solidFill>
                <a:latin typeface="Calibri"/>
              </a:rPr>
              <a:t>best POI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104120" y="3291840"/>
            <a:ext cx="0" cy="457199"/>
          </a:xfrm>
          <a:prstGeom prst="line">
            <a:avLst/>
          </a:prstGeom>
          <a:ln w="25400">
            <a:solidFill>
              <a:srgbClr val="0E7C7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1783080" y="3749039"/>
            <a:ext cx="8321040" cy="0"/>
          </a:xfrm>
          <a:prstGeom prst="line">
            <a:avLst/>
          </a:prstGeom>
          <a:ln w="25400">
            <a:solidFill>
              <a:srgbClr val="0E7C7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83080" y="3291840"/>
            <a:ext cx="0" cy="457199"/>
          </a:xfrm>
          <a:prstGeom prst="line">
            <a:avLst/>
          </a:prstGeom>
          <a:ln w="25400">
            <a:solidFill>
              <a:srgbClr val="0E7C7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657600" y="37947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1">
                <a:solidFill>
                  <a:srgbClr val="0E7C7B"/>
                </a:solidFill>
                <a:latin typeface="Calibri"/>
              </a:rPr>
              <a:t>repeat until length K, ending at 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57200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1">
                <a:solidFill>
                  <a:srgbClr val="0E7C7B"/>
                </a:solidFill>
              </a:rPr>
              <a:t>▸  </a:t>
            </a:r>
            <a:r>
              <a:rPr sz="1500" b="1">
                <a:solidFill>
                  <a:srgbClr val="1B2A4E"/>
                </a:solidFill>
                <a:latin typeface="Calibri"/>
              </a:rPr>
              <a:t>No new training</a:t>
            </a:r>
            <a:r>
              <a:rPr sz="1500" b="0">
                <a:solidFill>
                  <a:srgbClr val="555555"/>
                </a:solidFill>
                <a:latin typeface="Calibri"/>
              </a:rPr>
              <a:t> — reuse the frozen engine; the itinerary is an inference-time decoder.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1">
                <a:solidFill>
                  <a:srgbClr val="0E7C7B"/>
                </a:solidFill>
              </a:rPr>
              <a:t>▸  </a:t>
            </a:r>
            <a:r>
              <a:rPr sz="1500" b="1">
                <a:solidFill>
                  <a:srgbClr val="1B2A4E"/>
                </a:solidFill>
                <a:latin typeface="Calibri"/>
              </a:rPr>
              <a:t>Always valid</a:t>
            </a:r>
            <a:r>
              <a:rPr sz="1500" b="0">
                <a:solidFill>
                  <a:srgbClr val="555555"/>
                </a:solidFill>
                <a:latin typeface="Calibri"/>
              </a:rPr>
              <a:t> — loop-free, exactly K stops, starts at s and ends at 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11535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465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Calibri"/>
              </a:rPr>
              <a:t>A personalized, context-aware itinerary recommender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Frozen Rollout — worked example (Edinburgh)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"/>
            <a:ext cx="11185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BFC7D9"/>
                </a:solidFill>
                <a:latin typeface="Calibri"/>
              </a:rPr>
              <a:t>how it builds a route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840480" cy="1097280"/>
          </a:xfrm>
          <a:prstGeom prst="roundRect">
            <a:avLst/>
          </a:prstGeom>
          <a:solidFill>
            <a:srgbClr val="F3E5F5"/>
          </a:solidFill>
          <a:ln w="22225">
            <a:solidFill>
              <a:srgbClr val="3F5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400" b="1">
                <a:solidFill>
                  <a:srgbClr val="3F51B5"/>
                </a:solidFill>
                <a:latin typeface="Calibri"/>
              </a:rPr>
              <a:t>QUERY</a:t>
            </a:r>
          </a:p>
          <a:p>
            <a:pPr algn="ctr"/>
            <a:r>
              <a:rPr sz="1400" b="0">
                <a:solidFill>
                  <a:srgbClr val="555555"/>
                </a:solidFill>
                <a:latin typeface="Calibri"/>
              </a:rPr>
              <a:t>start 15 · end 16 · K =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1188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1B2A4E"/>
                </a:solidFill>
                <a:latin typeface="Calibri"/>
              </a:rPr>
              <a:t>step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20240" y="2834640"/>
            <a:ext cx="731520" cy="548640"/>
          </a:xfrm>
          <a:prstGeom prst="roundRect">
            <a:avLst/>
          </a:prstGeom>
          <a:solidFill>
            <a:srgbClr val="ECEEF3"/>
          </a:solidFill>
          <a:ln w="22225">
            <a:solidFill>
              <a:srgbClr val="1B2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400" b="1">
                <a:solidFill>
                  <a:srgbClr val="1B2A4E"/>
                </a:solidFill>
                <a:latin typeface="Calibri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2834640"/>
            <a:ext cx="5486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engine → best next =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03320"/>
            <a:ext cx="1188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1B2A4E"/>
                </a:solidFill>
                <a:latin typeface="Calibri"/>
              </a:rPr>
              <a:t>step 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3703320"/>
            <a:ext cx="731520" cy="548640"/>
          </a:xfrm>
          <a:prstGeom prst="roundRect">
            <a:avLst/>
          </a:prstGeom>
          <a:solidFill>
            <a:srgbClr val="ECEEF3"/>
          </a:solidFill>
          <a:ln w="22225">
            <a:solidFill>
              <a:srgbClr val="1B2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400" b="1">
                <a:solidFill>
                  <a:srgbClr val="1B2A4E"/>
                </a:solidFill>
                <a:latin typeface="Calibri"/>
              </a:rPr>
              <a:t>15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3703320"/>
            <a:ext cx="731520" cy="548640"/>
          </a:xfrm>
          <a:prstGeom prst="roundRect">
            <a:avLst/>
          </a:prstGeom>
          <a:solidFill>
            <a:srgbClr val="ECEEF3"/>
          </a:solidFill>
          <a:ln w="22225">
            <a:solidFill>
              <a:srgbClr val="1B2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400" b="1">
                <a:solidFill>
                  <a:srgbClr val="1B2A4E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3703320"/>
            <a:ext cx="5486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engine → best next = 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572000"/>
            <a:ext cx="1188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1B2A4E"/>
                </a:solidFill>
                <a:latin typeface="Calibri"/>
              </a:rPr>
              <a:t>step 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20240" y="4572000"/>
            <a:ext cx="731520" cy="548640"/>
          </a:xfrm>
          <a:prstGeom prst="roundRect">
            <a:avLst/>
          </a:prstGeom>
          <a:solidFill>
            <a:srgbClr val="ECEEF3"/>
          </a:solidFill>
          <a:ln w="22225">
            <a:solidFill>
              <a:srgbClr val="1B2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400" b="1">
                <a:solidFill>
                  <a:srgbClr val="1B2A4E"/>
                </a:solidFill>
                <a:latin typeface="Calibri"/>
              </a:rPr>
              <a:t>15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88920" y="4572000"/>
            <a:ext cx="731520" cy="548640"/>
          </a:xfrm>
          <a:prstGeom prst="roundRect">
            <a:avLst/>
          </a:prstGeom>
          <a:solidFill>
            <a:srgbClr val="ECEEF3"/>
          </a:solidFill>
          <a:ln w="22225">
            <a:solidFill>
              <a:srgbClr val="1B2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400" b="1">
                <a:solidFill>
                  <a:srgbClr val="1B2A4E"/>
                </a:solidFill>
                <a:latin typeface="Calibri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0" y="4572000"/>
            <a:ext cx="731520" cy="548640"/>
          </a:xfrm>
          <a:prstGeom prst="roundRect">
            <a:avLst/>
          </a:prstGeom>
          <a:solidFill>
            <a:srgbClr val="ECEEF3"/>
          </a:solidFill>
          <a:ln w="22225">
            <a:solidFill>
              <a:srgbClr val="1B2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400" b="1">
                <a:solidFill>
                  <a:srgbClr val="1B2A4E"/>
                </a:solidFill>
                <a:latin typeface="Calibri"/>
              </a:rPr>
              <a:t>13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4572000"/>
            <a:ext cx="5486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last hop → reserved end 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440679"/>
            <a:ext cx="1188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1B2A4E"/>
                </a:solidFill>
                <a:latin typeface="Calibri"/>
              </a:rPr>
              <a:t>result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20240" y="5440679"/>
            <a:ext cx="731520" cy="548640"/>
          </a:xfrm>
          <a:prstGeom prst="roundRect">
            <a:avLst/>
          </a:prstGeom>
          <a:solidFill>
            <a:srgbClr val="E8F5E9"/>
          </a:solidFill>
          <a:ln w="222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400" b="1">
                <a:solidFill>
                  <a:srgbClr val="0E7C7B"/>
                </a:solidFill>
                <a:latin typeface="Calibri"/>
              </a:rPr>
              <a:t>15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88920" y="5440679"/>
            <a:ext cx="731520" cy="548640"/>
          </a:xfrm>
          <a:prstGeom prst="roundRect">
            <a:avLst/>
          </a:prstGeom>
          <a:solidFill>
            <a:srgbClr val="E8F5E9"/>
          </a:solidFill>
          <a:ln w="222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400" b="1">
                <a:solidFill>
                  <a:srgbClr val="0E7C7B"/>
                </a:solidFill>
                <a:latin typeface="Calibri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0" y="5440679"/>
            <a:ext cx="731520" cy="548640"/>
          </a:xfrm>
          <a:prstGeom prst="roundRect">
            <a:avLst/>
          </a:prstGeom>
          <a:solidFill>
            <a:srgbClr val="E8F5E9"/>
          </a:solidFill>
          <a:ln w="222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400" b="1">
                <a:solidFill>
                  <a:srgbClr val="0E7C7B"/>
                </a:solidFill>
                <a:latin typeface="Calibri"/>
              </a:rPr>
              <a:t>13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26279" y="5440679"/>
            <a:ext cx="731520" cy="548640"/>
          </a:xfrm>
          <a:prstGeom prst="roundRect">
            <a:avLst/>
          </a:prstGeom>
          <a:solidFill>
            <a:srgbClr val="E8F5E9"/>
          </a:solidFill>
          <a:ln w="222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400" b="1">
                <a:solidFill>
                  <a:srgbClr val="0E7C7B"/>
                </a:solidFill>
                <a:latin typeface="Calibri"/>
              </a:rPr>
              <a:t>16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5440679"/>
            <a:ext cx="5486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matches the real trip 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11535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465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Calibri"/>
              </a:rPr>
              <a:t>A personalized, context-aware itinerary recommender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Frozen Rollout — results, and why it's the headline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"/>
            <a:ext cx="11185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BFC7D9"/>
                </a:solidFill>
                <a:latin typeface="Calibri"/>
              </a:rPr>
              <a:t>my result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17320"/>
          <a:ext cx="73152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Method (NYC, len≥3)</a:t>
                      </a:r>
                    </a:p>
                  </a:txBody>
                  <a:tcPr marT="38100" marB="38100" anchor="ctr">
                    <a:solidFill>
                      <a:srgbClr val="1B2A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pairs-F1</a:t>
                      </a:r>
                    </a:p>
                  </a:txBody>
                  <a:tcPr marT="38100" marB="38100" anchor="ctr">
                    <a:solidFill>
                      <a:srgbClr val="1B2A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kind</a:t>
                      </a:r>
                    </a:p>
                  </a:txBody>
                  <a:tcPr marT="38100" marB="38100" anchor="ctr">
                    <a:solidFill>
                      <a:srgbClr val="1B2A4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Frozen Rollout (greedy)</a:t>
                      </a:r>
                    </a:p>
                  </a:txBody>
                  <a:tcPr marT="38100" marB="38100" anchor="ctr"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0.289</a:t>
                      </a:r>
                    </a:p>
                  </a:txBody>
                  <a:tcPr marT="38100" marB="38100" anchor="ctr"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decoupled</a:t>
                      </a:r>
                    </a:p>
                  </a:txBody>
                  <a:tcPr marT="38100" marB="38100" anchor="ctr">
                    <a:solidFill>
                      <a:srgbClr val="0E7C7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555555"/>
                          </a:solidFill>
                          <a:latin typeface="Calibri"/>
                        </a:rPr>
                        <a:t>Frozen Rollout (beam 3)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555555"/>
                          </a:solidFill>
                          <a:latin typeface="Calibri"/>
                        </a:rPr>
                        <a:t>0.290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555555"/>
                          </a:solidFill>
                          <a:latin typeface="Calibri"/>
                        </a:rPr>
                        <a:t>decoupled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555555"/>
                          </a:solidFill>
                          <a:latin typeface="Calibri"/>
                        </a:rPr>
                        <a:t>Trained Pointer (no context)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555555"/>
                          </a:solidFill>
                          <a:latin typeface="Calibri"/>
                        </a:rPr>
                        <a:t>0.259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555555"/>
                          </a:solidFill>
                          <a:latin typeface="Calibri"/>
                        </a:rPr>
                        <a:t>integrated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555555"/>
                          </a:solidFill>
                          <a:latin typeface="Calibri"/>
                        </a:rPr>
                        <a:t>Trained Pointer (+ context)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555555"/>
                          </a:solidFill>
                          <a:latin typeface="Calibri"/>
                        </a:rPr>
                        <a:t>0.261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555555"/>
                          </a:solidFill>
                          <a:latin typeface="Calibri"/>
                        </a:rPr>
                        <a:t>integrated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29600" y="1417320"/>
            <a:ext cx="3291840" cy="2103120"/>
          </a:xfrm>
          <a:prstGeom prst="roundRect">
            <a:avLst/>
          </a:prstGeom>
          <a:solidFill>
            <a:srgbClr val="E8F5E9"/>
          </a:solidFill>
          <a:ln w="222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>
                <a:solidFill>
                  <a:srgbClr val="0E7C7B"/>
                </a:solidFill>
                <a:latin typeface="Calibri"/>
              </a:rPr>
              <a:t>Frozen Rollout wins</a:t>
            </a:r>
          </a:p>
          <a:p>
            <a:pPr algn="ctr"/>
            <a:r>
              <a:rPr sz="1300" b="0">
                <a:solidFill>
                  <a:srgbClr val="555555"/>
                </a:solidFill>
                <a:latin typeface="Calibri"/>
              </a:rPr>
              <a:t>decoding the strong</a:t>
            </a:r>
          </a:p>
          <a:p>
            <a:pPr algn="ctr"/>
            <a:r>
              <a:rPr sz="1300" b="0">
                <a:solidFill>
                  <a:srgbClr val="555555"/>
                </a:solidFill>
                <a:latin typeface="Calibri"/>
              </a:rPr>
              <a:t>engine beats training</a:t>
            </a:r>
          </a:p>
          <a:p>
            <a:pPr algn="ctr"/>
            <a:r>
              <a:rPr sz="1300" b="0">
                <a:solidFill>
                  <a:srgbClr val="555555"/>
                </a:solidFill>
                <a:latin typeface="Calibri"/>
              </a:rPr>
              <a:t>a separate model.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4048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100"/>
              </a:spcAft>
            </a:pPr>
            <a:r>
              <a:rPr sz="1600" b="1">
                <a:solidFill>
                  <a:srgbClr val="0E7C7B"/>
                </a:solidFill>
              </a:rPr>
              <a:t>▸  </a:t>
            </a:r>
            <a:r>
              <a:rPr sz="1600" b="1">
                <a:solidFill>
                  <a:srgbClr val="1B2A4E"/>
                </a:solidFill>
                <a:latin typeface="Calibri"/>
              </a:rPr>
              <a:t>Best of my itinerary methods</a:t>
            </a:r>
            <a:r>
              <a:rPr sz="1600" b="0">
                <a:solidFill>
                  <a:srgbClr val="555555"/>
                </a:solidFill>
                <a:latin typeface="Calibri"/>
              </a:rPr>
              <a:t> on NYC (~0.29 pairs-F1).</a:t>
            </a:r>
          </a:p>
          <a:p>
            <a:pPr>
              <a:spcBef>
                <a:spcPts val="200"/>
              </a:spcBef>
              <a:spcAft>
                <a:spcPts val="1100"/>
              </a:spcAft>
            </a:pPr>
            <a:r>
              <a:rPr sz="1600" b="1">
                <a:solidFill>
                  <a:srgbClr val="0E7C7B"/>
                </a:solidFill>
              </a:rPr>
              <a:t>▸  </a:t>
            </a:r>
            <a:r>
              <a:rPr sz="1600" b="1">
                <a:solidFill>
                  <a:srgbClr val="1B2A4E"/>
                </a:solidFill>
                <a:latin typeface="Calibri"/>
              </a:rPr>
              <a:t>Simplest and most interpretable</a:t>
            </a:r>
            <a:r>
              <a:rPr sz="1600" b="0">
                <a:solidFill>
                  <a:srgbClr val="555555"/>
                </a:solidFill>
                <a:latin typeface="Calibri"/>
              </a:rPr>
              <a:t> — easy to explain and trust.</a:t>
            </a:r>
          </a:p>
          <a:p>
            <a:pPr>
              <a:spcBef>
                <a:spcPts val="200"/>
              </a:spcBef>
              <a:spcAft>
                <a:spcPts val="1100"/>
              </a:spcAft>
            </a:pPr>
            <a:r>
              <a:rPr sz="1600" b="1">
                <a:solidFill>
                  <a:srgbClr val="0E7C7B"/>
                </a:solidFill>
              </a:rPr>
              <a:t>▸  </a:t>
            </a:r>
            <a:r>
              <a:rPr sz="1600" b="1">
                <a:solidFill>
                  <a:srgbClr val="1B2A4E"/>
                </a:solidFill>
                <a:latin typeface="Calibri"/>
              </a:rPr>
              <a:t>Reuses the personalized engine directly</a:t>
            </a:r>
            <a:r>
              <a:rPr sz="1600" b="0">
                <a:solidFill>
                  <a:srgbClr val="555555"/>
                </a:solidFill>
                <a:latin typeface="Calibri"/>
              </a:rPr>
              <a:t> — so the itinerary inherits user preferences + context.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Calibri"/>
              </a:rPr>
              <a:t>A personalized, context-aware itinerary recommender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Validation — my approach is on the literature's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"/>
            <a:ext cx="11185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BFC7D9"/>
                </a:solidFill>
                <a:latin typeface="Calibri"/>
              </a:rPr>
              <a:t>rigor</a:t>
            </a:r>
          </a:p>
        </p:txBody>
      </p:sp>
      <p:pic>
        <p:nvPicPr>
          <p:cNvPr id="6" name="Picture 5" descr="chart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7955279" cy="406699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0" y="155448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400" b="1">
                <a:solidFill>
                  <a:srgbClr val="0E7C7B"/>
                </a:solidFill>
              </a:rPr>
              <a:t>▸  </a:t>
            </a:r>
            <a:r>
              <a:rPr sz="1400" b="1">
                <a:solidFill>
                  <a:srgbClr val="1B2A4E"/>
                </a:solidFill>
                <a:latin typeface="Calibri"/>
              </a:rPr>
              <a:t>Reproduces Chen 2016</a:t>
            </a:r>
            <a:r>
              <a:rPr sz="1400" b="0">
                <a:solidFill>
                  <a:srgbClr val="555555"/>
                </a:solidFill>
                <a:latin typeface="Calibri"/>
              </a:rPr>
              <a:t> (Random baseline) → the setup is fair.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400" b="1">
                <a:solidFill>
                  <a:srgbClr val="0E7C7B"/>
                </a:solidFill>
              </a:rPr>
              <a:t>▸  </a:t>
            </a:r>
            <a:r>
              <a:rPr sz="1400" b="1">
                <a:solidFill>
                  <a:srgbClr val="1B2A4E"/>
                </a:solidFill>
                <a:latin typeface="Calibri"/>
              </a:rPr>
              <a:t>On the published</a:t>
            </a:r>
            <a:r>
              <a:rPr sz="1400" b="0">
                <a:solidFill>
                  <a:srgbClr val="555555"/>
                </a:solidFill>
                <a:latin typeface="Calibri"/>
              </a:rPr>
              <a:t> 0.3–0.85 pairs-F1 scale.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400" b="1">
                <a:solidFill>
                  <a:srgbClr val="0E7C7B"/>
                </a:solidFill>
              </a:rPr>
              <a:t>▸  </a:t>
            </a:r>
            <a:r>
              <a:rPr sz="1400" b="1">
                <a:solidFill>
                  <a:srgbClr val="C0392B"/>
                </a:solidFill>
                <a:latin typeface="Calibri"/>
              </a:rPr>
              <a:t>Honest:</a:t>
            </a:r>
            <a:r>
              <a:rPr sz="1400" b="0">
                <a:solidFill>
                  <a:srgbClr val="555555"/>
                </a:solidFill>
                <a:latin typeface="Calibri"/>
              </a:rPr>
              <a:t> a simple Markov baseline is strong on tiny data.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436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The Flickr Benchmark re-runs everything on the standard Flickr datasets — validating, not replacing, the headline model.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Calibri"/>
              </a:rPr>
              <a:t>A personalized, context-aware itinerary recommender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What else I tested (and found)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"/>
            <a:ext cx="11185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BFC7D9"/>
                </a:solidFill>
                <a:latin typeface="Calibri"/>
              </a:rPr>
              <a:t>scientific rigor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500"/>
              </a:spcAft>
            </a:pPr>
            <a:r>
              <a:rPr sz="1650" b="1">
                <a:solidFill>
                  <a:srgbClr val="0E7C7B"/>
                </a:solidFill>
              </a:rPr>
              <a:t>▸  </a:t>
            </a:r>
            <a:r>
              <a:rPr sz="1650" b="1">
                <a:solidFill>
                  <a:srgbClr val="1B2A4E"/>
                </a:solidFill>
                <a:latin typeface="Calibri"/>
              </a:rPr>
              <a:t>Does an integrated model beat decoupling?</a:t>
            </a:r>
            <a:r>
              <a:rPr sz="1650" b="0">
                <a:solidFill>
                  <a:srgbClr val="555555"/>
                </a:solidFill>
                <a:latin typeface="Calibri"/>
              </a:rPr>
              <a:t> I trained a dedicated pointer (the Trained Pointer) end-to-end. It did NOT beat the Frozen Rollout — because the engine has far denser training signal. (Tests Halder/DLIR's integration claim.)</a:t>
            </a:r>
          </a:p>
          <a:p>
            <a:pPr>
              <a:spcBef>
                <a:spcPts val="200"/>
              </a:spcBef>
              <a:spcAft>
                <a:spcPts val="1500"/>
              </a:spcAft>
            </a:pPr>
            <a:r>
              <a:rPr sz="1650" b="1">
                <a:solidFill>
                  <a:srgbClr val="0E7C7B"/>
                </a:solidFill>
              </a:rPr>
              <a:t>▸  </a:t>
            </a:r>
            <a:r>
              <a:rPr sz="1650" b="1">
                <a:solidFill>
                  <a:srgbClr val="1B2A4E"/>
                </a:solidFill>
                <a:latin typeface="Calibri"/>
              </a:rPr>
              <a:t>Is the neural model better than simple baselines?</a:t>
            </a:r>
            <a:r>
              <a:rPr sz="1650" b="0">
                <a:solidFill>
                  <a:srgbClr val="555555"/>
                </a:solidFill>
                <a:latin typeface="Calibri"/>
              </a:rPr>
              <a:t> On the small Flickr data, a Markov transition baseline is the strongest of my methods — an honest result I quantified rather than hid.</a:t>
            </a:r>
          </a:p>
          <a:p>
            <a:pPr>
              <a:spcBef>
                <a:spcPts val="200"/>
              </a:spcBef>
              <a:spcAft>
                <a:spcPts val="1500"/>
              </a:spcAft>
            </a:pPr>
            <a:r>
              <a:rPr sz="1650" b="1">
                <a:solidFill>
                  <a:srgbClr val="0E7C7B"/>
                </a:solidFill>
              </a:rPr>
              <a:t>▸  </a:t>
            </a:r>
            <a:r>
              <a:rPr sz="1650" b="1">
                <a:solidFill>
                  <a:srgbClr val="1B2A4E"/>
                </a:solidFill>
                <a:latin typeface="Calibri"/>
              </a:rPr>
              <a:t>Does personalization help?</a:t>
            </a:r>
            <a:r>
              <a:rPr sz="1650" b="0">
                <a:solidFill>
                  <a:srgbClr val="555555"/>
                </a:solidFill>
                <a:latin typeface="Calibri"/>
              </a:rPr>
              <a:t> I ablate the user embedding (on/off) per city — measured on the next slide.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Calibri"/>
              </a:rPr>
              <a:t>A personalized, context-aware itinerary recommender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Does personalization help? (measured)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"/>
            <a:ext cx="11185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BFC7D9"/>
                </a:solidFill>
                <a:latin typeface="Calibri"/>
              </a:rPr>
              <a:t>the “user preferences” claim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555555"/>
                </a:solidFill>
                <a:latin typeface="Calibri"/>
              </a:rPr>
              <a:t>I switch the user embedding OFF vs ON (identical otherwise) on the comparable Flickr benchmark: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463040" y="1920240"/>
          <a:ext cx="92354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7088"/>
                <a:gridCol w="1847088"/>
                <a:gridCol w="1847088"/>
                <a:gridCol w="1847088"/>
                <a:gridCol w="1847088"/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City</a:t>
                      </a:r>
                    </a:p>
                  </a:txBody>
                  <a:tcPr marT="38100" marB="38100" anchor="ctr">
                    <a:solidFill>
                      <a:srgbClr val="1B2A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no user</a:t>
                      </a:r>
                    </a:p>
                  </a:txBody>
                  <a:tcPr marT="38100" marB="38100" anchor="ctr">
                    <a:solidFill>
                      <a:srgbClr val="1B2A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with user</a:t>
                      </a:r>
                    </a:p>
                  </a:txBody>
                  <a:tcPr marT="38100" marB="38100" anchor="ctr">
                    <a:solidFill>
                      <a:srgbClr val="1B2A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delta</a:t>
                      </a:r>
                    </a:p>
                  </a:txBody>
                  <a:tcPr marT="38100" marB="38100" anchor="ctr">
                    <a:solidFill>
                      <a:srgbClr val="1B2A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recurring users</a:t>
                      </a:r>
                    </a:p>
                  </a:txBody>
                  <a:tcPr marT="38100" marB="38100" anchor="ctr">
                    <a:solidFill>
                      <a:srgbClr val="1B2A4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555555"/>
                          </a:solidFill>
                          <a:latin typeface="Calibri"/>
                        </a:rPr>
                        <a:t>Osaka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555555"/>
                          </a:solidFill>
                          <a:latin typeface="Calibri"/>
                        </a:rPr>
                        <a:t>0.442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555555"/>
                          </a:solidFill>
                          <a:latin typeface="Calibri"/>
                        </a:rPr>
                        <a:t>0.435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555555"/>
                          </a:solidFill>
                          <a:latin typeface="Calibri"/>
                        </a:rPr>
                        <a:t>-0.007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555555"/>
                          </a:solidFill>
                          <a:latin typeface="Calibri"/>
                        </a:rPr>
                        <a:t>28%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Glasgow</a:t>
                      </a:r>
                    </a:p>
                  </a:txBody>
                  <a:tcPr marT="38100" marB="38100" anchor="ctr"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0.451</a:t>
                      </a:r>
                    </a:p>
                  </a:txBody>
                  <a:tcPr marT="38100" marB="38100" anchor="ctr"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0.489</a:t>
                      </a:r>
                    </a:p>
                  </a:txBody>
                  <a:tcPr marT="38100" marB="38100" anchor="ctr"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+0.038</a:t>
                      </a:r>
                    </a:p>
                  </a:txBody>
                  <a:tcPr marT="38100" marB="38100" anchor="ctr"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32%</a:t>
                      </a:r>
                    </a:p>
                  </a:txBody>
                  <a:tcPr marT="38100" marB="38100" anchor="ctr">
                    <a:solidFill>
                      <a:srgbClr val="0E7C7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555555"/>
                          </a:solidFill>
                          <a:latin typeface="Calibri"/>
                        </a:rPr>
                        <a:t>Toronto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555555"/>
                          </a:solidFill>
                          <a:latin typeface="Calibri"/>
                        </a:rPr>
                        <a:t>0.440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555555"/>
                          </a:solidFill>
                          <a:latin typeface="Calibri"/>
                        </a:rPr>
                        <a:t>0.423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555555"/>
                          </a:solidFill>
                          <a:latin typeface="Calibri"/>
                        </a:rPr>
                        <a:t>-0.017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555555"/>
                          </a:solidFill>
                          <a:latin typeface="Calibri"/>
                        </a:rPr>
                        <a:t>55%</a:t>
                      </a:r>
                    </a:p>
                  </a:txBody>
                  <a:tcPr marT="38100" marB="3810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555555"/>
                          </a:solidFill>
                          <a:latin typeface="Calibri"/>
                        </a:rPr>
                        <a:t>Edinburgh, Melbourne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555555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555555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555555"/>
                          </a:solidFill>
                          <a:latin typeface="Calibri"/>
                        </a:rPr>
                        <a:t>(GPU run)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555555"/>
                          </a:solidFill>
                          <a:latin typeface="Calibri"/>
                        </a:rPr>
                        <a:t>59%, 61%</a:t>
                      </a:r>
                    </a:p>
                  </a:txBody>
                  <a:tcPr marT="38100" marB="38100" anchor="ctr">
                    <a:solidFill>
                      <a:srgbClr val="ECEEF3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66344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1">
                <a:solidFill>
                  <a:srgbClr val="0E7C7B"/>
                </a:solidFill>
              </a:rPr>
              <a:t>▸  </a:t>
            </a:r>
            <a:r>
              <a:rPr sz="1500" b="1">
                <a:solidFill>
                  <a:srgbClr val="1B2A4E"/>
                </a:solidFill>
                <a:latin typeface="Calibri"/>
              </a:rPr>
              <a:t>Mixed / near-neutral</a:t>
            </a:r>
            <a:r>
              <a:rPr sz="1500" b="0">
                <a:solidFill>
                  <a:srgbClr val="555555"/>
                </a:solidFill>
                <a:latin typeface="Calibri"/>
              </a:rPr>
              <a:t> — a clear gain on Glasgow (+0.038), roughly neutral on Osaka and Toronto.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500" b="1">
                <a:solidFill>
                  <a:srgbClr val="0E7C7B"/>
                </a:solidFill>
              </a:rPr>
              <a:t>▸  </a:t>
            </a:r>
            <a:r>
              <a:rPr sz="1500" b="1">
                <a:solidFill>
                  <a:srgbClr val="1B2A4E"/>
                </a:solidFill>
                <a:latin typeface="Calibri"/>
              </a:rPr>
              <a:t>Honest reason</a:t>
            </a:r>
            <a:r>
              <a:rPr sz="1500" b="0">
                <a:solidFill>
                  <a:srgbClr val="555555"/>
                </a:solidFill>
                <a:latin typeface="Calibri"/>
              </a:rPr>
              <a:t> — in leave-one-out, even recurring users have very few trips, so the embedding is weakly estimated (cold-start). Personalization is a real lever, not a guaranteed win on small data.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Calibri"/>
              </a:rPr>
              <a:t>A personalized, context-aware itinerary recommender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8585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Limitations &amp;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"/>
            <a:ext cx="11185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BFC7D9"/>
                </a:solidFill>
                <a:latin typeface="Calibri"/>
              </a:rPr>
              <a:t>honesty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700" b="1">
                <a:solidFill>
                  <a:srgbClr val="0E7C7B"/>
                </a:solidFill>
              </a:rPr>
              <a:t>▸  </a:t>
            </a:r>
            <a:r>
              <a:rPr sz="1700" b="1">
                <a:solidFill>
                  <a:srgbClr val="1B2A4E"/>
                </a:solidFill>
                <a:latin typeface="Calibri"/>
              </a:rPr>
              <a:t>Light context</a:t>
            </a:r>
            <a:r>
              <a:rPr sz="1700" b="0">
                <a:solidFill>
                  <a:srgbClr val="555555"/>
                </a:solidFill>
                <a:latin typeface="Calibri"/>
              </a:rPr>
              <a:t> — Δd/Δt only; add time-of-day, opening hours, queuing.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700" b="1">
                <a:solidFill>
                  <a:srgbClr val="0E7C7B"/>
                </a:solidFill>
              </a:rPr>
              <a:t>▸  </a:t>
            </a:r>
            <a:r>
              <a:rPr sz="1700" b="1">
                <a:solidFill>
                  <a:srgbClr val="1B2A4E"/>
                </a:solidFill>
                <a:latin typeface="Calibri"/>
              </a:rPr>
              <a:t>No scheduling</a:t>
            </a:r>
            <a:r>
              <a:rPr sz="1700" b="0">
                <a:solidFill>
                  <a:srgbClr val="555555"/>
                </a:solidFill>
                <a:latin typeface="Calibri"/>
              </a:rPr>
              <a:t> — add explicit time budgets (the DLIR direction) for realistic days.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700" b="1">
                <a:solidFill>
                  <a:srgbClr val="0E7C7B"/>
                </a:solidFill>
              </a:rPr>
              <a:t>▸  </a:t>
            </a:r>
            <a:r>
              <a:rPr sz="1700" b="1">
                <a:solidFill>
                  <a:srgbClr val="1B2A4E"/>
                </a:solidFill>
                <a:latin typeface="Calibri"/>
              </a:rPr>
              <a:t>Integrate properly</a:t>
            </a:r>
            <a:r>
              <a:rPr sz="1700" b="0">
                <a:solidFill>
                  <a:srgbClr val="555555"/>
                </a:solidFill>
                <a:latin typeface="Calibri"/>
              </a:rPr>
              <a:t> — share/warm-start the engine with the trained model to lift it past A.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700" b="1">
                <a:solidFill>
                  <a:srgbClr val="0E7C7B"/>
                </a:solidFill>
              </a:rPr>
              <a:t>▸  </a:t>
            </a:r>
            <a:r>
              <a:rPr sz="1700" b="1">
                <a:solidFill>
                  <a:srgbClr val="1B2A4E"/>
                </a:solidFill>
                <a:latin typeface="Calibri"/>
              </a:rPr>
              <a:t>Stronger personalization</a:t>
            </a:r>
            <a:r>
              <a:rPr sz="1700" b="0">
                <a:solidFill>
                  <a:srgbClr val="555555"/>
                </a:solidFill>
                <a:latin typeface="Calibri"/>
              </a:rPr>
              <a:t> — richer user features beyond a single embedding.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1700" b="1">
                <a:solidFill>
                  <a:srgbClr val="0E7C7B"/>
                </a:solidFill>
              </a:rPr>
              <a:t>▸  </a:t>
            </a:r>
            <a:r>
              <a:rPr sz="1700" b="1">
                <a:solidFill>
                  <a:srgbClr val="1B2A4E"/>
                </a:solidFill>
                <a:latin typeface="Calibri"/>
              </a:rPr>
              <a:t>Robustness</a:t>
            </a:r>
            <a:r>
              <a:rPr sz="1700" b="0">
                <a:solidFill>
                  <a:srgbClr val="555555"/>
                </a:solidFill>
                <a:latin typeface="Calibri"/>
              </a:rPr>
              <a:t> — multi-seed, more cities, component ablations.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465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  <a:latin typeface="Calibr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Calibri"/>
              </a:rPr>
              <a:t>A personalized, context-aware itinerary recommender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554480"/>
            <a:ext cx="12191695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My model — in one sentence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377440"/>
            <a:ext cx="9997135" cy="1737360"/>
          </a:xfrm>
          <a:prstGeom prst="roundRect">
            <a:avLst/>
          </a:prstGeom>
          <a:solidFill>
            <a:srgbClr val="1B2A4E"/>
          </a:solidFill>
          <a:ln w="2222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A personalized, context-aware next-POI engine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(GCN + GRU + user + context), decoded into tourist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itineraries by rolling it out (the Frozen Rollout).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80560"/>
            <a:ext cx="107286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0E7C7B"/>
                </a:solidFill>
              </a:rPr>
              <a:t>▸  </a:t>
            </a:r>
            <a:r>
              <a:rPr sz="1600">
                <a:solidFill>
                  <a:srgbClr val="FFFFFF"/>
                </a:solidFill>
                <a:latin typeface="Calibri"/>
              </a:rPr>
              <a:t>Strongest of my itinerary methods, and the simplest to explain.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E7C7B"/>
                </a:solidFill>
              </a:rPr>
              <a:t>▸  </a:t>
            </a:r>
            <a:r>
              <a:rPr sz="1600">
                <a:solidFill>
                  <a:srgbClr val="FFFFFF"/>
                </a:solidFill>
                <a:latin typeface="Calibri"/>
              </a:rPr>
              <a:t>Built on a validated engine; benchmarked honestly against the literature.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E7C7B"/>
                </a:solidFill>
              </a:rPr>
              <a:t>▸  </a:t>
            </a:r>
            <a:r>
              <a:rPr sz="1600">
                <a:solidFill>
                  <a:srgbClr val="FFFFFF"/>
                </a:solidFill>
                <a:latin typeface="Calibri"/>
              </a:rPr>
              <a:t>Integration (the Trained Pointer) and the Flickr Benchmark are experiments that support — not replace —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126480"/>
            <a:ext cx="1072865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E07A1F"/>
                </a:solidFill>
                <a:latin typeface="Calibri"/>
              </a:rPr>
              <a:t>Thank you —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