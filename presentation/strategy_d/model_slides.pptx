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28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Personalized, Context-Aware Itinerary Recommender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628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9FC0C0"/>
                </a:solidFill>
                <a:latin typeface="Calibri"/>
              </a:rPr>
              <a:t>A next-POI engine — GCN + GRU + user embedding +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…decoded into full tourist itineraries (Strategy 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BFC7D9"/>
                </a:solidFill>
                <a:latin typeface="Calibri"/>
              </a:rPr>
              <a:t>Master's thesis · [Your name]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goal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>
                <a:solidFill>
                  <a:srgbClr val="0E7C7B"/>
                </a:solidFill>
              </a:rPr>
              <a:t>▸  </a:t>
            </a:r>
            <a:r>
              <a:rPr sz="1800" b="0">
                <a:solidFill>
                  <a:srgbClr val="555555"/>
                </a:solidFill>
                <a:latin typeface="Calibri"/>
              </a:rPr>
              <a:t>A tourist with limited time wants a </a:t>
            </a:r>
            <a:r>
              <a:rPr sz="1800" b="1">
                <a:solidFill>
                  <a:srgbClr val="1B2A4E"/>
                </a:solidFill>
                <a:latin typeface="Calibri"/>
              </a:rPr>
              <a:t>personalized day plan</a:t>
            </a:r>
            <a:r>
              <a:rPr sz="1800" b="0">
                <a:solidFill>
                  <a:srgbClr val="555555"/>
                </a:solidFill>
                <a:latin typeface="Calibri"/>
              </a:rPr>
              <a:t> — an </a:t>
            </a:r>
            <a:r>
              <a:rPr sz="1800" b="1">
                <a:solidFill>
                  <a:srgbClr val="1B2A4E"/>
                </a:solidFill>
                <a:latin typeface="Calibri"/>
              </a:rPr>
              <a:t>ordered route</a:t>
            </a:r>
            <a:r>
              <a:rPr sz="1800" b="0">
                <a:solidFill>
                  <a:srgbClr val="555555"/>
                </a:solidFill>
                <a:latin typeface="Calibri"/>
              </a:rPr>
              <a:t> of places to visit.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>
                <a:solidFill>
                  <a:srgbClr val="0E7C7B"/>
                </a:solidFill>
              </a:rPr>
              <a:t>▸  </a:t>
            </a:r>
            <a:r>
              <a:rPr sz="1800" b="0">
                <a:solidFill>
                  <a:srgbClr val="555555"/>
                </a:solidFill>
                <a:latin typeface="Calibri"/>
              </a:rPr>
              <a:t>The plan must reflect </a:t>
            </a:r>
            <a:r>
              <a:rPr sz="1800" b="1">
                <a:solidFill>
                  <a:srgbClr val="1B2A4E"/>
                </a:solidFill>
                <a:latin typeface="Calibri"/>
              </a:rPr>
              <a:t>who they are</a:t>
            </a:r>
            <a:r>
              <a:rPr sz="1800" b="0">
                <a:solidFill>
                  <a:srgbClr val="555555"/>
                </a:solidFill>
                <a:latin typeface="Calibri"/>
              </a:rPr>
              <a:t> (preferences) and </a:t>
            </a:r>
            <a:r>
              <a:rPr sz="1800" b="1">
                <a:solidFill>
                  <a:srgbClr val="1B2A4E"/>
                </a:solidFill>
                <a:latin typeface="Calibri"/>
              </a:rPr>
              <a:t>context</a:t>
            </a:r>
            <a:r>
              <a:rPr sz="1800" b="0">
                <a:solidFill>
                  <a:srgbClr val="555555"/>
                </a:solidFill>
                <a:latin typeface="Calibri"/>
              </a:rPr>
              <a:t> (distances, time).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4206240"/>
            <a:ext cx="9235440" cy="128016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1B2A4E"/>
                </a:solidFill>
                <a:latin typeface="Calibri"/>
              </a:rPr>
              <a:t>My approach: one model does both —</a:t>
            </a:r>
          </a:p>
          <a:p>
            <a:pPr algn="ctr"/>
            <a:r>
              <a:rPr sz="1800" b="1">
                <a:solidFill>
                  <a:srgbClr val="1B2A4E"/>
                </a:solidFill>
                <a:latin typeface="Calibri"/>
              </a:rPr>
              <a:t>a personalized next-POI engine, decoded into an itinerary.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model in one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3657600" cy="1554480"/>
          </a:xfrm>
          <a:prstGeom prst="roundRect">
            <a:avLst/>
          </a:prstGeom>
          <a:solidFill>
            <a:srgbClr val="E3F2FD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THE MODEL</a:t>
            </a:r>
          </a:p>
          <a:p>
            <a:pPr algn="ctr"/>
            <a:r>
              <a:rPr sz="1600" b="1">
                <a:solidFill>
                  <a:srgbClr val="3F51B5"/>
                </a:solidFill>
                <a:latin typeface="Calibri"/>
              </a:rPr>
              <a:t>next-POI engine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GCN + GRU + user + context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97680" y="3246120"/>
            <a:ext cx="73152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0" y="2468880"/>
            <a:ext cx="3291840" cy="1554480"/>
          </a:xfrm>
          <a:prstGeom prst="roundRect">
            <a:avLst/>
          </a:prstGeom>
          <a:solidFill>
            <a:srgbClr val="FFEBEE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Strategy A</a:t>
            </a:r>
          </a:p>
          <a:p>
            <a:pPr algn="ctr"/>
            <a:r>
              <a:rPr sz="1600" b="1">
                <a:solidFill>
                  <a:srgbClr val="E07A1F"/>
                </a:solidFill>
                <a:latin typeface="Calibri"/>
              </a:rPr>
              <a:t>roll it out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(decode the engine)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321040" y="3246120"/>
            <a:ext cx="73152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52560" y="2468880"/>
            <a:ext cx="2468880" cy="155448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0E7C7B"/>
                </a:solidFill>
                <a:latin typeface="Calibri"/>
              </a:rPr>
              <a:t>itinerary</a:t>
            </a:r>
          </a:p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ordered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  <a:latin typeface="Calibri"/>
              </a:rPr>
              <a:t>My </a:t>
            </a:r>
            <a:r>
              <a:rPr sz="1800" b="1" i="0">
                <a:solidFill>
                  <a:srgbClr val="3F51B5"/>
                </a:solidFill>
                <a:latin typeface="Calibri"/>
              </a:rPr>
              <a:t>model</a:t>
            </a:r>
            <a:r>
              <a:rPr sz="1800" b="0" i="0">
                <a:solidFill>
                  <a:srgbClr val="555555"/>
                </a:solidFill>
                <a:latin typeface="Calibri"/>
              </a:rPr>
              <a:t> is a next-POI engine; my </a:t>
            </a:r>
            <a:r>
              <a:rPr sz="1800" b="1" i="0">
                <a:solidFill>
                  <a:srgbClr val="E07A1F"/>
                </a:solidFill>
                <a:latin typeface="Calibri"/>
              </a:rPr>
              <a:t>itinerary method</a:t>
            </a:r>
            <a:r>
              <a:rPr sz="1800" b="0" i="0">
                <a:solidFill>
                  <a:srgbClr val="555555"/>
                </a:solidFill>
                <a:latin typeface="Calibri"/>
              </a:rPr>
              <a:t> decodes it. Everything else (training a separate model, the benchmark) is an experiment around this.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model —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THE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3108960" cy="914400"/>
          </a:xfrm>
          <a:prstGeom prst="roundRect">
            <a:avLst/>
          </a:prstGeom>
          <a:solidFill>
            <a:srgbClr val="E3F2FD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POI graph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kNN ∪ co-visit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108960" cy="914400"/>
          </a:xfrm>
          <a:prstGeom prst="roundRect">
            <a:avLst/>
          </a:prstGeom>
          <a:solidFill>
            <a:srgbClr val="FFF3E0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context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Δdistance, Δtime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9" y="1371600"/>
            <a:ext cx="3108960" cy="91440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user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identity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94560" y="2286000"/>
            <a:ext cx="0" cy="27432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0080" y="2560320"/>
            <a:ext cx="3108960" cy="685800"/>
          </a:xfrm>
          <a:prstGeom prst="roundRect">
            <a:avLst/>
          </a:prstGeom>
          <a:solidFill>
            <a:srgbClr val="E3F2FD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2-layer GCN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43600" y="2286000"/>
            <a:ext cx="0" cy="27432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89120" y="2560320"/>
            <a:ext cx="3108960" cy="685800"/>
          </a:xfrm>
          <a:prstGeom prst="roundRect">
            <a:avLst/>
          </a:prstGeom>
          <a:solidFill>
            <a:srgbClr val="FFF3E0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context MLPs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92639" y="2286000"/>
            <a:ext cx="0" cy="27432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59" y="2560320"/>
            <a:ext cx="3108960" cy="68580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user embedding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11880"/>
            <a:ext cx="6400800" cy="7772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concat per step → GRU → h_T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3246120"/>
            <a:ext cx="0" cy="36576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60720" y="3246120"/>
            <a:ext cx="0" cy="36576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40880" y="3995928"/>
            <a:ext cx="82296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863840" y="3611880"/>
            <a:ext cx="3657600" cy="777240"/>
          </a:xfrm>
          <a:prstGeom prst="roundRect">
            <a:avLst/>
          </a:prstGeom>
          <a:solidFill>
            <a:srgbClr val="FFEBEE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[h_T ; user] → MLP head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0" y="3246120"/>
            <a:ext cx="0" cy="36576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743200" y="4800600"/>
            <a:ext cx="6675120" cy="7772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1B2A4E"/>
                </a:solidFill>
                <a:latin typeface="Calibri"/>
              </a:rPr>
              <a:t>→ a score for every POI (what to visit next)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35040" y="4389120"/>
            <a:ext cx="0" cy="41148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Three signals → graph + sequence + user → a next-POI score. </a:t>
            </a:r>
            <a:r>
              <a:rPr sz="1400" b="1" i="0">
                <a:solidFill>
                  <a:srgbClr val="1B2A4E"/>
                </a:solidFill>
                <a:latin typeface="Calibri"/>
              </a:rPr>
              <a:t>This is the model I built.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How each part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the model, explained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3F51B5"/>
                </a:solidFill>
                <a:latin typeface="Calibri"/>
              </a:rPr>
              <a:t>POI graph + GCN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places are linked if they're close or often visited together; the GCN gives each POI a “fingerprint” aware of its neighbourhood.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E07A1F"/>
                </a:solidFill>
                <a:latin typeface="Calibri"/>
              </a:rPr>
              <a:t>Context (Δd, Δt)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how far and how long since the last place; small networks turn these into vectors.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3F51B5"/>
                </a:solidFill>
                <a:latin typeface="Calibri"/>
              </a:rPr>
              <a:t>User embedding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a small “taste profile” per tourist → the title's user preferences.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0E7C7B"/>
                </a:solidFill>
                <a:latin typeface="Calibri"/>
              </a:rPr>
              <a:t>GRU sequence model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reads the places visited so far and summarises them into one state.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E07A1F"/>
                </a:solidFill>
                <a:latin typeface="Calibri"/>
              </a:rPr>
              <a:t>Scoring head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combines the state + the user, and scores every POI for “what to visit next”.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model carries the thesis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why this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  <a:latin typeface="Calibri"/>
              </a:rPr>
              <a:t>“Personalized Tourist Itinerary Recommendation Based on </a:t>
            </a:r>
            <a:r>
              <a:rPr sz="1700" b="1" i="1">
                <a:solidFill>
                  <a:srgbClr val="3F51B5"/>
                </a:solidFill>
                <a:latin typeface="Calibri"/>
              </a:rPr>
              <a:t>User Preferences</a:t>
            </a:r>
            <a:r>
              <a:rPr sz="1700" b="0" i="1">
                <a:solidFill>
                  <a:srgbClr val="555555"/>
                </a:solidFill>
                <a:latin typeface="Calibri"/>
              </a:rPr>
              <a:t> and </a:t>
            </a:r>
            <a:r>
              <a:rPr sz="1700" b="1" i="1">
                <a:solidFill>
                  <a:srgbClr val="E07A1F"/>
                </a:solidFill>
                <a:latin typeface="Calibri"/>
              </a:rPr>
              <a:t>Contextual Data</a:t>
            </a:r>
            <a:r>
              <a:rPr sz="1700" b="0" i="1">
                <a:solidFill>
                  <a:srgbClr val="555555"/>
                </a:solidFill>
                <a:latin typeface="Calibri"/>
              </a:rPr>
              <a:t>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5120640" cy="219456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3F51B5"/>
                </a:solidFill>
                <a:latin typeface="Calibri"/>
              </a:rPr>
              <a:t>User preferences</a:t>
            </a:r>
          </a:p>
          <a:p>
            <a:pPr algn="ctr"/>
            <a:r>
              <a:rPr sz="600" b="0">
                <a:solidFill>
                  <a:srgbClr val="3F51B5"/>
                </a:solidFill>
                <a:latin typeface="Calibri"/>
              </a:rPr>
              <a:t/>
            </a:r>
          </a:p>
          <a:p>
            <a:pPr algn="ctr"/>
            <a:r>
              <a:rPr sz="1500" b="1">
                <a:solidFill>
                  <a:srgbClr val="555555"/>
                </a:solidFill>
                <a:latin typeface="Calibri"/>
              </a:rPr>
              <a:t>= the user embedding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a learned taste profile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for each tourist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468880"/>
            <a:ext cx="5120640" cy="2194560"/>
          </a:xfrm>
          <a:prstGeom prst="roundRect">
            <a:avLst/>
          </a:prstGeom>
          <a:solidFill>
            <a:srgbClr val="FFF3E0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E07A1F"/>
                </a:solidFill>
                <a:latin typeface="Calibri"/>
              </a:rPr>
              <a:t>Contextual data</a:t>
            </a:r>
          </a:p>
          <a:p>
            <a:pPr algn="ctr"/>
            <a:r>
              <a:rPr sz="600" b="0">
                <a:solidFill>
                  <a:srgbClr val="E07A1F"/>
                </a:solidFill>
                <a:latin typeface="Calibri"/>
              </a:rPr>
              <a:t/>
            </a:r>
          </a:p>
          <a:p>
            <a:pPr algn="ctr"/>
            <a:r>
              <a:rPr sz="1500" b="1">
                <a:solidFill>
                  <a:srgbClr val="555555"/>
                </a:solidFill>
                <a:latin typeface="Calibri"/>
              </a:rPr>
              <a:t>= Δdistance and Δtime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spatial + temporal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gaps between places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Calibri"/>
              </a:rPr>
              <a:t>Both are </a:t>
            </a:r>
            <a:r>
              <a:rPr sz="1600" b="1" i="0">
                <a:solidFill>
                  <a:srgbClr val="1B2A4E"/>
                </a:solidFill>
                <a:latin typeface="Calibri"/>
              </a:rPr>
              <a:t>inside the model</a:t>
            </a:r>
            <a:r>
              <a:rPr sz="1600" b="0" i="0">
                <a:solidFill>
                  <a:srgbClr val="555555"/>
                </a:solidFill>
                <a:latin typeface="Calibri"/>
              </a:rPr>
              <a:t> — so the title is a description of the architecture, not an aspiration.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engine works (Phase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evidence the model is sound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3657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HR@1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0.187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HR@5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0.476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HR@10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0.588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0.316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417320"/>
          <a:ext cx="6766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HR@1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LSTM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0.130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STGCN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0.180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Ours (GCN+GRU+user)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0.187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STAN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0.220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GETNext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STHGCN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0.270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LLM4POI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0.340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Calibri"/>
              </a:rPr>
              <a:t>On Foursquare NYC the engine reaches </a:t>
            </a:r>
            <a:r>
              <a:rPr sz="1600" b="1" i="0">
                <a:solidFill>
                  <a:srgbClr val="1B2A4E"/>
                </a:solidFill>
                <a:latin typeface="Calibri"/>
              </a:rPr>
              <a:t>HR@1 = 0.187</a:t>
            </a:r>
            <a:r>
              <a:rPr sz="1600" b="0" i="0">
                <a:solidFill>
                  <a:srgbClr val="555555"/>
                </a:solidFill>
                <a:latin typeface="Calibri"/>
              </a:rPr>
              <a:t> — the honest LSTM/STGCN tier. A strong, leakage-free engine to build itineraries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Strategy A — turning the engine into an itinerary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my itinerary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Calibri"/>
              </a:rPr>
              <a:t>Roll the engine out: build the route one POI at a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2468880" cy="118872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route = [start]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2697480"/>
            <a:ext cx="41148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29000" y="2103120"/>
            <a:ext cx="2468880" cy="1188720"/>
          </a:xfrm>
          <a:prstGeom prst="roundRect">
            <a:avLst/>
          </a:prstGeom>
          <a:solidFill>
            <a:srgbClr val="E3F2FD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engine scores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all POIs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97880" y="2697480"/>
            <a:ext cx="41148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59" y="2103120"/>
            <a:ext cx="2468880" cy="1188720"/>
          </a:xfrm>
          <a:prstGeom prst="roundRect">
            <a:avLst/>
          </a:prstGeom>
          <a:solidFill>
            <a:srgbClr val="FFF3E0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mask visited;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reserve the end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0" y="2697480"/>
            <a:ext cx="411479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89719" y="2103120"/>
            <a:ext cx="2468880" cy="1188720"/>
          </a:xfrm>
          <a:prstGeom prst="roundRect">
            <a:avLst/>
          </a:prstGeom>
          <a:solidFill>
            <a:srgbClr val="FFEBEE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append the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best POI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104120" y="3291840"/>
            <a:ext cx="0" cy="457199"/>
          </a:xfrm>
          <a:prstGeom prst="line">
            <a:avLst/>
          </a:prstGeom>
          <a:ln w="25400">
            <a:solidFill>
              <a:srgbClr val="0E7C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783080" y="3749039"/>
            <a:ext cx="8321040" cy="0"/>
          </a:xfrm>
          <a:prstGeom prst="line">
            <a:avLst/>
          </a:prstGeom>
          <a:ln w="25400">
            <a:solidFill>
              <a:srgbClr val="0E7C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83080" y="3291840"/>
            <a:ext cx="0" cy="457199"/>
          </a:xfrm>
          <a:prstGeom prst="line">
            <a:avLst/>
          </a:prstGeom>
          <a:ln w="25400">
            <a:solidFill>
              <a:srgbClr val="0E7C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0" y="37947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1">
                <a:solidFill>
                  <a:srgbClr val="0E7C7B"/>
                </a:solidFill>
                <a:latin typeface="Calibri"/>
              </a:rPr>
              <a:t>repeat until length K, ending at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0E7C7B"/>
                </a:solidFill>
              </a:rPr>
              <a:t>▸  </a:t>
            </a:r>
            <a:r>
              <a:rPr sz="1500" b="1">
                <a:solidFill>
                  <a:srgbClr val="1B2A4E"/>
                </a:solidFill>
                <a:latin typeface="Calibri"/>
              </a:rPr>
              <a:t>No new training</a:t>
            </a:r>
            <a:r>
              <a:rPr sz="1500" b="0">
                <a:solidFill>
                  <a:srgbClr val="555555"/>
                </a:solidFill>
                <a:latin typeface="Calibri"/>
              </a:rPr>
              <a:t> — reuse the frozen engine; the itinerary is an inference-time decoder.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0E7C7B"/>
                </a:solidFill>
              </a:rPr>
              <a:t>▸  </a:t>
            </a:r>
            <a:r>
              <a:rPr sz="1500" b="1">
                <a:solidFill>
                  <a:srgbClr val="1B2A4E"/>
                </a:solidFill>
                <a:latin typeface="Calibri"/>
              </a:rPr>
              <a:t>Always valid</a:t>
            </a:r>
            <a:r>
              <a:rPr sz="1500" b="0">
                <a:solidFill>
                  <a:srgbClr val="555555"/>
                </a:solidFill>
                <a:latin typeface="Calibri"/>
              </a:rPr>
              <a:t> — loop-free, exactly K stops, starts at s and ends at 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Strategy A — worked example (Edinburgh)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how it builds a route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3840480" cy="109728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3F51B5"/>
                </a:solidFill>
                <a:latin typeface="Calibri"/>
              </a:rPr>
              <a:t>QUERY</a:t>
            </a:r>
          </a:p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start 15 · end 16 · K =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188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E"/>
                </a:solidFill>
                <a:latin typeface="Calibri"/>
              </a:rPr>
              <a:t>step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283464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83464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engine → best next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1188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E"/>
                </a:solidFill>
                <a:latin typeface="Calibri"/>
              </a:rPr>
              <a:t>step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370332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370332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37033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engine → best next =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188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E"/>
                </a:solidFill>
                <a:latin typeface="Calibri"/>
              </a:rPr>
              <a:t>step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20240" y="457200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88920" y="457200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457200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45720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last hop → reserved end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40679"/>
            <a:ext cx="1188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E"/>
                </a:solidFill>
                <a:latin typeface="Calibri"/>
              </a:rPr>
              <a:t>result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5440679"/>
            <a:ext cx="731520" cy="5486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5440679"/>
            <a:ext cx="731520" cy="5486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0" y="5440679"/>
            <a:ext cx="731520" cy="5486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13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79" y="5440679"/>
            <a:ext cx="731520" cy="5486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5440679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matches the real trip 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Strategy A — results, and why it's the headline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my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73152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Method (NYC, len≥3)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pairs-F1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 — frozen rollout (greedy)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0.289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decoupled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A — frozen rollout (beam 3)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0.290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decoupled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B-v1 — pointer (no context)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0.259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integrated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B-v2 — pointer (+ context)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0.261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integrated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0" y="1417320"/>
            <a:ext cx="3291840" cy="210312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0E7C7B"/>
                </a:solidFill>
                <a:latin typeface="Calibri"/>
              </a:rPr>
              <a:t>Strategy A wins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decoding the strong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engine beats training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a separate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 b="1">
                <a:solidFill>
                  <a:srgbClr val="1B2A4E"/>
                </a:solidFill>
                <a:latin typeface="Calibri"/>
              </a:rPr>
              <a:t>Best of my itinerary methods</a:t>
            </a:r>
            <a:r>
              <a:rPr sz="1600" b="0">
                <a:solidFill>
                  <a:srgbClr val="555555"/>
                </a:solidFill>
                <a:latin typeface="Calibri"/>
              </a:rPr>
              <a:t> on NYC (~0.29 pairs-F1).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 b="1">
                <a:solidFill>
                  <a:srgbClr val="1B2A4E"/>
                </a:solidFill>
                <a:latin typeface="Calibri"/>
              </a:rPr>
              <a:t>Simplest and most interpretable</a:t>
            </a:r>
            <a:r>
              <a:rPr sz="1600" b="0">
                <a:solidFill>
                  <a:srgbClr val="555555"/>
                </a:solidFill>
                <a:latin typeface="Calibri"/>
              </a:rPr>
              <a:t> — easy to explain and trust.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 b="1">
                <a:solidFill>
                  <a:srgbClr val="1B2A4E"/>
                </a:solidFill>
                <a:latin typeface="Calibri"/>
              </a:rPr>
              <a:t>Reuses the personalized engine directly</a:t>
            </a:r>
            <a:r>
              <a:rPr sz="1600" b="0">
                <a:solidFill>
                  <a:srgbClr val="555555"/>
                </a:solidFill>
                <a:latin typeface="Calibri"/>
              </a:rPr>
              <a:t> — so the itinerary inherits user preferences + context.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Validation — my approach is on the literature's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rigor</a:t>
            </a:r>
          </a:p>
        </p:txBody>
      </p:sp>
      <p:pic>
        <p:nvPicPr>
          <p:cNvPr id="6" name="Picture 5" descr="char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7955279" cy="40669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5544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0E7C7B"/>
                </a:solidFill>
              </a:rPr>
              <a:t>▸  </a:t>
            </a:r>
            <a:r>
              <a:rPr sz="1400" b="1">
                <a:solidFill>
                  <a:srgbClr val="1B2A4E"/>
                </a:solidFill>
                <a:latin typeface="Calibri"/>
              </a:rPr>
              <a:t>Reproduces Chen 2016</a:t>
            </a:r>
            <a:r>
              <a:rPr sz="1400" b="0">
                <a:solidFill>
                  <a:srgbClr val="555555"/>
                </a:solidFill>
                <a:latin typeface="Calibri"/>
              </a:rPr>
              <a:t> (Random baseline) → the setup is fair.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0E7C7B"/>
                </a:solidFill>
              </a:rPr>
              <a:t>▸  </a:t>
            </a:r>
            <a:r>
              <a:rPr sz="1400" b="1">
                <a:solidFill>
                  <a:srgbClr val="1B2A4E"/>
                </a:solidFill>
                <a:latin typeface="Calibri"/>
              </a:rPr>
              <a:t>On the published</a:t>
            </a:r>
            <a:r>
              <a:rPr sz="1400" b="0">
                <a:solidFill>
                  <a:srgbClr val="555555"/>
                </a:solidFill>
                <a:latin typeface="Calibri"/>
              </a:rPr>
              <a:t> 0.3–0.85 pairs-F1 scale.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0E7C7B"/>
                </a:solidFill>
              </a:rPr>
              <a:t>▸  </a:t>
            </a:r>
            <a:r>
              <a:rPr sz="1400" b="1">
                <a:solidFill>
                  <a:srgbClr val="C0392B"/>
                </a:solidFill>
                <a:latin typeface="Calibri"/>
              </a:rPr>
              <a:t>Honest:</a:t>
            </a:r>
            <a:r>
              <a:rPr sz="1400" b="0">
                <a:solidFill>
                  <a:srgbClr val="555555"/>
                </a:solidFill>
                <a:latin typeface="Calibri"/>
              </a:rPr>
              <a:t> a simple Markov baseline is strong on tiny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Strategy D re-runs everything on the standard Flickr benchmark — validating, not replacing, the headline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What else I tested (and found)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scientific 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1B2A4E"/>
                </a:solidFill>
                <a:latin typeface="Calibri"/>
              </a:rPr>
              <a:t>Does an integrated model beat decoupling?</a:t>
            </a:r>
            <a:r>
              <a:rPr sz="1650" b="0">
                <a:solidFill>
                  <a:srgbClr val="555555"/>
                </a:solidFill>
                <a:latin typeface="Calibri"/>
              </a:rPr>
              <a:t> I trained a dedicated pointer (Strategy B) end-to-end. It did NOT beat Strategy A — because the engine has far denser training signal. (Tests Halder/DLIR's integration claim.)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1B2A4E"/>
                </a:solidFill>
                <a:latin typeface="Calibri"/>
              </a:rPr>
              <a:t>Is the neural model better than simple baselines?</a:t>
            </a:r>
            <a:r>
              <a:rPr sz="1650" b="0">
                <a:solidFill>
                  <a:srgbClr val="555555"/>
                </a:solidFill>
                <a:latin typeface="Calibri"/>
              </a:rPr>
              <a:t> On the small Flickr data, a Markov transition baseline is the strongest of my methods — an honest result I quantified rather than hid.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1B2A4E"/>
                </a:solidFill>
                <a:latin typeface="Calibri"/>
              </a:rPr>
              <a:t>Does personalization help?</a:t>
            </a:r>
            <a:r>
              <a:rPr sz="1650" b="0">
                <a:solidFill>
                  <a:srgbClr val="555555"/>
                </a:solidFill>
                <a:latin typeface="Calibri"/>
              </a:rPr>
              <a:t> I ablate the user embedding (on/off) per city — measured on the next slide.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Does personalization help? (measured)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the “user preferences”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  <a:latin typeface="Calibri"/>
              </a:rPr>
              <a:t>I switch the user embedding OFF vs ON (identical otherwise) on the comparable Flickr benchmark: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463040" y="1920240"/>
          <a:ext cx="92354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7088"/>
                <a:gridCol w="1847088"/>
                <a:gridCol w="1847088"/>
                <a:gridCol w="1847088"/>
                <a:gridCol w="1847088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City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no user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with user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recurring users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Osaka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0.442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0.435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-0.007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Glasgow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0.451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0.489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+0.038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Toronto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0.440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0.423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-0.017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Edinburgh, Melbourne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(GPU run)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59%, 61%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634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0E7C7B"/>
                </a:solidFill>
              </a:rPr>
              <a:t>▸  </a:t>
            </a:r>
            <a:r>
              <a:rPr sz="1500" b="1">
                <a:solidFill>
                  <a:srgbClr val="1B2A4E"/>
                </a:solidFill>
                <a:latin typeface="Calibri"/>
              </a:rPr>
              <a:t>Mixed / near-neutral</a:t>
            </a:r>
            <a:r>
              <a:rPr sz="1500" b="0">
                <a:solidFill>
                  <a:srgbClr val="555555"/>
                </a:solidFill>
                <a:latin typeface="Calibri"/>
              </a:rPr>
              <a:t> — a clear gain on Glasgow (+0.038), roughly neutral on Osaka and Toronto.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0E7C7B"/>
                </a:solidFill>
              </a:rPr>
              <a:t>▸  </a:t>
            </a:r>
            <a:r>
              <a:rPr sz="1500" b="1">
                <a:solidFill>
                  <a:srgbClr val="1B2A4E"/>
                </a:solidFill>
                <a:latin typeface="Calibri"/>
              </a:rPr>
              <a:t>Honest reason</a:t>
            </a:r>
            <a:r>
              <a:rPr sz="1500" b="0">
                <a:solidFill>
                  <a:srgbClr val="555555"/>
                </a:solidFill>
                <a:latin typeface="Calibri"/>
              </a:rPr>
              <a:t> — in leave-one-out, even recurring users have very few trips, so the embedding is weakly estimated (cold-start). Personalization is a real lever, not a guaranteed win on small data.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honesty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Light context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Δd/Δt only; add time-of-day, opening hours, queuing.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No scheduling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add explicit time budgets (the DLIR direction) for realistic days.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Integrate properly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share/warm-start the engine with the trained model to lift it past A.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Stronger personalization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richer user features beyond a single embedding.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Robustness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multi-seed, more cities, component ablations.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2191695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My model — in one sentence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9997135" cy="1737360"/>
          </a:xfrm>
          <a:prstGeom prst="roundRect">
            <a:avLst/>
          </a:prstGeom>
          <a:solidFill>
            <a:srgbClr val="1B2A4E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 personalized, context-aware next-POI engine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(GCN + GRU + user + context), decoded into tourist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itineraries by rolling it out (Strategy 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8056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>
                <a:solidFill>
                  <a:srgbClr val="FFFFFF"/>
                </a:solidFill>
                <a:latin typeface="Calibri"/>
              </a:rPr>
              <a:t>Strongest of my itinerary methods, and the simplest to explain.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>
                <a:solidFill>
                  <a:srgbClr val="FFFFFF"/>
                </a:solidFill>
                <a:latin typeface="Calibri"/>
              </a:rPr>
              <a:t>Built on a validated engine; benchmarked honestly against the literature.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>
                <a:solidFill>
                  <a:srgbClr val="FFFFFF"/>
                </a:solidFill>
                <a:latin typeface="Calibri"/>
              </a:rPr>
              <a:t>Integration (B) and the Flickr benchmark (D) are experiments that support — not replace —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7286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E07A1F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