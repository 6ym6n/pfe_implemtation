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017520"/>
            <a:ext cx="12191695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The Model</a:t>
            </a:r>
          </a:p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Personalized, Context-Aware Itinerary Recommender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628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9FC0C0"/>
                </a:solidFill>
                <a:latin typeface="Calibri"/>
              </a:rPr>
              <a:t>A next-POI engine — GCN + GRU + user embedding +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36289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…decoded into full tourist itineraries (Strategy 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BFC7D9"/>
                </a:solidFill>
                <a:latin typeface="Calibri"/>
              </a:rPr>
              <a:t>Master's thesis · [Your name] ·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goal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>
                <a:solidFill>
                  <a:srgbClr val="0E7C7B"/>
                </a:solidFill>
              </a:rPr>
              <a:t>▸  </a:t>
            </a:r>
            <a:r>
              <a:rPr sz="1800" b="0">
                <a:solidFill>
                  <a:srgbClr val="555555"/>
                </a:solidFill>
                <a:latin typeface="Calibri"/>
              </a:rPr>
              <a:t>A tourist with limited time wants a </a:t>
            </a:r>
            <a:r>
              <a:rPr sz="1800" b="1">
                <a:solidFill>
                  <a:srgbClr val="1B2A4E"/>
                </a:solidFill>
                <a:latin typeface="Calibri"/>
              </a:rPr>
              <a:t>personalized day plan</a:t>
            </a:r>
            <a:r>
              <a:rPr sz="1800" b="0">
                <a:solidFill>
                  <a:srgbClr val="555555"/>
                </a:solidFill>
                <a:latin typeface="Calibri"/>
              </a:rPr>
              <a:t> — an </a:t>
            </a:r>
            <a:r>
              <a:rPr sz="1800" b="1">
                <a:solidFill>
                  <a:srgbClr val="1B2A4E"/>
                </a:solidFill>
                <a:latin typeface="Calibri"/>
              </a:rPr>
              <a:t>ordered route</a:t>
            </a:r>
            <a:r>
              <a:rPr sz="1800" b="0">
                <a:solidFill>
                  <a:srgbClr val="555555"/>
                </a:solidFill>
                <a:latin typeface="Calibri"/>
              </a:rPr>
              <a:t> of places to visit.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800" b="1">
                <a:solidFill>
                  <a:srgbClr val="0E7C7B"/>
                </a:solidFill>
              </a:rPr>
              <a:t>▸  </a:t>
            </a:r>
            <a:r>
              <a:rPr sz="1800" b="0">
                <a:solidFill>
                  <a:srgbClr val="555555"/>
                </a:solidFill>
                <a:latin typeface="Calibri"/>
              </a:rPr>
              <a:t>The plan must reflect </a:t>
            </a:r>
            <a:r>
              <a:rPr sz="1800" b="1">
                <a:solidFill>
                  <a:srgbClr val="1B2A4E"/>
                </a:solidFill>
                <a:latin typeface="Calibri"/>
              </a:rPr>
              <a:t>who they are</a:t>
            </a:r>
            <a:r>
              <a:rPr sz="1800" b="0">
                <a:solidFill>
                  <a:srgbClr val="555555"/>
                </a:solidFill>
                <a:latin typeface="Calibri"/>
              </a:rPr>
              <a:t> (preferences) and </a:t>
            </a:r>
            <a:r>
              <a:rPr sz="1800" b="1">
                <a:solidFill>
                  <a:srgbClr val="1B2A4E"/>
                </a:solidFill>
                <a:latin typeface="Calibri"/>
              </a:rPr>
              <a:t>context</a:t>
            </a:r>
            <a:r>
              <a:rPr sz="1800" b="0">
                <a:solidFill>
                  <a:srgbClr val="555555"/>
                </a:solidFill>
                <a:latin typeface="Calibri"/>
              </a:rPr>
              <a:t> (distances, time).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4206240"/>
            <a:ext cx="9235440" cy="128016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1B2A4E"/>
                </a:solidFill>
                <a:latin typeface="Calibri"/>
              </a:rPr>
              <a:t>My approach: one model does both —</a:t>
            </a:r>
          </a:p>
          <a:p>
            <a:pPr algn="ctr"/>
            <a:r>
              <a:rPr sz="1800" b="1">
                <a:solidFill>
                  <a:srgbClr val="1B2A4E"/>
                </a:solidFill>
                <a:latin typeface="Calibri"/>
              </a:rPr>
              <a:t>a personalized next-POI engine, decoded into an itinerary.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model in one picture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overview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68880"/>
            <a:ext cx="3657600" cy="155448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THE MODEL</a:t>
            </a:r>
          </a:p>
          <a:p>
            <a:pPr algn="ctr"/>
            <a:r>
              <a:rPr sz="1600" b="1">
                <a:solidFill>
                  <a:srgbClr val="3F51B5"/>
                </a:solidFill>
                <a:latin typeface="Calibri"/>
              </a:rPr>
              <a:t>next-POI engine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GCN + GRU + user + context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97680" y="3246120"/>
            <a:ext cx="73152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29200" y="2468880"/>
            <a:ext cx="3291840" cy="1554480"/>
          </a:xfrm>
          <a:prstGeom prst="roundRect">
            <a:avLst/>
          </a:prstGeom>
          <a:solidFill>
            <a:srgbClr val="FFEBEE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Strategy A</a:t>
            </a:r>
          </a:p>
          <a:p>
            <a:pPr algn="ctr"/>
            <a:r>
              <a:rPr sz="1600" b="1">
                <a:solidFill>
                  <a:srgbClr val="E07A1F"/>
                </a:solidFill>
                <a:latin typeface="Calibri"/>
              </a:rPr>
              <a:t>roll it out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Calibri"/>
              </a:rPr>
              <a:t>(decode the engine)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321040" y="3246120"/>
            <a:ext cx="73152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52560" y="2468880"/>
            <a:ext cx="2468880" cy="155448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0E7C7B"/>
                </a:solidFill>
                <a:latin typeface="Calibri"/>
              </a:rPr>
              <a:t>itinerary</a:t>
            </a:r>
          </a:p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ordered route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555"/>
                </a:solidFill>
                <a:latin typeface="Calibri"/>
              </a:rPr>
              <a:t>My </a:t>
            </a:r>
            <a:r>
              <a:rPr sz="1800" b="1" i="0">
                <a:solidFill>
                  <a:srgbClr val="3F51B5"/>
                </a:solidFill>
                <a:latin typeface="Calibri"/>
              </a:rPr>
              <a:t>model</a:t>
            </a:r>
            <a:r>
              <a:rPr sz="1800" b="0" i="0">
                <a:solidFill>
                  <a:srgbClr val="555555"/>
                </a:solidFill>
                <a:latin typeface="Calibri"/>
              </a:rPr>
              <a:t> is a next-POI engine; my </a:t>
            </a:r>
            <a:r>
              <a:rPr sz="1800" b="1" i="0">
                <a:solidFill>
                  <a:srgbClr val="E07A1F"/>
                </a:solidFill>
                <a:latin typeface="Calibri"/>
              </a:rPr>
              <a:t>itinerary method</a:t>
            </a:r>
            <a:r>
              <a:rPr sz="1800" b="0" i="0">
                <a:solidFill>
                  <a:srgbClr val="555555"/>
                </a:solidFill>
                <a:latin typeface="Calibri"/>
              </a:rPr>
              <a:t> decodes it. Everything else (training a separate model, the benchmark) is an experiment around this.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model —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THE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3108960" cy="91440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POI graph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kNN ∪ co-visit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371600"/>
            <a:ext cx="3108960" cy="91440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context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Δdistance, Δtime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8159" y="1371600"/>
            <a:ext cx="3108960" cy="91440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user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identity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94560" y="2286000"/>
            <a:ext cx="0" cy="27432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0080" y="2560320"/>
            <a:ext cx="3108960" cy="68580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2-layer GCN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43600" y="2286000"/>
            <a:ext cx="0" cy="27432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89120" y="2560320"/>
            <a:ext cx="3108960" cy="68580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context MLPs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92639" y="2286000"/>
            <a:ext cx="0" cy="27432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59" y="2560320"/>
            <a:ext cx="3108960" cy="68580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user embedding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11880"/>
            <a:ext cx="6400800" cy="7772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concat per step → GRU → h_T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11680" y="3246120"/>
            <a:ext cx="0" cy="36576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760720" y="3246120"/>
            <a:ext cx="0" cy="36576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40880" y="3995928"/>
            <a:ext cx="82296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863840" y="3611880"/>
            <a:ext cx="3657600" cy="777240"/>
          </a:xfrm>
          <a:prstGeom prst="roundRect">
            <a:avLst/>
          </a:prstGeom>
          <a:solidFill>
            <a:srgbClr val="FFEBEE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[h_T ; user] → MLP head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0" y="3246120"/>
            <a:ext cx="0" cy="36576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743200" y="4800600"/>
            <a:ext cx="6675120" cy="7772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1B2A4E"/>
                </a:solidFill>
                <a:latin typeface="Calibri"/>
              </a:rPr>
              <a:t>→ a score for every POI (what to visit next)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35040" y="4389120"/>
            <a:ext cx="0" cy="41148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Three signals → graph + sequence + user → a next-POI score. </a:t>
            </a:r>
            <a:r>
              <a:rPr sz="1400" b="1" i="0">
                <a:solidFill>
                  <a:srgbClr val="1B2A4E"/>
                </a:solidFill>
                <a:latin typeface="Calibri"/>
              </a:rPr>
              <a:t>This is the model I built.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How each part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the model, explained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3F51B5"/>
                </a:solidFill>
                <a:latin typeface="Calibri"/>
              </a:rPr>
              <a:t>POI graph + GCN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places are linked if they're close or often visited together; the GCN gives each POI a “fingerprint” aware of its neighbourhood.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E07A1F"/>
                </a:solidFill>
                <a:latin typeface="Calibri"/>
              </a:rPr>
              <a:t>Context (Δd, Δt)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how far and how long since the last place; small networks turn these into vectors.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3F51B5"/>
                </a:solidFill>
                <a:latin typeface="Calibri"/>
              </a:rPr>
              <a:t>User embedding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a small “taste profile” per tourist → the title's user preferences.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0E7C7B"/>
                </a:solidFill>
                <a:latin typeface="Calibri"/>
              </a:rPr>
              <a:t>GRU sequence model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reads the places visited so far and summarises them into one state.</a:t>
            </a:r>
          </a:p>
          <a:p>
            <a:pPr>
              <a:spcBef>
                <a:spcPts val="200"/>
              </a:spcBef>
              <a:spcAft>
                <a:spcPts val="13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E07A1F"/>
                </a:solidFill>
                <a:latin typeface="Calibri"/>
              </a:rPr>
              <a:t>Scoring head</a:t>
            </a:r>
            <a:r>
              <a:rPr sz="1650" b="0">
                <a:solidFill>
                  <a:srgbClr val="555555"/>
                </a:solidFill>
                <a:latin typeface="Calibri"/>
              </a:rPr>
              <a:t> — combines the state + the user, and scores every POI for “what to visit next”.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model carries the thesis title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why this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  <a:latin typeface="Calibri"/>
              </a:rPr>
              <a:t>“Personalized Tourist Itinerary Recommendation Based on </a:t>
            </a:r>
            <a:r>
              <a:rPr sz="1700" b="1" i="1">
                <a:solidFill>
                  <a:srgbClr val="3F51B5"/>
                </a:solidFill>
                <a:latin typeface="Calibri"/>
              </a:rPr>
              <a:t>User Preferences</a:t>
            </a:r>
            <a:r>
              <a:rPr sz="1700" b="0" i="1">
                <a:solidFill>
                  <a:srgbClr val="555555"/>
                </a:solidFill>
                <a:latin typeface="Calibri"/>
              </a:rPr>
              <a:t> and </a:t>
            </a:r>
            <a:r>
              <a:rPr sz="1700" b="1" i="1">
                <a:solidFill>
                  <a:srgbClr val="E07A1F"/>
                </a:solidFill>
                <a:latin typeface="Calibri"/>
              </a:rPr>
              <a:t>Contextual Data</a:t>
            </a:r>
            <a:r>
              <a:rPr sz="1700" b="0" i="1">
                <a:solidFill>
                  <a:srgbClr val="555555"/>
                </a:solidFill>
                <a:latin typeface="Calibri"/>
              </a:rPr>
              <a:t>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5120640" cy="219456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3F51B5"/>
                </a:solidFill>
                <a:latin typeface="Calibri"/>
              </a:rPr>
              <a:t>User preferences</a:t>
            </a:r>
          </a:p>
          <a:p>
            <a:pPr algn="ctr"/>
            <a:r>
              <a:rPr sz="600" b="0">
                <a:solidFill>
                  <a:srgbClr val="3F51B5"/>
                </a:solidFill>
                <a:latin typeface="Calibri"/>
              </a:rPr>
              <a:t/>
            </a:r>
          </a:p>
          <a:p>
            <a:pPr algn="ctr"/>
            <a:r>
              <a:rPr sz="1500" b="1">
                <a:solidFill>
                  <a:srgbClr val="555555"/>
                </a:solidFill>
                <a:latin typeface="Calibri"/>
              </a:rPr>
              <a:t>= the user embedding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a learned taste profile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for each tourist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80"/>
            <a:ext cx="5120640" cy="219456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E07A1F"/>
                </a:solidFill>
                <a:latin typeface="Calibri"/>
              </a:rPr>
              <a:t>Contextual data</a:t>
            </a:r>
          </a:p>
          <a:p>
            <a:pPr algn="ctr"/>
            <a:r>
              <a:rPr sz="600" b="0">
                <a:solidFill>
                  <a:srgbClr val="E07A1F"/>
                </a:solidFill>
                <a:latin typeface="Calibri"/>
              </a:rPr>
              <a:t/>
            </a:r>
          </a:p>
          <a:p>
            <a:pPr algn="ctr"/>
            <a:r>
              <a:rPr sz="1500" b="1">
                <a:solidFill>
                  <a:srgbClr val="555555"/>
                </a:solidFill>
                <a:latin typeface="Calibri"/>
              </a:rPr>
              <a:t>= Δdistance and Δtime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spatial + temporal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gaps between places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1206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Both are </a:t>
            </a:r>
            <a:r>
              <a:rPr sz="1600" b="1" i="0">
                <a:solidFill>
                  <a:srgbClr val="1B2A4E"/>
                </a:solidFill>
                <a:latin typeface="Calibri"/>
              </a:rPr>
              <a:t>inside the model</a:t>
            </a:r>
            <a:r>
              <a:rPr sz="1600" b="0" i="0">
                <a:solidFill>
                  <a:srgbClr val="555555"/>
                </a:solidFill>
                <a:latin typeface="Calibri"/>
              </a:rPr>
              <a:t> — so the title is a description of the architecture, not an aspiration.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The engine works (Phase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evidence the model is sound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3657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HR@1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0.187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HR@5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0.476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HR@10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0.588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555555"/>
                          </a:solidFill>
                          <a:latin typeface="Calibri"/>
                        </a:rPr>
                        <a:t>0.316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417320"/>
          <a:ext cx="6766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HR@1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LSTM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0.130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STGCN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0.180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Ours (GCN+GRU+user)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0.187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STAN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0.220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GETNext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0.240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STHGCN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0.270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LLM4POI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>
                          <a:solidFill>
                            <a:srgbClr val="555555"/>
                          </a:solidFill>
                          <a:latin typeface="Calibri"/>
                        </a:rPr>
                        <a:t>0.340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On Foursquare NYC the engine reaches </a:t>
            </a:r>
            <a:r>
              <a:rPr sz="1600" b="1" i="0">
                <a:solidFill>
                  <a:srgbClr val="1B2A4E"/>
                </a:solidFill>
                <a:latin typeface="Calibri"/>
              </a:rPr>
              <a:t>HR@1 = 0.187</a:t>
            </a:r>
            <a:r>
              <a:rPr sz="1600" b="0" i="0">
                <a:solidFill>
                  <a:srgbClr val="555555"/>
                </a:solidFill>
                <a:latin typeface="Calibri"/>
              </a:rPr>
              <a:t> — the honest LSTM/STGCN tier. A strong, leakage-free engine to build itineraries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Strategy A — turning the engine into an itinerary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my itinerary 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555555"/>
                </a:solidFill>
                <a:latin typeface="Calibri"/>
              </a:rPr>
              <a:t>Roll the engine out: build the route one POI at a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03120"/>
            <a:ext cx="2468880" cy="118872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route = [start]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17520" y="2697480"/>
            <a:ext cx="41148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29000" y="2103120"/>
            <a:ext cx="2468880" cy="1188720"/>
          </a:xfrm>
          <a:prstGeom prst="roundRect">
            <a:avLst/>
          </a:prstGeom>
          <a:solidFill>
            <a:srgbClr val="E3F2FD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3F51B5"/>
                </a:solidFill>
                <a:latin typeface="Calibri"/>
              </a:rPr>
              <a:t>engine scores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all POIs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97880" y="2697480"/>
            <a:ext cx="411480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59" y="2103120"/>
            <a:ext cx="2468880" cy="1188720"/>
          </a:xfrm>
          <a:prstGeom prst="roundRect">
            <a:avLst/>
          </a:prstGeom>
          <a:solidFill>
            <a:srgbClr val="FFF3E0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mask visited;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reserve the end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78240" y="2697480"/>
            <a:ext cx="411479" cy="0"/>
          </a:xfrm>
          <a:prstGeom prst="line">
            <a:avLst/>
          </a:prstGeom>
          <a:ln w="25400">
            <a:solidFill>
              <a:srgbClr val="1B2A4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189719" y="2103120"/>
            <a:ext cx="2468880" cy="1188720"/>
          </a:xfrm>
          <a:prstGeom prst="roundRect">
            <a:avLst/>
          </a:prstGeom>
          <a:solidFill>
            <a:srgbClr val="FFEBEE"/>
          </a:solidFill>
          <a:ln w="22225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E07A1F"/>
                </a:solidFill>
                <a:latin typeface="Calibri"/>
              </a:rPr>
              <a:t>append the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best POI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04120" y="3291840"/>
            <a:ext cx="0" cy="457199"/>
          </a:xfrm>
          <a:prstGeom prst="line">
            <a:avLst/>
          </a:prstGeom>
          <a:ln w="25400">
            <a:solidFill>
              <a:srgbClr val="0E7C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783080" y="3749039"/>
            <a:ext cx="8321040" cy="0"/>
          </a:xfrm>
          <a:prstGeom prst="line">
            <a:avLst/>
          </a:prstGeom>
          <a:ln w="25400">
            <a:solidFill>
              <a:srgbClr val="0E7C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1783080" y="3291840"/>
            <a:ext cx="0" cy="457199"/>
          </a:xfrm>
          <a:prstGeom prst="line">
            <a:avLst/>
          </a:prstGeom>
          <a:ln w="25400">
            <a:solidFill>
              <a:srgbClr val="0E7C7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57600" y="37947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1">
                <a:solidFill>
                  <a:srgbClr val="0E7C7B"/>
                </a:solidFill>
                <a:latin typeface="Calibri"/>
              </a:rPr>
              <a:t>repeat until length K, ending at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No new training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reuse the frozen engine; the itinerary is an inference-time decoder.</a:t>
            </a:r>
          </a:p>
          <a:p>
            <a:pPr>
              <a:spcBef>
                <a:spcPts val="200"/>
              </a:spcBef>
              <a:spcAft>
                <a:spcPts val="1000"/>
              </a:spcAft>
            </a:pPr>
            <a:r>
              <a:rPr sz="1500" b="1">
                <a:solidFill>
                  <a:srgbClr val="0E7C7B"/>
                </a:solidFill>
              </a:rPr>
              <a:t>▸  </a:t>
            </a:r>
            <a:r>
              <a:rPr sz="1500" b="1">
                <a:solidFill>
                  <a:srgbClr val="1B2A4E"/>
                </a:solidFill>
                <a:latin typeface="Calibri"/>
              </a:rPr>
              <a:t>Always valid</a:t>
            </a:r>
            <a:r>
              <a:rPr sz="1500" b="0">
                <a:solidFill>
                  <a:srgbClr val="555555"/>
                </a:solidFill>
                <a:latin typeface="Calibri"/>
              </a:rPr>
              <a:t> — loop-free, exactly K stops, starts at s and ends at 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Strategy A — worked example (Edinburgh)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how it builds a route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840480" cy="1097280"/>
          </a:xfrm>
          <a:prstGeom prst="roundRect">
            <a:avLst/>
          </a:prstGeom>
          <a:solidFill>
            <a:srgbClr val="F3E5F5"/>
          </a:solidFill>
          <a:ln w="22225">
            <a:solidFill>
              <a:srgbClr val="3F51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3F51B5"/>
                </a:solidFill>
                <a:latin typeface="Calibri"/>
              </a:rPr>
              <a:t>QUERY</a:t>
            </a:r>
          </a:p>
          <a:p>
            <a:pPr algn="ctr"/>
            <a:r>
              <a:rPr sz="1400" b="0">
                <a:solidFill>
                  <a:srgbClr val="555555"/>
                </a:solidFill>
                <a:latin typeface="Calibri"/>
              </a:rPr>
              <a:t>start 15 · end 16 · K =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3464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step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83464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83464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engine → best next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step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370332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370332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70332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engine → best next =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step 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20240" y="457200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88920" y="457200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4572000"/>
            <a:ext cx="731520" cy="548640"/>
          </a:xfrm>
          <a:prstGeom prst="roundRect">
            <a:avLst/>
          </a:prstGeom>
          <a:solidFill>
            <a:srgbClr val="ECEEF3"/>
          </a:solidFill>
          <a:ln w="22225">
            <a:solidFill>
              <a:srgbClr val="1B2A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1B2A4E"/>
                </a:solidFill>
                <a:latin typeface="Calibri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2160" y="45720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last hop → reserved end 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440679"/>
            <a:ext cx="1188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E"/>
                </a:solidFill>
                <a:latin typeface="Calibri"/>
              </a:rPr>
              <a:t>result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88920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0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13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26279" y="5440679"/>
            <a:ext cx="731520" cy="54864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0E7C7B"/>
                </a:solidFill>
                <a:latin typeface="Calibri"/>
              </a:rP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440679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1">
                <a:solidFill>
                  <a:srgbClr val="555555"/>
                </a:solidFill>
                <a:latin typeface="Calibri"/>
              </a:rPr>
              <a:t>matches the real trip 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Strategy A — results, and why it's the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my result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17320"/>
          <a:ext cx="73152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Method (NYC, len≥3)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pairs-F1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T="38100" marB="38100" anchor="ctr">
                    <a:solidFill>
                      <a:srgbClr val="1B2A4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A — frozen rollout (greedy)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0.289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decoupled</a:t>
                      </a:r>
                    </a:p>
                  </a:txBody>
                  <a:tcPr marT="38100" marB="38100" anchor="ctr">
                    <a:solidFill>
                      <a:srgbClr val="0E7C7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A — frozen rollout (beam 3)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0.290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decoupled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B-v1 — pointer (no context)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0.259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integrated</a:t>
                      </a:r>
                    </a:p>
                  </a:txBody>
                  <a:tcPr marT="38100" marB="381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B-v2 — pointer (+ context)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0.261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555555"/>
                          </a:solidFill>
                          <a:latin typeface="Calibri"/>
                        </a:rPr>
                        <a:t>integrated</a:t>
                      </a:r>
                    </a:p>
                  </a:txBody>
                  <a:tcPr marT="38100" marB="38100" anchor="ctr">
                    <a:solidFill>
                      <a:srgbClr val="ECEEF3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0" y="1417320"/>
            <a:ext cx="3291840" cy="2103120"/>
          </a:xfrm>
          <a:prstGeom prst="roundRect">
            <a:avLst/>
          </a:prstGeom>
          <a:solidFill>
            <a:srgbClr val="E8F5E9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0E7C7B"/>
                </a:solidFill>
                <a:latin typeface="Calibri"/>
              </a:rPr>
              <a:t>Strategy A wins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decoding the strong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engine beats training</a:t>
            </a:r>
          </a:p>
          <a:p>
            <a:pPr algn="ctr"/>
            <a:r>
              <a:rPr sz="1300" b="0">
                <a:solidFill>
                  <a:srgbClr val="555555"/>
                </a:solidFill>
                <a:latin typeface="Calibri"/>
              </a:rPr>
              <a:t>a separate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 b="1">
                <a:solidFill>
                  <a:srgbClr val="1B2A4E"/>
                </a:solidFill>
                <a:latin typeface="Calibri"/>
              </a:rPr>
              <a:t>Best of my itinerary methods</a:t>
            </a:r>
            <a:r>
              <a:rPr sz="1600" b="0">
                <a:solidFill>
                  <a:srgbClr val="555555"/>
                </a:solidFill>
                <a:latin typeface="Calibri"/>
              </a:rPr>
              <a:t> on NYC (~0.29 pairs-F1).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 b="1">
                <a:solidFill>
                  <a:srgbClr val="1B2A4E"/>
                </a:solidFill>
                <a:latin typeface="Calibri"/>
              </a:rPr>
              <a:t>Simplest and most interpretable</a:t>
            </a:r>
            <a:r>
              <a:rPr sz="1600" b="0">
                <a:solidFill>
                  <a:srgbClr val="555555"/>
                </a:solidFill>
                <a:latin typeface="Calibri"/>
              </a:rPr>
              <a:t> — easy to explain and trust.</a:t>
            </a:r>
          </a:p>
          <a:p>
            <a:pPr>
              <a:spcBef>
                <a:spcPts val="200"/>
              </a:spcBef>
              <a:spcAft>
                <a:spcPts val="11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 b="1">
                <a:solidFill>
                  <a:srgbClr val="1B2A4E"/>
                </a:solidFill>
                <a:latin typeface="Calibri"/>
              </a:rPr>
              <a:t>Reuses the personalized engine directly</a:t>
            </a:r>
            <a:r>
              <a:rPr sz="1600" b="0">
                <a:solidFill>
                  <a:srgbClr val="555555"/>
                </a:solidFill>
                <a:latin typeface="Calibri"/>
              </a:rPr>
              <a:t> — so the itinerary inherits user preferences + context.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Validation — my approach is on the literature's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rigor</a:t>
            </a:r>
          </a:p>
        </p:txBody>
      </p:sp>
      <p:pic>
        <p:nvPicPr>
          <p:cNvPr id="6" name="Picture 5" descr="chart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7955279" cy="40669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0" y="155448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0E7C7B"/>
                </a:solidFill>
              </a:rPr>
              <a:t>▸  </a:t>
            </a:r>
            <a:r>
              <a:rPr sz="1400" b="1">
                <a:solidFill>
                  <a:srgbClr val="1B2A4E"/>
                </a:solidFill>
                <a:latin typeface="Calibri"/>
              </a:rPr>
              <a:t>Reproduces Chen 2016</a:t>
            </a:r>
            <a:r>
              <a:rPr sz="1400" b="0">
                <a:solidFill>
                  <a:srgbClr val="555555"/>
                </a:solidFill>
                <a:latin typeface="Calibri"/>
              </a:rPr>
              <a:t> (Random baseline) → the setup is fair.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0E7C7B"/>
                </a:solidFill>
              </a:rPr>
              <a:t>▸  </a:t>
            </a:r>
            <a:r>
              <a:rPr sz="1400" b="1">
                <a:solidFill>
                  <a:srgbClr val="1B2A4E"/>
                </a:solidFill>
                <a:latin typeface="Calibri"/>
              </a:rPr>
              <a:t>On the published</a:t>
            </a:r>
            <a:r>
              <a:rPr sz="1400" b="0">
                <a:solidFill>
                  <a:srgbClr val="555555"/>
                </a:solidFill>
                <a:latin typeface="Calibri"/>
              </a:rPr>
              <a:t> 0.3–0.85 pairs-F1 scale.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400" b="1">
                <a:solidFill>
                  <a:srgbClr val="0E7C7B"/>
                </a:solidFill>
              </a:rPr>
              <a:t>▸  </a:t>
            </a:r>
            <a:r>
              <a:rPr sz="1400" b="1">
                <a:solidFill>
                  <a:srgbClr val="C0392B"/>
                </a:solidFill>
                <a:latin typeface="Calibri"/>
              </a:rPr>
              <a:t>Honest:</a:t>
            </a:r>
            <a:r>
              <a:rPr sz="1400" b="0">
                <a:solidFill>
                  <a:srgbClr val="555555"/>
                </a:solidFill>
                <a:latin typeface="Calibri"/>
              </a:rPr>
              <a:t> a simple Markov baseline is strong on tiny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9436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555"/>
                </a:solidFill>
                <a:latin typeface="Calibri"/>
              </a:rPr>
              <a:t>Strategy D re-runs everything on the standard Flickr benchmark — validating, not replacing, the headline model.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What else I tested (and found)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scientific 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1B2A4E"/>
                </a:solidFill>
                <a:latin typeface="Calibri"/>
              </a:rPr>
              <a:t>Does an integrated model beat decoupling?</a:t>
            </a:r>
            <a:r>
              <a:rPr sz="1650" b="0">
                <a:solidFill>
                  <a:srgbClr val="555555"/>
                </a:solidFill>
                <a:latin typeface="Calibri"/>
              </a:rPr>
              <a:t> I trained a dedicated pointer (Strategy B) end-to-end. It did NOT beat Strategy A — because the engine has far denser training signal. (Tests Halder/DLIR's integration claim.)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1B2A4E"/>
                </a:solidFill>
                <a:latin typeface="Calibri"/>
              </a:rPr>
              <a:t>Is the neural model better than simple baselines?</a:t>
            </a:r>
            <a:r>
              <a:rPr sz="1650" b="0">
                <a:solidFill>
                  <a:srgbClr val="555555"/>
                </a:solidFill>
                <a:latin typeface="Calibri"/>
              </a:rPr>
              <a:t> On the small Flickr data, a Markov transition baseline is the strongest of my methods — an honest result I quantified rather than hid.</a:t>
            </a:r>
          </a:p>
          <a:p>
            <a:pPr>
              <a:spcBef>
                <a:spcPts val="200"/>
              </a:spcBef>
              <a:spcAft>
                <a:spcPts val="1500"/>
              </a:spcAft>
            </a:pPr>
            <a:r>
              <a:rPr sz="1650" b="1">
                <a:solidFill>
                  <a:srgbClr val="0E7C7B"/>
                </a:solidFill>
              </a:rPr>
              <a:t>▸  </a:t>
            </a:r>
            <a:r>
              <a:rPr sz="1650" b="1">
                <a:solidFill>
                  <a:srgbClr val="1B2A4E"/>
                </a:solidFill>
                <a:latin typeface="Calibri"/>
              </a:rPr>
              <a:t>Does personalization help?</a:t>
            </a:r>
            <a:r>
              <a:rPr sz="1650" b="0">
                <a:solidFill>
                  <a:srgbClr val="555555"/>
                </a:solidFill>
                <a:latin typeface="Calibri"/>
              </a:rPr>
              <a:t> I ablate the user embedding (on/off) per city — it can help where tourists recur (55–61% of Edinburgh/Melbourne/Toronto), little on Osaka/Glasgow.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85855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"/>
              </a:rPr>
              <a:t>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"/>
            <a:ext cx="11185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BFC7D9"/>
                </a:solidFill>
                <a:latin typeface="Calibri"/>
              </a:rPr>
              <a:t>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Light context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Δd/Δt only; add time-of-day, opening hours, queuing.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No scheduling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add explicit time budgets (the DLIR direction) for realistic days.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Integrate properly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share/warm-start the engine with the trained model to lift it past A.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Stronger personalization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richer user features beyond a single embedding.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1700" b="1">
                <a:solidFill>
                  <a:srgbClr val="0E7C7B"/>
                </a:solidFill>
              </a:rPr>
              <a:t>▸  </a:t>
            </a:r>
            <a:r>
              <a:rPr sz="1700" b="1">
                <a:solidFill>
                  <a:srgbClr val="1B2A4E"/>
                </a:solidFill>
                <a:latin typeface="Calibri"/>
              </a:rPr>
              <a:t>Robustness</a:t>
            </a:r>
            <a:r>
              <a:rPr sz="1700" b="0">
                <a:solidFill>
                  <a:srgbClr val="555555"/>
                </a:solidFill>
                <a:latin typeface="Calibri"/>
              </a:rPr>
              <a:t> — multi-seed, more cities, component ablations.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888888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888888"/>
                </a:solidFill>
                <a:latin typeface="Calibri"/>
              </a:rPr>
              <a:t>A personalized, context-aware itinerary recommender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554480"/>
            <a:ext cx="12191695" cy="45720"/>
          </a:xfrm>
          <a:prstGeom prst="rect">
            <a:avLst/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72865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My model — in one sentence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377440"/>
            <a:ext cx="9997135" cy="1737360"/>
          </a:xfrm>
          <a:prstGeom prst="roundRect">
            <a:avLst/>
          </a:prstGeom>
          <a:solidFill>
            <a:srgbClr val="1B2A4E"/>
          </a:solidFill>
          <a:ln w="22225">
            <a:solidFill>
              <a:srgbClr val="0E7C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 personalized, context-aware next-POI engine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(GCN + GRU + user + context), decoded into tourist</a:t>
            </a:r>
          </a:p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itineraries by rolling it out (Strategy 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48056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>
                <a:solidFill>
                  <a:srgbClr val="FFFFFF"/>
                </a:solidFill>
                <a:latin typeface="Calibri"/>
              </a:rPr>
              <a:t>Strongest of my itinerary methods, and the simplest to explain.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>
                <a:solidFill>
                  <a:srgbClr val="FFFFFF"/>
                </a:solidFill>
                <a:latin typeface="Calibri"/>
              </a:rPr>
              <a:t>Built on a validated engine; benchmarked honestly against the literature.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E7C7B"/>
                </a:solidFill>
              </a:rPr>
              <a:t>▸  </a:t>
            </a:r>
            <a:r>
              <a:rPr sz="1600">
                <a:solidFill>
                  <a:srgbClr val="FFFFFF"/>
                </a:solidFill>
                <a:latin typeface="Calibri"/>
              </a:rPr>
              <a:t>Integration (B) and the Flickr benchmark (D) are experiments that support — not replace —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26480"/>
            <a:ext cx="1072865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E07A1F"/>
                </a:solidFill>
                <a:latin typeface="Calibri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