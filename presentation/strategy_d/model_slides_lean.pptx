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The Model</a:t>
            </a:r>
          </a:p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 Personalized, Context-Aware Itinerary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9FC0C0"/>
                </a:solidFill>
                <a:latin typeface="Calibri"/>
              </a:rPr>
              <a:t>A next-POI engine — GCN + GRU + user embedding +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28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…decoded into full tourist itineraries (Frozen Rollout)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BFC7D9"/>
                </a:solidFill>
                <a:latin typeface="Calibri"/>
              </a:rPr>
              <a:t>Master's thesis · [Your name]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0">
                <a:solidFill>
                  <a:srgbClr val="555555"/>
                </a:solidFill>
                <a:latin typeface="Calibri"/>
              </a:rPr>
              <a:t>A tourist with limited time wants a </a:t>
            </a:r>
            <a:r>
              <a:rPr sz="1800" b="1">
                <a:solidFill>
                  <a:srgbClr val="1B2A4E"/>
                </a:solidFill>
                <a:latin typeface="Calibri"/>
              </a:rPr>
              <a:t>personalized day plan</a:t>
            </a:r>
            <a:r>
              <a:rPr sz="1800" b="0">
                <a:solidFill>
                  <a:srgbClr val="555555"/>
                </a:solidFill>
                <a:latin typeface="Calibri"/>
              </a:rPr>
              <a:t> — an </a:t>
            </a:r>
            <a:r>
              <a:rPr sz="1800" b="1">
                <a:solidFill>
                  <a:srgbClr val="1B2A4E"/>
                </a:solidFill>
                <a:latin typeface="Calibri"/>
              </a:rPr>
              <a:t>ordered route</a:t>
            </a:r>
            <a:r>
              <a:rPr sz="1800" b="0">
                <a:solidFill>
                  <a:srgbClr val="555555"/>
                </a:solidFill>
                <a:latin typeface="Calibri"/>
              </a:rPr>
              <a:t> of places to visit.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0">
                <a:solidFill>
                  <a:srgbClr val="555555"/>
                </a:solidFill>
                <a:latin typeface="Calibri"/>
              </a:rPr>
              <a:t>The plan must reflect </a:t>
            </a:r>
            <a:r>
              <a:rPr sz="1800" b="1">
                <a:solidFill>
                  <a:srgbClr val="1B2A4E"/>
                </a:solidFill>
                <a:latin typeface="Calibri"/>
              </a:rPr>
              <a:t>who they are</a:t>
            </a:r>
            <a:r>
              <a:rPr sz="1800" b="0">
                <a:solidFill>
                  <a:srgbClr val="555555"/>
                </a:solidFill>
                <a:latin typeface="Calibri"/>
              </a:rPr>
              <a:t> (preferences) and </a:t>
            </a:r>
            <a:r>
              <a:rPr sz="1800" b="1">
                <a:solidFill>
                  <a:srgbClr val="1B2A4E"/>
                </a:solidFill>
                <a:latin typeface="Calibri"/>
              </a:rPr>
              <a:t>context</a:t>
            </a:r>
            <a:r>
              <a:rPr sz="1800" b="0">
                <a:solidFill>
                  <a:srgbClr val="555555"/>
                </a:solidFill>
                <a:latin typeface="Calibri"/>
              </a:rPr>
              <a:t> (distances, time).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206240"/>
            <a:ext cx="9235440" cy="128016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2A4E"/>
                </a:solidFill>
                <a:latin typeface="Calibri"/>
              </a:rPr>
              <a:t>My approach: one model does both —</a:t>
            </a:r>
          </a:p>
          <a:p>
            <a:pPr algn="ctr"/>
            <a:r>
              <a:rPr sz="1800" b="1">
                <a:solidFill>
                  <a:srgbClr val="1B2A4E"/>
                </a:solidFill>
                <a:latin typeface="Calibri"/>
              </a:rPr>
              <a:t>a personalized next-POI engine, decoded into an itinerary.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approach — two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520440" cy="86868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3F51B5"/>
                </a:solidFill>
                <a:latin typeface="Calibri"/>
              </a:rPr>
              <a:t>the next-POI engine</a:t>
            </a:r>
          </a:p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GCN + GRU + user + context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200400" y="2194560"/>
            <a:ext cx="2286000" cy="59436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788920"/>
            <a:ext cx="5212080" cy="246888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PILLAR 1</a:t>
            </a:r>
          </a:p>
          <a:p>
            <a:pPr algn="ctr"/>
            <a:r>
              <a:rPr sz="1800" b="1">
                <a:solidFill>
                  <a:srgbClr val="E07A1F"/>
                </a:solidFill>
                <a:latin typeface="Calibri"/>
              </a:rPr>
              <a:t>Frozen Rollout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build the itinerary —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decode the engine, loop-free</a:t>
            </a:r>
          </a:p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(Foursquare NYC)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788920"/>
            <a:ext cx="5212080" cy="246888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0E7C7B"/>
                </a:solidFill>
                <a:latin typeface="Calibri"/>
              </a:rPr>
              <a:t>PILLAR 2</a:t>
            </a:r>
          </a:p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Flickr Benchmark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validate vs the literature —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same dataset + protocol</a:t>
            </a:r>
          </a:p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as the published papers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Pillar 2 is the </a:t>
            </a:r>
            <a:r>
              <a:rPr sz="1500" b="1" i="0">
                <a:solidFill>
                  <a:srgbClr val="1B2A4E"/>
                </a:solidFill>
                <a:latin typeface="Calibri"/>
              </a:rPr>
              <a:t>only valid bridge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to other papers' numbers — same scale, same rules. (NYC scores cannot be compared directly to the literature.)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model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THE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108960" cy="91440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POI graph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kNN ∪ co-visit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108960" cy="91440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context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Δdistance, Δtime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371600"/>
            <a:ext cx="3108960" cy="91440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user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identity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286000"/>
            <a:ext cx="0" cy="27432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560320"/>
            <a:ext cx="3108960" cy="68580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2-layer GCN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86000"/>
            <a:ext cx="0" cy="27432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2560320"/>
            <a:ext cx="3108960" cy="68580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context MLPs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92639" y="2286000"/>
            <a:ext cx="0" cy="27432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59" y="2560320"/>
            <a:ext cx="3108960" cy="68580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user embedding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6400800" cy="7772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concat per step → GRU → h_T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11680" y="3246120"/>
            <a:ext cx="0" cy="36576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3246120"/>
            <a:ext cx="0" cy="36576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0" y="3995928"/>
            <a:ext cx="82296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63840" y="3611880"/>
            <a:ext cx="3657600" cy="77724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[h_T ; user] → MLP head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246120"/>
            <a:ext cx="0" cy="36576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43200" y="4800600"/>
            <a:ext cx="6675120" cy="7772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1B2A4E"/>
                </a:solidFill>
                <a:latin typeface="Calibri"/>
              </a:rPr>
              <a:t>→ a score for every POI (what to visit next)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4389120"/>
            <a:ext cx="0" cy="41148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Three signals → graph + sequence + user → a next-POI score. </a:t>
            </a:r>
            <a:r>
              <a:rPr sz="1400" b="1" i="0">
                <a:solidFill>
                  <a:srgbClr val="1B2A4E"/>
                </a:solidFill>
                <a:latin typeface="Calibri"/>
              </a:rPr>
              <a:t>This is the model I built.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How each part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the model,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3F51B5"/>
                </a:solidFill>
                <a:latin typeface="Calibri"/>
              </a:rPr>
              <a:t>POI graph + GCN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places are linked if they're close or often visited together; the GCN gives each POI a “fingerprint” aware of its neighbourhood.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E07A1F"/>
                </a:solidFill>
                <a:latin typeface="Calibri"/>
              </a:rPr>
              <a:t>Context (Δd, Δt)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how far and how long since the last place; small networks turn these into vectors.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3F51B5"/>
                </a:solidFill>
                <a:latin typeface="Calibri"/>
              </a:rPr>
              <a:t>User embedding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a small “taste profile” per tourist → the title's user preferences.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0E7C7B"/>
                </a:solidFill>
                <a:latin typeface="Calibri"/>
              </a:rPr>
              <a:t>GRU sequence model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reads the places visited so far and summarises them into one state.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E07A1F"/>
                </a:solidFill>
                <a:latin typeface="Calibri"/>
              </a:rPr>
              <a:t>Scoring head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combines the state + the user, and scores every POI for “what to visit next”.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model carries the thesis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why this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  <a:latin typeface="Calibri"/>
              </a:rPr>
              <a:t>“Personalized Tourist Itinerary Recommendation Based on </a:t>
            </a:r>
            <a:r>
              <a:rPr sz="1700" b="1" i="1">
                <a:solidFill>
                  <a:srgbClr val="3F51B5"/>
                </a:solidFill>
                <a:latin typeface="Calibri"/>
              </a:rPr>
              <a:t>User Preferences</a:t>
            </a:r>
            <a:r>
              <a:rPr sz="1700" b="0" i="1">
                <a:solidFill>
                  <a:srgbClr val="555555"/>
                </a:solidFill>
                <a:latin typeface="Calibri"/>
              </a:rPr>
              <a:t> and </a:t>
            </a:r>
            <a:r>
              <a:rPr sz="1700" b="1" i="1">
                <a:solidFill>
                  <a:srgbClr val="E07A1F"/>
                </a:solidFill>
                <a:latin typeface="Calibri"/>
              </a:rPr>
              <a:t>Contextual Data</a:t>
            </a:r>
            <a:r>
              <a:rPr sz="1700" b="0" i="1">
                <a:solidFill>
                  <a:srgbClr val="555555"/>
                </a:solidFill>
                <a:latin typeface="Calibri"/>
              </a:rPr>
              <a:t>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5120640" cy="219456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3F51B5"/>
                </a:solidFill>
                <a:latin typeface="Calibri"/>
              </a:rPr>
              <a:t>User preferences</a:t>
            </a:r>
          </a:p>
          <a:p>
            <a:pPr algn="ctr"/>
            <a:r>
              <a:rPr sz="600" b="0">
                <a:solidFill>
                  <a:srgbClr val="3F51B5"/>
                </a:solidFill>
                <a:latin typeface="Calibri"/>
              </a:rPr>
              <a:t/>
            </a:r>
          </a:p>
          <a:p>
            <a:pPr algn="ctr"/>
            <a:r>
              <a:rPr sz="1500" b="1">
                <a:solidFill>
                  <a:srgbClr val="555555"/>
                </a:solidFill>
                <a:latin typeface="Calibri"/>
              </a:rPr>
              <a:t>= the user embedding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a learned taste profile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for each tourist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68880"/>
            <a:ext cx="5120640" cy="219456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E07A1F"/>
                </a:solidFill>
                <a:latin typeface="Calibri"/>
              </a:rPr>
              <a:t>Contextual data</a:t>
            </a:r>
          </a:p>
          <a:p>
            <a:pPr algn="ctr"/>
            <a:r>
              <a:rPr sz="600" b="0">
                <a:solidFill>
                  <a:srgbClr val="E07A1F"/>
                </a:solidFill>
                <a:latin typeface="Calibri"/>
              </a:rPr>
              <a:t/>
            </a:r>
          </a:p>
          <a:p>
            <a:pPr algn="ctr"/>
            <a:r>
              <a:rPr sz="1500" b="1">
                <a:solidFill>
                  <a:srgbClr val="555555"/>
                </a:solidFill>
                <a:latin typeface="Calibri"/>
              </a:rPr>
              <a:t>= Δdistance and Δtime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spatial + temporal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gaps between 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Both are </a:t>
            </a:r>
            <a:r>
              <a:rPr sz="1600" b="1" i="0">
                <a:solidFill>
                  <a:srgbClr val="1B2A4E"/>
                </a:solidFill>
                <a:latin typeface="Calibri"/>
              </a:rPr>
              <a:t>inside the model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— so the title is a description of the architecture, not an aspiration.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engine works (Phase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evidence the model is sound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3657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HR@1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0.187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HR@5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HR@10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0.588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0.316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417320"/>
          <a:ext cx="6766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HR@1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0.130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STGCN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0.180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Ours (GCN+GRU+user)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0.187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STAN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GETNext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0.240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STHGCN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0.270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LLM4POI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0.340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On Foursquare NYC the engine reaches </a:t>
            </a:r>
            <a:r>
              <a:rPr sz="1600" b="1" i="0">
                <a:solidFill>
                  <a:srgbClr val="1B2A4E"/>
                </a:solidFill>
                <a:latin typeface="Calibri"/>
              </a:rPr>
              <a:t>HR@1 = 0.187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— the honest LSTM/STGCN tier. A strong, leakage-free engine to build itineraries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Frozen Rollout — turning the engine into an itinerary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my itinerary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Roll the engine out: build the route one POI at a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468880" cy="118872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route = [start]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697480"/>
            <a:ext cx="41148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2103120"/>
            <a:ext cx="2468880" cy="118872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engine scores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all POIs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2697480"/>
            <a:ext cx="41148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59" y="2103120"/>
            <a:ext cx="2468880" cy="118872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mask visited;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reserve the 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2697480"/>
            <a:ext cx="411479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89719" y="2103120"/>
            <a:ext cx="2468880" cy="118872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append the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best POI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04120" y="3291840"/>
            <a:ext cx="0" cy="457199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783080" y="3749039"/>
            <a:ext cx="8321040" cy="0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83080" y="3291840"/>
            <a:ext cx="0" cy="457199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0" y="37947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1">
                <a:solidFill>
                  <a:srgbClr val="0E7C7B"/>
                </a:solidFill>
                <a:latin typeface="Calibri"/>
              </a:rPr>
              <a:t>repeat until length K, ending at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0E7C7B"/>
                </a:solidFill>
              </a:rPr>
              <a:t>▸  </a:t>
            </a:r>
            <a:r>
              <a:rPr sz="1500" b="1">
                <a:solidFill>
                  <a:srgbClr val="1B2A4E"/>
                </a:solidFill>
                <a:latin typeface="Calibri"/>
              </a:rPr>
              <a:t>No new training</a:t>
            </a:r>
            <a:r>
              <a:rPr sz="1500" b="0">
                <a:solidFill>
                  <a:srgbClr val="555555"/>
                </a:solidFill>
                <a:latin typeface="Calibri"/>
              </a:rPr>
              <a:t> — reuse the frozen engine; the itinerary is an inference-time decoder.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0E7C7B"/>
                </a:solidFill>
              </a:rPr>
              <a:t>▸  </a:t>
            </a:r>
            <a:r>
              <a:rPr sz="1500" b="1">
                <a:solidFill>
                  <a:srgbClr val="1B2A4E"/>
                </a:solidFill>
                <a:latin typeface="Calibri"/>
              </a:rPr>
              <a:t>Always valid</a:t>
            </a:r>
            <a:r>
              <a:rPr sz="1500" b="0">
                <a:solidFill>
                  <a:srgbClr val="555555"/>
                </a:solidFill>
                <a:latin typeface="Calibri"/>
              </a:rPr>
              <a:t> — loop-free, exactly K stops, starts at s and ends at 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Frozen Rollout — worked example (Edinburgh)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how it builds a route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840480" cy="109728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3F51B5"/>
                </a:solidFill>
                <a:latin typeface="Calibri"/>
              </a:rPr>
              <a:t>QUERY</a:t>
            </a:r>
          </a:p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start 15 · end 16 · K =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step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83464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83464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engine → best next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step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70332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70332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7033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engine → best next =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step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457200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457200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457200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57200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last hop → reserved end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79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5440679"/>
            <a:ext cx="73152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5440679"/>
            <a:ext cx="73152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5440679"/>
            <a:ext cx="73152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79" y="5440679"/>
            <a:ext cx="73152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440679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matches the real trip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Frozen Rollout — results (Foursquare NYC)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pillar 1 result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Decoder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pairs-F1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set-F1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greedy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0.289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0.609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beam (3)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0.290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0.610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474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1B2A4E"/>
                </a:solidFill>
                <a:latin typeface="Calibri"/>
              </a:rPr>
              <a:t>Simplest, most interpretable</a:t>
            </a:r>
            <a:r>
              <a:rPr sz="1600" b="0">
                <a:solidFill>
                  <a:srgbClr val="555555"/>
                </a:solidFill>
                <a:latin typeface="Calibri"/>
              </a:rPr>
              <a:t> — an inference-time decoder over the frozen engine; no extra training.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1B2A4E"/>
                </a:solidFill>
                <a:latin typeface="Calibri"/>
              </a:rPr>
              <a:t>Reuses the personalized engine directly</a:t>
            </a:r>
            <a:r>
              <a:rPr sz="1600" b="0">
                <a:solidFill>
                  <a:srgbClr val="555555"/>
                </a:solidFill>
                <a:latin typeface="Calibri"/>
              </a:rPr>
              <a:t> — the itinerary inherits user preferences + context.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1B2A4E"/>
                </a:solidFill>
                <a:latin typeface="Calibri"/>
              </a:rPr>
              <a:t>Beam barely beats greedy</a:t>
            </a:r>
            <a:r>
              <a:rPr sz="1600" b="0">
                <a:solidFill>
                  <a:srgbClr val="555555"/>
                </a:solidFill>
                <a:latin typeface="Calibri"/>
              </a:rPr>
              <a:t> — the engine is myopic; better decoding can't fix that (motivates Pillar 2 + future work).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Note: these NYC numbers are </a:t>
            </a:r>
            <a:r>
              <a:rPr sz="1400" b="1" i="1">
                <a:solidFill>
                  <a:srgbClr val="C0392B"/>
                </a:solidFill>
                <a:latin typeface="Calibri"/>
              </a:rPr>
              <a:t>not comparable to the papers</a:t>
            </a:r>
            <a:r>
              <a:rPr sz="1400" b="0" i="1">
                <a:solidFill>
                  <a:srgbClr val="555555"/>
                </a:solidFill>
                <a:latin typeface="Calibri"/>
              </a:rPr>
              <a:t> — that is Pillar 2's job.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Validation — my approach is on the literature's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rigor</a:t>
            </a:r>
          </a:p>
        </p:txBody>
      </p:sp>
      <p:pic>
        <p:nvPicPr>
          <p:cNvPr id="6" name="Picture 5" descr="char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7955279" cy="40669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5544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1">
                <a:solidFill>
                  <a:srgbClr val="1B2A4E"/>
                </a:solidFill>
                <a:latin typeface="Calibri"/>
              </a:rPr>
              <a:t>Reproduces Chen 2016</a:t>
            </a:r>
            <a:r>
              <a:rPr sz="1400" b="0">
                <a:solidFill>
                  <a:srgbClr val="555555"/>
                </a:solidFill>
                <a:latin typeface="Calibri"/>
              </a:rPr>
              <a:t> (Random baseline) → the setup is fair.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1">
                <a:solidFill>
                  <a:srgbClr val="1B2A4E"/>
                </a:solidFill>
                <a:latin typeface="Calibri"/>
              </a:rPr>
              <a:t>On the published</a:t>
            </a:r>
            <a:r>
              <a:rPr sz="1400" b="0">
                <a:solidFill>
                  <a:srgbClr val="555555"/>
                </a:solidFill>
                <a:latin typeface="Calibri"/>
              </a:rPr>
              <a:t> 0.3–0.85 pairs-F1 scale.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1">
                <a:solidFill>
                  <a:srgbClr val="C0392B"/>
                </a:solidFill>
                <a:latin typeface="Calibri"/>
              </a:rPr>
              <a:t>Honest:</a:t>
            </a:r>
            <a:r>
              <a:rPr sz="1400" b="0">
                <a:solidFill>
                  <a:srgbClr val="555555"/>
                </a:solidFill>
                <a:latin typeface="Calibri"/>
              </a:rPr>
              <a:t> a simple Markov baseline is strong on tiny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The Flickr Benchmark re-runs everything on the standard Flickr datasets — validating, not replacing, the headline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Rigor — what else I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honest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50" b="1">
                <a:solidFill>
                  <a:srgbClr val="0E7C7B"/>
                </a:solidFill>
              </a:rPr>
              <a:t>▸  </a:t>
            </a:r>
            <a:r>
              <a:rPr sz="1550" b="1">
                <a:solidFill>
                  <a:srgbClr val="1B2A4E"/>
                </a:solidFill>
                <a:latin typeface="Calibri"/>
              </a:rPr>
              <a:t>Integration (the Trained Pointer).</a:t>
            </a:r>
            <a:r>
              <a:rPr sz="1550" b="0">
                <a:solidFill>
                  <a:srgbClr val="555555"/>
                </a:solidFill>
                <a:latin typeface="Calibri"/>
              </a:rPr>
              <a:t> A dedicated pointer trained end-to-end did NOT beat the Frozen Rollout — the engine's far denser supervision wins. (Directly tests Halder/DLIR's integration claim.)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50" b="1">
                <a:solidFill>
                  <a:srgbClr val="0E7C7B"/>
                </a:solidFill>
              </a:rPr>
              <a:t>▸  </a:t>
            </a:r>
            <a:r>
              <a:rPr sz="1550" b="1">
                <a:solidFill>
                  <a:srgbClr val="1B2A4E"/>
                </a:solidFill>
                <a:latin typeface="Calibri"/>
              </a:rPr>
              <a:t>Simple baselines are strong.</a:t>
            </a:r>
            <a:r>
              <a:rPr sz="1550" b="0">
                <a:solidFill>
                  <a:srgbClr val="555555"/>
                </a:solidFill>
                <a:latin typeface="Calibri"/>
              </a:rPr>
              <a:t> On the Flickr benchmark a Markov transition model is the strongest of my methods — quantified, not hidden.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50" b="1">
                <a:solidFill>
                  <a:srgbClr val="0E7C7B"/>
                </a:solidFill>
              </a:rPr>
              <a:t>▸  </a:t>
            </a:r>
            <a:r>
              <a:rPr sz="1550" b="1">
                <a:solidFill>
                  <a:srgbClr val="1B2A4E"/>
                </a:solidFill>
                <a:latin typeface="Calibri"/>
              </a:rPr>
              <a:t>Personalization.</a:t>
            </a:r>
            <a:r>
              <a:rPr sz="1550" b="0">
                <a:solidFill>
                  <a:srgbClr val="555555"/>
                </a:solidFill>
                <a:latin typeface="Calibri"/>
              </a:rPr>
              <a:t> User-embedding ablation: mixed (Glasgow +0.038; Osaka / Toronto ~neutral) — helps where users recur, cold-start otherwise.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526280"/>
          <a:ext cx="39319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NYC, len≥3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pairs-F1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Frozen Rollout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0.290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Trained Pointer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0.261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4800600"/>
            <a:ext cx="6583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E"/>
                </a:solidFill>
                <a:latin typeface="Calibri"/>
              </a:rPr>
              <a:t>Takeaway: 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the simple, decoupled Frozen Rollout is the right headline — the learned / integrated variants don't beat it on this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honesty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Light context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Δd/Δt only; add time-of-day, opening hours, queuing.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No scheduling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add explicit time budgets (the DLIR direction) for realistic days.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Integrate properly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share/warm-start the engine with the trained model to lift it past A.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Stronger personalization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richer user features beyond a single embedding.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Robustness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multi-seed, more cities, component ablations.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My model — in one sentence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9997135" cy="1737360"/>
          </a:xfrm>
          <a:prstGeom prst="roundRect">
            <a:avLst/>
          </a:prstGeom>
          <a:solidFill>
            <a:srgbClr val="1B2A4E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 personalized, context-aware next-POI engine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(GCN + GRU + user + context), decoded into tourist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itineraries by rolling it out (the Frozen Rollout).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Strongest of my itinerary methods, and the simplest to explain.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Built on a validated engine; benchmarked honestly against the literature.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Integration (the Trained Pointer) and the Flickr Benchmark are experiments that support — not replace —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07A1F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