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Literature-Comparable</a:t>
            </a:r>
          </a:p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Itinerary Recommendation on Flickr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9FC0C0"/>
                </a:solidFill>
                <a:latin typeface="Calibri"/>
              </a:rPr>
              <a:t>Strategy D — putting our pairs-F1 on the same scale as the 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From </a:t>
            </a:r>
            <a:r>
              <a:rPr sz="1700" b="1" i="0">
                <a:solidFill>
                  <a:srgbClr val="E07A1F"/>
                </a:solidFill>
                <a:latin typeface="Calibri"/>
              </a:rPr>
              <a:t>non-comparable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Foursquare-NYC scores  →  pairs-F1 beside Chen 2016, DeepTrip,</a:t>
            </a:r>
          </a:p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SelfTrip and AR-Trip on the Flickr photo-trajectory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FC7D9"/>
                </a:solidFill>
                <a:latin typeface="Calibri"/>
              </a:rPr>
              <a:t>Master's thesis — Phase 2 · github.com/6ym6n/PFE_IMPLEMTATION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Strategy D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The thesis has </a:t>
            </a:r>
            <a:r>
              <a:rPr sz="1700" b="1" i="0">
                <a:solidFill>
                  <a:srgbClr val="1B2A4E"/>
                </a:solidFill>
                <a:latin typeface="Calibri"/>
              </a:rPr>
              <a:t>two formally distinct tasks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, each on its own field-standard benchmark. Strategy D is the itinerary task, on Flickr.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0"/>
            <a:ext cx="3611880" cy="219456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3F51B5"/>
                </a:solidFill>
                <a:latin typeface="Calibri"/>
              </a:rPr>
              <a:t>Phase 1</a:t>
            </a:r>
          </a:p>
          <a:p>
            <a:pPr algn="ctr"/>
            <a:r>
              <a:rPr sz="1500" b="1">
                <a:solidFill>
                  <a:srgbClr val="3F51B5"/>
                </a:solidFill>
                <a:latin typeface="Calibri"/>
              </a:rPr>
              <a:t>Next-POI prediction</a:t>
            </a:r>
          </a:p>
          <a:p>
            <a:pPr algn="ctr"/>
            <a:r>
              <a:rPr sz="500" b="0">
                <a:solidFill>
                  <a:srgbClr val="3F51B5"/>
                </a:solidFill>
                <a:latin typeface="Calibri"/>
              </a:rPr>
              <a:t/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Foursquare NYC</a:t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GCN + GRU + user</a:t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HR@k / NDCG / MRR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926080"/>
            <a:ext cx="3611880" cy="219456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E07A1F"/>
                </a:solidFill>
                <a:latin typeface="Calibri"/>
              </a:rPr>
              <a:t>Phase 2A / 2B</a:t>
            </a:r>
          </a:p>
          <a:p>
            <a:pPr algn="ctr"/>
            <a:r>
              <a:rPr sz="1500" b="1">
                <a:solidFill>
                  <a:srgbClr val="E07A1F"/>
                </a:solidFill>
                <a:latin typeface="Calibri"/>
              </a:rPr>
              <a:t>Itinerary on NYC</a:t>
            </a:r>
          </a:p>
          <a:p>
            <a:pPr algn="ctr"/>
            <a:r>
              <a:rPr sz="500" b="0">
                <a:solidFill>
                  <a:srgbClr val="E07A1F"/>
                </a:solidFill>
                <a:latin typeface="Calibri"/>
              </a:rPr>
              <a:t/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frozen rollout / pointer</a:t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pairs-F1 0.26–0.29</a:t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NOT comparable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926080"/>
            <a:ext cx="3611880" cy="21945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0E7C7B"/>
                </a:solidFill>
                <a:latin typeface="Calibri"/>
              </a:rPr>
              <a:t>Phase 2D — THIS WORK</a:t>
            </a:r>
          </a:p>
          <a:p>
            <a:pPr algn="ctr"/>
            <a:r>
              <a:rPr sz="1500" b="1">
                <a:solidFill>
                  <a:srgbClr val="0E7C7B"/>
                </a:solidFill>
                <a:latin typeface="Calibri"/>
              </a:rPr>
              <a:t>Itinerary on Flickr</a:t>
            </a:r>
          </a:p>
          <a:p>
            <a:pPr algn="ctr"/>
            <a:r>
              <a:rPr sz="500" b="0">
                <a:solidFill>
                  <a:srgbClr val="0E7C7B"/>
                </a:solidFill>
                <a:latin typeface="Calibri"/>
              </a:rPr>
              <a:t/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Chen-2016 protocol</a:t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pairs-F1 0.23–0.59</a:t>
            </a:r>
          </a:p>
          <a:p>
            <a:pPr algn="ctr"/>
            <a:r>
              <a:rPr sz="1250" b="0">
                <a:solidFill>
                  <a:srgbClr val="555555"/>
                </a:solidFill>
                <a:latin typeface="Calibri"/>
              </a:rPr>
              <a:t>literature-comparable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4023360"/>
            <a:ext cx="54864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09560" y="4023360"/>
            <a:ext cx="54864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566928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Using a different dataset per task is </a:t>
            </a:r>
            <a:r>
              <a:rPr sz="1400" b="1" i="0">
                <a:solidFill>
                  <a:srgbClr val="1B2A4E"/>
                </a:solidFill>
                <a:latin typeface="Calibri"/>
              </a:rPr>
              <a:t>correct and standard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 — the only error would be to cross-compare the two.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Our Phase-2 itinerary model scored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pairs-F1 ≈ 0.26–0.29 on Foursquare NYC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.  The literature reports </a:t>
            </a:r>
            <a:r>
              <a:rPr sz="1800" b="1" i="0">
                <a:solidFill>
                  <a:srgbClr val="0E7C7B"/>
                </a:solidFill>
                <a:latin typeface="Calibri"/>
              </a:rPr>
              <a:t>0.6–0.8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.  Are we bad?</a:t>
            </a:r>
          </a:p>
        </p:txBody>
      </p:sp>
      <p:pic>
        <p:nvPicPr>
          <p:cNvPr id="7" name="Picture 6" descr="chart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286000"/>
            <a:ext cx="9601200" cy="31394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98932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Calibri"/>
              </a:rPr>
              <a:t>No — not a quality gap, a </a:t>
            </a:r>
            <a:r>
              <a:rPr sz="1800" b="1" i="0">
                <a:solidFill>
                  <a:srgbClr val="1B2A4E"/>
                </a:solidFill>
                <a:latin typeface="Calibri"/>
              </a:rPr>
              <a:t>comparability gap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.  Different benchmark → different scale.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makes two numbers comparable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Two pairs-F1 values compare </a:t>
            </a:r>
            <a:r>
              <a:rPr sz="1800" b="1" i="0">
                <a:solidFill>
                  <a:srgbClr val="1B2A4E"/>
                </a:solidFill>
                <a:latin typeface="Calibri"/>
              </a:rPr>
              <a:t>only if all three match: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291840" cy="246888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3F51B5"/>
                </a:solidFill>
                <a:latin typeface="Calibri"/>
              </a:rPr>
              <a:t>1.  DATASET</a:t>
            </a:r>
          </a:p>
          <a:p>
            <a:pPr algn="ctr"/>
            <a:r>
              <a:rPr sz="800" b="0">
                <a:solidFill>
                  <a:srgbClr val="3F51B5"/>
                </a:solidFill>
                <a:latin typeface="Calibri"/>
              </a:rPr>
              <a:t/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same trajectories,</a:t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same POI-vocabulary size</a:t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(30 POIs vs 5,000 →</a:t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different chance levels)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94560"/>
            <a:ext cx="3291840" cy="246888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2.  PROTOCOL</a:t>
            </a:r>
          </a:p>
          <a:p>
            <a:pPr algn="ctr"/>
            <a:r>
              <a:rPr sz="800" b="0">
                <a:solidFill>
                  <a:srgbClr val="E07A1F"/>
                </a:solidFill>
                <a:latin typeface="Calibri"/>
              </a:rPr>
              <a:t/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same split,</a:t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same query,</a:t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same length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291840" cy="246888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3.  METRIC</a:t>
            </a:r>
          </a:p>
          <a:p>
            <a:pPr algn="ctr"/>
            <a:r>
              <a:rPr sz="800" b="0">
                <a:solidFill>
                  <a:srgbClr val="0E7C7B"/>
                </a:solidFill>
                <a:latin typeface="Calibri"/>
              </a:rPr>
              <a:t/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the exact same</a:t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pairs-F1 definition</a:t>
            </a:r>
          </a:p>
          <a:p>
            <a:pPr algn="ctr"/>
            <a:r>
              <a:rPr sz="1350" b="0">
                <a:solidFill>
                  <a:srgbClr val="555555"/>
                </a:solidFill>
                <a:latin typeface="Calibri"/>
              </a:rPr>
              <a:t>(pinned by a unit 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29200"/>
            <a:ext cx="111858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Foursquare NYC differs on </a:t>
            </a:r>
            <a:r>
              <a:rPr sz="1700" b="1" i="0">
                <a:solidFill>
                  <a:srgbClr val="C0392B"/>
                </a:solidFill>
                <a:latin typeface="Calibri"/>
              </a:rPr>
              <a:t>all three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, so its 0.26–0.29 is incomparable to the literature's 0.6–0.8.</a:t>
            </a:r>
          </a:p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The gap is a data/protocol artefact, not model quality (Krichene &amp; Rendle, KDD 2020).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Flickr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Five cities mined from geo-tagged Flickr photos. We use the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canonical traj-/poi- CSVs = Chen 2016's own files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, so our trajectories are identical to the literature's (zero preprocessing ambiguity).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2468880" cy="109728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Flickr photos</a:t>
            </a:r>
          </a:p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(lat, lon, time)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3017520"/>
            <a:ext cx="32004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39" y="2468880"/>
            <a:ext cx="2468880" cy="109728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POI visits</a:t>
            </a:r>
          </a:p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merge same-POI run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3017520"/>
            <a:ext cx="320039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59" y="2468880"/>
            <a:ext cx="2468880" cy="109728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order by time</a:t>
            </a:r>
          </a:p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one seqID = trip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3017520"/>
            <a:ext cx="32004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69680" y="2468880"/>
            <a:ext cx="2468880" cy="109728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0E7C7B"/>
                </a:solidFill>
                <a:latin typeface="Calibri"/>
              </a:rPr>
              <a:t>trajectory</a:t>
            </a:r>
          </a:p>
          <a:p>
            <a:pPr algn="ctr"/>
            <a:r>
              <a:rPr sz="1050" b="0">
                <a:solidFill>
                  <a:srgbClr val="555555"/>
                </a:solidFill>
                <a:latin typeface="Calibri"/>
              </a:rPr>
              <a:t>p1→p2→p3 (loop-free)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194560" y="3977639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#POIs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#users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#traj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#traj≥3 (eval)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Toronto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1,395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6,057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335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Osaka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450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1,115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Glasgow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601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2,227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Edinburgh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1,454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5,028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634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Melbourne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5,106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442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  <a:latin typeface="Calibri"/>
              </a:rPr>
              <a:t>The length≥3 column is the evaluated set; Chen 2016's totals match #traj exactly.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task, precisely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problem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A </a:t>
            </a:r>
            <a:r>
              <a:rPr sz="1800" b="1" i="0">
                <a:solidFill>
                  <a:srgbClr val="1B2A4E"/>
                </a:solidFill>
                <a:latin typeface="Calibri"/>
              </a:rPr>
              <a:t>query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gives the start POI, the end POI and the length K. The model recovers the </a:t>
            </a:r>
            <a:r>
              <a:rPr sz="1800" b="1" i="0">
                <a:solidFill>
                  <a:srgbClr val="E07A1F"/>
                </a:solidFill>
                <a:latin typeface="Calibri"/>
              </a:rPr>
              <a:t>ordered middle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34640"/>
            <a:ext cx="3291840" cy="146304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3F51B5"/>
                </a:solidFill>
                <a:latin typeface="Calibri"/>
              </a:rPr>
              <a:t>QUERY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start s · end e · length K</a:t>
            </a:r>
          </a:p>
          <a:p>
            <a:pPr algn="ctr"/>
            <a:r>
              <a:rPr sz="1100" b="0">
                <a:solidFill>
                  <a:srgbClr val="888888"/>
                </a:solidFill>
                <a:latin typeface="Calibri"/>
              </a:rPr>
              <a:t>e.g. (Castle, Museum, 5)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3566160"/>
            <a:ext cx="59436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2971800"/>
            <a:ext cx="2377440" cy="118872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0E7C7B"/>
                </a:solidFill>
                <a:latin typeface="Calibri"/>
              </a:rPr>
              <a:t>recommender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66560" y="3566160"/>
            <a:ext cx="59436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3063240"/>
            <a:ext cx="777240" cy="100584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063240"/>
            <a:ext cx="777240" cy="10058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063240"/>
            <a:ext cx="777240" cy="10058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3063240"/>
            <a:ext cx="777240" cy="100584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64240" y="3063240"/>
            <a:ext cx="777240" cy="100584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206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ordered route of K POIs, loop-free, ends at 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2064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Standard PersTour / Chen-2016 convention: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recover the visited sequence given its endpoints and length.</a:t>
            </a:r>
          </a:p>
          <a:p>
            <a:pPr algn="l"/>
            <a:r>
              <a:rPr sz="1400" b="0" i="1">
                <a:solidFill>
                  <a:srgbClr val="888888"/>
                </a:solidFill>
                <a:latin typeface="Calibri"/>
              </a:rPr>
              <a:t>Start and end are given, so only the middle ordering is at stake.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metric: pairs-F1 (Chen 2016)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555555"/>
                </a:solidFill>
                <a:latin typeface="Calibri"/>
              </a:rPr>
              <a:t>pairs-F1 = F1 over </a:t>
            </a:r>
            <a:r>
              <a:rPr sz="1700" b="1" i="0">
                <a:solidFill>
                  <a:srgbClr val="1B2A4E"/>
                </a:solidFill>
                <a:latin typeface="Calibri"/>
              </a:rPr>
              <a:t>ordered pairs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. A pair (a,b) counts only if a is before b in </a:t>
            </a:r>
            <a:r>
              <a:rPr sz="1700" b="1" i="0">
                <a:solidFill>
                  <a:srgbClr val="E07A1F"/>
                </a:solidFill>
                <a:latin typeface="Calibri"/>
              </a:rPr>
              <a:t>both</a:t>
            </a:r>
            <a:r>
              <a:rPr sz="1700" b="0" i="0">
                <a:solidFill>
                  <a:srgbClr val="555555"/>
                </a:solidFill>
                <a:latin typeface="Calibri"/>
              </a:rPr>
              <a:t> routes.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E7C7B"/>
                </a:solidFill>
                <a:latin typeface="Calibri"/>
              </a:rPr>
              <a:t>ground truth 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148840"/>
            <a:ext cx="77724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148840"/>
            <a:ext cx="77724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148840"/>
            <a:ext cx="77724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148840"/>
            <a:ext cx="77724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07A1F"/>
                </a:solidFill>
                <a:latin typeface="Calibri"/>
              </a:rPr>
              <a:t>prediction Ŷ: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880360"/>
            <a:ext cx="777240" cy="54864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E07A1F"/>
                </a:solidFill>
                <a:latin typeface="Calibri"/>
              </a:rPr>
              <a:t>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880360"/>
            <a:ext cx="777240" cy="54864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E07A1F"/>
                </a:solidFill>
                <a:latin typeface="Calibri"/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880360"/>
            <a:ext cx="777240" cy="54864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E07A1F"/>
                </a:solidFill>
                <a:latin typeface="Calibr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880360"/>
            <a:ext cx="777240" cy="54864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E07A1F"/>
                </a:solidFill>
                <a:latin typeface="Calibri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033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Y pairs:  </a:t>
            </a:r>
            <a:r>
              <a:rPr sz="1300" b="0" i="0">
                <a:solidFill>
                  <a:srgbClr val="0E7C7B"/>
                </a:solidFill>
                <a:latin typeface="Calibri"/>
              </a:rPr>
              <a:t>(A,B)  (A,C)  (A,D)  (B,C)  (B,D)  (C,D)</a:t>
            </a:r>
          </a:p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Ŷ pairs:  </a:t>
            </a:r>
            <a:r>
              <a:rPr sz="1300" b="0" i="0">
                <a:solidFill>
                  <a:srgbClr val="E07A1F"/>
                </a:solidFill>
                <a:latin typeface="Calibri"/>
              </a:rPr>
              <a:t>(A,C)  (A,B)  (A,D)  (C,B)  (C,D)  (B,D)</a:t>
            </a:r>
          </a:p>
          <a:p>
            <a:pPr algn="l"/>
            <a:r>
              <a:rPr sz="1300" b="1" i="0">
                <a:solidFill>
                  <a:srgbClr val="1B2A4E"/>
                </a:solidFill>
                <a:latin typeface="Calibri"/>
              </a:rPr>
              <a:t>shared, same order:  </a:t>
            </a:r>
            <a:r>
              <a:rPr sz="1300" b="1" i="0">
                <a:solidFill>
                  <a:srgbClr val="1B2A4E"/>
                </a:solidFill>
                <a:latin typeface="Calibri"/>
              </a:rPr>
              <a:t>(A,B)  (A,C)  (A,D)  (C,D)  (B,D)   →  5 of 6</a:t>
            </a:r>
          </a:p>
          <a:p>
            <a:pPr algn="l"/>
            <a:r>
              <a:rPr sz="1150" b="0" i="1">
                <a:solidFill>
                  <a:srgbClr val="888888"/>
                </a:solidFill>
                <a:latin typeface="Calibri"/>
              </a:rPr>
              <a:t>(B,C) is in Y but Ŷ has (C,B) — wrong order, doesn't 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94960"/>
            <a:ext cx="11155680" cy="82296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precision = 5/6,  recall = 5/6   →   pairs-F1 = 2·P·R/(P+R) = 5/6 ≈ 0.833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protocol: leave-one-trajectory-out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Tiny datasets (47–634 trajectories), so the field uses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leave-one-out cross-validation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3108960" cy="45720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E7C7B"/>
                </a:solidFill>
                <a:latin typeface="Calibri"/>
              </a:rPr>
              <a:t>t₁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852928"/>
            <a:ext cx="3108960" cy="45720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E7C7B"/>
                </a:solidFill>
                <a:latin typeface="Calibri"/>
              </a:rPr>
              <a:t>t₂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19856"/>
            <a:ext cx="3108960" cy="45720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E07A1F"/>
                </a:solidFill>
                <a:latin typeface="Calibri"/>
              </a:rPr>
              <a:t>t₃  ← held out (TEST)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86783"/>
            <a:ext cx="3108960" cy="45720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E7C7B"/>
                </a:solidFill>
                <a:latin typeface="Calibri"/>
              </a:rPr>
              <a:t>t₄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53712"/>
            <a:ext cx="3108960" cy="45720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E7C7B"/>
                </a:solidFill>
                <a:latin typeface="Calibri"/>
              </a:rPr>
              <a:t>t₅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20640"/>
            <a:ext cx="3108960" cy="45720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0">
                <a:solidFill>
                  <a:srgbClr val="0E7C7B"/>
                </a:solidFill>
                <a:latin typeface="Calibri"/>
              </a:rPr>
              <a:t>t₆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03320" y="3383280"/>
            <a:ext cx="8686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0" y="2834640"/>
            <a:ext cx="3200400" cy="109728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train on the other N−1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(length≥3 trajectories)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0" y="3383280"/>
            <a:ext cx="82296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95360" y="2834640"/>
            <a:ext cx="3108960" cy="109728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predict t₃ from (s,e,K)</a:t>
            </a:r>
          </a:p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score F1 &amp; pairs-F1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52160"/>
            <a:ext cx="111858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Calibri"/>
              </a:rPr>
              <a:t>Repeat holding out every trajectory once → report the mean per city. </a:t>
            </a:r>
            <a:r>
              <a:rPr sz="1400" b="0" i="1">
                <a:solidFill>
                  <a:srgbClr val="888888"/>
                </a:solidFill>
                <a:latin typeface="Calibri"/>
              </a:rPr>
              <a:t>No leakage: the held-out trajectory never touches training.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Calibri"/>
              </a:rPr>
              <a:t>Classical baselines (counting, CPU)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291840" cy="10515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0E7C7B"/>
                </a:solidFill>
                <a:latin typeface="Calibri"/>
              </a:rPr>
              <a:t>training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trajectories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2212848"/>
            <a:ext cx="54864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691640"/>
            <a:ext cx="3291840" cy="105156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popularity /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Markov P(j|i)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35240" y="2212848"/>
            <a:ext cx="548639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3880" y="1691640"/>
            <a:ext cx="3291840" cy="105156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greedy / beam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decode (loop-free)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34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888888"/>
                </a:solidFill>
                <a:latin typeface="Calibri"/>
              </a:rPr>
              <a:t>= Chen 2016's Random · PoiPopularity · Markov · MarkovPath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Calibri"/>
              </a:rPr>
              <a:t>Learned model: GCN encoder + GRU pointer (GPU, no torch_geometric)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94760"/>
            <a:ext cx="2103120" cy="105156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3F51B5"/>
                </a:solidFill>
                <a:latin typeface="Calibri"/>
              </a:rPr>
              <a:t>POI graph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kNN ∪ co-visit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39" y="4315968"/>
            <a:ext cx="22860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34639" y="3794760"/>
            <a:ext cx="2103120" cy="105156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3F51B5"/>
                </a:solidFill>
                <a:latin typeface="Calibri"/>
              </a:rPr>
              <a:t>2-layer GCN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59" y="4315968"/>
            <a:ext cx="22860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59" y="3794760"/>
            <a:ext cx="2103120" cy="105156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3F51B5"/>
                </a:solidFill>
                <a:latin typeface="Calibri"/>
              </a:rPr>
              <a:t>POI features 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69479" y="4315968"/>
            <a:ext cx="22860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3794760"/>
            <a:ext cx="2103120" cy="10515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0E7C7B"/>
                </a:solidFill>
                <a:latin typeface="Calibri"/>
              </a:rPr>
              <a:t>GRU pointer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⟨state, H_v⟩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01200" y="4315968"/>
            <a:ext cx="22860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3794760"/>
            <a:ext cx="2103120" cy="105156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200" b="1">
                <a:solidFill>
                  <a:srgbClr val="E07A1F"/>
                </a:solidFill>
                <a:latin typeface="Calibri"/>
              </a:rPr>
              <a:t>next POI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mask+reserve 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0">
                <a:solidFill>
                  <a:srgbClr val="555555"/>
                </a:solidFill>
                <a:latin typeface="Calibri"/>
              </a:rPr>
              <a:t>A fresh model is trained on every leave-one-out fold; the query (s,e) seeds the decoder.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Levers to close the gap: </a:t>
            </a:r>
            <a:r>
              <a:rPr sz="1500" b="0">
                <a:solidFill>
                  <a:srgbClr val="555555"/>
                </a:solidFill>
                <a:latin typeface="Calibri"/>
              </a:rPr>
              <a:t>Markov transition prior at decode, user embedding, early stopping.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Did we do it right? Reproducing Chen 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035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A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Random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baseline has no modelling choices — it can only match Chen's Random if our data, protocol and metric are identical.</a:t>
            </a:r>
          </a:p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/>
            </a:r>
          </a:p>
          <a:p>
            <a:pPr algn="l"/>
            <a:r>
              <a:rPr sz="1500" b="1" i="0">
                <a:solidFill>
                  <a:srgbClr val="1B2A4E"/>
                </a:solidFill>
                <a:latin typeface="Calibri"/>
              </a:rPr>
              <a:t>They match within noise on every city; PoiPopularity matches closely too.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65760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pairs-F1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Osa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Gla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Edi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Mel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Random — ours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0.298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Random — Chen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0.304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0.320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0.248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PoiPopularity — ours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0.443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0.413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0.439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0.320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PoiPopularity — Chen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0.384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0.365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0.507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0.436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555555"/>
                          </a:solidFill>
                          <a:latin typeface="Calibri"/>
                        </a:rPr>
                        <a:t>0.316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hart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754880" cy="4501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on the literature's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results</a:t>
            </a:r>
          </a:p>
        </p:txBody>
      </p:sp>
      <p:pic>
        <p:nvPicPr>
          <p:cNvPr id="6" name="Picture 5" descr="char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8229600" cy="42072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098280" y="1554480"/>
            <a:ext cx="2743200" cy="384048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1B2A4E"/>
                </a:solidFill>
                <a:latin typeface="Calibri"/>
              </a:rPr>
              <a:t>Headline</a:t>
            </a:r>
          </a:p>
          <a:p>
            <a:pPr algn="ctr"/>
            <a:r>
              <a:rPr sz="6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our classical</a:t>
            </a:r>
          </a:p>
          <a:p>
            <a:pPr algn="ctr"/>
            <a:r>
              <a:rPr sz="2200" b="1">
                <a:solidFill>
                  <a:srgbClr val="0E7C7B"/>
                </a:solidFill>
                <a:latin typeface="Calibri"/>
              </a:rPr>
              <a:t>0.23 – 0.59</a:t>
            </a:r>
          </a:p>
          <a:p>
            <a:pPr algn="ctr"/>
            <a:r>
              <a:rPr sz="5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our pointer</a:t>
            </a:r>
          </a:p>
          <a:p>
            <a:pPr algn="ctr"/>
            <a:r>
              <a:rPr sz="2200" b="1">
                <a:solidFill>
                  <a:srgbClr val="E07A1F"/>
                </a:solidFill>
                <a:latin typeface="Calibri"/>
              </a:rPr>
              <a:t>0.31 – 0.49</a:t>
            </a:r>
          </a:p>
          <a:p>
            <a:pPr algn="ctr"/>
            <a:r>
              <a:rPr sz="5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vs NYC</a:t>
            </a:r>
          </a:p>
          <a:p>
            <a:pPr algn="ctr"/>
            <a:r>
              <a:rPr sz="1800" b="1">
                <a:solidFill>
                  <a:srgbClr val="C0392B"/>
                </a:solidFill>
                <a:latin typeface="Calibri"/>
              </a:rPr>
              <a:t>0.26 – 0.29</a:t>
            </a:r>
          </a:p>
          <a:p>
            <a:pPr algn="ctr"/>
            <a:r>
              <a:rPr sz="500" b="0">
                <a:solidFill>
                  <a:srgbClr val="1B2A4E"/>
                </a:solidFill>
                <a:latin typeface="Calibri"/>
              </a:rPr>
              <a:t/>
            </a:r>
          </a:p>
          <a:p>
            <a:pPr algn="ctr"/>
            <a:r>
              <a:rPr sz="1400" b="1">
                <a:solidFill>
                  <a:srgbClr val="555555"/>
                </a:solidFill>
                <a:latin typeface="Calibri"/>
              </a:rPr>
              <a:t>published</a:t>
            </a:r>
          </a:p>
          <a:p>
            <a:pPr algn="ctr"/>
            <a:r>
              <a:rPr sz="1600" b="1">
                <a:solidFill>
                  <a:srgbClr val="1B2A4E"/>
                </a:solidFill>
                <a:latin typeface="Calibri"/>
              </a:rPr>
              <a:t>0.26 – 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E"/>
                </a:solidFill>
                <a:latin typeface="Calibri"/>
              </a:rPr>
              <a:t>Every one of our methods is on the published 0–1 scale — the thesis goal is met by the classical baselines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published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literature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858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Directly-comparable published pairs-F1 (same protocol, 0–1 scale):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1920240"/>
          <a:ext cx="9235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 (published)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Toronto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Osaka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Glasgow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Edinburgh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PoiRank (Chen)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0.518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0.511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0.548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0.432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Rank+Markov (Chen)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0.512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0.486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0.545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0.444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DeepTrip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0.748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0.755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0.782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0.660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CTLTR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0.748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0.719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0.763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0.681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SelfTrip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0.835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0.851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0.818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0.779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AR-Trip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0.839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0.828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0.808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9496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No single SOTA across all cities: </a:t>
            </a:r>
            <a:r>
              <a:rPr sz="1500" b="1" i="0">
                <a:solidFill>
                  <a:srgbClr val="1B2A4E"/>
                </a:solidFill>
                <a:latin typeface="Calibri"/>
              </a:rPr>
              <a:t>AR-Trip leads on Toronto/Glasgow/Edinburgh, SelfTrip on Osaka (0.851).</a:t>
            </a:r>
          </a:p>
          <a:p>
            <a:pPr algn="l"/>
            <a:r>
              <a:rPr sz="1300" b="0" i="1">
                <a:solidFill>
                  <a:srgbClr val="888888"/>
                </a:solidFill>
                <a:latin typeface="Calibri"/>
              </a:rPr>
              <a:t>Classical methods (Chen 2016) ≈ 0.43–0.55; neural methods (2019–2024) climb to ≈ 0.66–0.85.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learned model — measured &amp;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finding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6400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Osa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Gla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Edi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Mel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Pointer pairs-F1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0.431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0.399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0.489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0.414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0.312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Markov (ours)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0.421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0.587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0.449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Random (ours)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0.298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0.301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0.227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38328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On the scale, above Random: </a:t>
            </a:r>
            <a:r>
              <a:rPr sz="1600" b="0">
                <a:solidFill>
                  <a:srgbClr val="555555"/>
                </a:solidFill>
                <a:latin typeface="Calibri"/>
              </a:rPr>
              <a:t>pointer reaches 0.31–0.49, with point-F1 ~0.70 (it picks the right POIs).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C0392B"/>
                </a:solidFill>
                <a:latin typeface="Calibri"/>
              </a:rPr>
              <a:t>But its ordering trails Markov on every city</a:t>
            </a:r>
            <a:r>
              <a:rPr sz="1600" b="0">
                <a:solidFill>
                  <a:srgbClr val="555555"/>
                </a:solidFill>
                <a:latin typeface="Calibri"/>
              </a:rPr>
              <a:t> and is far below the neural SOTA (0.66–0.85).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The lesson (same as Strategy B on NYC): </a:t>
            </a:r>
            <a:r>
              <a:rPr sz="1600" b="0">
                <a:solidFill>
                  <a:srgbClr val="555555"/>
                </a:solidFill>
                <a:latin typeface="Calibri"/>
              </a:rPr>
              <a:t>naively training a pointer on tiny per-fold data doesn't beat a strong simple model.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0">
                <a:solidFill>
                  <a:srgbClr val="555555"/>
                </a:solidFill>
                <a:latin typeface="Calibri"/>
              </a:rPr>
              <a:t>SOTA methods use machinery we omit: </a:t>
            </a:r>
            <a:r>
              <a:rPr sz="1600" b="0">
                <a:solidFill>
                  <a:srgbClr val="555555"/>
                </a:solidFill>
                <a:latin typeface="Calibri"/>
              </a:rPr>
              <a:t>self-supervised pre-training, trajectory augmentation, adversarial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Closing the gap — implemented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next iteration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291840" cy="228600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Markov prior</a:t>
            </a:r>
          </a:p>
          <a:p>
            <a:pPr algn="ctr"/>
            <a:r>
              <a:rPr sz="800" b="0">
                <a:solidFill>
                  <a:srgbClr val="E07A1F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blend the fold's log P(j|i)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into the pointer logits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at decode (no retraining)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→ targets the weak ordering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54480"/>
            <a:ext cx="3291840" cy="228600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3F51B5"/>
                </a:solidFill>
                <a:latin typeface="Calibri"/>
              </a:rPr>
              <a:t>User embedding</a:t>
            </a:r>
          </a:p>
          <a:p>
            <a:pPr algn="ctr"/>
            <a:r>
              <a:rPr sz="800" b="0">
                <a:solidFill>
                  <a:srgbClr val="3F51B5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per-user vector added to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the query + decoder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554480"/>
            <a:ext cx="3291840" cy="228600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Early stopping</a:t>
            </a:r>
          </a:p>
          <a:p>
            <a:pPr algn="ctr"/>
            <a:r>
              <a:rPr sz="800" b="0">
                <a:solidFill>
                  <a:srgbClr val="0E7C7B"/>
                </a:solidFill>
                <a:latin typeface="Calibri"/>
              </a:rPr>
              <a:t/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hold out a val slice of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the train fold; stop on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val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10881360" cy="91440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700" b="1">
                <a:solidFill>
                  <a:srgbClr val="1B2A4E"/>
                </a:solidFill>
                <a:latin typeface="Calibri"/>
              </a:rPr>
              <a:t>Verified: Osaka pairs-F1  0.42 (pure) → 0.44 (+Markov+user) — edges past the Markov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All opt-in in </a:t>
            </a:r>
            <a:r>
              <a:rPr sz="1400" b="1" i="0">
                <a:solidFill>
                  <a:srgbClr val="1B2A4E"/>
                </a:solidFill>
                <a:latin typeface="Calibri"/>
              </a:rPr>
              <a:t>PointerConfig</a:t>
            </a:r>
            <a:r>
              <a:rPr sz="1400" b="0" i="0">
                <a:solidFill>
                  <a:srgbClr val="555555"/>
                </a:solidFill>
                <a:latin typeface="Calibri"/>
              </a:rPr>
              <a:t>; the Colab notebook runs the pure pointer and the enhanced variant side by side. Sweep the prior weight / epochs for a higher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this gives 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1">
                <a:solidFill>
                  <a:srgbClr val="1B2A4E"/>
                </a:solidFill>
                <a:latin typeface="Calibri"/>
              </a:rPr>
              <a:t>Literature-comparable numbers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pairs-F1 on the same 0.3–0.85 scale as Chen 2016 / DeepTrip / SelfTrip / AR-Trip.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1">
                <a:solidFill>
                  <a:srgbClr val="1B2A4E"/>
                </a:solidFill>
                <a:latin typeface="Calibri"/>
              </a:rPr>
              <a:t>A validated, faithful harness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Random reproduces Chen 2016 within noise (the protocol-faithfulness proof).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1">
                <a:solidFill>
                  <a:srgbClr val="1B2A4E"/>
                </a:solidFill>
                <a:latin typeface="Calibri"/>
              </a:rPr>
              <a:t>An honest baseline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classical methods are strong; the light learned model reaches the scale but not SOTA, and we say so (with the levers to improve it).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1">
                <a:solidFill>
                  <a:srgbClr val="1B2A4E"/>
                </a:solidFill>
                <a:latin typeface="Calibri"/>
              </a:rPr>
              <a:t>Fully reproducible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self-contained loader + harness + Colab notebook; 79 passing tests; no heavy deps.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1">
                <a:solidFill>
                  <a:srgbClr val="1B2A4E"/>
                </a:solidFill>
                <a:latin typeface="Calibri"/>
              </a:rPr>
              <a:t>Resolves the NYC puzzle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the low Foursquare-NYC pairs-F1 was a data/protocol artefact, not a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Same itinerary task, the field's benchmark (Flickr) + protocol (Chen 2016, leave-one-out, endpoints given, pairs-F1).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Random reproduces Chen → faithful.  Classical 0.23–0.59, pointer 0.31–0.49 — on the published 0.26–0.85 scale.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>
                <a:solidFill>
                  <a:srgbClr val="FFFFFF"/>
                </a:solidFill>
                <a:latin typeface="Calibri"/>
              </a:rPr>
              <a:t>Honest finding: the light learned pointer trails the Markov baseline and SOTA; levers implemented to close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07A1F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07A1F"/>
                </a:solidFill>
              </a:rPr>
              <a:t>•  </a:t>
            </a:r>
            <a:r>
              <a:rPr sz="1500">
                <a:solidFill>
                  <a:srgbClr val="D8DEEA"/>
                </a:solidFill>
                <a:latin typeface="Calibri"/>
              </a:rPr>
              <a:t>Run the enhanced pointer on Colab (sweep Markov-prior weight / epochs) for a stronger learned number.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07A1F"/>
                </a:solidFill>
              </a:rPr>
              <a:t>•  </a:t>
            </a:r>
            <a:r>
              <a:rPr sz="1500">
                <a:solidFill>
                  <a:srgbClr val="D8DEEA"/>
                </a:solidFill>
                <a:latin typeface="Calibri"/>
              </a:rPr>
              <a:t>Fold these results into the full thesis defence deck (next session).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Appendix — reproducibility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Calibri"/>
              </a:rPr>
              <a:t>Code (src/flickr/)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data.py — loader (both formats) → FlickrCity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evaluate.py — leave-one-out CV, F1 + pairs-F1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baselines.py — Random/Popularity/Markov(Path)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pointer.py — GCN+pointer + levers (Colab)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published.py — curated literature numbers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run_flickr.py — orchestration + tables + CLI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tests/test_flickr.py — 79 cases incl. pairs-F1 vs 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B2A4E"/>
                </a:solidFill>
                <a:latin typeface="Calibri"/>
              </a:rPr>
              <a:t>Key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Chen, Ong, Xie. Learning Points &amp; Routes. CIKM 2016 (pairs-F1 + our data).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Gao et al. DeepTrip. SIGSPATIAL 2019.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Gao et al. SelfTrip. KBS 2022.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Rashid et al. DeepAltTrip. TKDE 2021.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Shu et al. AR-Trip. SIGIR 2024.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Lim et al. Tour Rec &amp; Trip Planning survey. KAIS 2019.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50" b="1">
                <a:solidFill>
                  <a:srgbClr val="0E7C7B"/>
                </a:solidFill>
              </a:rPr>
              <a:t>▸  </a:t>
            </a:r>
            <a:r>
              <a:rPr sz="1350" b="0">
                <a:solidFill>
                  <a:srgbClr val="555555"/>
                </a:solidFill>
                <a:latin typeface="Calibri"/>
              </a:rPr>
              <a:t>Krichene &amp; Rendle. Sampled Metrics. KDD 2020.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Strategy D — Itinerary recommendation on Flickr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