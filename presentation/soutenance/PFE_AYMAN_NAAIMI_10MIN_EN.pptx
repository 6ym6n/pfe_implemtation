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fa978c49834360" /><Relationship Type="http://schemas.openxmlformats.org/officeDocument/2006/relationships/extended-properties" Target="/docProps/app.xml" Id="R165f20d2863f413d" /><Relationship Type="http://schemas.openxmlformats.org/officeDocument/2006/relationships/officeDocument" Target="/ppt/presentation.xml" Id="R1cb064796d4a412c" /></Relationships>
</file>

<file path=ppt/presentation.xml><?xml version="1.0" encoding="utf-8"?>
<p:presentation xmlns:p="http://schemas.openxmlformats.org/presentationml/2006/main">
  <p:sldMasterIdLst>
    <p:sldMasterId xmlns:r="http://schemas.openxmlformats.org/officeDocument/2006/relationships" id="2147483648" r:id="R692f8a134e9f4032"/>
  </p:sldMasterIdLst>
  <p:notesMasterIdLst>
    <p:notesMasterId xmlns:r="http://schemas.openxmlformats.org/officeDocument/2006/relationships" r:id="R2bfaa321097f40d9"/>
  </p:notesMasterIdLst>
  <p:sldIdLst>
    <p:sldId xmlns:r="http://schemas.openxmlformats.org/officeDocument/2006/relationships" id="256" r:id="R4ef3aa5770fe4bd5"/>
    <p:sldId xmlns:r="http://schemas.openxmlformats.org/officeDocument/2006/relationships" id="257" r:id="Re44ce84563b5474f"/>
    <p:sldId xmlns:r="http://schemas.openxmlformats.org/officeDocument/2006/relationships" id="258" r:id="R81c6ac32b84246e6"/>
    <p:sldId xmlns:r="http://schemas.openxmlformats.org/officeDocument/2006/relationships" id="259" r:id="R0189fb704baf427c"/>
    <p:sldId xmlns:r="http://schemas.openxmlformats.org/officeDocument/2006/relationships" id="260" r:id="R867b1b11d5a042b1"/>
    <p:sldId xmlns:r="http://schemas.openxmlformats.org/officeDocument/2006/relationships" id="261" r:id="Rd99319f8a5c04681"/>
    <p:sldId xmlns:r="http://schemas.openxmlformats.org/officeDocument/2006/relationships" id="262" r:id="R500dfb8e48f14ce9"/>
    <p:sldId xmlns:r="http://schemas.openxmlformats.org/officeDocument/2006/relationships" id="263" r:id="R5ca7f72e523b4339"/>
    <p:sldId xmlns:r="http://schemas.openxmlformats.org/officeDocument/2006/relationships" id="264" r:id="R16a1757bb71042f4"/>
    <p:sldId xmlns:r="http://schemas.openxmlformats.org/officeDocument/2006/relationships" id="265" r:id="R6ff7173d912d4ced"/>
    <p:sldId xmlns:r="http://schemas.openxmlformats.org/officeDocument/2006/relationships" id="266" r:id="R11928c5ae08c4745"/>
    <p:sldId xmlns:r="http://schemas.openxmlformats.org/officeDocument/2006/relationships" id="267" r:id="R1150ab95a74243b1"/>
    <p:sldId xmlns:r="http://schemas.openxmlformats.org/officeDocument/2006/relationships" id="268" r:id="Rfda6e190bea84e63"/>
    <p:sldId xmlns:r="http://schemas.openxmlformats.org/officeDocument/2006/relationships" id="269" r:id="Ra2349581256741e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fe7f37522d4845" /><Relationship Type="http://schemas.openxmlformats.org/officeDocument/2006/relationships/slideMaster" Target="/ppt/slideMasters/slideMaster1.xml" Id="R692f8a134e9f4032" /><Relationship Type="http://schemas.openxmlformats.org/officeDocument/2006/relationships/notesMaster" Target="/ppt/notesMasters/notesMaster1.xml" Id="R2bfaa321097f40d9" /><Relationship Type="http://schemas.openxmlformats.org/officeDocument/2006/relationships/presProps" Target="/ppt/presProps.xml" Id="Ra81cf2b8d68c4364" /><Relationship Type="http://schemas.openxmlformats.org/officeDocument/2006/relationships/tableStyles" Target="/ppt/tableStyles.xml" Id="Ra6f92616513c480e" /><Relationship Type="http://schemas.openxmlformats.org/officeDocument/2006/relationships/slide" Target="/ppt/slides/slide1.xml" Id="R4ef3aa5770fe4bd5" /><Relationship Type="http://schemas.openxmlformats.org/officeDocument/2006/relationships/slide" Target="/ppt/slides/slide2.xml" Id="Re44ce84563b5474f" /><Relationship Type="http://schemas.openxmlformats.org/officeDocument/2006/relationships/slide" Target="/ppt/slides/slide3.xml" Id="R81c6ac32b84246e6" /><Relationship Type="http://schemas.openxmlformats.org/officeDocument/2006/relationships/slide" Target="/ppt/slides/slide4.xml" Id="R0189fb704baf427c" /><Relationship Type="http://schemas.openxmlformats.org/officeDocument/2006/relationships/slide" Target="/ppt/slides/slide5.xml" Id="R867b1b11d5a042b1" /><Relationship Type="http://schemas.openxmlformats.org/officeDocument/2006/relationships/slide" Target="/ppt/slides/slide6.xml" Id="Rd99319f8a5c04681" /><Relationship Type="http://schemas.openxmlformats.org/officeDocument/2006/relationships/slide" Target="/ppt/slides/slide7.xml" Id="R500dfb8e48f14ce9" /><Relationship Type="http://schemas.openxmlformats.org/officeDocument/2006/relationships/slide" Target="/ppt/slides/slide8.xml" Id="R5ca7f72e523b4339" /><Relationship Type="http://schemas.openxmlformats.org/officeDocument/2006/relationships/slide" Target="/ppt/slides/slide9.xml" Id="R16a1757bb71042f4" /><Relationship Type="http://schemas.openxmlformats.org/officeDocument/2006/relationships/slide" Target="/ppt/slides/slide10.xml" Id="R6ff7173d912d4ced" /><Relationship Type="http://schemas.openxmlformats.org/officeDocument/2006/relationships/slide" Target="/ppt/slides/slide11.xml" Id="R11928c5ae08c4745" /><Relationship Type="http://schemas.openxmlformats.org/officeDocument/2006/relationships/slide" Target="/ppt/slides/slide12.xml" Id="R1150ab95a74243b1" /><Relationship Type="http://schemas.openxmlformats.org/officeDocument/2006/relationships/slide" Target="/ppt/slides/slide13.xml" Id="Rfda6e190bea84e63" /><Relationship Type="http://schemas.openxmlformats.org/officeDocument/2006/relationships/slide" Target="/ppt/slides/slide14.xml" Id="Ra2349581256741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b4bffec0e641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cf0dee15394336" /><Relationship Type="http://schemas.openxmlformats.org/officeDocument/2006/relationships/notesMaster" Target="/ppt/notesMasters/notesMaster1.xml" Id="R7ae529c58a4a4e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fabc704eb740a5" /><Relationship Type="http://schemas.openxmlformats.org/officeDocument/2006/relationships/notesMaster" Target="/ppt/notesMasters/notesMaster1.xml" Id="Rc909006219c94f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d0178f739444f9" /><Relationship Type="http://schemas.openxmlformats.org/officeDocument/2006/relationships/notesMaster" Target="/ppt/notesMasters/notesMaster1.xml" Id="Rf06615d38ea041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4dcb0e31184ae9" /><Relationship Type="http://schemas.openxmlformats.org/officeDocument/2006/relationships/notesMaster" Target="/ppt/notesMasters/notesMaster1.xml" Id="R23f989668b1b48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efe8519c8b44aa" /><Relationship Type="http://schemas.openxmlformats.org/officeDocument/2006/relationships/notesMaster" Target="/ppt/notesMasters/notesMaster1.xml" Id="R5efb5948c14d41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453867ead455e" /><Relationship Type="http://schemas.openxmlformats.org/officeDocument/2006/relationships/notesMaster" Target="/ppt/notesMasters/notesMaster1.xml" Id="Ra7e5166b722244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cfb205ccc34bf6" /><Relationship Type="http://schemas.openxmlformats.org/officeDocument/2006/relationships/notesMaster" Target="/ppt/notesMasters/notesMaster1.xml" Id="Red730be63a7c40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b1a5e0dd4149ea" /><Relationship Type="http://schemas.openxmlformats.org/officeDocument/2006/relationships/notesMaster" Target="/ppt/notesMasters/notesMaster1.xml" Id="Rf93cd070a6b544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80730b5fba4db1" /><Relationship Type="http://schemas.openxmlformats.org/officeDocument/2006/relationships/notesMaster" Target="/ppt/notesMasters/notesMaster1.xml" Id="R9f46ca7203304d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b052752efb47b0" /><Relationship Type="http://schemas.openxmlformats.org/officeDocument/2006/relationships/notesMaster" Target="/ppt/notesMasters/notesMaster1.xml" Id="Rae12aac2cdf34b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c676de73a1462a" /><Relationship Type="http://schemas.openxmlformats.org/officeDocument/2006/relationships/notesMaster" Target="/ppt/notesMasters/notesMaster1.xml" Id="R3d56c359a9ed4b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0cd4827525489c" /><Relationship Type="http://schemas.openxmlformats.org/officeDocument/2006/relationships/notesMaster" Target="/ppt/notesMasters/notesMaster1.xml" Id="Re569cc5a7fd248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22635b448f456f" /><Relationship Type="http://schemas.openxmlformats.org/officeDocument/2006/relationships/notesMaster" Target="/ppt/notesMasters/notesMaster1.xml" Id="R683ec8cf065b49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d86de08e474307" /><Relationship Type="http://schemas.openxmlformats.org/officeDocument/2006/relationships/notesMaster" Target="/ppt/notesMasters/notesMaster1.xml" Id="R9f5ad37fa64549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0:25</a:t>
            </a:r>
          </a:p>
          <a:p xmlns:a="http://schemas.openxmlformats.org/drawingml/2006/main">
            <a:r>
              <a:t>MEMORY SENTENCE: Smart Visit turns 5,100 places into one personalized route.</a:t>
            </a:r>
          </a:p>
          <a:p xmlns:a="http://schemas.openxmlformats.org/drawingml/2006/main">
            <a:r>
              <a:t/>
            </a:r>
          </a:p>
          <a:p xmlns:a="http://schemas.openxmlformats.org/drawingml/2006/main">
            <a:r>
              <a:t>SCRIPT:</a:t>
            </a:r>
          </a:p>
          <a:p xmlns:a="http://schemas.openxmlformats.org/drawingml/2006/main">
            <a:r>
              <a:t>Good morning. Smart Visit turns about 5,100 candidate places into one personalized, ordered itinerary. I will show the prediction engine, the simple route decoder, and the two separate evaluations that keep the conclusions fair.</a:t>
            </a:r>
          </a:p>
          <a:p xmlns:a="http://schemas.openxmlformats.org/drawingml/2006/main">
            <a:r>
              <a:t/>
            </a:r>
          </a:p>
          <a:p xmlns:a="http://schemas.openxmlformats.org/drawingml/2006/main">
            <a:r>
              <a:t>TRANSITION: First, what does the traveler need?</a:t>
            </a:r>
          </a:p>
          <a:p xmlns:a="http://schemas.openxmlformats.org/drawingml/2006/main">
            <a:r>
              <a:t/>
            </a:r>
          </a:p>
          <a:p xmlns:a="http://schemas.openxmlformats.org/drawingml/2006/main">
            <a:r>
              <a:t>SKIP IF LATE: It is a reproducible contribution, not a record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0:45</a:t>
            </a:r>
          </a:p>
          <a:p xmlns:a="http://schemas.openxmlformats.org/drawingml/2006/main">
            <a:r>
              <a:t>MEMORY SENTENCE: Next-POI asks what comes next; itinerary generation asks what order works.</a:t>
            </a:r>
          </a:p>
          <a:p xmlns:a="http://schemas.openxmlformats.org/drawingml/2006/main">
            <a:r>
              <a:t/>
            </a:r>
          </a:p>
          <a:p xmlns:a="http://schemas.openxmlformats.org/drawingml/2006/main">
            <a:r>
              <a:t>SCRIPT:</a:t>
            </a:r>
          </a:p>
          <a:p xmlns:a="http://schemas.openxmlformats.org/drawingml/2006/main">
            <a:r>
              <a:t>A traveler needs more than attractive places. They need to know what to visit and in what order. First, which place is most likely to come next? Second, can repeated choices form a useful route from start to finish? A model can predict the next place well and still create revisits or a poor order. This thesis addresses that gap.</a:t>
            </a:r>
          </a:p>
          <a:p xmlns:a="http://schemas.openxmlformats.org/drawingml/2006/main">
            <a:r>
              <a:t/>
            </a:r>
          </a:p>
          <a:p xmlns:a="http://schemas.openxmlformats.org/drawingml/2006/main">
            <a:r>
              <a:t>TRANSITION: This leads to a two-phase system and a two-benchmark evaluation.</a:t>
            </a:r>
          </a:p>
          <a:p xmlns:a="http://schemas.openxmlformats.org/drawingml/2006/main">
            <a:r>
              <a:t/>
            </a:r>
          </a:p>
          <a:p xmlns:a="http://schemas.openxmlformats.org/drawingml/2006/main">
            <a:r>
              <a:t>SKIP IF LATE: In other words, local accuracy does not automatically produce global route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a:t>
            </a:r>
          </a:p>
          <a:p xmlns:a="http://schemas.openxmlformats.org/drawingml/2006/main">
            <a:r>
              <a:t>MEMORY SENTENCE: One engine and one decoder are evaluated on two strictly separate benchmarks.</a:t>
            </a:r>
          </a:p>
          <a:p xmlns:a="http://schemas.openxmlformats.org/drawingml/2006/main">
            <a:r>
              <a:t/>
            </a:r>
          </a:p>
          <a:p xmlns:a="http://schemas.openxmlformats.org/drawingml/2006/main">
            <a:r>
              <a:t>SCRIPT:</a:t>
            </a:r>
          </a:p>
          <a:p xmlns:a="http://schemas.openxmlformats.org/drawingml/2006/main">
            <a:r>
              <a:t>The study has two phases. Phase 1 learns on Foursquare New York and ranks about 5,100 places, using HR at k, NDCG, and MRR. Phase 2 uses Frozen Rollout to build complete itineraries. Routes are compared internally on New York, then evaluated on the Flickr Benchmark under Chen 2016. Here the metrics are set-F1 and order-aware pairs-F1. The two tasks measure different outcomes, so their scores must never share one leaderboard.</a:t>
            </a:r>
          </a:p>
          <a:p xmlns:a="http://schemas.openxmlformats.org/drawingml/2006/main">
            <a:r>
              <a:t/>
            </a:r>
          </a:p>
          <a:p xmlns:a="http://schemas.openxmlformats.org/drawingml/2006/main">
            <a:r>
              <a:t>TRANSITION: With that map in mind, let us open the prediction engine.</a:t>
            </a:r>
          </a:p>
          <a:p xmlns:a="http://schemas.openxmlformats.org/drawingml/2006/main">
            <a:r>
              <a:t/>
            </a:r>
          </a:p>
          <a:p xmlns:a="http://schemas.openxmlformats.org/drawingml/2006/main">
            <a:r>
              <a:t>SKIP IF LATE: The rule is simple: compare only the same dataset, protocol, task, and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a:t>
            </a:r>
          </a:p>
          <a:p xmlns:a="http://schemas.openxmlformats.org/drawingml/2006/main">
            <a:r>
              <a:t>MEMORY SENTENCE: Graph, context, sequence, and user identity produce the next-POI ranking.</a:t>
            </a:r>
          </a:p>
          <a:p xmlns:a="http://schemas.openxmlformats.org/drawingml/2006/main">
            <a:r>
              <a:t/>
            </a:r>
          </a:p>
          <a:p xmlns:a="http://schemas.openxmlformats.org/drawingml/2006/main">
            <a:r>
              <a:t>SCRIPT:</a:t>
            </a:r>
          </a:p>
          <a:p xmlns:a="http://schemas.openxmlformats.org/drawingml/2006/main">
            <a:r>
              <a:t>The engine combines four components. A hybrid graph links places that are often visited consecutively or geographically close; a two-layer GCN turns it into POI features. The graph uses training-only co-visitation links and each place's ten nearest geographic neighbors. Distance and elapsed time add context. A GRU summarizes the visited sequence. A learned user embedding adds identity-based preference information; it is learned from visit history, not from a written persona. The GRU state and user embedding pass through an MLP that scores all 5,100 places. Every session contributes every prefix-to-next-place pair, giving roughly one hundred thousand training examples.</a:t>
            </a:r>
          </a:p>
          <a:p xmlns:a="http://schemas.openxmlformats.org/drawingml/2006/main">
            <a:r>
              <a:t/>
            </a:r>
          </a:p>
          <a:p xmlns:a="http://schemas.openxmlformats.org/drawingml/2006/main">
            <a:r>
              <a:t>TRANSITION: Now we can ask how accurate this compact engine is.</a:t>
            </a:r>
          </a:p>
          <a:p xmlns:a="http://schemas.openxmlformats.org/drawingml/2006/main">
            <a:r>
              <a:t/>
            </a:r>
          </a:p>
          <a:p xmlns:a="http://schemas.openxmlformats.org/drawingml/2006/main">
            <a:r>
              <a:t>SKIP IF LATE: The implemented context is limited to distance and elapsed time; weather and time of day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0:50</a:t>
            </a:r>
          </a:p>
          <a:p xmlns:a="http://schemas.openxmlformats.org/drawingml/2006/main">
            <a:r>
              <a:t>MEMORY SENTENCE: HR at one is 0.187: an honest LSTM-STGCN-tier result.</a:t>
            </a:r>
          </a:p>
          <a:p xmlns:a="http://schemas.openxmlformats.org/drawingml/2006/main">
            <a:r>
              <a:t/>
            </a:r>
          </a:p>
          <a:p xmlns:a="http://schemas.openxmlformats.org/drawingml/2006/main">
            <a:r>
              <a:t>SCRIPT:</a:t>
            </a:r>
          </a:p>
          <a:p xmlns:a="http://schemas.openxmlformats.org/drawingml/2006/main">
            <a:r>
              <a:t>On New York, HR at one is 0.187: the exact next place ranks first almost once in five among about 5,100 candidates. HR at ten is 0.588, so it appears in the top ten almost six times in ten. LSTM scores 0.130 and STGCN 0.180; our 0.187 is higher, while attention, transformer, and LLM methods remain ahead.</a:t>
            </a:r>
          </a:p>
          <a:p xmlns:a="http://schemas.openxmlformats.org/drawingml/2006/main">
            <a:r>
              <a:t/>
            </a:r>
          </a:p>
          <a:p xmlns:a="http://schemas.openxmlformats.org/drawingml/2006/main">
            <a:r>
              <a:t>TRANSITION: The next question is how to turn these local scores into a route.</a:t>
            </a:r>
          </a:p>
          <a:p xmlns:a="http://schemas.openxmlformats.org/drawingml/2006/main">
            <a:r>
              <a:t/>
            </a:r>
          </a:p>
          <a:p xmlns:a="http://schemas.openxmlformats.org/drawingml/2006/main">
            <a:r>
              <a:t>SKIP IF LATE: This is competitive in the LSTM-STGCN tier, but not state of the 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a:t>
            </a:r>
          </a:p>
          <a:p xmlns:a="http://schemas.openxmlformats.org/drawingml/2006/main">
            <a:r>
              <a:t>MEMORY SENTENCE: Frozen Rollout builds loop-free routes without retraining the engine.</a:t>
            </a:r>
          </a:p>
          <a:p xmlns:a="http://schemas.openxmlformats.org/drawingml/2006/main">
            <a:r>
              <a:t/>
            </a:r>
          </a:p>
          <a:p xmlns:a="http://schemas.openxmlformats.org/drawingml/2006/main">
            <a:r>
              <a:t>SCRIPT:</a:t>
            </a:r>
          </a:p>
          <a:p xmlns:a="http://schemas.openxmlformats.org/drawingml/2006/main">
            <a:r>
              <a:t>Frozen Rollout receives the user, start, destination, and desired number of stops. At each step, the frozen engine scores every place. The decoder masks visited places, reserves the destination for the final position, selects the best remaining candidate, and repeats. This guarantees a loop-free route with the requested endpoints and length. Greedy decoding takes the best candidate; beam search keeps several partial routes. Both enforce the same constraints. No model weight changes and no additional training is needed: the same checkpoint now serves the itinerary task. The itinerary capability is added entirely at inference time.</a:t>
            </a:r>
          </a:p>
          <a:p xmlns:a="http://schemas.openxmlformats.org/drawingml/2006/main">
            <a:r>
              <a:t/>
            </a:r>
          </a:p>
          <a:p xmlns:a="http://schemas.openxmlformats.org/drawingml/2006/main">
            <a:r>
              <a:t>TRANSITION: I then tested whether a model trained directly for itineraries could do better.</a:t>
            </a:r>
          </a:p>
          <a:p xmlns:a="http://schemas.openxmlformats.org/drawingml/2006/main">
            <a:r>
              <a:t/>
            </a:r>
          </a:p>
          <a:p xmlns:a="http://schemas.openxmlformats.org/drawingml/2006/main">
            <a:r>
              <a:t>SKIP IF LATE: The headline method does not claim a global optimum or travel-time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a:t>
            </a:r>
          </a:p>
          <a:p xmlns:a="http://schemas.openxmlformats.org/drawingml/2006/main">
            <a:r>
              <a:t>MEMORY SENTENCE: Dense prefix supervision lets Frozen Rollout beat the Trained Pointer.</a:t>
            </a:r>
          </a:p>
          <a:p xmlns:a="http://schemas.openxmlformats.org/drawingml/2006/main">
            <a:r>
              <a:t/>
            </a:r>
          </a:p>
          <a:p xmlns:a="http://schemas.openxmlformats.org/drawingml/2006/main">
            <a:r>
              <a:t>SCRIPT:</a:t>
            </a:r>
          </a:p>
          <a:p xmlns:a="http://schemas.openxmlformats.org/drawingml/2006/main">
            <a:r>
              <a:t>On 2,880 New York test routes of length at least three, Frozen Rollout reaches 0.289 pairs-F1. The Trained Pointer, trained end to end on whole routes, reaches 0.259, or 0.261 with context. Validation shows this is a genuine negative result, not a bug. The main explanation is supervision density: the engine sees about one hundred thousand prefix-target examples, while the Trained Pointer sees one whole trajectory per session. Beam search moves Frozen Rollout only to 0.290, so extra search cannot replace missing information in the scorer.</a:t>
            </a:r>
          </a:p>
          <a:p xmlns:a="http://schemas.openxmlformats.org/drawingml/2006/main">
            <a:r>
              <a:t/>
            </a:r>
          </a:p>
          <a:p xmlns:a="http://schemas.openxmlformats.org/drawingml/2006/main">
            <a:r>
              <a:t>TRANSITION: However, these New York values cannot be compared directly with published itinerary scores.</a:t>
            </a:r>
          </a:p>
          <a:p xmlns:a="http://schemas.openxmlformats.org/drawingml/2006/main">
            <a:r>
              <a:t/>
            </a:r>
          </a:p>
          <a:p xmlns:a="http://schemas.openxmlformats.org/drawingml/2006/main">
            <a:r>
              <a:t>SKIP IF LATE: Set-F1 of 0.609 suggests that finding places is easier than ordering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a:t>
            </a:r>
          </a:p>
          <a:p xmlns:a="http://schemas.openxmlformats.org/drawingml/2006/main">
            <a:r>
              <a:t>MEMORY SENTENCE: Reproducing Random within 0.021 validates the Flickr evaluation protocol.</a:t>
            </a:r>
          </a:p>
          <a:p xmlns:a="http://schemas.openxmlformats.org/drawingml/2006/main">
            <a:r>
              <a:t/>
            </a:r>
          </a:p>
          <a:p xmlns:a="http://schemas.openxmlformats.org/drawingml/2006/main">
            <a:r>
              <a:t>SCRIPT:</a:t>
            </a:r>
          </a:p>
          <a:p xmlns:a="http://schemas.openxmlformats.org/drawingml/2006/main">
            <a:r>
              <a:t>Flickr city vocabularies are far smaller than New York, so the chance level is different. For a fair bridge, I reproduced Chen 2016: leave one trajectory out, give the first and last POI plus length, and evaluate loop-free routes of length at least three. Random is the key check because it has no modeling choices. Across five cities, my Random score differs from Chen by at most 0.021. This acts like a unit test for the complete evaluation protocol.</a:t>
            </a:r>
          </a:p>
          <a:p xmlns:a="http://schemas.openxmlformats.org/drawingml/2006/main">
            <a:r>
              <a:t/>
            </a:r>
          </a:p>
          <a:p xmlns:a="http://schemas.openxmlformats.org/drawingml/2006/main">
            <a:r>
              <a:t>TRANSITION: Only after this check is a literature comparison meaningful.</a:t>
            </a:r>
          </a:p>
          <a:p xmlns:a="http://schemas.openxmlformats.org/drawingml/2006/main">
            <a:r>
              <a:t/>
            </a:r>
          </a:p>
          <a:p xmlns:a="http://schemas.openxmlformats.org/drawingml/2006/main">
            <a:r>
              <a:t>SKIP IF LATE: That match indicates that the data, split, query, and pairs-F1 calculation are aligned.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1:10</a:t>
            </a:r>
          </a:p>
          <a:p xmlns:a="http://schemas.openxmlformats.org/drawingml/2006/main">
            <a:r>
              <a:t>MEMORY SENTENCE: Our methods reach the published scale, but cold-start limits identity-based personalization.</a:t>
            </a:r>
          </a:p>
          <a:p xmlns:a="http://schemas.openxmlformats.org/drawingml/2006/main">
            <a:r>
              <a:t/>
            </a:r>
          </a:p>
          <a:p xmlns:a="http://schemas.openxmlformats.org/drawingml/2006/main">
            <a:r>
              <a:t>SCRIPT:</a:t>
            </a:r>
          </a:p>
          <a:p xmlns:a="http://schemas.openxmlformats.org/drawingml/2006/main">
            <a:r>
              <a:t>On the Flickr Benchmark, our methods span 0.23 to 0.59 pairs-F1 on the published scale. Markov is strongest among ours, reaching 0.587 in Glasgow. The Trained Pointer beats Random but trails Markov in every city, while SelfTrip and AR-Trip remain around 0.8. Our classical methods therefore reach the literature's scale, but the richer neural methods remain clearly ahead. Personalization is mixed: the user embedding changes pairs-F1 by plus 0.038 in Glasgow, minus 0.007 in Osaka, and minus 0.017 in Toronto. Under leave-one-out, many users offer too little history for a stable identity embedding, which is a cold-start effect.</a:t>
            </a:r>
          </a:p>
          <a:p xmlns:a="http://schemas.openxmlformats.org/drawingml/2006/main">
            <a:r>
              <a:t/>
            </a:r>
          </a:p>
          <a:p xmlns:a="http://schemas.openxmlformats.org/drawingml/2006/main">
            <a:r>
              <a:t>TRANSITION: I will finish with the three results worth remembering.</a:t>
            </a:r>
          </a:p>
          <a:p xmlns:a="http://schemas.openxmlformats.org/drawingml/2006/main">
            <a:r>
              <a:t/>
            </a:r>
          </a:p>
          <a:p xmlns:a="http://schemas.openxmlformats.org/drawingml/2006/main">
            <a:r>
              <a:t>SKIP IF LATE: A content- or persona-based signal is therefore a logical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0:40</a:t>
            </a:r>
          </a:p>
          <a:p xmlns:a="http://schemas.openxmlformats.org/drawingml/2006/main">
            <a:r>
              <a:t>MEMORY SENTENCE: Remember 0.187, 0.289 versus 0.259, and the validated Flickr bridge.</a:t>
            </a:r>
          </a:p>
          <a:p xmlns:a="http://schemas.openxmlformats.org/drawingml/2006/main">
            <a:r>
              <a:t/>
            </a:r>
          </a:p>
          <a:p xmlns:a="http://schemas.openxmlformats.org/drawingml/2006/main">
            <a:r>
              <a:t>SCRIPT:</a:t>
            </a:r>
          </a:p>
          <a:p xmlns:a="http://schemas.openxmlformats.org/drawingml/2006/main">
            <a:r>
              <a:t>Three results matter. The engine reaches HR at one of 0.187 on 5,100 places. Frozen Rollout builds loop-free routes and beats the Trained Pointer, 0.289 versus 0.259. The Flickr Benchmark closely reproduces Chen's Random baseline, so the literature positioning is defensible. A trained local model can support itinerary generation when decoding constraints and evaluation boundaries are explicit. Thank you.</a:t>
            </a:r>
          </a:p>
          <a:p xmlns:a="http://schemas.openxmlformats.org/drawingml/2006/main">
            <a:r>
              <a:t/>
            </a:r>
          </a:p>
          <a:p xmlns:a="http://schemas.openxmlformats.org/drawingml/2006/main">
            <a:r>
              <a:t>TRANSITION: That concludes the presentation and opens the discussion.</a:t>
            </a:r>
          </a:p>
          <a:p xmlns:a="http://schemas.openxmlformats.org/drawingml/2006/main">
            <a:r>
              <a:t/>
            </a:r>
          </a:p>
          <a:p xmlns:a="http://schemas.openxmlformats.org/drawingml/2006/main">
            <a:r>
              <a:t>SKIP IF LATE: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Data preparation and evaluation protocols</a:t>
            </a:r>
          </a:p>
          <a:p xmlns:a="http://schemas.openxmlformats.org/drawingml/2006/main">
            <a:r>
              <a:t>USE WHEN: The jury asks about filtering, leakage, dataset sizes, or the exact Chen-2016 protocol.</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Metric definitions and complete result tables</a:t>
            </a:r>
          </a:p>
          <a:p xmlns:a="http://schemas.openxmlformats.org/drawingml/2006/main">
            <a:r>
              <a:t>USE WHEN: The jury requests an exact number, asks what pairs-F1 measures, or challenges metric comparability.</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Detailed architecture, dimensions, and training controls</a:t>
            </a:r>
          </a:p>
          <a:p xmlns:a="http://schemas.openxmlformats.org/drawingml/2006/main">
            <a:r>
              <a:t>USE WHEN: The jury asks for dimensions, graph construction, context bounds, training objective, or leakage controls.</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Why the Trained Pointer loses - limitations and next steps</a:t>
            </a:r>
          </a:p>
          <a:p xmlns:a="http://schemas.openxmlformats.org/drawingml/2006/main">
            <a:r>
              <a:t>USE WHEN: The jury challenges the negative result, asks whether training failed, or asks about limitations and future work.</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243656481e47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e91fc4eb44453" /><Relationship Type="http://schemas.openxmlformats.org/officeDocument/2006/relationships/slideLayout" Target="/ppt/slideLayouts/slideLayout1.xml" Id="Rc1e896f47d784d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e896f47d784d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118379d6e148d0" /><Relationship Type="http://schemas.openxmlformats.org/officeDocument/2006/relationships/image" Target="/ppt/media/image.png" Id="R53750d3094344c69" /><Relationship Type="http://schemas.openxmlformats.org/officeDocument/2006/relationships/notesSlide" Target="/ppt/notesSlides/notesSlide1.xml" Id="R9e010e951dbd48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65c94c5f734c41" /><Relationship Type="http://schemas.openxmlformats.org/officeDocument/2006/relationships/notesSlide" Target="/ppt/notesSlides/notesSlide2.xml" Id="R3868482be64d48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9ae97eebeb4ac3" /><Relationship Type="http://schemas.openxmlformats.org/officeDocument/2006/relationships/notesSlide" Target="/ppt/notesSlides/notesSlide3.xml" Id="R485dcf8efe1d46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aaa1e3e5b34b42" /><Relationship Type="http://schemas.openxmlformats.org/officeDocument/2006/relationships/notesSlide" Target="/ppt/notesSlides/notesSlide4.xml" Id="R295260239c3b41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901224d56a4b54" /><Relationship Type="http://schemas.openxmlformats.org/officeDocument/2006/relationships/notesSlide" Target="/ppt/notesSlides/notesSlide5.xml" Id="R321186eb70ca4f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80e1af678f467f" /><Relationship Type="http://schemas.openxmlformats.org/officeDocument/2006/relationships/notesSlide" Target="/ppt/notesSlides/notesSlide6.xml" Id="R0c6b0316089142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0aa8d7ba1540c8" /><Relationship Type="http://schemas.openxmlformats.org/officeDocument/2006/relationships/notesSlide" Target="/ppt/notesSlides/notesSlide7.xml" Id="R52c91fa02c544e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f112d6bbc245e3" /><Relationship Type="http://schemas.openxmlformats.org/officeDocument/2006/relationships/notesSlide" Target="/ppt/notesSlides/notesSlide8.xml" Id="R530b2003d08545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65a80f3a7c4a48" /><Relationship Type="http://schemas.openxmlformats.org/officeDocument/2006/relationships/notesSlide" Target="/ppt/notesSlides/notesSlide9.xml" Id="R52898cef31b845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36f7ea536f49bd" /><Relationship Type="http://schemas.openxmlformats.org/officeDocument/2006/relationships/notesSlide" Target="/ppt/notesSlides/notesSlide10.xml" Id="R5f284105027f42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df382a10b14ce6" /><Relationship Type="http://schemas.openxmlformats.org/officeDocument/2006/relationships/notesSlide" Target="/ppt/notesSlides/notesSlide11.xml" Id="R2415b1809a3346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9426a6756b422d" /><Relationship Type="http://schemas.openxmlformats.org/officeDocument/2006/relationships/notesSlide" Target="/ppt/notesSlides/notesSlide12.xml" Id="R60ae4e42abfc4f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3008d5c2d84d87" /><Relationship Type="http://schemas.openxmlformats.org/officeDocument/2006/relationships/notesSlide" Target="/ppt/notesSlides/notesSlide13.xml" Id="R9ea14f15028e4a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4d28c0d4054ac9" /><Relationship Type="http://schemas.openxmlformats.org/officeDocument/2006/relationships/notesSlide" Target="/ppt/notesSlides/notesSlide14.xml" Id="Rc144a927b8fc4f21"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3750d3094344c6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354BE3-CA06-4C6E-8461-84A6FAF55AD7}"/>
              </a:ext>
            </a:extLst>
          </p:cNvPr>
          <p:cNvSpPr>
            <a:spLocks xmlns:a="http://schemas.openxmlformats.org/drawingml/2006/main" noGrp="1"/>
          </p:cNvSpPr>
          <p:nvPr/>
        </p:nvSpPr>
        <p:spPr>
          <a:xfrm xmlns:a="http://schemas.openxmlformats.org/drawingml/2006/main">
            <a:off x="647700" y="590550"/>
            <a:ext cx="895350" cy="571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8F5F31-D03E-4453-A09A-E43F7D446A70}"/>
              </a:ext>
            </a:extLst>
          </p:cNvPr>
          <p:cNvSpPr>
            <a:spLocks xmlns:a="http://schemas.openxmlformats.org/drawingml/2006/main" noGrp="1"/>
          </p:cNvSpPr>
          <p:nvPr/>
        </p:nvSpPr>
        <p:spPr>
          <a:xfrm xmlns:a="http://schemas.openxmlformats.org/drawingml/2006/main" rot="0">
            <a:off x="647700" y="80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DDF3F1"/>
                </a:solidFill>
                <a:latin typeface="Aptos"/>
                <a:ea typeface="Aptos"/>
                <a:cs typeface="Aptos"/>
              </a:defRPr>
            </a:pPr>
            <a:r>
              <a:rPr sz="1275" b="1" i="0">
                <a:solidFill>
                  <a:srgbClr val="DDF3F1"/>
                </a:solidFill>
                <a:latin typeface="Aptos"/>
                <a:ea typeface="Aptos"/>
                <a:cs typeface="Aptos"/>
              </a:rPr>
              <a:t>SMART VISIT</a:t>
            </a:r>
          </a:p>
        </p:txBody>
      </p:sp>
      <p:sp>
        <p:nvSpPr>
          <p:cNvPr id="4" name="cover-title">
            <a:extLst xmlns:a="http://schemas.openxmlformats.org/drawingml/2006/main">
              <a:ext uri="{FF2B5EF4-FFF2-40B4-BE49-F238E27FC236}">
                <a16:creationId xmlns:a16="http://schemas.microsoft.com/office/drawing/2014/main" id="{77E42745-5857-4C36-A530-E12EB5481532}"/>
              </a:ext>
            </a:extLst>
          </p:cNvPr>
          <p:cNvSpPr>
            <a:spLocks xmlns:a="http://schemas.openxmlformats.org/drawingml/2006/main" noGrp="1"/>
          </p:cNvSpPr>
          <p:nvPr/>
        </p:nvSpPr>
        <p:spPr>
          <a:xfrm xmlns:a="http://schemas.openxmlformats.org/drawingml/2006/main" rot="0">
            <a:off x="647700" y="1428750"/>
            <a:ext cx="58102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125" b="1" i="0">
                <a:solidFill>
                  <a:srgbClr val="FFFFFF"/>
                </a:solidFill>
                <a:latin typeface="Aptos"/>
                <a:ea typeface="Aptos"/>
                <a:cs typeface="Aptos"/>
              </a:defRPr>
            </a:pPr>
            <a:r>
              <a:rPr sz="4125" b="1" i="0">
                <a:solidFill>
                  <a:srgbClr val="FFFFFF"/>
                </a:solidFill>
                <a:latin typeface="Aptos"/>
                <a:ea typeface="Aptos"/>
                <a:cs typeface="Aptos"/>
              </a:rPr>
              <a:t>From 5,100 places</a:t>
            </a:r>
          </a:p>
          <a:p xmlns:a="http://schemas.openxmlformats.org/drawingml/2006/main">
            <a:pPr algn="l">
              <a:lnSpc>
                <a:spcPct val="92000"/>
              </a:lnSpc>
              <a:buNone/>
              <a:defRPr sz="4125" b="1" i="0">
                <a:solidFill>
                  <a:srgbClr val="FFFFFF"/>
                </a:solidFill>
                <a:latin typeface="Aptos"/>
                <a:ea typeface="Aptos"/>
                <a:cs typeface="Aptos"/>
              </a:defRPr>
            </a:pPr>
            <a:r>
              <a:rPr sz="4125" b="1" i="0">
                <a:solidFill>
                  <a:srgbClr val="FFFFFF"/>
                </a:solidFill>
                <a:latin typeface="Aptos"/>
                <a:ea typeface="Aptos"/>
                <a:cs typeface="Aptos"/>
              </a:rPr>
              <a:t>to one coherent itinerary</a:t>
            </a:r>
          </a:p>
        </p:txBody>
      </p:sp>
      <p:sp>
        <p:nvSpPr>
          <p:cNvPr id="5" name="">
            <a:extLst xmlns:a="http://schemas.openxmlformats.org/drawingml/2006/main">
              <a:ext uri="{FF2B5EF4-FFF2-40B4-BE49-F238E27FC236}">
                <a16:creationId xmlns:a16="http://schemas.microsoft.com/office/drawing/2014/main" id="{A50C930E-451C-4185-9A4B-EB9E3C67887B}"/>
              </a:ext>
            </a:extLst>
          </p:cNvPr>
          <p:cNvSpPr>
            <a:spLocks xmlns:a="http://schemas.openxmlformats.org/drawingml/2006/main" noGrp="1"/>
          </p:cNvSpPr>
          <p:nvPr/>
        </p:nvSpPr>
        <p:spPr>
          <a:xfrm xmlns:a="http://schemas.openxmlformats.org/drawingml/2006/main" rot="0">
            <a:off x="685800" y="3476625"/>
            <a:ext cx="5095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D6E4EE"/>
                </a:solidFill>
                <a:latin typeface="Aptos"/>
                <a:ea typeface="Aptos"/>
                <a:cs typeface="Aptos"/>
              </a:defRPr>
            </a:pPr>
            <a:r>
              <a:rPr sz="1725" b="0" i="0">
                <a:solidFill>
                  <a:srgbClr val="D6E4EE"/>
                </a:solidFill>
                <a:latin typeface="Aptos"/>
                <a:ea typeface="Aptos"/>
                <a:cs typeface="Aptos"/>
              </a:rPr>
              <a:t>Personalized tourist itinerary recommendation</a:t>
            </a:r>
          </a:p>
          <a:p xmlns:a="http://schemas.openxmlformats.org/drawingml/2006/main">
            <a:pPr algn="l">
              <a:lnSpc>
                <a:spcPct val="100000"/>
              </a:lnSpc>
              <a:buNone/>
              <a:defRPr sz="1725" b="0" i="0">
                <a:solidFill>
                  <a:srgbClr val="D6E4EE"/>
                </a:solidFill>
                <a:latin typeface="Aptos"/>
                <a:ea typeface="Aptos"/>
                <a:cs typeface="Aptos"/>
              </a:defRPr>
            </a:pPr>
            <a:r>
              <a:rPr sz="1725" b="0" i="0">
                <a:solidFill>
                  <a:srgbClr val="D6E4EE"/>
                </a:solidFill>
                <a:latin typeface="Aptos"/>
                <a:ea typeface="Aptos"/>
                <a:cs typeface="Aptos"/>
              </a:rPr>
              <a:t>based on user preferences and contextual data</a:t>
            </a:r>
          </a:p>
        </p:txBody>
      </p:sp>
      <p:sp>
        <p:nvSpPr>
          <p:cNvPr id="6" name="">
            <a:extLst xmlns:a="http://schemas.openxmlformats.org/drawingml/2006/main">
              <a:ext uri="{FF2B5EF4-FFF2-40B4-BE49-F238E27FC236}">
                <a16:creationId xmlns:a16="http://schemas.microsoft.com/office/drawing/2014/main" id="{764AA12C-F401-4B76-B438-231BC58D397B}"/>
              </a:ext>
            </a:extLst>
          </p:cNvPr>
          <p:cNvSpPr>
            <a:spLocks xmlns:a="http://schemas.openxmlformats.org/drawingml/2006/main" noGrp="1"/>
          </p:cNvSpPr>
          <p:nvPr/>
        </p:nvSpPr>
        <p:spPr>
          <a:xfrm xmlns:a="http://schemas.openxmlformats.org/drawingml/2006/main" rot="0">
            <a:off x="685800" y="5219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Ayman Naaimi</a:t>
            </a:r>
          </a:p>
        </p:txBody>
      </p:sp>
      <p:sp>
        <p:nvSpPr>
          <p:cNvPr id="7" name="">
            <a:extLst xmlns:a="http://schemas.openxmlformats.org/drawingml/2006/main">
              <a:ext uri="{FF2B5EF4-FFF2-40B4-BE49-F238E27FC236}">
                <a16:creationId xmlns:a16="http://schemas.microsoft.com/office/drawing/2014/main" id="{0C0F314C-0107-4F78-87E0-5D6A6FA59A59}"/>
              </a:ext>
            </a:extLst>
          </p:cNvPr>
          <p:cNvSpPr>
            <a:spLocks xmlns:a="http://schemas.openxmlformats.org/drawingml/2006/main" noGrp="1"/>
          </p:cNvSpPr>
          <p:nvPr/>
        </p:nvSpPr>
        <p:spPr>
          <a:xfrm xmlns:a="http://schemas.openxmlformats.org/drawingml/2006/main" rot="0">
            <a:off x="685800" y="56197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B8C8D5"/>
                </a:solidFill>
                <a:latin typeface="Aptos"/>
                <a:ea typeface="Aptos"/>
                <a:cs typeface="Aptos"/>
              </a:defRPr>
            </a:pPr>
            <a:r>
              <a:rPr sz="1200" b="0" i="0">
                <a:solidFill>
                  <a:srgbClr val="B8C8D5"/>
                </a:solidFill>
                <a:latin typeface="Aptos"/>
                <a:ea typeface="Aptos"/>
                <a:cs typeface="Aptos"/>
              </a:rPr>
              <a:t>Supervisor: Imadeddine Mountasser</a:t>
            </a:r>
          </a:p>
          <a:p xmlns:a="http://schemas.openxmlformats.org/drawingml/2006/main">
            <a:pPr algn="l">
              <a:lnSpc>
                <a:spcPct val="100000"/>
              </a:lnSpc>
              <a:buNone/>
              <a:defRPr sz="1200" b="0" i="0">
                <a:solidFill>
                  <a:srgbClr val="B8C8D5"/>
                </a:solidFill>
                <a:latin typeface="Aptos"/>
                <a:ea typeface="Aptos"/>
                <a:cs typeface="Aptos"/>
              </a:defRPr>
            </a:pPr>
            <a:r>
              <a:rPr sz="1200" b="0" i="0">
                <a:solidFill>
                  <a:srgbClr val="B8C8D5"/>
                </a:solidFill>
                <a:latin typeface="Aptos"/>
                <a:ea typeface="Aptos"/>
                <a:cs typeface="Aptos"/>
              </a:rPr>
              <a:t>Master D2SM · ENSAM Meknes · 2025-2026</a:t>
            </a:r>
          </a:p>
        </p:txBody>
      </p:sp>
    </p:spTree>
    <p:extLst>
      <p:ext uri="{BB962C8B-B14F-4D97-AF65-F5344CB8AC3E}">
        <p14:creationId xmlns:p14="http://schemas.microsoft.com/office/powerpoint/2010/main" val="107777755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8" name="eyebrow">
            <a:extLst xmlns:a="http://schemas.openxmlformats.org/drawingml/2006/main">
              <a:ext uri="{FF2B5EF4-FFF2-40B4-BE49-F238E27FC236}">
                <a16:creationId xmlns:a16="http://schemas.microsoft.com/office/drawing/2014/main" id="{CEA6295E-14C7-44B9-81D5-9197D9DC4B76}"/>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5D258885-F8AC-4B0C-B505-AAFE2A035E86}"/>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625" b="1" i="0">
                <a:solidFill>
                  <a:srgbClr val="0B1F33"/>
                </a:solidFill>
                <a:latin typeface="Aptos"/>
                <a:ea typeface="Aptos"/>
                <a:cs typeface="Aptos"/>
              </a:defRPr>
            </a:pPr>
            <a:r>
              <a:rPr sz="2625" b="1" i="0">
                <a:solidFill>
                  <a:srgbClr val="0B1F33"/>
                </a:solidFill>
                <a:latin typeface="Aptos"/>
                <a:ea typeface="Aptos"/>
                <a:cs typeface="Aptos"/>
              </a:rPr>
              <a:t>A good trip answers two questions: what to visit, and in what order?</a:t>
            </a:r>
          </a:p>
        </p:txBody>
      </p:sp>
      <p:sp>
        <p:nvSpPr>
          <p:cNvPr id="3" name="title-accent">
            <a:extLst xmlns:a="http://schemas.openxmlformats.org/drawingml/2006/main">
              <a:ext uri="{FF2B5EF4-FFF2-40B4-BE49-F238E27FC236}">
                <a16:creationId xmlns:a16="http://schemas.microsoft.com/office/drawing/2014/main" id="{55AEDA5B-8007-4100-BD7C-583736CF7D28}"/>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05CEF2-596A-4BFD-A7C3-0D31E116F9F7}"/>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170640EB-7351-40EE-AE89-EB8ADB544A7B}"/>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8D4ED81A-DD71-4798-AE01-8B7B11C5B386}"/>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2 / 10</a:t>
            </a:r>
          </a:p>
        </p:txBody>
      </p:sp>
      <p:sp>
        <p:nvSpPr>
          <p:cNvPr id="7" name="">
            <a:extLst xmlns:a="http://schemas.openxmlformats.org/drawingml/2006/main">
              <a:ext uri="{FF2B5EF4-FFF2-40B4-BE49-F238E27FC236}">
                <a16:creationId xmlns:a16="http://schemas.microsoft.com/office/drawing/2014/main" id="{A1511878-F412-4CF9-84E7-1FED780847F1}"/>
              </a:ext>
            </a:extLst>
          </p:cNvPr>
          <p:cNvSpPr>
            <a:spLocks xmlns:a="http://schemas.openxmlformats.org/drawingml/2006/main" noGrp="1"/>
          </p:cNvSpPr>
          <p:nvPr/>
        </p:nvSpPr>
        <p:spPr>
          <a:xfrm xmlns:a="http://schemas.openxmlformats.org/drawingml/2006/main" rot="0">
            <a:off x="914400" y="1619250"/>
            <a:ext cx="342900" cy="3429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txBody>
          <a:bodyPr xmlns:a="http://schemas.openxmlformats.org/drawingml/2006/main" wrap="square" lIns="0" tIns="0" rIns="0" bIns="0" anchor="ctr">
            <a:normAutofit fontScale="88389"/>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26194D84-DB5F-4BB9-8895-55C115E005DE}"/>
              </a:ext>
            </a:extLst>
          </p:cNvPr>
          <p:cNvSpPr>
            <a:spLocks xmlns:a="http://schemas.openxmlformats.org/drawingml/2006/main" noGrp="1"/>
          </p:cNvSpPr>
          <p:nvPr/>
        </p:nvSpPr>
        <p:spPr>
          <a:xfrm xmlns:a="http://schemas.openxmlformats.org/drawingml/2006/main" rot="0">
            <a:off x="1381125" y="1619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WHAT TO VISIT</a:t>
            </a:r>
          </a:p>
        </p:txBody>
      </p:sp>
      <p:sp>
        <p:nvSpPr>
          <p:cNvPr id="9" name="">
            <a:extLst xmlns:a="http://schemas.openxmlformats.org/drawingml/2006/main">
              <a:ext uri="{FF2B5EF4-FFF2-40B4-BE49-F238E27FC236}">
                <a16:creationId xmlns:a16="http://schemas.microsoft.com/office/drawing/2014/main" id="{3421D30A-75E2-4D91-BEAB-0CA9C465242C}"/>
              </a:ext>
            </a:extLst>
          </p:cNvPr>
          <p:cNvSpPr>
            <a:spLocks xmlns:a="http://schemas.openxmlformats.org/drawingml/2006/main" noGrp="1"/>
          </p:cNvSpPr>
          <p:nvPr/>
        </p:nvSpPr>
        <p:spPr>
          <a:xfrm xmlns:a="http://schemas.openxmlformats.org/drawingml/2006/main">
            <a:off x="723900" y="2095500"/>
            <a:ext cx="4095750" cy="3257550"/>
          </a:xfrm>
          <a:prstGeom xmlns:a="http://schemas.openxmlformats.org/drawingml/2006/main" prst="roundRect">
            <a:avLst>
              <a:gd name="adj" fmla="val 7018"/>
            </a:avLst>
          </a:prstGeom>
          <a:solidFill xmlns:a="http://schemas.openxmlformats.org/drawingml/2006/main">
            <a:srgbClr val="EDF2F5"/>
          </a:solidFill>
          <a:ln xmlns:a="http://schemas.openxmlformats.org/drawingml/2006/main" w="9525">
            <a:solidFill>
              <a:srgbClr val="DCE4E9"/>
            </a:solidFill>
            <a:prstDash val="solid"/>
          </a:ln>
        </p:spPr>
      </p:sp>
      <p:sp>
        <p:nvSpPr>
          <p:cNvPr id="10" name="">
            <a:extLst xmlns:a="http://schemas.openxmlformats.org/drawingml/2006/main">
              <a:ext uri="{FF2B5EF4-FFF2-40B4-BE49-F238E27FC236}">
                <a16:creationId xmlns:a16="http://schemas.microsoft.com/office/drawing/2014/main" id="{044EBE42-0F94-4C1D-8E5E-10E694A5D0CD}"/>
              </a:ext>
            </a:extLst>
          </p:cNvPr>
          <p:cNvSpPr>
            <a:spLocks xmlns:a="http://schemas.openxmlformats.org/drawingml/2006/main" noGrp="1"/>
          </p:cNvSpPr>
          <p:nvPr/>
        </p:nvSpPr>
        <p:spPr>
          <a:xfrm xmlns:a="http://schemas.openxmlformats.org/drawingml/2006/main">
            <a:off x="1123950" y="24669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1" name="">
            <a:extLst xmlns:a="http://schemas.openxmlformats.org/drawingml/2006/main">
              <a:ext uri="{FF2B5EF4-FFF2-40B4-BE49-F238E27FC236}">
                <a16:creationId xmlns:a16="http://schemas.microsoft.com/office/drawing/2014/main" id="{05A553F9-7E28-408B-B4F6-CE69817A68D3}"/>
              </a:ext>
            </a:extLst>
          </p:cNvPr>
          <p:cNvSpPr>
            <a:spLocks xmlns:a="http://schemas.openxmlformats.org/drawingml/2006/main" noGrp="1"/>
          </p:cNvSpPr>
          <p:nvPr/>
        </p:nvSpPr>
        <p:spPr>
          <a:xfrm xmlns:a="http://schemas.openxmlformats.org/drawingml/2006/main">
            <a:off x="1647825" y="23145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2" name="">
            <a:extLst xmlns:a="http://schemas.openxmlformats.org/drawingml/2006/main">
              <a:ext uri="{FF2B5EF4-FFF2-40B4-BE49-F238E27FC236}">
                <a16:creationId xmlns:a16="http://schemas.microsoft.com/office/drawing/2014/main" id="{0BB7FCCA-D96D-4024-91DC-CA017D66D0F3}"/>
              </a:ext>
            </a:extLst>
          </p:cNvPr>
          <p:cNvSpPr>
            <a:spLocks xmlns:a="http://schemas.openxmlformats.org/drawingml/2006/main" noGrp="1"/>
          </p:cNvSpPr>
          <p:nvPr/>
        </p:nvSpPr>
        <p:spPr>
          <a:xfrm xmlns:a="http://schemas.openxmlformats.org/drawingml/2006/main">
            <a:off x="2219325" y="263842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3" name="">
            <a:extLst xmlns:a="http://schemas.openxmlformats.org/drawingml/2006/main">
              <a:ext uri="{FF2B5EF4-FFF2-40B4-BE49-F238E27FC236}">
                <a16:creationId xmlns:a16="http://schemas.microsoft.com/office/drawing/2014/main" id="{8D9DB9AE-89D1-46CD-8833-5470F4C314E2}"/>
              </a:ext>
            </a:extLst>
          </p:cNvPr>
          <p:cNvSpPr>
            <a:spLocks xmlns:a="http://schemas.openxmlformats.org/drawingml/2006/main" noGrp="1"/>
          </p:cNvSpPr>
          <p:nvPr/>
        </p:nvSpPr>
        <p:spPr>
          <a:xfrm xmlns:a="http://schemas.openxmlformats.org/drawingml/2006/main">
            <a:off x="2838450" y="233362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4" name="">
            <a:extLst xmlns:a="http://schemas.openxmlformats.org/drawingml/2006/main">
              <a:ext uri="{FF2B5EF4-FFF2-40B4-BE49-F238E27FC236}">
                <a16:creationId xmlns:a16="http://schemas.microsoft.com/office/drawing/2014/main" id="{AEC39061-9117-4970-9A1B-4189E971823B}"/>
              </a:ext>
            </a:extLst>
          </p:cNvPr>
          <p:cNvSpPr>
            <a:spLocks xmlns:a="http://schemas.openxmlformats.org/drawingml/2006/main" noGrp="1"/>
          </p:cNvSpPr>
          <p:nvPr/>
        </p:nvSpPr>
        <p:spPr>
          <a:xfrm xmlns:a="http://schemas.openxmlformats.org/drawingml/2006/main">
            <a:off x="3552825" y="25431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5" name="">
            <a:extLst xmlns:a="http://schemas.openxmlformats.org/drawingml/2006/main">
              <a:ext uri="{FF2B5EF4-FFF2-40B4-BE49-F238E27FC236}">
                <a16:creationId xmlns:a16="http://schemas.microsoft.com/office/drawing/2014/main" id="{958B6DB7-17E4-4169-AB70-4FC23A11C019}"/>
              </a:ext>
            </a:extLst>
          </p:cNvPr>
          <p:cNvSpPr>
            <a:spLocks xmlns:a="http://schemas.openxmlformats.org/drawingml/2006/main" noGrp="1"/>
          </p:cNvSpPr>
          <p:nvPr/>
        </p:nvSpPr>
        <p:spPr>
          <a:xfrm xmlns:a="http://schemas.openxmlformats.org/drawingml/2006/main">
            <a:off x="4257675" y="22764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6" name="">
            <a:extLst xmlns:a="http://schemas.openxmlformats.org/drawingml/2006/main">
              <a:ext uri="{FF2B5EF4-FFF2-40B4-BE49-F238E27FC236}">
                <a16:creationId xmlns:a16="http://schemas.microsoft.com/office/drawing/2014/main" id="{71D16A1A-FD66-4636-BCE5-F9C2F049CB8D}"/>
              </a:ext>
            </a:extLst>
          </p:cNvPr>
          <p:cNvSpPr>
            <a:spLocks xmlns:a="http://schemas.openxmlformats.org/drawingml/2006/main" noGrp="1"/>
          </p:cNvSpPr>
          <p:nvPr/>
        </p:nvSpPr>
        <p:spPr>
          <a:xfrm xmlns:a="http://schemas.openxmlformats.org/drawingml/2006/main">
            <a:off x="1314450" y="30765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7" name="">
            <a:extLst xmlns:a="http://schemas.openxmlformats.org/drawingml/2006/main">
              <a:ext uri="{FF2B5EF4-FFF2-40B4-BE49-F238E27FC236}">
                <a16:creationId xmlns:a16="http://schemas.microsoft.com/office/drawing/2014/main" id="{AA2B4BFA-C3BD-4398-9CEC-AAE1204DA90B}"/>
              </a:ext>
            </a:extLst>
          </p:cNvPr>
          <p:cNvSpPr>
            <a:spLocks xmlns:a="http://schemas.openxmlformats.org/drawingml/2006/main" noGrp="1"/>
          </p:cNvSpPr>
          <p:nvPr/>
        </p:nvSpPr>
        <p:spPr>
          <a:xfrm xmlns:a="http://schemas.openxmlformats.org/drawingml/2006/main">
            <a:off x="1981200" y="31908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8" name="">
            <a:extLst xmlns:a="http://schemas.openxmlformats.org/drawingml/2006/main">
              <a:ext uri="{FF2B5EF4-FFF2-40B4-BE49-F238E27FC236}">
                <a16:creationId xmlns:a16="http://schemas.microsoft.com/office/drawing/2014/main" id="{35B2E609-8C20-4D43-A365-826F3E7E03B6}"/>
              </a:ext>
            </a:extLst>
          </p:cNvPr>
          <p:cNvSpPr>
            <a:spLocks xmlns:a="http://schemas.openxmlformats.org/drawingml/2006/main" noGrp="1"/>
          </p:cNvSpPr>
          <p:nvPr/>
        </p:nvSpPr>
        <p:spPr>
          <a:xfrm xmlns:a="http://schemas.openxmlformats.org/drawingml/2006/main">
            <a:off x="2647950" y="29622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9" name="">
            <a:extLst xmlns:a="http://schemas.openxmlformats.org/drawingml/2006/main">
              <a:ext uri="{FF2B5EF4-FFF2-40B4-BE49-F238E27FC236}">
                <a16:creationId xmlns:a16="http://schemas.microsoft.com/office/drawing/2014/main" id="{7F60C58C-1ABA-4165-93C3-1189B6D70E90}"/>
              </a:ext>
            </a:extLst>
          </p:cNvPr>
          <p:cNvSpPr>
            <a:spLocks xmlns:a="http://schemas.openxmlformats.org/drawingml/2006/main" noGrp="1"/>
          </p:cNvSpPr>
          <p:nvPr/>
        </p:nvSpPr>
        <p:spPr>
          <a:xfrm xmlns:a="http://schemas.openxmlformats.org/drawingml/2006/main">
            <a:off x="3248025" y="328612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0" name="">
            <a:extLst xmlns:a="http://schemas.openxmlformats.org/drawingml/2006/main">
              <a:ext uri="{FF2B5EF4-FFF2-40B4-BE49-F238E27FC236}">
                <a16:creationId xmlns:a16="http://schemas.microsoft.com/office/drawing/2014/main" id="{1542711A-6538-4146-A727-D88BDD81600F}"/>
              </a:ext>
            </a:extLst>
          </p:cNvPr>
          <p:cNvSpPr>
            <a:spLocks xmlns:a="http://schemas.openxmlformats.org/drawingml/2006/main" noGrp="1"/>
          </p:cNvSpPr>
          <p:nvPr/>
        </p:nvSpPr>
        <p:spPr>
          <a:xfrm xmlns:a="http://schemas.openxmlformats.org/drawingml/2006/main">
            <a:off x="4029075" y="31146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1" name="">
            <a:extLst xmlns:a="http://schemas.openxmlformats.org/drawingml/2006/main">
              <a:ext uri="{FF2B5EF4-FFF2-40B4-BE49-F238E27FC236}">
                <a16:creationId xmlns:a16="http://schemas.microsoft.com/office/drawing/2014/main" id="{E9D820BA-3957-440B-836F-BD6D1D8E4CD5}"/>
              </a:ext>
            </a:extLst>
          </p:cNvPr>
          <p:cNvSpPr>
            <a:spLocks xmlns:a="http://schemas.openxmlformats.org/drawingml/2006/main" noGrp="1"/>
          </p:cNvSpPr>
          <p:nvPr/>
        </p:nvSpPr>
        <p:spPr>
          <a:xfrm xmlns:a="http://schemas.openxmlformats.org/drawingml/2006/main">
            <a:off x="1038225" y="3810000"/>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2" name="">
            <a:extLst xmlns:a="http://schemas.openxmlformats.org/drawingml/2006/main">
              <a:ext uri="{FF2B5EF4-FFF2-40B4-BE49-F238E27FC236}">
                <a16:creationId xmlns:a16="http://schemas.microsoft.com/office/drawing/2014/main" id="{44613D4D-85E6-4940-83EB-15BB9830BC45}"/>
              </a:ext>
            </a:extLst>
          </p:cNvPr>
          <p:cNvSpPr>
            <a:spLocks xmlns:a="http://schemas.openxmlformats.org/drawingml/2006/main" noGrp="1"/>
          </p:cNvSpPr>
          <p:nvPr/>
        </p:nvSpPr>
        <p:spPr>
          <a:xfrm xmlns:a="http://schemas.openxmlformats.org/drawingml/2006/main">
            <a:off x="1628775" y="404812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3" name="">
            <a:extLst xmlns:a="http://schemas.openxmlformats.org/drawingml/2006/main">
              <a:ext uri="{FF2B5EF4-FFF2-40B4-BE49-F238E27FC236}">
                <a16:creationId xmlns:a16="http://schemas.microsoft.com/office/drawing/2014/main" id="{C1FA78D3-DD5C-44ED-84E1-0F81281076EB}"/>
              </a:ext>
            </a:extLst>
          </p:cNvPr>
          <p:cNvSpPr>
            <a:spLocks xmlns:a="http://schemas.openxmlformats.org/drawingml/2006/main" noGrp="1"/>
          </p:cNvSpPr>
          <p:nvPr/>
        </p:nvSpPr>
        <p:spPr>
          <a:xfrm xmlns:a="http://schemas.openxmlformats.org/drawingml/2006/main">
            <a:off x="2276475" y="37242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4" name="">
            <a:extLst xmlns:a="http://schemas.openxmlformats.org/drawingml/2006/main">
              <a:ext uri="{FF2B5EF4-FFF2-40B4-BE49-F238E27FC236}">
                <a16:creationId xmlns:a16="http://schemas.microsoft.com/office/drawing/2014/main" id="{486F8A0F-01CD-4B60-9EE1-42A176C1BD7F}"/>
              </a:ext>
            </a:extLst>
          </p:cNvPr>
          <p:cNvSpPr>
            <a:spLocks xmlns:a="http://schemas.openxmlformats.org/drawingml/2006/main" noGrp="1"/>
          </p:cNvSpPr>
          <p:nvPr/>
        </p:nvSpPr>
        <p:spPr>
          <a:xfrm xmlns:a="http://schemas.openxmlformats.org/drawingml/2006/main">
            <a:off x="2962275" y="40290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5" name="">
            <a:extLst xmlns:a="http://schemas.openxmlformats.org/drawingml/2006/main">
              <a:ext uri="{FF2B5EF4-FFF2-40B4-BE49-F238E27FC236}">
                <a16:creationId xmlns:a16="http://schemas.microsoft.com/office/drawing/2014/main" id="{9A5D6767-D9D7-48F0-892B-BCADFF951D2C}"/>
              </a:ext>
            </a:extLst>
          </p:cNvPr>
          <p:cNvSpPr>
            <a:spLocks xmlns:a="http://schemas.openxmlformats.org/drawingml/2006/main" noGrp="1"/>
          </p:cNvSpPr>
          <p:nvPr/>
        </p:nvSpPr>
        <p:spPr>
          <a:xfrm xmlns:a="http://schemas.openxmlformats.org/drawingml/2006/main">
            <a:off x="3648075" y="38004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6" name="">
            <a:extLst xmlns:a="http://schemas.openxmlformats.org/drawingml/2006/main">
              <a:ext uri="{FF2B5EF4-FFF2-40B4-BE49-F238E27FC236}">
                <a16:creationId xmlns:a16="http://schemas.microsoft.com/office/drawing/2014/main" id="{4F78FE00-0DF4-4E52-893A-950477829029}"/>
              </a:ext>
            </a:extLst>
          </p:cNvPr>
          <p:cNvSpPr>
            <a:spLocks xmlns:a="http://schemas.openxmlformats.org/drawingml/2006/main" noGrp="1"/>
          </p:cNvSpPr>
          <p:nvPr/>
        </p:nvSpPr>
        <p:spPr>
          <a:xfrm xmlns:a="http://schemas.openxmlformats.org/drawingml/2006/main">
            <a:off x="4286250" y="41052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7" name="">
            <a:extLst xmlns:a="http://schemas.openxmlformats.org/drawingml/2006/main">
              <a:ext uri="{FF2B5EF4-FFF2-40B4-BE49-F238E27FC236}">
                <a16:creationId xmlns:a16="http://schemas.microsoft.com/office/drawing/2014/main" id="{C67312E7-8B1B-4C9D-A51B-8EB8C05AFD4B}"/>
              </a:ext>
            </a:extLst>
          </p:cNvPr>
          <p:cNvSpPr>
            <a:spLocks xmlns:a="http://schemas.openxmlformats.org/drawingml/2006/main" noGrp="1"/>
          </p:cNvSpPr>
          <p:nvPr/>
        </p:nvSpPr>
        <p:spPr>
          <a:xfrm xmlns:a="http://schemas.openxmlformats.org/drawingml/2006/main">
            <a:off x="1304925" y="46767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8" name="">
            <a:extLst xmlns:a="http://schemas.openxmlformats.org/drawingml/2006/main">
              <a:ext uri="{FF2B5EF4-FFF2-40B4-BE49-F238E27FC236}">
                <a16:creationId xmlns:a16="http://schemas.microsoft.com/office/drawing/2014/main" id="{E9079F87-6E86-4F98-B73B-FB260B7C3AB1}"/>
              </a:ext>
            </a:extLst>
          </p:cNvPr>
          <p:cNvSpPr>
            <a:spLocks xmlns:a="http://schemas.openxmlformats.org/drawingml/2006/main" noGrp="1"/>
          </p:cNvSpPr>
          <p:nvPr/>
        </p:nvSpPr>
        <p:spPr>
          <a:xfrm xmlns:a="http://schemas.openxmlformats.org/drawingml/2006/main">
            <a:off x="2085975" y="45624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9" name="">
            <a:extLst xmlns:a="http://schemas.openxmlformats.org/drawingml/2006/main">
              <a:ext uri="{FF2B5EF4-FFF2-40B4-BE49-F238E27FC236}">
                <a16:creationId xmlns:a16="http://schemas.microsoft.com/office/drawing/2014/main" id="{4A4F0FEE-EC0B-47C7-8F55-DABF1AD8C44E}"/>
              </a:ext>
            </a:extLst>
          </p:cNvPr>
          <p:cNvSpPr>
            <a:spLocks xmlns:a="http://schemas.openxmlformats.org/drawingml/2006/main" noGrp="1"/>
          </p:cNvSpPr>
          <p:nvPr/>
        </p:nvSpPr>
        <p:spPr>
          <a:xfrm xmlns:a="http://schemas.openxmlformats.org/drawingml/2006/main">
            <a:off x="2809875" y="481012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30" name="">
            <a:extLst xmlns:a="http://schemas.openxmlformats.org/drawingml/2006/main">
              <a:ext uri="{FF2B5EF4-FFF2-40B4-BE49-F238E27FC236}">
                <a16:creationId xmlns:a16="http://schemas.microsoft.com/office/drawing/2014/main" id="{86BEA322-46BC-446B-9B3D-F3A165B5450F}"/>
              </a:ext>
            </a:extLst>
          </p:cNvPr>
          <p:cNvSpPr>
            <a:spLocks xmlns:a="http://schemas.openxmlformats.org/drawingml/2006/main" noGrp="1"/>
          </p:cNvSpPr>
          <p:nvPr/>
        </p:nvSpPr>
        <p:spPr>
          <a:xfrm xmlns:a="http://schemas.openxmlformats.org/drawingml/2006/main">
            <a:off x="3495675" y="45624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31" name="">
            <a:extLst xmlns:a="http://schemas.openxmlformats.org/drawingml/2006/main">
              <a:ext uri="{FF2B5EF4-FFF2-40B4-BE49-F238E27FC236}">
                <a16:creationId xmlns:a16="http://schemas.microsoft.com/office/drawing/2014/main" id="{B66EA6CC-70FA-4B96-9E69-DEC1F40F0F96}"/>
              </a:ext>
            </a:extLst>
          </p:cNvPr>
          <p:cNvSpPr>
            <a:spLocks xmlns:a="http://schemas.openxmlformats.org/drawingml/2006/main" noGrp="1"/>
          </p:cNvSpPr>
          <p:nvPr/>
        </p:nvSpPr>
        <p:spPr>
          <a:xfrm xmlns:a="http://schemas.openxmlformats.org/drawingml/2006/main">
            <a:off x="4181475" y="47910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32" name="">
            <a:extLst xmlns:a="http://schemas.openxmlformats.org/drawingml/2006/main">
              <a:ext uri="{FF2B5EF4-FFF2-40B4-BE49-F238E27FC236}">
                <a16:creationId xmlns:a16="http://schemas.microsoft.com/office/drawing/2014/main" id="{EF70719C-D5D2-4D7F-912A-3E5DB759117C}"/>
              </a:ext>
            </a:extLst>
          </p:cNvPr>
          <p:cNvSpPr>
            <a:spLocks xmlns:a="http://schemas.openxmlformats.org/drawingml/2006/main" noGrp="1"/>
          </p:cNvSpPr>
          <p:nvPr/>
        </p:nvSpPr>
        <p:spPr>
          <a:xfrm xmlns:a="http://schemas.openxmlformats.org/drawingml/2006/main" rot="0">
            <a:off x="1143000" y="499110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Rank thousands of candidates</a:t>
            </a:r>
          </a:p>
        </p:txBody>
      </p:sp>
      <p:sp>
        <p:nvSpPr>
          <p:cNvPr id="33" name="">
            <a:extLst xmlns:a="http://schemas.openxmlformats.org/drawingml/2006/main">
              <a:ext uri="{FF2B5EF4-FFF2-40B4-BE49-F238E27FC236}">
                <a16:creationId xmlns:a16="http://schemas.microsoft.com/office/drawing/2014/main" id="{37CD91AF-44CD-4B2C-9841-8AE7C190A8DD}"/>
              </a:ext>
            </a:extLst>
          </p:cNvPr>
          <p:cNvSpPr>
            <a:spLocks xmlns:a="http://schemas.openxmlformats.org/drawingml/2006/main" noGrp="1"/>
          </p:cNvSpPr>
          <p:nvPr/>
        </p:nvSpPr>
        <p:spPr>
          <a:xfrm xmlns:a="http://schemas.openxmlformats.org/drawingml/2006/main">
            <a:off x="5048250" y="3333750"/>
            <a:ext cx="1143000" cy="666750"/>
          </a:xfrm>
          <a:prstGeom xmlns:a="http://schemas.openxmlformats.org/drawingml/2006/main" prst="rightArrow">
            <a:avLst/>
          </a:prstGeom>
          <a:solidFill xmlns:a="http://schemas.openxmlformats.org/drawingml/2006/main">
            <a:srgbClr val="F28C45"/>
          </a:solidFill>
          <a:ln xmlns:a="http://schemas.openxmlformats.org/drawingml/2006/main" w="0">
            <a:solidFill>
              <a:srgbClr val="F28C45"/>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choose</a:t>
            </a:r>
          </a:p>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 order</a:t>
            </a:r>
          </a:p>
        </p:txBody>
      </p:sp>
      <p:sp>
        <p:nvSpPr>
          <p:cNvPr id="34" name="">
            <a:extLst xmlns:a="http://schemas.openxmlformats.org/drawingml/2006/main">
              <a:ext uri="{FF2B5EF4-FFF2-40B4-BE49-F238E27FC236}">
                <a16:creationId xmlns:a16="http://schemas.microsoft.com/office/drawing/2014/main" id="{DFAB516D-66FB-43B5-B4D5-D602E33D2D2B}"/>
              </a:ext>
            </a:extLst>
          </p:cNvPr>
          <p:cNvSpPr>
            <a:spLocks xmlns:a="http://schemas.openxmlformats.org/drawingml/2006/main" noGrp="1"/>
          </p:cNvSpPr>
          <p:nvPr/>
        </p:nvSpPr>
        <p:spPr>
          <a:xfrm xmlns:a="http://schemas.openxmlformats.org/drawingml/2006/main" rot="0">
            <a:off x="6667500" y="1619250"/>
            <a:ext cx="342900" cy="342900"/>
          </a:xfrm>
          <a:prstGeom xmlns:a="http://schemas.openxmlformats.org/drawingml/2006/main" prst="roundRect">
            <a:avLst>
              <a:gd name="adj" fmla="val 50000"/>
            </a:avLst>
          </a:prstGeom>
          <a:solidFill xmlns:a="http://schemas.openxmlformats.org/drawingml/2006/main">
            <a:srgbClr val="137B77"/>
          </a:solidFill>
          <a:ln xmlns:a="http://schemas.openxmlformats.org/drawingml/2006/main" w="0">
            <a:noFill/>
            <a:prstDash val="solid"/>
          </a:ln>
        </p:spPr>
        <p:txBody>
          <a:bodyPr xmlns:a="http://schemas.openxmlformats.org/drawingml/2006/main" wrap="square" lIns="0" tIns="0" rIns="0" bIns="0" anchor="ctr">
            <a:normAutofit fontScale="88389"/>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E10725D6-FFD5-46A3-A320-872CE30D984D}"/>
              </a:ext>
            </a:extLst>
          </p:cNvPr>
          <p:cNvSpPr>
            <a:spLocks xmlns:a="http://schemas.openxmlformats.org/drawingml/2006/main" noGrp="1"/>
          </p:cNvSpPr>
          <p:nvPr/>
        </p:nvSpPr>
        <p:spPr>
          <a:xfrm xmlns:a="http://schemas.openxmlformats.org/drawingml/2006/main" rot="0">
            <a:off x="7134225" y="1619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IN WHAT ORDER</a:t>
            </a:r>
          </a:p>
        </p:txBody>
      </p:sp>
      <p:sp>
        <p:nvSpPr>
          <p:cNvPr id="36" name="">
            <a:extLst xmlns:a="http://schemas.openxmlformats.org/drawingml/2006/main">
              <a:ext uri="{FF2B5EF4-FFF2-40B4-BE49-F238E27FC236}">
                <a16:creationId xmlns:a16="http://schemas.microsoft.com/office/drawing/2014/main" id="{AF66242F-D6A5-4188-95F5-5572D19BED56}"/>
              </a:ext>
            </a:extLst>
          </p:cNvPr>
          <p:cNvSpPr>
            <a:spLocks xmlns:a="http://schemas.openxmlformats.org/drawingml/2006/main" noGrp="1"/>
          </p:cNvSpPr>
          <p:nvPr/>
        </p:nvSpPr>
        <p:spPr>
          <a:xfrm xmlns:a="http://schemas.openxmlformats.org/drawingml/2006/main">
            <a:off x="6477000" y="2095500"/>
            <a:ext cx="4991100" cy="3257550"/>
          </a:xfrm>
          <a:prstGeom xmlns:a="http://schemas.openxmlformats.org/drawingml/2006/main" prst="roundRect">
            <a:avLst>
              <a:gd name="adj" fmla="val 7018"/>
            </a:avLst>
          </a:prstGeom>
          <a:solidFill xmlns:a="http://schemas.openxmlformats.org/drawingml/2006/main">
            <a:srgbClr val="DDF3F1"/>
          </a:solidFill>
          <a:ln xmlns:a="http://schemas.openxmlformats.org/drawingml/2006/main" w="9525">
            <a:solidFill>
              <a:srgbClr val="B8DEDA"/>
            </a:solidFill>
            <a:prstDash val="solid"/>
          </a:ln>
        </p:spPr>
      </p:sp>
      <p:sp>
        <p:nvSpPr>
          <p:cNvPr id="37" name="">
            <a:extLst xmlns:a="http://schemas.openxmlformats.org/drawingml/2006/main">
              <a:ext uri="{FF2B5EF4-FFF2-40B4-BE49-F238E27FC236}">
                <a16:creationId xmlns:a16="http://schemas.microsoft.com/office/drawing/2014/main" id="{D87E7678-BBCC-40EB-816E-967FC87A8CE5}"/>
              </a:ext>
            </a:extLst>
          </p:cNvPr>
          <p:cNvSpPr>
            <a:spLocks xmlns:a="http://schemas.openxmlformats.org/drawingml/2006/main" noGrp="1"/>
          </p:cNvSpPr>
          <p:nvPr/>
        </p:nvSpPr>
        <p:spPr>
          <a:xfrm xmlns:a="http://schemas.openxmlformats.org/drawingml/2006/main">
            <a:off x="6881813" y="4262438"/>
            <a:ext cx="428625" cy="428625"/>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S</a:t>
            </a:r>
          </a:p>
        </p:txBody>
      </p:sp>
      <p:sp>
        <p:nvSpPr>
          <p:cNvPr id="38" name="">
            <a:extLst xmlns:a="http://schemas.openxmlformats.org/drawingml/2006/main">
              <a:ext uri="{FF2B5EF4-FFF2-40B4-BE49-F238E27FC236}">
                <a16:creationId xmlns:a16="http://schemas.microsoft.com/office/drawing/2014/main" id="{3D6CE2A8-4A5B-4990-929C-1F8FF9C7BE93}"/>
              </a:ext>
            </a:extLst>
          </p:cNvPr>
          <p:cNvSpPr>
            <a:spLocks xmlns:a="http://schemas.openxmlformats.org/drawingml/2006/main" noGrp="1"/>
          </p:cNvSpPr>
          <p:nvPr/>
        </p:nvSpPr>
        <p:spPr>
          <a:xfrm xmlns:a="http://schemas.openxmlformats.org/drawingml/2006/main">
            <a:off x="7596188" y="3500438"/>
            <a:ext cx="428625" cy="428625"/>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39" name="">
            <a:extLst xmlns:a="http://schemas.openxmlformats.org/drawingml/2006/main">
              <a:ext uri="{FF2B5EF4-FFF2-40B4-BE49-F238E27FC236}">
                <a16:creationId xmlns:a16="http://schemas.microsoft.com/office/drawing/2014/main" id="{57D75FE5-E33D-404F-86F2-D205BE8C107D}"/>
              </a:ext>
            </a:extLst>
          </p:cNvPr>
          <p:cNvSpPr>
            <a:spLocks xmlns:a="http://schemas.openxmlformats.org/drawingml/2006/main" noGrp="1"/>
          </p:cNvSpPr>
          <p:nvPr/>
        </p:nvSpPr>
        <p:spPr>
          <a:xfrm xmlns:a="http://schemas.openxmlformats.org/drawingml/2006/main">
            <a:off x="8501063" y="3881438"/>
            <a:ext cx="428625" cy="428625"/>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40" name="">
            <a:extLst xmlns:a="http://schemas.openxmlformats.org/drawingml/2006/main">
              <a:ext uri="{FF2B5EF4-FFF2-40B4-BE49-F238E27FC236}">
                <a16:creationId xmlns:a16="http://schemas.microsoft.com/office/drawing/2014/main" id="{286AB4CC-C8E0-4F3D-827A-5B2934E640F0}"/>
              </a:ext>
            </a:extLst>
          </p:cNvPr>
          <p:cNvSpPr>
            <a:spLocks xmlns:a="http://schemas.openxmlformats.org/drawingml/2006/main" noGrp="1"/>
          </p:cNvSpPr>
          <p:nvPr/>
        </p:nvSpPr>
        <p:spPr>
          <a:xfrm xmlns:a="http://schemas.openxmlformats.org/drawingml/2006/main">
            <a:off x="9386888" y="2833688"/>
            <a:ext cx="428625" cy="428625"/>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41" name="">
            <a:extLst xmlns:a="http://schemas.openxmlformats.org/drawingml/2006/main">
              <a:ext uri="{FF2B5EF4-FFF2-40B4-BE49-F238E27FC236}">
                <a16:creationId xmlns:a16="http://schemas.microsoft.com/office/drawing/2014/main" id="{90372019-240C-4AC5-B968-3207C8C3A2D1}"/>
              </a:ext>
            </a:extLst>
          </p:cNvPr>
          <p:cNvSpPr>
            <a:spLocks xmlns:a="http://schemas.openxmlformats.org/drawingml/2006/main" noGrp="1"/>
          </p:cNvSpPr>
          <p:nvPr/>
        </p:nvSpPr>
        <p:spPr>
          <a:xfrm xmlns:a="http://schemas.openxmlformats.org/drawingml/2006/main">
            <a:off x="10529888" y="2452688"/>
            <a:ext cx="428625" cy="428625"/>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a:t>
            </a:r>
          </a:p>
        </p:txBody>
      </p:sp>
      <p:cxnSp>
        <p:nvCxnSpPr>
          <p:cNvPr id="89" name=""/>
          <p:cNvCxnSpPr>
            <a:stCxn xmlns:a="http://schemas.openxmlformats.org/drawingml/2006/main" id="37" idx="7"/>
            <a:endCxn xmlns:a="http://schemas.openxmlformats.org/drawingml/2006/main" id="38" idx="3"/>
          </p:cNvCxnSpPr>
          <p:nvPr/>
        </p:nvCxnSpPr>
        <p:spPr>
          <a:xfrm xmlns:a="http://schemas.openxmlformats.org/drawingml/2006/main" flipV="1">
            <a:off x="7247667" y="3866292"/>
            <a:ext cx="411291" cy="458916"/>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0" name=""/>
          <p:cNvCxnSpPr>
            <a:stCxn xmlns:a="http://schemas.openxmlformats.org/drawingml/2006/main" id="38" idx="5"/>
            <a:endCxn xmlns:a="http://schemas.openxmlformats.org/drawingml/2006/main" id="39" idx="2"/>
          </p:cNvCxnSpPr>
          <p:nvPr/>
        </p:nvCxnSpPr>
        <p:spPr>
          <a:xfrm xmlns:a="http://schemas.openxmlformats.org/drawingml/2006/main">
            <a:off x="7962042" y="3866292"/>
            <a:ext cx="539021" cy="229458"/>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1" name=""/>
          <p:cNvCxnSpPr>
            <a:stCxn xmlns:a="http://schemas.openxmlformats.org/drawingml/2006/main" id="39" idx="7"/>
            <a:endCxn xmlns:a="http://schemas.openxmlformats.org/drawingml/2006/main" id="40" idx="3"/>
          </p:cNvCxnSpPr>
          <p:nvPr/>
        </p:nvCxnSpPr>
        <p:spPr>
          <a:xfrm xmlns:a="http://schemas.openxmlformats.org/drawingml/2006/main" flipV="1">
            <a:off x="8866917" y="3199542"/>
            <a:ext cx="582741" cy="744666"/>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2" name=""/>
          <p:cNvCxnSpPr>
            <a:stCxn xmlns:a="http://schemas.openxmlformats.org/drawingml/2006/main" id="40" idx="6"/>
            <a:endCxn xmlns:a="http://schemas.openxmlformats.org/drawingml/2006/main" id="41" idx="2"/>
          </p:cNvCxnSpPr>
          <p:nvPr/>
        </p:nvCxnSpPr>
        <p:spPr>
          <a:xfrm xmlns:a="http://schemas.openxmlformats.org/drawingml/2006/main" flipV="1">
            <a:off x="9815513" y="2667001"/>
            <a:ext cx="714375" cy="3810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sp>
        <p:nvSpPr>
          <p:cNvPr id="46" name="">
            <a:extLst xmlns:a="http://schemas.openxmlformats.org/drawingml/2006/main">
              <a:ext uri="{FF2B5EF4-FFF2-40B4-BE49-F238E27FC236}">
                <a16:creationId xmlns:a16="http://schemas.microsoft.com/office/drawing/2014/main" id="{79DC6A59-2C29-41F3-AC79-4C0B87A5EA00}"/>
              </a:ext>
            </a:extLst>
          </p:cNvPr>
          <p:cNvSpPr>
            <a:spLocks xmlns:a="http://schemas.openxmlformats.org/drawingml/2006/main" noGrp="1"/>
          </p:cNvSpPr>
          <p:nvPr/>
        </p:nvSpPr>
        <p:spPr>
          <a:xfrm xmlns:a="http://schemas.openxmlformats.org/drawingml/2006/main" rot="0">
            <a:off x="7124700" y="49530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One ordered, loop-free route</a:t>
            </a:r>
          </a:p>
        </p:txBody>
      </p:sp>
      <p:sp>
        <p:nvSpPr>
          <p:cNvPr id="47" name="">
            <a:extLst xmlns:a="http://schemas.openxmlformats.org/drawingml/2006/main">
              <a:ext uri="{FF2B5EF4-FFF2-40B4-BE49-F238E27FC236}">
                <a16:creationId xmlns:a16="http://schemas.microsoft.com/office/drawing/2014/main" id="{608EF867-93CA-4189-A7FE-C923F75A8742}"/>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Conceptual illustration based on the thesis problem definition.</a:t>
            </a:r>
          </a:p>
        </p:txBody>
      </p:sp>
    </p:spTree>
    <p:extLst>
      <p:ext uri="{BB962C8B-B14F-4D97-AF65-F5344CB8AC3E}">
        <p14:creationId xmlns:p14="http://schemas.microsoft.com/office/powerpoint/2010/main" val="99303614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152EBA8B-A853-47CA-BAE4-9BC65E7143EB}"/>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5D62B50D-BD27-4490-9DDB-5335753A8107}"/>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One engine, one decoder, and two fair evaluations</a:t>
            </a:r>
          </a:p>
        </p:txBody>
      </p:sp>
      <p:sp>
        <p:nvSpPr>
          <p:cNvPr id="3" name="title-accent">
            <a:extLst xmlns:a="http://schemas.openxmlformats.org/drawingml/2006/main">
              <a:ext uri="{FF2B5EF4-FFF2-40B4-BE49-F238E27FC236}">
                <a16:creationId xmlns:a16="http://schemas.microsoft.com/office/drawing/2014/main" id="{3C69D771-A51E-4D52-A6AF-794195D4E621}"/>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C26221-B6C6-4386-9EC8-ECA24E5614F6}"/>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A1E9EAB6-7FDA-4028-AD43-CD5630D08077}"/>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56B77FE0-EA00-40D2-A128-6DCC472E9E9F}"/>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3 / 10</a:t>
            </a:r>
          </a:p>
        </p:txBody>
      </p:sp>
      <p:sp>
        <p:nvSpPr>
          <p:cNvPr id="7" name="">
            <a:extLst xmlns:a="http://schemas.openxmlformats.org/drawingml/2006/main">
              <a:ext uri="{FF2B5EF4-FFF2-40B4-BE49-F238E27FC236}">
                <a16:creationId xmlns:a16="http://schemas.microsoft.com/office/drawing/2014/main" id="{DA8457AD-20DD-46C3-B315-EE7093E70945}"/>
              </a:ext>
            </a:extLst>
          </p:cNvPr>
          <p:cNvSpPr>
            <a:spLocks xmlns:a="http://schemas.openxmlformats.org/drawingml/2006/main" noGrp="1"/>
          </p:cNvSpPr>
          <p:nvPr/>
        </p:nvSpPr>
        <p:spPr>
          <a:xfrm xmlns:a="http://schemas.openxmlformats.org/drawingml/2006/main" rot="0">
            <a:off x="742950" y="1600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PHASE 1 · NEXT-POI</a:t>
            </a:r>
          </a:p>
        </p:txBody>
      </p:sp>
      <p:sp>
        <p:nvSpPr>
          <p:cNvPr id="8" name="">
            <a:extLst xmlns:a="http://schemas.openxmlformats.org/drawingml/2006/main">
              <a:ext uri="{FF2B5EF4-FFF2-40B4-BE49-F238E27FC236}">
                <a16:creationId xmlns:a16="http://schemas.microsoft.com/office/drawing/2014/main" id="{9931BCD8-B804-47FD-97BD-CC41BE436D4C}"/>
              </a:ext>
            </a:extLst>
          </p:cNvPr>
          <p:cNvSpPr>
            <a:spLocks xmlns:a="http://schemas.openxmlformats.org/drawingml/2006/main" noGrp="1"/>
          </p:cNvSpPr>
          <p:nvPr/>
        </p:nvSpPr>
        <p:spPr>
          <a:xfrm xmlns:a="http://schemas.openxmlformats.org/drawingml/2006/main">
            <a:off x="742950" y="2038350"/>
            <a:ext cx="2143125" cy="1095375"/>
          </a:xfrm>
          <a:prstGeom xmlns:a="http://schemas.openxmlformats.org/drawingml/2006/main" prst="roundRect">
            <a:avLst>
              <a:gd name="adj" fmla="val 15652"/>
            </a:avLst>
          </a:prstGeom>
          <a:solidFill xmlns:a="http://schemas.openxmlformats.org/drawingml/2006/main">
            <a:srgbClr val="EDF2F5"/>
          </a:solidFill>
          <a:ln xmlns:a="http://schemas.openxmlformats.org/drawingml/2006/main" w="9525">
            <a:solidFill>
              <a:srgbClr val="DCE4E9"/>
            </a:solidFill>
            <a:prstDash val="solid"/>
          </a:ln>
        </p:spPr>
      </p:sp>
      <p:sp>
        <p:nvSpPr>
          <p:cNvPr id="9" name="">
            <a:extLst xmlns:a="http://schemas.openxmlformats.org/drawingml/2006/main">
              <a:ext uri="{FF2B5EF4-FFF2-40B4-BE49-F238E27FC236}">
                <a16:creationId xmlns:a16="http://schemas.microsoft.com/office/drawing/2014/main" id="{E1A0230B-E9B0-41B0-839A-29702619AD1B}"/>
              </a:ext>
            </a:extLst>
          </p:cNvPr>
          <p:cNvSpPr>
            <a:spLocks xmlns:a="http://schemas.openxmlformats.org/drawingml/2006/main" noGrp="1"/>
          </p:cNvSpPr>
          <p:nvPr/>
        </p:nvSpPr>
        <p:spPr>
          <a:xfrm xmlns:a="http://schemas.openxmlformats.org/drawingml/2006/main">
            <a:off x="3714750" y="2038350"/>
            <a:ext cx="2428875" cy="1095375"/>
          </a:xfrm>
          <a:prstGeom xmlns:a="http://schemas.openxmlformats.org/drawingml/2006/main" prst="roundRect">
            <a:avLst>
              <a:gd name="adj" fmla="val 15652"/>
            </a:avLst>
          </a:prstGeom>
          <a:solidFill xmlns:a="http://schemas.openxmlformats.org/drawingml/2006/main">
            <a:srgbClr val="0B1F33"/>
          </a:solidFill>
          <a:ln xmlns:a="http://schemas.openxmlformats.org/drawingml/2006/main" w="9525">
            <a:solidFill>
              <a:srgbClr val="0B1F33"/>
            </a:solidFill>
            <a:prstDash val="solid"/>
          </a:ln>
        </p:spPr>
      </p:sp>
      <p:sp>
        <p:nvSpPr>
          <p:cNvPr id="10" name="">
            <a:extLst xmlns:a="http://schemas.openxmlformats.org/drawingml/2006/main">
              <a:ext uri="{FF2B5EF4-FFF2-40B4-BE49-F238E27FC236}">
                <a16:creationId xmlns:a16="http://schemas.microsoft.com/office/drawing/2014/main" id="{D386C641-D671-404D-A01E-240D4D96C986}"/>
              </a:ext>
            </a:extLst>
          </p:cNvPr>
          <p:cNvSpPr>
            <a:spLocks xmlns:a="http://schemas.openxmlformats.org/drawingml/2006/main" noGrp="1"/>
          </p:cNvSpPr>
          <p:nvPr/>
        </p:nvSpPr>
        <p:spPr>
          <a:xfrm xmlns:a="http://schemas.openxmlformats.org/drawingml/2006/main">
            <a:off x="6953250" y="2038350"/>
            <a:ext cx="2143125" cy="1095375"/>
          </a:xfrm>
          <a:prstGeom xmlns:a="http://schemas.openxmlformats.org/drawingml/2006/main" prst="roundRect">
            <a:avLst>
              <a:gd name="adj" fmla="val 15652"/>
            </a:avLst>
          </a:prstGeom>
          <a:solidFill xmlns:a="http://schemas.openxmlformats.org/drawingml/2006/main">
            <a:srgbClr val="DDF3F1"/>
          </a:solidFill>
          <a:ln xmlns:a="http://schemas.openxmlformats.org/drawingml/2006/main" w="9525">
            <a:solidFill>
              <a:srgbClr val="A8D7D2"/>
            </a:solidFill>
            <a:prstDash val="solid"/>
          </a:ln>
        </p:spPr>
      </p:sp>
      <p:sp>
        <p:nvSpPr>
          <p:cNvPr id="11" name="">
            <a:extLst xmlns:a="http://schemas.openxmlformats.org/drawingml/2006/main">
              <a:ext uri="{FF2B5EF4-FFF2-40B4-BE49-F238E27FC236}">
                <a16:creationId xmlns:a16="http://schemas.microsoft.com/office/drawing/2014/main" id="{31D3E1C8-B39A-42A9-9CC1-F5CB0B49ED9B}"/>
              </a:ext>
            </a:extLst>
          </p:cNvPr>
          <p:cNvSpPr>
            <a:spLocks xmlns:a="http://schemas.openxmlformats.org/drawingml/2006/main" noGrp="1"/>
          </p:cNvSpPr>
          <p:nvPr/>
        </p:nvSpPr>
        <p:spPr>
          <a:xfrm xmlns:a="http://schemas.openxmlformats.org/drawingml/2006/main" rot="0">
            <a:off x="952500" y="224790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Foursquare NYC</a:t>
            </a:r>
          </a:p>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~5,100 POIs</a:t>
            </a:r>
          </a:p>
        </p:txBody>
      </p:sp>
      <p:sp>
        <p:nvSpPr>
          <p:cNvPr id="12" name="">
            <a:extLst xmlns:a="http://schemas.openxmlformats.org/drawingml/2006/main">
              <a:ext uri="{FF2B5EF4-FFF2-40B4-BE49-F238E27FC236}">
                <a16:creationId xmlns:a16="http://schemas.microsoft.com/office/drawing/2014/main" id="{85DD29DC-5F5F-4C95-AED2-D246C390856F}"/>
              </a:ext>
            </a:extLst>
          </p:cNvPr>
          <p:cNvSpPr>
            <a:spLocks xmlns:a="http://schemas.openxmlformats.org/drawingml/2006/main" noGrp="1"/>
          </p:cNvSpPr>
          <p:nvPr/>
        </p:nvSpPr>
        <p:spPr>
          <a:xfrm xmlns:a="http://schemas.openxmlformats.org/drawingml/2006/main" rot="0">
            <a:off x="4000500" y="2247900"/>
            <a:ext cx="1857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Context-aware</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next-POI engine</a:t>
            </a:r>
          </a:p>
        </p:txBody>
      </p:sp>
      <p:sp>
        <p:nvSpPr>
          <p:cNvPr id="13" name="">
            <a:extLst xmlns:a="http://schemas.openxmlformats.org/drawingml/2006/main">
              <a:ext uri="{FF2B5EF4-FFF2-40B4-BE49-F238E27FC236}">
                <a16:creationId xmlns:a16="http://schemas.microsoft.com/office/drawing/2014/main" id="{47F95A1F-6003-4B5F-858E-3651FFCA628D}"/>
              </a:ext>
            </a:extLst>
          </p:cNvPr>
          <p:cNvSpPr>
            <a:spLocks xmlns:a="http://schemas.openxmlformats.org/drawingml/2006/main" noGrp="1"/>
          </p:cNvSpPr>
          <p:nvPr/>
        </p:nvSpPr>
        <p:spPr>
          <a:xfrm xmlns:a="http://schemas.openxmlformats.org/drawingml/2006/main" rot="0">
            <a:off x="7200900" y="2247900"/>
            <a:ext cx="1666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Full-vocabulary</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POI ranking</a:t>
            </a:r>
          </a:p>
        </p:txBody>
      </p: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a:off x="2886075" y="2586038"/>
            <a:ext cx="828675"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48" name=""/>
          <p:cNvCxnSpPr>
            <a:stCxn xmlns:a="http://schemas.openxmlformats.org/drawingml/2006/main" id="9" idx="3"/>
            <a:endCxn xmlns:a="http://schemas.openxmlformats.org/drawingml/2006/main" id="10" idx="1"/>
          </p:cNvCxnSpPr>
          <p:nvPr/>
        </p:nvCxnSpPr>
        <p:spPr>
          <a:xfrm xmlns:a="http://schemas.openxmlformats.org/drawingml/2006/main">
            <a:off x="6143625" y="2586038"/>
            <a:ext cx="809625" cy="0"/>
          </a:xfrm>
          <a:prstGeom xmlns:a="http://schemas.openxmlformats.org/drawingml/2006/main" prst="straightConnector1">
            <a:avLst/>
          </a:prstGeom>
          <a:ln xmlns:a="http://schemas.openxmlformats.org/drawingml/2006/main" w="38100">
            <a:solidFill>
              <a:srgbClr val="1FA6A0"/>
            </a:solidFill>
            <a:prstDash val="solid"/>
            <a:headEnd type="none" w="med" len="med"/>
            <a:tailEnd type="triangle" w="sm" len="sm"/>
          </a:ln>
        </p:spPr>
      </p:cxnSp>
      <p:sp>
        <p:nvSpPr>
          <p:cNvPr id="16" name="">
            <a:extLst xmlns:a="http://schemas.openxmlformats.org/drawingml/2006/main">
              <a:ext uri="{FF2B5EF4-FFF2-40B4-BE49-F238E27FC236}">
                <a16:creationId xmlns:a16="http://schemas.microsoft.com/office/drawing/2014/main" id="{5F7AEA97-266A-46D4-AB00-F478CEAC8711}"/>
              </a:ext>
            </a:extLst>
          </p:cNvPr>
          <p:cNvSpPr>
            <a:spLocks xmlns:a="http://schemas.openxmlformats.org/drawingml/2006/main" noGrp="1"/>
          </p:cNvSpPr>
          <p:nvPr/>
        </p:nvSpPr>
        <p:spPr>
          <a:xfrm xmlns:a="http://schemas.openxmlformats.org/drawingml/2006/main">
            <a:off x="9410700" y="2095500"/>
            <a:ext cx="2076450" cy="97155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CE4E9"/>
            </a:solidFill>
            <a:prstDash val="solid"/>
          </a:ln>
        </p:spPr>
      </p:sp>
      <p:sp>
        <p:nvSpPr>
          <p:cNvPr id="17" name="">
            <a:extLst xmlns:a="http://schemas.openxmlformats.org/drawingml/2006/main">
              <a:ext uri="{FF2B5EF4-FFF2-40B4-BE49-F238E27FC236}">
                <a16:creationId xmlns:a16="http://schemas.microsoft.com/office/drawing/2014/main" id="{7369D95F-02E5-46D2-ABFC-54876C0B935B}"/>
              </a:ext>
            </a:extLst>
          </p:cNvPr>
          <p:cNvSpPr>
            <a:spLocks xmlns:a="http://schemas.openxmlformats.org/drawingml/2006/main" noGrp="1"/>
          </p:cNvSpPr>
          <p:nvPr/>
        </p:nvSpPr>
        <p:spPr>
          <a:xfrm xmlns:a="http://schemas.openxmlformats.org/drawingml/2006/main" rot="0">
            <a:off x="9582150" y="23050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22"/>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Evaluate with</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HR@k · NDCG · MRR</a:t>
            </a:r>
          </a:p>
        </p:txBody>
      </p:sp>
      <p:cxnSp>
        <p:nvCxnSpPr>
          <p:cNvPr id="51" name=""/>
          <p:cNvCxnSpPr>
            <a:stCxn xmlns:a="http://schemas.openxmlformats.org/drawingml/2006/main" id="10" idx="3"/>
            <a:endCxn xmlns:a="http://schemas.openxmlformats.org/drawingml/2006/main" id="16" idx="1"/>
          </p:cNvCxnSpPr>
          <p:nvPr/>
        </p:nvCxnSpPr>
        <p:spPr>
          <a:xfrm xmlns:a="http://schemas.openxmlformats.org/drawingml/2006/main" flipV="1">
            <a:off x="9096375" y="2581275"/>
            <a:ext cx="314325" cy="4763"/>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DCF408D3-617F-4EDC-B1C7-934EB3E949D4}"/>
              </a:ext>
            </a:extLst>
          </p:cNvPr>
          <p:cNvSpPr>
            <a:spLocks xmlns:a="http://schemas.openxmlformats.org/drawingml/2006/main" noGrp="1"/>
          </p:cNvSpPr>
          <p:nvPr/>
        </p:nvSpPr>
        <p:spPr>
          <a:xfrm xmlns:a="http://schemas.openxmlformats.org/drawingml/2006/main" rot="0">
            <a:off x="742950" y="37147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F28C45"/>
                </a:solidFill>
                <a:latin typeface="Aptos"/>
                <a:ea typeface="Aptos"/>
                <a:cs typeface="Aptos"/>
              </a:defRPr>
            </a:pPr>
            <a:r>
              <a:rPr sz="1275" b="1" i="0">
                <a:solidFill>
                  <a:srgbClr val="F28C45"/>
                </a:solidFill>
                <a:latin typeface="Aptos"/>
                <a:ea typeface="Aptos"/>
                <a:cs typeface="Aptos"/>
              </a:rPr>
              <a:t>PHASE 2 · ITINERARY</a:t>
            </a:r>
          </a:p>
        </p:txBody>
      </p:sp>
      <p:sp>
        <p:nvSpPr>
          <p:cNvPr id="20" name="">
            <a:extLst xmlns:a="http://schemas.openxmlformats.org/drawingml/2006/main">
              <a:ext uri="{FF2B5EF4-FFF2-40B4-BE49-F238E27FC236}">
                <a16:creationId xmlns:a16="http://schemas.microsoft.com/office/drawing/2014/main" id="{25AD79DB-9830-4A90-BDB8-4A16E7F0B95E}"/>
              </a:ext>
            </a:extLst>
          </p:cNvPr>
          <p:cNvSpPr>
            <a:spLocks xmlns:a="http://schemas.openxmlformats.org/drawingml/2006/main" noGrp="1"/>
          </p:cNvSpPr>
          <p:nvPr/>
        </p:nvSpPr>
        <p:spPr>
          <a:xfrm xmlns:a="http://schemas.openxmlformats.org/drawingml/2006/main">
            <a:off x="742950" y="4171950"/>
            <a:ext cx="2143125" cy="1095375"/>
          </a:xfrm>
          <a:prstGeom xmlns:a="http://schemas.openxmlformats.org/drawingml/2006/main" prst="roundRect">
            <a:avLst>
              <a:gd name="adj" fmla="val 15652"/>
            </a:avLst>
          </a:prstGeom>
          <a:solidFill xmlns:a="http://schemas.openxmlformats.org/drawingml/2006/main">
            <a:srgbClr val="FCE8D9"/>
          </a:solidFill>
          <a:ln xmlns:a="http://schemas.openxmlformats.org/drawingml/2006/main" w="9525">
            <a:solidFill>
              <a:srgbClr val="F3C49D"/>
            </a:solidFill>
            <a:prstDash val="solid"/>
          </a:ln>
        </p:spPr>
      </p:sp>
      <p:sp>
        <p:nvSpPr>
          <p:cNvPr id="21" name="">
            <a:extLst xmlns:a="http://schemas.openxmlformats.org/drawingml/2006/main">
              <a:ext uri="{FF2B5EF4-FFF2-40B4-BE49-F238E27FC236}">
                <a16:creationId xmlns:a16="http://schemas.microsoft.com/office/drawing/2014/main" id="{09184AA2-3301-424F-8CAA-1A76F3696B1A}"/>
              </a:ext>
            </a:extLst>
          </p:cNvPr>
          <p:cNvSpPr>
            <a:spLocks xmlns:a="http://schemas.openxmlformats.org/drawingml/2006/main" noGrp="1"/>
          </p:cNvSpPr>
          <p:nvPr/>
        </p:nvSpPr>
        <p:spPr>
          <a:xfrm xmlns:a="http://schemas.openxmlformats.org/drawingml/2006/main">
            <a:off x="3714750" y="4171950"/>
            <a:ext cx="2428875" cy="1095375"/>
          </a:xfrm>
          <a:prstGeom xmlns:a="http://schemas.openxmlformats.org/drawingml/2006/main" prst="roundRect">
            <a:avLst>
              <a:gd name="adj" fmla="val 15652"/>
            </a:avLst>
          </a:prstGeom>
          <a:solidFill xmlns:a="http://schemas.openxmlformats.org/drawingml/2006/main">
            <a:srgbClr val="F28C45"/>
          </a:solidFill>
          <a:ln xmlns:a="http://schemas.openxmlformats.org/drawingml/2006/main" w="9525">
            <a:solidFill>
              <a:srgbClr val="F28C45"/>
            </a:solidFill>
            <a:prstDash val="solid"/>
          </a:ln>
        </p:spPr>
      </p:sp>
      <p:sp>
        <p:nvSpPr>
          <p:cNvPr id="22" name="">
            <a:extLst xmlns:a="http://schemas.openxmlformats.org/drawingml/2006/main">
              <a:ext uri="{FF2B5EF4-FFF2-40B4-BE49-F238E27FC236}">
                <a16:creationId xmlns:a16="http://schemas.microsoft.com/office/drawing/2014/main" id="{41F759D5-CFD9-4899-A0DF-5A16B3DF9355}"/>
              </a:ext>
            </a:extLst>
          </p:cNvPr>
          <p:cNvSpPr>
            <a:spLocks xmlns:a="http://schemas.openxmlformats.org/drawingml/2006/main" noGrp="1"/>
          </p:cNvSpPr>
          <p:nvPr/>
        </p:nvSpPr>
        <p:spPr>
          <a:xfrm xmlns:a="http://schemas.openxmlformats.org/drawingml/2006/main">
            <a:off x="6953250" y="4171950"/>
            <a:ext cx="2143125" cy="1095375"/>
          </a:xfrm>
          <a:prstGeom xmlns:a="http://schemas.openxmlformats.org/drawingml/2006/main" prst="roundRect">
            <a:avLst>
              <a:gd name="adj" fmla="val 15652"/>
            </a:avLst>
          </a:prstGeom>
          <a:solidFill xmlns:a="http://schemas.openxmlformats.org/drawingml/2006/main">
            <a:srgbClr val="DDF3F1"/>
          </a:solidFill>
          <a:ln xmlns:a="http://schemas.openxmlformats.org/drawingml/2006/main" w="9525">
            <a:solidFill>
              <a:srgbClr val="A8D7D2"/>
            </a:solidFill>
            <a:prstDash val="solid"/>
          </a:ln>
        </p:spPr>
      </p:sp>
      <p:sp>
        <p:nvSpPr>
          <p:cNvPr id="23" name="">
            <a:extLst xmlns:a="http://schemas.openxmlformats.org/drawingml/2006/main">
              <a:ext uri="{FF2B5EF4-FFF2-40B4-BE49-F238E27FC236}">
                <a16:creationId xmlns:a16="http://schemas.microsoft.com/office/drawing/2014/main" id="{7A38DC4B-A2E5-4977-96A3-EE4918EDAD5A}"/>
              </a:ext>
            </a:extLst>
          </p:cNvPr>
          <p:cNvSpPr>
            <a:spLocks xmlns:a="http://schemas.openxmlformats.org/drawingml/2006/main" noGrp="1"/>
          </p:cNvSpPr>
          <p:nvPr/>
        </p:nvSpPr>
        <p:spPr>
          <a:xfrm xmlns:a="http://schemas.openxmlformats.org/drawingml/2006/main" rot="0">
            <a:off x="952500" y="436245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User · start · end</a:t>
            </a:r>
          </a:p>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requested length</a:t>
            </a:r>
          </a:p>
        </p:txBody>
      </p:sp>
      <p:sp>
        <p:nvSpPr>
          <p:cNvPr id="24" name="">
            <a:extLst xmlns:a="http://schemas.openxmlformats.org/drawingml/2006/main">
              <a:ext uri="{FF2B5EF4-FFF2-40B4-BE49-F238E27FC236}">
                <a16:creationId xmlns:a16="http://schemas.microsoft.com/office/drawing/2014/main" id="{E4666596-999B-4D18-B48B-1F290B538922}"/>
              </a:ext>
            </a:extLst>
          </p:cNvPr>
          <p:cNvSpPr>
            <a:spLocks xmlns:a="http://schemas.openxmlformats.org/drawingml/2006/main" noGrp="1"/>
          </p:cNvSpPr>
          <p:nvPr/>
        </p:nvSpPr>
        <p:spPr>
          <a:xfrm xmlns:a="http://schemas.openxmlformats.org/drawingml/2006/main" rot="0">
            <a:off x="4000500" y="4362450"/>
            <a:ext cx="1857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Frozen Rollout</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(no retraining)</a:t>
            </a:r>
          </a:p>
        </p:txBody>
      </p:sp>
      <p:sp>
        <p:nvSpPr>
          <p:cNvPr id="25" name="">
            <a:extLst xmlns:a="http://schemas.openxmlformats.org/drawingml/2006/main">
              <a:ext uri="{FF2B5EF4-FFF2-40B4-BE49-F238E27FC236}">
                <a16:creationId xmlns:a16="http://schemas.microsoft.com/office/drawing/2014/main" id="{2FE60282-0F85-4E5F-A8B6-42D349384DC1}"/>
              </a:ext>
            </a:extLst>
          </p:cNvPr>
          <p:cNvSpPr>
            <a:spLocks xmlns:a="http://schemas.openxmlformats.org/drawingml/2006/main" noGrp="1"/>
          </p:cNvSpPr>
          <p:nvPr/>
        </p:nvSpPr>
        <p:spPr>
          <a:xfrm xmlns:a="http://schemas.openxmlformats.org/drawingml/2006/main" rot="0">
            <a:off x="7200900" y="4362450"/>
            <a:ext cx="1666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57"/>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Ordered loop-free</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itinerary</a:t>
            </a:r>
          </a:p>
        </p:txBody>
      </p:sp>
      <p:cxnSp>
        <p:nvCxnSpPr>
          <p:cNvPr id="59" name=""/>
          <p:cNvCxnSpPr>
            <a:stCxn xmlns:a="http://schemas.openxmlformats.org/drawingml/2006/main" id="20" idx="3"/>
            <a:endCxn xmlns:a="http://schemas.openxmlformats.org/drawingml/2006/main" id="21" idx="1"/>
          </p:cNvCxnSpPr>
          <p:nvPr/>
        </p:nvCxnSpPr>
        <p:spPr>
          <a:xfrm xmlns:a="http://schemas.openxmlformats.org/drawingml/2006/main">
            <a:off x="2886075" y="4719638"/>
            <a:ext cx="828675" cy="0"/>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60" name=""/>
          <p:cNvCxnSpPr>
            <a:stCxn xmlns:a="http://schemas.openxmlformats.org/drawingml/2006/main" id="21" idx="3"/>
            <a:endCxn xmlns:a="http://schemas.openxmlformats.org/drawingml/2006/main" id="22" idx="1"/>
          </p:cNvCxnSpPr>
          <p:nvPr/>
        </p:nvCxnSpPr>
        <p:spPr>
          <a:xfrm xmlns:a="http://schemas.openxmlformats.org/drawingml/2006/main">
            <a:off x="6143625" y="4719638"/>
            <a:ext cx="809625" cy="0"/>
          </a:xfrm>
          <a:prstGeom xmlns:a="http://schemas.openxmlformats.org/drawingml/2006/main" prst="straightConnector1">
            <a:avLst/>
          </a:prstGeom>
          <a:ln xmlns:a="http://schemas.openxmlformats.org/drawingml/2006/main" w="38100">
            <a:solidFill>
              <a:srgbClr val="1FA6A0"/>
            </a:solidFill>
            <a:prstDash val="solid"/>
            <a:headEnd type="none" w="med" len="med"/>
            <a:tailEnd type="triangle" w="sm" len="sm"/>
          </a:ln>
        </p:spPr>
      </p:cxnSp>
      <p:sp>
        <p:nvSpPr>
          <p:cNvPr id="28" name="">
            <a:extLst xmlns:a="http://schemas.openxmlformats.org/drawingml/2006/main">
              <a:ext uri="{FF2B5EF4-FFF2-40B4-BE49-F238E27FC236}">
                <a16:creationId xmlns:a16="http://schemas.microsoft.com/office/drawing/2014/main" id="{B29CB338-FFD7-4A6F-9010-B3CA52DDC8CC}"/>
              </a:ext>
            </a:extLst>
          </p:cNvPr>
          <p:cNvSpPr>
            <a:spLocks xmlns:a="http://schemas.openxmlformats.org/drawingml/2006/main" noGrp="1"/>
          </p:cNvSpPr>
          <p:nvPr/>
        </p:nvSpPr>
        <p:spPr>
          <a:xfrm xmlns:a="http://schemas.openxmlformats.org/drawingml/2006/main">
            <a:off x="9410700" y="4038600"/>
            <a:ext cx="207645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CE4E9"/>
            </a:solidFill>
            <a:prstDash val="solid"/>
          </a:ln>
        </p:spPr>
      </p:sp>
      <p:sp>
        <p:nvSpPr>
          <p:cNvPr id="29" name="">
            <a:extLst xmlns:a="http://schemas.openxmlformats.org/drawingml/2006/main">
              <a:ext uri="{FF2B5EF4-FFF2-40B4-BE49-F238E27FC236}">
                <a16:creationId xmlns:a16="http://schemas.microsoft.com/office/drawing/2014/main" id="{045B8167-C8CE-4FC6-A369-21D3DA93C868}"/>
              </a:ext>
            </a:extLst>
          </p:cNvPr>
          <p:cNvSpPr>
            <a:spLocks xmlns:a="http://schemas.openxmlformats.org/drawingml/2006/main" noGrp="1"/>
          </p:cNvSpPr>
          <p:nvPr/>
        </p:nvSpPr>
        <p:spPr>
          <a:xfrm xmlns:a="http://schemas.openxmlformats.org/drawingml/2006/main" rot="0">
            <a:off x="9582150" y="4210050"/>
            <a:ext cx="17335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296"/>
          </a:bodyPr>
          <a:lstStyle xmlns:a="http://schemas.openxmlformats.org/drawingml/2006/main"/>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NYC: internal comparison</a:t>
            </a:r>
          </a:p>
          <a:p xmlns:a="http://schemas.openxmlformats.org/drawingml/2006/main">
            <a:r>
              <a:t/>
            </a:r>
          </a:p>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Flickr Benchmark: literature bridge</a:t>
            </a:r>
          </a:p>
        </p:txBody>
      </p:sp>
      <p:cxnSp>
        <p:nvCxnSpPr>
          <p:cNvPr id="63" name=""/>
          <p:cNvCxnSpPr>
            <a:stCxn xmlns:a="http://schemas.openxmlformats.org/drawingml/2006/main" id="22" idx="3"/>
            <a:endCxn xmlns:a="http://schemas.openxmlformats.org/drawingml/2006/main" id="28" idx="1"/>
          </p:cNvCxnSpPr>
          <p:nvPr/>
        </p:nvCxnSpPr>
        <p:spPr>
          <a:xfrm xmlns:a="http://schemas.openxmlformats.org/drawingml/2006/main">
            <a:off x="9096375" y="4719638"/>
            <a:ext cx="314325" cy="4763"/>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31" name="">
            <a:extLst xmlns:a="http://schemas.openxmlformats.org/drawingml/2006/main">
              <a:ext uri="{FF2B5EF4-FFF2-40B4-BE49-F238E27FC236}">
                <a16:creationId xmlns:a16="http://schemas.microsoft.com/office/drawing/2014/main" id="{6D201734-5490-49A7-A4DC-2E8FC4BB53A6}"/>
              </a:ext>
            </a:extLst>
          </p:cNvPr>
          <p:cNvSpPr>
            <a:spLocks xmlns:a="http://schemas.openxmlformats.org/drawingml/2006/main" noGrp="1"/>
          </p:cNvSpPr>
          <p:nvPr/>
        </p:nvSpPr>
        <p:spPr>
          <a:xfrm xmlns:a="http://schemas.openxmlformats.org/drawingml/2006/main">
            <a:off x="3429000" y="5619750"/>
            <a:ext cx="533400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32" name="">
            <a:extLst xmlns:a="http://schemas.openxmlformats.org/drawingml/2006/main">
              <a:ext uri="{FF2B5EF4-FFF2-40B4-BE49-F238E27FC236}">
                <a16:creationId xmlns:a16="http://schemas.microsoft.com/office/drawing/2014/main" id="{5C4F538E-B28E-485E-ABA4-0C9CC610099D}"/>
              </a:ext>
            </a:extLst>
          </p:cNvPr>
          <p:cNvSpPr>
            <a:spLocks xmlns:a="http://schemas.openxmlformats.org/drawingml/2006/main" noGrp="1"/>
          </p:cNvSpPr>
          <p:nvPr/>
        </p:nvSpPr>
        <p:spPr>
          <a:xfrm xmlns:a="http://schemas.openxmlformats.org/drawingml/2006/main" rot="0">
            <a:off x="3638550" y="5686425"/>
            <a:ext cx="491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Never mix scores across tasks, datasets, protocols, or metrics</a:t>
            </a:r>
          </a:p>
        </p:txBody>
      </p:sp>
      <p:sp>
        <p:nvSpPr>
          <p:cNvPr id="33" name="">
            <a:extLst xmlns:a="http://schemas.openxmlformats.org/drawingml/2006/main">
              <a:ext uri="{FF2B5EF4-FFF2-40B4-BE49-F238E27FC236}">
                <a16:creationId xmlns:a16="http://schemas.microsoft.com/office/drawing/2014/main" id="{566719F9-A2A7-4E9F-A9F0-4084CA9B2874}"/>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3.2 and 3.6. Two tasks are evaluated separately.</a:t>
            </a:r>
          </a:p>
        </p:txBody>
      </p:sp>
    </p:spTree>
    <p:extLst>
      <p:ext uri="{BB962C8B-B14F-4D97-AF65-F5344CB8AC3E}">
        <p14:creationId xmlns:p14="http://schemas.microsoft.com/office/powerpoint/2010/main" val="130783550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3B033ADD-EEE3-44CF-993C-B32EBFB29719}"/>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7FF6FCBC-9DE4-4DC1-8721-54BD87011D88}"/>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The engine combines places, context, and user preferences</a:t>
            </a:r>
          </a:p>
        </p:txBody>
      </p:sp>
      <p:sp>
        <p:nvSpPr>
          <p:cNvPr id="3" name="title-accent">
            <a:extLst xmlns:a="http://schemas.openxmlformats.org/drawingml/2006/main">
              <a:ext uri="{FF2B5EF4-FFF2-40B4-BE49-F238E27FC236}">
                <a16:creationId xmlns:a16="http://schemas.microsoft.com/office/drawing/2014/main" id="{D4481576-C59B-4389-973C-DEC343345326}"/>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F41FD5-3ABD-4818-A92C-0F77F4B96238}"/>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33743951-4741-4204-82B6-C3902FADB3C1}"/>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B0D5AF53-FC55-4C1A-BD07-FF57F98CC9FE}"/>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4 / 10</a:t>
            </a:r>
          </a:p>
        </p:txBody>
      </p:sp>
      <p:sp>
        <p:nvSpPr>
          <p:cNvPr id="7" name="">
            <a:extLst xmlns:a="http://schemas.openxmlformats.org/drawingml/2006/main">
              <a:ext uri="{FF2B5EF4-FFF2-40B4-BE49-F238E27FC236}">
                <a16:creationId xmlns:a16="http://schemas.microsoft.com/office/drawing/2014/main" id="{27F73D22-57D1-4595-8C65-0D585734910F}"/>
              </a:ext>
            </a:extLst>
          </p:cNvPr>
          <p:cNvSpPr>
            <a:spLocks xmlns:a="http://schemas.openxmlformats.org/drawingml/2006/main" noGrp="1"/>
          </p:cNvSpPr>
          <p:nvPr/>
        </p:nvSpPr>
        <p:spPr>
          <a:xfrm xmlns:a="http://schemas.openxmlformats.org/drawingml/2006/main">
            <a:off x="666750" y="1981200"/>
            <a:ext cx="1619250" cy="952500"/>
          </a:xfrm>
          <a:prstGeom xmlns:a="http://schemas.openxmlformats.org/drawingml/2006/main" prst="roundRect">
            <a:avLst>
              <a:gd name="adj" fmla="val 18000"/>
            </a:avLst>
          </a:prstGeom>
          <a:solidFill xmlns:a="http://schemas.openxmlformats.org/drawingml/2006/main">
            <a:srgbClr val="EDF2F5"/>
          </a:solidFill>
          <a:ln xmlns:a="http://schemas.openxmlformats.org/drawingml/2006/main" w="9525">
            <a:solidFill>
              <a:srgbClr val="DCE4E9"/>
            </a:solidFill>
            <a:prstDash val="solid"/>
          </a:ln>
        </p:spPr>
      </p:sp>
      <p:sp>
        <p:nvSpPr>
          <p:cNvPr id="8" name="">
            <a:extLst xmlns:a="http://schemas.openxmlformats.org/drawingml/2006/main">
              <a:ext uri="{FF2B5EF4-FFF2-40B4-BE49-F238E27FC236}">
                <a16:creationId xmlns:a16="http://schemas.microsoft.com/office/drawing/2014/main" id="{815D737B-5EAB-4778-820D-8195611DDBE9}"/>
              </a:ext>
            </a:extLst>
          </p:cNvPr>
          <p:cNvSpPr>
            <a:spLocks xmlns:a="http://schemas.openxmlformats.org/drawingml/2006/main" noGrp="1"/>
          </p:cNvSpPr>
          <p:nvPr/>
        </p:nvSpPr>
        <p:spPr>
          <a:xfrm xmlns:a="http://schemas.openxmlformats.org/drawingml/2006/main">
            <a:off x="2800350" y="1695450"/>
            <a:ext cx="2000250" cy="1066800"/>
          </a:xfrm>
          <a:prstGeom xmlns:a="http://schemas.openxmlformats.org/drawingml/2006/main" prst="roundRect">
            <a:avLst>
              <a:gd name="adj" fmla="val 16071"/>
            </a:avLst>
          </a:prstGeom>
          <a:solidFill xmlns:a="http://schemas.openxmlformats.org/drawingml/2006/main">
            <a:srgbClr val="DDF3F1"/>
          </a:solidFill>
          <a:ln xmlns:a="http://schemas.openxmlformats.org/drawingml/2006/main" w="9525">
            <a:solidFill>
              <a:srgbClr val="A8D7D2"/>
            </a:solidFill>
            <a:prstDash val="solid"/>
          </a:ln>
        </p:spPr>
      </p:sp>
      <p:sp>
        <p:nvSpPr>
          <p:cNvPr id="9" name="">
            <a:extLst xmlns:a="http://schemas.openxmlformats.org/drawingml/2006/main">
              <a:ext uri="{FF2B5EF4-FFF2-40B4-BE49-F238E27FC236}">
                <a16:creationId xmlns:a16="http://schemas.microsoft.com/office/drawing/2014/main" id="{76B21CD1-CBBD-4B98-B40C-7AE1482CFDA8}"/>
              </a:ext>
            </a:extLst>
          </p:cNvPr>
          <p:cNvSpPr>
            <a:spLocks xmlns:a="http://schemas.openxmlformats.org/drawingml/2006/main" noGrp="1"/>
          </p:cNvSpPr>
          <p:nvPr/>
        </p:nvSpPr>
        <p:spPr>
          <a:xfrm xmlns:a="http://schemas.openxmlformats.org/drawingml/2006/main">
            <a:off x="2800350" y="3143250"/>
            <a:ext cx="2000250" cy="952500"/>
          </a:xfrm>
          <a:prstGeom xmlns:a="http://schemas.openxmlformats.org/drawingml/2006/main" prst="roundRect">
            <a:avLst>
              <a:gd name="adj" fmla="val 18000"/>
            </a:avLst>
          </a:prstGeom>
          <a:solidFill xmlns:a="http://schemas.openxmlformats.org/drawingml/2006/main">
            <a:srgbClr val="FCE8D9"/>
          </a:solidFill>
          <a:ln xmlns:a="http://schemas.openxmlformats.org/drawingml/2006/main" w="9525">
            <a:solidFill>
              <a:srgbClr val="F3C49D"/>
            </a:solidFill>
            <a:prstDash val="solid"/>
          </a:ln>
        </p:spPr>
      </p:sp>
      <p:sp>
        <p:nvSpPr>
          <p:cNvPr id="10" name="">
            <a:extLst xmlns:a="http://schemas.openxmlformats.org/drawingml/2006/main">
              <a:ext uri="{FF2B5EF4-FFF2-40B4-BE49-F238E27FC236}">
                <a16:creationId xmlns:a16="http://schemas.microsoft.com/office/drawing/2014/main" id="{F114B43D-C980-49AB-96B6-33F1188BA605}"/>
              </a:ext>
            </a:extLst>
          </p:cNvPr>
          <p:cNvSpPr>
            <a:spLocks xmlns:a="http://schemas.openxmlformats.org/drawingml/2006/main" noGrp="1"/>
          </p:cNvSpPr>
          <p:nvPr/>
        </p:nvSpPr>
        <p:spPr>
          <a:xfrm xmlns:a="http://schemas.openxmlformats.org/drawingml/2006/main">
            <a:off x="8458200" y="4476750"/>
            <a:ext cx="1524000" cy="876300"/>
          </a:xfrm>
          <a:prstGeom xmlns:a="http://schemas.openxmlformats.org/drawingml/2006/main" prst="roundRect">
            <a:avLst>
              <a:gd name="adj" fmla="val 19565"/>
            </a:avLst>
          </a:prstGeom>
          <a:solidFill xmlns:a="http://schemas.openxmlformats.org/drawingml/2006/main">
            <a:srgbClr val="EDF2F5"/>
          </a:solidFill>
          <a:ln xmlns:a="http://schemas.openxmlformats.org/drawingml/2006/main" w="9525">
            <a:solidFill>
              <a:srgbClr val="DCE4E9"/>
            </a:solidFill>
            <a:prstDash val="solid"/>
          </a:ln>
        </p:spPr>
      </p:sp>
      <p:sp>
        <p:nvSpPr>
          <p:cNvPr id="11" name="">
            <a:extLst xmlns:a="http://schemas.openxmlformats.org/drawingml/2006/main">
              <a:ext uri="{FF2B5EF4-FFF2-40B4-BE49-F238E27FC236}">
                <a16:creationId xmlns:a16="http://schemas.microsoft.com/office/drawing/2014/main" id="{BCD057D2-B18C-4AF1-8071-BEF79527D34E}"/>
              </a:ext>
            </a:extLst>
          </p:cNvPr>
          <p:cNvSpPr>
            <a:spLocks xmlns:a="http://schemas.openxmlformats.org/drawingml/2006/main" noGrp="1"/>
          </p:cNvSpPr>
          <p:nvPr/>
        </p:nvSpPr>
        <p:spPr>
          <a:xfrm xmlns:a="http://schemas.openxmlformats.org/drawingml/2006/main">
            <a:off x="5676900" y="2476500"/>
            <a:ext cx="2095500" cy="1428750"/>
          </a:xfrm>
          <a:prstGeom xmlns:a="http://schemas.openxmlformats.org/drawingml/2006/main" prst="roundRect">
            <a:avLst>
              <a:gd name="adj" fmla="val 14667"/>
            </a:avLst>
          </a:prstGeom>
          <a:solidFill xmlns:a="http://schemas.openxmlformats.org/drawingml/2006/main">
            <a:srgbClr val="0B1F33"/>
          </a:solidFill>
          <a:ln xmlns:a="http://schemas.openxmlformats.org/drawingml/2006/main" w="9525">
            <a:solidFill>
              <a:srgbClr val="0B1F33"/>
            </a:solidFill>
            <a:prstDash val="solid"/>
          </a:ln>
        </p:spPr>
      </p:sp>
      <p:sp>
        <p:nvSpPr>
          <p:cNvPr id="12" name="">
            <a:extLst xmlns:a="http://schemas.openxmlformats.org/drawingml/2006/main">
              <a:ext uri="{FF2B5EF4-FFF2-40B4-BE49-F238E27FC236}">
                <a16:creationId xmlns:a16="http://schemas.microsoft.com/office/drawing/2014/main" id="{5E79DF55-9A66-428F-A7A4-2E2676DEA296}"/>
              </a:ext>
            </a:extLst>
          </p:cNvPr>
          <p:cNvSpPr>
            <a:spLocks xmlns:a="http://schemas.openxmlformats.org/drawingml/2006/main" noGrp="1"/>
          </p:cNvSpPr>
          <p:nvPr/>
        </p:nvSpPr>
        <p:spPr>
          <a:xfrm xmlns:a="http://schemas.openxmlformats.org/drawingml/2006/main">
            <a:off x="8458200" y="2476500"/>
            <a:ext cx="1524000" cy="1428750"/>
          </a:xfrm>
          <a:prstGeom xmlns:a="http://schemas.openxmlformats.org/drawingml/2006/main" prst="roundRect">
            <a:avLst>
              <a:gd name="adj" fmla="val 14667"/>
            </a:avLst>
          </a:prstGeom>
          <a:solidFill xmlns:a="http://schemas.openxmlformats.org/drawingml/2006/main">
            <a:srgbClr val="137B77"/>
          </a:solidFill>
          <a:ln xmlns:a="http://schemas.openxmlformats.org/drawingml/2006/main" w="9525">
            <a:solidFill>
              <a:srgbClr val="137B77"/>
            </a:solidFill>
            <a:prstDash val="solid"/>
          </a:ln>
        </p:spPr>
      </p:sp>
      <p:sp>
        <p:nvSpPr>
          <p:cNvPr id="13" name="">
            <a:extLst xmlns:a="http://schemas.openxmlformats.org/drawingml/2006/main">
              <a:ext uri="{FF2B5EF4-FFF2-40B4-BE49-F238E27FC236}">
                <a16:creationId xmlns:a16="http://schemas.microsoft.com/office/drawing/2014/main" id="{9F0106C7-AA8A-42A6-AA94-1D752EA787EE}"/>
              </a:ext>
            </a:extLst>
          </p:cNvPr>
          <p:cNvSpPr>
            <a:spLocks xmlns:a="http://schemas.openxmlformats.org/drawingml/2006/main" noGrp="1"/>
          </p:cNvSpPr>
          <p:nvPr/>
        </p:nvSpPr>
        <p:spPr>
          <a:xfrm xmlns:a="http://schemas.openxmlformats.org/drawingml/2006/main">
            <a:off x="10382250" y="2476500"/>
            <a:ext cx="1333500" cy="1428750"/>
          </a:xfrm>
          <a:prstGeom xmlns:a="http://schemas.openxmlformats.org/drawingml/2006/main" prst="roundRect">
            <a:avLst>
              <a:gd name="adj" fmla="val 15714"/>
            </a:avLst>
          </a:prstGeom>
          <a:solidFill xmlns:a="http://schemas.openxmlformats.org/drawingml/2006/main">
            <a:srgbClr val="F28C45"/>
          </a:solidFill>
          <a:ln xmlns:a="http://schemas.openxmlformats.org/drawingml/2006/main" w="9525">
            <a:solidFill>
              <a:srgbClr val="F28C45"/>
            </a:solidFill>
            <a:prstDash val="solid"/>
          </a:ln>
        </p:spPr>
      </p:sp>
      <p:sp>
        <p:nvSpPr>
          <p:cNvPr id="14" name="">
            <a:extLst xmlns:a="http://schemas.openxmlformats.org/drawingml/2006/main">
              <a:ext uri="{FF2B5EF4-FFF2-40B4-BE49-F238E27FC236}">
                <a16:creationId xmlns:a16="http://schemas.microsoft.com/office/drawing/2014/main" id="{D3BE17A7-FFBF-4725-B9FE-83E93D218B89}"/>
              </a:ext>
            </a:extLst>
          </p:cNvPr>
          <p:cNvSpPr>
            <a:spLocks xmlns:a="http://schemas.openxmlformats.org/drawingml/2006/main" noGrp="1"/>
          </p:cNvSpPr>
          <p:nvPr/>
        </p:nvSpPr>
        <p:spPr>
          <a:xfrm xmlns:a="http://schemas.openxmlformats.org/drawingml/2006/main" rot="0">
            <a:off x="876300" y="21812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Visited POI</a:t>
            </a:r>
          </a:p>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sequence</a:t>
            </a:r>
          </a:p>
        </p:txBody>
      </p:sp>
      <p:sp>
        <p:nvSpPr>
          <p:cNvPr id="15" name="">
            <a:extLst xmlns:a="http://schemas.openxmlformats.org/drawingml/2006/main">
              <a:ext uri="{FF2B5EF4-FFF2-40B4-BE49-F238E27FC236}">
                <a16:creationId xmlns:a16="http://schemas.microsoft.com/office/drawing/2014/main" id="{ED76A916-F6A9-40ED-8568-B01F2AA32F82}"/>
              </a:ext>
            </a:extLst>
          </p:cNvPr>
          <p:cNvSpPr>
            <a:spLocks xmlns:a="http://schemas.openxmlformats.org/drawingml/2006/main" noGrp="1"/>
          </p:cNvSpPr>
          <p:nvPr/>
        </p:nvSpPr>
        <p:spPr>
          <a:xfrm xmlns:a="http://schemas.openxmlformats.org/drawingml/2006/main" rot="0">
            <a:off x="3028950" y="1933575"/>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252"/>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Hybrid POI graph</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2-layer GCN</a:t>
            </a:r>
          </a:p>
        </p:txBody>
      </p:sp>
      <p:sp>
        <p:nvSpPr>
          <p:cNvPr id="16" name="">
            <a:extLst xmlns:a="http://schemas.openxmlformats.org/drawingml/2006/main">
              <a:ext uri="{FF2B5EF4-FFF2-40B4-BE49-F238E27FC236}">
                <a16:creationId xmlns:a16="http://schemas.microsoft.com/office/drawing/2014/main" id="{8237DC11-4656-467B-9717-D27E2274A849}"/>
              </a:ext>
            </a:extLst>
          </p:cNvPr>
          <p:cNvSpPr>
            <a:spLocks xmlns:a="http://schemas.openxmlformats.org/drawingml/2006/main" noGrp="1"/>
          </p:cNvSpPr>
          <p:nvPr/>
        </p:nvSpPr>
        <p:spPr>
          <a:xfrm xmlns:a="http://schemas.openxmlformats.org/drawingml/2006/main" rot="0">
            <a:off x="3200400" y="3314700"/>
            <a:ext cx="1200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42632"/>
                </a:solidFill>
                <a:latin typeface="Aptos"/>
                <a:ea typeface="Aptos"/>
                <a:cs typeface="Aptos"/>
              </a:defRPr>
            </a:pPr>
            <a:r>
              <a:rPr sz="1650" b="1" i="0">
                <a:solidFill>
                  <a:srgbClr val="142632"/>
                </a:solidFill>
                <a:latin typeface="Aptos"/>
                <a:ea typeface="Aptos"/>
                <a:cs typeface="Aptos"/>
              </a:rPr>
              <a:t>Context</a:t>
            </a:r>
          </a:p>
          <a:p xmlns:a="http://schemas.openxmlformats.org/drawingml/2006/main">
            <a:pPr algn="ctr">
              <a:lnSpc>
                <a:spcPct val="100000"/>
              </a:lnSpc>
              <a:buNone/>
              <a:defRPr sz="1650" b="1" i="0">
                <a:solidFill>
                  <a:srgbClr val="142632"/>
                </a:solidFill>
                <a:latin typeface="Aptos"/>
                <a:ea typeface="Aptos"/>
                <a:cs typeface="Aptos"/>
              </a:defRPr>
            </a:pPr>
            <a:r>
              <a:rPr sz="1650" b="1" i="0">
                <a:solidFill>
                  <a:srgbClr val="142632"/>
                </a:solidFill>
                <a:latin typeface="Aptos"/>
                <a:ea typeface="Aptos"/>
                <a:cs typeface="Aptos"/>
              </a:rPr>
              <a:t>Δd · Δt</a:t>
            </a:r>
          </a:p>
        </p:txBody>
      </p:sp>
      <p:sp>
        <p:nvSpPr>
          <p:cNvPr id="17" name="">
            <a:extLst xmlns:a="http://schemas.openxmlformats.org/drawingml/2006/main">
              <a:ext uri="{FF2B5EF4-FFF2-40B4-BE49-F238E27FC236}">
                <a16:creationId xmlns:a16="http://schemas.microsoft.com/office/drawing/2014/main" id="{A179798B-899C-45CD-BE5A-F8B1AE76A01B}"/>
              </a:ext>
            </a:extLst>
          </p:cNvPr>
          <p:cNvSpPr>
            <a:spLocks xmlns:a="http://schemas.openxmlformats.org/drawingml/2006/main" noGrp="1"/>
          </p:cNvSpPr>
          <p:nvPr/>
        </p:nvSpPr>
        <p:spPr>
          <a:xfrm xmlns:a="http://schemas.openxmlformats.org/drawingml/2006/main" rot="0">
            <a:off x="8591550" y="4600575"/>
            <a:ext cx="1257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630"/>
          </a:bodyPr>
          <a:lstStyle xmlns:a="http://schemas.openxmlformats.org/drawingml/2006/main"/>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User embedding</a:t>
            </a:r>
          </a:p>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64 dimensions</a:t>
            </a:r>
          </a:p>
        </p:txBody>
      </p:sp>
      <p:sp>
        <p:nvSpPr>
          <p:cNvPr id="18" name="">
            <a:extLst xmlns:a="http://schemas.openxmlformats.org/drawingml/2006/main">
              <a:ext uri="{FF2B5EF4-FFF2-40B4-BE49-F238E27FC236}">
                <a16:creationId xmlns:a16="http://schemas.microsoft.com/office/drawing/2014/main" id="{9C9BD0CF-C114-4369-B269-AEA686812F97}"/>
              </a:ext>
            </a:extLst>
          </p:cNvPr>
          <p:cNvSpPr>
            <a:spLocks xmlns:a="http://schemas.openxmlformats.org/drawingml/2006/main" noGrp="1"/>
          </p:cNvSpPr>
          <p:nvPr/>
        </p:nvSpPr>
        <p:spPr>
          <a:xfrm xmlns:a="http://schemas.openxmlformats.org/drawingml/2006/main" rot="0">
            <a:off x="5905500" y="283845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128"/>
          </a:bodyPr>
          <a:lstStyle xmlns:a="http://schemas.openxmlformats.org/drawingml/2006/main"/>
          <a:p xmlns:a="http://schemas.openxmlformats.org/drawingml/2006/main">
            <a:pPr algn="ctr">
              <a:lnSpc>
                <a:spcPct val="100000"/>
              </a:lnSpc>
              <a:buNone/>
              <a:defRPr sz="2025" b="1" i="0">
                <a:solidFill>
                  <a:srgbClr val="FFFFFF"/>
                </a:solidFill>
                <a:latin typeface="Aptos"/>
                <a:ea typeface="Aptos"/>
                <a:cs typeface="Aptos"/>
              </a:defRPr>
            </a:pPr>
            <a:r>
              <a:rPr sz="2025" b="1" i="0">
                <a:solidFill>
                  <a:srgbClr val="FFFFFF"/>
                </a:solidFill>
                <a:latin typeface="Aptos"/>
                <a:ea typeface="Aptos"/>
                <a:cs typeface="Aptos"/>
              </a:rPr>
              <a:t>GRU</a:t>
            </a:r>
          </a:p>
          <a:p xmlns:a="http://schemas.openxmlformats.org/drawingml/2006/main">
            <a:pPr algn="ctr">
              <a:lnSpc>
                <a:spcPct val="100000"/>
              </a:lnSpc>
              <a:buNone/>
              <a:defRPr sz="2025" b="1" i="0">
                <a:solidFill>
                  <a:srgbClr val="FFFFFF"/>
                </a:solidFill>
                <a:latin typeface="Aptos"/>
                <a:ea typeface="Aptos"/>
                <a:cs typeface="Aptos"/>
              </a:defRPr>
            </a:pPr>
            <a:r>
              <a:rPr sz="2025" b="1" i="0">
                <a:solidFill>
                  <a:srgbClr val="FFFFFF"/>
                </a:solidFill>
                <a:latin typeface="Aptos"/>
                <a:ea typeface="Aptos"/>
                <a:cs typeface="Aptos"/>
              </a:rPr>
              <a:t>sequence state</a:t>
            </a:r>
          </a:p>
        </p:txBody>
      </p:sp>
      <p:sp>
        <p:nvSpPr>
          <p:cNvPr id="19" name="">
            <a:extLst xmlns:a="http://schemas.openxmlformats.org/drawingml/2006/main">
              <a:ext uri="{FF2B5EF4-FFF2-40B4-BE49-F238E27FC236}">
                <a16:creationId xmlns:a16="http://schemas.microsoft.com/office/drawing/2014/main" id="{47F1761E-5735-46E8-92CE-36222D2D408A}"/>
              </a:ext>
            </a:extLst>
          </p:cNvPr>
          <p:cNvSpPr>
            <a:spLocks xmlns:a="http://schemas.openxmlformats.org/drawingml/2006/main" noGrp="1"/>
          </p:cNvSpPr>
          <p:nvPr/>
        </p:nvSpPr>
        <p:spPr>
          <a:xfrm xmlns:a="http://schemas.openxmlformats.org/drawingml/2006/main" rot="0">
            <a:off x="8705850" y="2867025"/>
            <a:ext cx="1028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Aptos"/>
                <a:ea typeface="Aptos"/>
                <a:cs typeface="Aptos"/>
              </a:defRPr>
            </a:pPr>
            <a:r>
              <a:rPr sz="1875" b="1" i="0">
                <a:solidFill>
                  <a:srgbClr val="FFFFFF"/>
                </a:solidFill>
                <a:latin typeface="Aptos"/>
                <a:ea typeface="Aptos"/>
                <a:cs typeface="Aptos"/>
              </a:rPr>
              <a:t>Fuse</a:t>
            </a:r>
          </a:p>
          <a:p xmlns:a="http://schemas.openxmlformats.org/drawingml/2006/main">
            <a:pPr algn="ctr">
              <a:lnSpc>
                <a:spcPct val="100000"/>
              </a:lnSpc>
              <a:buNone/>
              <a:defRPr sz="1875" b="1" i="0">
                <a:solidFill>
                  <a:srgbClr val="FFFFFF"/>
                </a:solidFill>
                <a:latin typeface="Aptos"/>
                <a:ea typeface="Aptos"/>
                <a:cs typeface="Aptos"/>
              </a:defRPr>
            </a:pPr>
            <a:r>
              <a:rPr sz="1875" b="1" i="0">
                <a:solidFill>
                  <a:srgbClr val="FFFFFF"/>
                </a:solidFill>
                <a:latin typeface="Aptos"/>
                <a:ea typeface="Aptos"/>
                <a:cs typeface="Aptos"/>
              </a:rPr>
              <a:t>user</a:t>
            </a:r>
          </a:p>
        </p:txBody>
      </p:sp>
      <p:sp>
        <p:nvSpPr>
          <p:cNvPr id="20" name="">
            <a:extLst xmlns:a="http://schemas.openxmlformats.org/drawingml/2006/main">
              <a:ext uri="{FF2B5EF4-FFF2-40B4-BE49-F238E27FC236}">
                <a16:creationId xmlns:a16="http://schemas.microsoft.com/office/drawing/2014/main" id="{208FA215-955C-407B-965C-3848E4FF4E46}"/>
              </a:ext>
            </a:extLst>
          </p:cNvPr>
          <p:cNvSpPr>
            <a:spLocks xmlns:a="http://schemas.openxmlformats.org/drawingml/2006/main" noGrp="1"/>
          </p:cNvSpPr>
          <p:nvPr/>
        </p:nvSpPr>
        <p:spPr>
          <a:xfrm xmlns:a="http://schemas.openxmlformats.org/drawingml/2006/main" rot="0">
            <a:off x="10553700" y="2857500"/>
            <a:ext cx="990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MLP +</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softmax</a:t>
            </a:r>
          </a:p>
        </p:txBody>
      </p:sp>
      <p:cxnSp>
        <p:nvCxnSpPr>
          <p:cNvPr id="52" name=""/>
          <p:cNvCxnSpPr>
            <a:stCxn xmlns:a="http://schemas.openxmlformats.org/drawingml/2006/main" id="7" idx="3"/>
            <a:endCxn xmlns:a="http://schemas.openxmlformats.org/drawingml/2006/main" id="8" idx="1"/>
          </p:cNvCxnSpPr>
          <p:nvPr/>
        </p:nvCxnSpPr>
        <p:spPr>
          <a:xfrm xmlns:a="http://schemas.openxmlformats.org/drawingml/2006/main" flipV="1">
            <a:off x="2286000" y="2228850"/>
            <a:ext cx="514350" cy="228600"/>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53" name=""/>
          <p:cNvCxnSpPr>
            <a:stCxn xmlns:a="http://schemas.openxmlformats.org/drawingml/2006/main" id="8" idx="3"/>
            <a:endCxn xmlns:a="http://schemas.openxmlformats.org/drawingml/2006/main" id="11" idx="1"/>
          </p:cNvCxnSpPr>
          <p:nvPr/>
        </p:nvCxnSpPr>
        <p:spPr>
          <a:xfrm xmlns:a="http://schemas.openxmlformats.org/drawingml/2006/main">
            <a:off x="4800600" y="2228850"/>
            <a:ext cx="876300" cy="962025"/>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54" name=""/>
          <p:cNvCxnSpPr>
            <a:stCxn xmlns:a="http://schemas.openxmlformats.org/drawingml/2006/main" id="9" idx="3"/>
            <a:endCxn xmlns:a="http://schemas.openxmlformats.org/drawingml/2006/main" id="11" idx="1"/>
          </p:cNvCxnSpPr>
          <p:nvPr/>
        </p:nvCxnSpPr>
        <p:spPr>
          <a:xfrm xmlns:a="http://schemas.openxmlformats.org/drawingml/2006/main" flipV="1">
            <a:off x="4800600" y="3190875"/>
            <a:ext cx="876300" cy="428625"/>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55" name=""/>
          <p:cNvCxnSpPr>
            <a:stCxn xmlns:a="http://schemas.openxmlformats.org/drawingml/2006/main" id="11" idx="3"/>
            <a:endCxn xmlns:a="http://schemas.openxmlformats.org/drawingml/2006/main" id="12" idx="1"/>
          </p:cNvCxnSpPr>
          <p:nvPr/>
        </p:nvCxnSpPr>
        <p:spPr>
          <a:xfrm xmlns:a="http://schemas.openxmlformats.org/drawingml/2006/main">
            <a:off x="7772400" y="3190875"/>
            <a:ext cx="685800"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56" name=""/>
          <p:cNvCxnSpPr>
            <a:stCxn xmlns:a="http://schemas.openxmlformats.org/drawingml/2006/main" id="10" idx="0"/>
            <a:endCxn xmlns:a="http://schemas.openxmlformats.org/drawingml/2006/main" id="12" idx="2"/>
          </p:cNvCxnSpPr>
          <p:nvPr/>
        </p:nvCxnSpPr>
        <p:spPr>
          <a:xfrm xmlns:a="http://schemas.openxmlformats.org/drawingml/2006/main" flipV="1">
            <a:off x="9220200" y="3905250"/>
            <a:ext cx="0" cy="571500"/>
          </a:xfrm>
          <a:prstGeom xmlns:a="http://schemas.openxmlformats.org/drawingml/2006/main" prst="straightConnector1">
            <a:avLst/>
          </a:prstGeom>
          <a:ln xmlns:a="http://schemas.openxmlformats.org/drawingml/2006/main" w="38100">
            <a:solidFill>
              <a:srgbClr val="5A6C79"/>
            </a:solidFill>
            <a:prstDash val="solid"/>
            <a:headEnd type="none" w="med" len="med"/>
            <a:tailEnd type="triangle" w="sm" len="sm"/>
          </a:ln>
        </p:spPr>
      </p:cxnSp>
      <p:cxnSp>
        <p:nvCxnSpPr>
          <p:cNvPr id="57" name=""/>
          <p:cNvCxnSpPr>
            <a:stCxn xmlns:a="http://schemas.openxmlformats.org/drawingml/2006/main" id="12" idx="3"/>
            <a:endCxn xmlns:a="http://schemas.openxmlformats.org/drawingml/2006/main" id="13" idx="1"/>
          </p:cNvCxnSpPr>
          <p:nvPr/>
        </p:nvCxnSpPr>
        <p:spPr>
          <a:xfrm xmlns:a="http://schemas.openxmlformats.org/drawingml/2006/main">
            <a:off x="9982200" y="3190875"/>
            <a:ext cx="400050" cy="0"/>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27" name="">
            <a:extLst xmlns:a="http://schemas.openxmlformats.org/drawingml/2006/main">
              <a:ext uri="{FF2B5EF4-FFF2-40B4-BE49-F238E27FC236}">
                <a16:creationId xmlns:a16="http://schemas.microsoft.com/office/drawing/2014/main" id="{C037ECC6-E80A-4B78-B691-63E16554B18C}"/>
              </a:ext>
            </a:extLst>
          </p:cNvPr>
          <p:cNvSpPr>
            <a:spLocks xmlns:a="http://schemas.openxmlformats.org/drawingml/2006/main" noGrp="1"/>
          </p:cNvSpPr>
          <p:nvPr/>
        </p:nvSpPr>
        <p:spPr>
          <a:xfrm xmlns:a="http://schemas.openxmlformats.org/drawingml/2006/main">
            <a:off x="5448300" y="4552950"/>
            <a:ext cx="27622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E4E9"/>
            </a:solidFill>
            <a:prstDash val="solid"/>
          </a:ln>
        </p:spPr>
      </p:sp>
      <p:sp>
        <p:nvSpPr>
          <p:cNvPr id="28" name="">
            <a:extLst xmlns:a="http://schemas.openxmlformats.org/drawingml/2006/main">
              <a:ext uri="{FF2B5EF4-FFF2-40B4-BE49-F238E27FC236}">
                <a16:creationId xmlns:a16="http://schemas.microsoft.com/office/drawing/2014/main" id="{69559EAD-B3D1-4891-9634-BE1E7FAB9A3E}"/>
              </a:ext>
            </a:extLst>
          </p:cNvPr>
          <p:cNvSpPr>
            <a:spLocks xmlns:a="http://schemas.openxmlformats.org/drawingml/2006/main" noGrp="1"/>
          </p:cNvSpPr>
          <p:nvPr/>
        </p:nvSpPr>
        <p:spPr>
          <a:xfrm xmlns:a="http://schemas.openxmlformats.org/drawingml/2006/main" rot="0">
            <a:off x="5657850" y="4686300"/>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~10⁵ prefix → next-POI</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training examples</a:t>
            </a:r>
          </a:p>
        </p:txBody>
      </p:sp>
      <p:sp>
        <p:nvSpPr>
          <p:cNvPr id="29" name="">
            <a:extLst xmlns:a="http://schemas.openxmlformats.org/drawingml/2006/main">
              <a:ext uri="{FF2B5EF4-FFF2-40B4-BE49-F238E27FC236}">
                <a16:creationId xmlns:a16="http://schemas.microsoft.com/office/drawing/2014/main" id="{AD6EA8D9-3393-4135-B9DF-E7A2AB1EF666}"/>
              </a:ext>
            </a:extLst>
          </p:cNvPr>
          <p:cNvSpPr>
            <a:spLocks xmlns:a="http://schemas.openxmlformats.org/drawingml/2006/main" noGrp="1"/>
          </p:cNvSpPr>
          <p:nvPr/>
        </p:nvSpPr>
        <p:spPr>
          <a:xfrm xmlns:a="http://schemas.openxmlformats.org/drawingml/2006/main">
            <a:off x="10096500" y="4457700"/>
            <a:ext cx="1762125" cy="85725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CE4E9"/>
            </a:solidFill>
            <a:prstDash val="solid"/>
          </a:ln>
        </p:spPr>
      </p:sp>
      <p:sp>
        <p:nvSpPr>
          <p:cNvPr id="30" name="">
            <a:extLst xmlns:a="http://schemas.openxmlformats.org/drawingml/2006/main">
              <a:ext uri="{FF2B5EF4-FFF2-40B4-BE49-F238E27FC236}">
                <a16:creationId xmlns:a16="http://schemas.microsoft.com/office/drawing/2014/main" id="{A5DBFCD3-9A9F-4A3C-AB3A-C34BF9FC67BB}"/>
              </a:ext>
            </a:extLst>
          </p:cNvPr>
          <p:cNvSpPr>
            <a:spLocks xmlns:a="http://schemas.openxmlformats.org/drawingml/2006/main" noGrp="1"/>
          </p:cNvSpPr>
          <p:nvPr/>
        </p:nvSpPr>
        <p:spPr>
          <a:xfrm xmlns:a="http://schemas.openxmlformats.org/drawingml/2006/main" rot="0">
            <a:off x="10287000" y="464820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Scores all</a:t>
            </a:r>
          </a:p>
          <a:p xmlns:a="http://schemas.openxmlformats.org/drawingml/2006/main">
            <a:pPr algn="ct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~5,100 POIs</a:t>
            </a:r>
          </a:p>
        </p:txBody>
      </p:sp>
      <p:sp>
        <p:nvSpPr>
          <p:cNvPr id="31" name="">
            <a:extLst xmlns:a="http://schemas.openxmlformats.org/drawingml/2006/main">
              <a:ext uri="{FF2B5EF4-FFF2-40B4-BE49-F238E27FC236}">
                <a16:creationId xmlns:a16="http://schemas.microsoft.com/office/drawing/2014/main" id="{7EB73648-5ECC-4881-A9D1-020F2A8D39A8}"/>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3.3-3.4. Implemented context is distance and elapsed time.</a:t>
            </a:r>
          </a:p>
        </p:txBody>
      </p:sp>
    </p:spTree>
    <p:extLst>
      <p:ext uri="{BB962C8B-B14F-4D97-AF65-F5344CB8AC3E}">
        <p14:creationId xmlns:p14="http://schemas.microsoft.com/office/powerpoint/2010/main" val="155880353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eyebrow">
            <a:extLst xmlns:a="http://schemas.openxmlformats.org/drawingml/2006/main">
              <a:ext uri="{FF2B5EF4-FFF2-40B4-BE49-F238E27FC236}">
                <a16:creationId xmlns:a16="http://schemas.microsoft.com/office/drawing/2014/main" id="{CA18D73A-A118-40E7-87B4-3D2EB7FEB276}"/>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5BD91C74-F8E3-4454-B5D8-EED90488E8D6}"/>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The engine is competitive, but not state of the art</a:t>
            </a:r>
          </a:p>
        </p:txBody>
      </p:sp>
      <p:sp>
        <p:nvSpPr>
          <p:cNvPr id="3" name="title-accent">
            <a:extLst xmlns:a="http://schemas.openxmlformats.org/drawingml/2006/main">
              <a:ext uri="{FF2B5EF4-FFF2-40B4-BE49-F238E27FC236}">
                <a16:creationId xmlns:a16="http://schemas.microsoft.com/office/drawing/2014/main" id="{8F445F57-DC0B-4F41-8FEF-4099AA06A2B3}"/>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C90AC9-83CB-407C-A9A6-40F166DEFA43}"/>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C74F6FA7-3F9B-4CD5-A2FA-E80CB4FD7D83}"/>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1CAFF04F-4727-4A88-B7E9-D68B9E64FC76}"/>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5 / 10</a:t>
            </a:r>
          </a:p>
        </p:txBody>
      </p:sp>
      <p:sp>
        <p:nvSpPr>
          <p:cNvPr id="7" name="">
            <a:extLst xmlns:a="http://schemas.openxmlformats.org/drawingml/2006/main">
              <a:ext uri="{FF2B5EF4-FFF2-40B4-BE49-F238E27FC236}">
                <a16:creationId xmlns:a16="http://schemas.microsoft.com/office/drawing/2014/main" id="{26C2A956-F7C3-43EB-9420-7EE37359F318}"/>
              </a:ext>
            </a:extLst>
          </p:cNvPr>
          <p:cNvSpPr>
            <a:spLocks xmlns:a="http://schemas.openxmlformats.org/drawingml/2006/main" noGrp="1"/>
          </p:cNvSpPr>
          <p:nvPr/>
        </p:nvSpPr>
        <p:spPr>
          <a:xfrm xmlns:a="http://schemas.openxmlformats.org/drawingml/2006/main">
            <a:off x="666750" y="1657350"/>
            <a:ext cx="2333625" cy="4000500"/>
          </a:xfrm>
          <a:prstGeom xmlns:a="http://schemas.openxmlformats.org/drawingml/2006/main" prst="roundRect">
            <a:avLst>
              <a:gd name="adj" fmla="val 9796"/>
            </a:avLst>
          </a:prstGeom>
          <a:solidFill xmlns:a="http://schemas.openxmlformats.org/drawingml/2006/main">
            <a:srgbClr val="0B1F33"/>
          </a:solidFill>
          <a:ln xmlns:a="http://schemas.openxmlformats.org/drawingml/2006/main" w="9525">
            <a:solidFill>
              <a:srgbClr val="0B1F33"/>
            </a:solidFill>
            <a:prstDash val="solid"/>
          </a:ln>
        </p:spPr>
      </p:sp>
      <p:sp>
        <p:nvSpPr>
          <p:cNvPr id="8" name="">
            <a:extLst xmlns:a="http://schemas.openxmlformats.org/drawingml/2006/main">
              <a:ext uri="{FF2B5EF4-FFF2-40B4-BE49-F238E27FC236}">
                <a16:creationId xmlns:a16="http://schemas.microsoft.com/office/drawing/2014/main" id="{CE37577F-6A51-4989-96E6-093CB54131D5}"/>
              </a:ext>
            </a:extLst>
          </p:cNvPr>
          <p:cNvSpPr>
            <a:spLocks xmlns:a="http://schemas.openxmlformats.org/drawingml/2006/main" noGrp="1"/>
          </p:cNvSpPr>
          <p:nvPr/>
        </p:nvSpPr>
        <p:spPr>
          <a:xfrm xmlns:a="http://schemas.openxmlformats.org/drawingml/2006/main" rot="0">
            <a:off x="876300" y="2114550"/>
            <a:ext cx="190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800" b="1" i="0">
                <a:solidFill>
                  <a:srgbClr val="FFFFFF"/>
                </a:solidFill>
                <a:latin typeface="Aptos"/>
                <a:ea typeface="Aptos"/>
                <a:cs typeface="Aptos"/>
              </a:defRPr>
            </a:pPr>
            <a:r>
              <a:rPr sz="4800" b="1" i="0">
                <a:solidFill>
                  <a:srgbClr val="FFFFFF"/>
                </a:solidFill>
                <a:latin typeface="Aptos"/>
                <a:ea typeface="Aptos"/>
                <a:cs typeface="Aptos"/>
              </a:rPr>
              <a:t>0.187</a:t>
            </a:r>
          </a:p>
        </p:txBody>
      </p:sp>
      <p:sp>
        <p:nvSpPr>
          <p:cNvPr id="9" name="">
            <a:extLst xmlns:a="http://schemas.openxmlformats.org/drawingml/2006/main">
              <a:ext uri="{FF2B5EF4-FFF2-40B4-BE49-F238E27FC236}">
                <a16:creationId xmlns:a16="http://schemas.microsoft.com/office/drawing/2014/main" id="{F38DFBB4-F7DD-4D04-9999-5CC4B4C51877}"/>
              </a:ext>
            </a:extLst>
          </p:cNvPr>
          <p:cNvSpPr>
            <a:spLocks xmlns:a="http://schemas.openxmlformats.org/drawingml/2006/main" noGrp="1"/>
          </p:cNvSpPr>
          <p:nvPr/>
        </p:nvSpPr>
        <p:spPr>
          <a:xfrm xmlns:a="http://schemas.openxmlformats.org/drawingml/2006/main" rot="0">
            <a:off x="87630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DDF3F1"/>
                </a:solidFill>
                <a:latin typeface="Aptos"/>
                <a:ea typeface="Aptos"/>
                <a:cs typeface="Aptos"/>
              </a:defRPr>
            </a:pPr>
            <a:r>
              <a:rPr sz="2025" b="1" i="0">
                <a:solidFill>
                  <a:srgbClr val="DDF3F1"/>
                </a:solidFill>
                <a:latin typeface="Aptos"/>
                <a:ea typeface="Aptos"/>
                <a:cs typeface="Aptos"/>
              </a:rPr>
              <a:t>HR@1</a:t>
            </a:r>
          </a:p>
        </p:txBody>
      </p:sp>
      <p:sp>
        <p:nvSpPr>
          <p:cNvPr id="10" name="">
            <a:extLst xmlns:a="http://schemas.openxmlformats.org/drawingml/2006/main">
              <a:ext uri="{FF2B5EF4-FFF2-40B4-BE49-F238E27FC236}">
                <a16:creationId xmlns:a16="http://schemas.microsoft.com/office/drawing/2014/main" id="{7784DC89-3E64-401C-8507-6CCB0105B1EE}"/>
              </a:ext>
            </a:extLst>
          </p:cNvPr>
          <p:cNvSpPr>
            <a:spLocks xmlns:a="http://schemas.openxmlformats.org/drawingml/2006/main" noGrp="1"/>
          </p:cNvSpPr>
          <p:nvPr/>
        </p:nvSpPr>
        <p:spPr>
          <a:xfrm xmlns:a="http://schemas.openxmlformats.org/drawingml/2006/main" rot="0">
            <a:off x="904875" y="3619500"/>
            <a:ext cx="1847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98"/>
          </a:bodyPr>
          <a:lstStyle xmlns:a="http://schemas.openxmlformats.org/drawingml/2006/main"/>
          <a:p xmlns:a="http://schemas.openxmlformats.org/drawingml/2006/main">
            <a:pPr algn="ctr">
              <a:lnSpc>
                <a:spcPct val="100000"/>
              </a:lnSpc>
              <a:buNone/>
              <a:defRPr sz="1425" b="0" i="0">
                <a:solidFill>
                  <a:srgbClr val="D9E6EF"/>
                </a:solidFill>
                <a:latin typeface="Aptos"/>
                <a:ea typeface="Aptos"/>
                <a:cs typeface="Aptos"/>
              </a:defRPr>
            </a:pPr>
            <a:r>
              <a:rPr sz="1425" b="0" i="0">
                <a:solidFill>
                  <a:srgbClr val="D9E6EF"/>
                </a:solidFill>
                <a:latin typeface="Aptos"/>
                <a:ea typeface="Aptos"/>
                <a:cs typeface="Aptos"/>
              </a:rPr>
              <a:t>Exact next POI ranked first</a:t>
            </a:r>
          </a:p>
          <a:p xmlns:a="http://schemas.openxmlformats.org/drawingml/2006/main">
            <a:pPr algn="ctr">
              <a:lnSpc>
                <a:spcPct val="100000"/>
              </a:lnSpc>
              <a:buNone/>
              <a:defRPr sz="1425" b="0" i="0">
                <a:solidFill>
                  <a:srgbClr val="D9E6EF"/>
                </a:solidFill>
                <a:latin typeface="Aptos"/>
                <a:ea typeface="Aptos"/>
                <a:cs typeface="Aptos"/>
              </a:defRPr>
            </a:pPr>
            <a:r>
              <a:rPr sz="1425" b="0" i="0">
                <a:solidFill>
                  <a:srgbClr val="D9E6EF"/>
                </a:solidFill>
                <a:latin typeface="Aptos"/>
                <a:ea typeface="Aptos"/>
                <a:cs typeface="Aptos"/>
              </a:rPr>
              <a:t>~1 time in 5 among ~5,100</a:t>
            </a:r>
          </a:p>
        </p:txBody>
      </p:sp>
      <p:sp>
        <p:nvSpPr>
          <p:cNvPr id="11" name="">
            <a:extLst xmlns:a="http://schemas.openxmlformats.org/drawingml/2006/main">
              <a:ext uri="{FF2B5EF4-FFF2-40B4-BE49-F238E27FC236}">
                <a16:creationId xmlns:a16="http://schemas.microsoft.com/office/drawing/2014/main" id="{07263BBB-2986-4E92-B128-82322B1B3762}"/>
              </a:ext>
            </a:extLst>
          </p:cNvPr>
          <p:cNvSpPr>
            <a:spLocks xmlns:a="http://schemas.openxmlformats.org/drawingml/2006/main" noGrp="1"/>
          </p:cNvSpPr>
          <p:nvPr/>
        </p:nvSpPr>
        <p:spPr>
          <a:xfrm xmlns:a="http://schemas.openxmlformats.org/drawingml/2006/main">
            <a:off x="1028700" y="4762500"/>
            <a:ext cx="1600200" cy="3810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2C80DD-6A4A-48CA-929C-7BE0F56BD6CD}"/>
              </a:ext>
            </a:extLst>
          </p:cNvPr>
          <p:cNvSpPr>
            <a:spLocks xmlns:a="http://schemas.openxmlformats.org/drawingml/2006/main" noGrp="1"/>
          </p:cNvSpPr>
          <p:nvPr/>
        </p:nvSpPr>
        <p:spPr>
          <a:xfrm xmlns:a="http://schemas.openxmlformats.org/drawingml/2006/main" rot="0">
            <a:off x="914400" y="495300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ptos"/>
                <a:ea typeface="Aptos"/>
                <a:cs typeface="Aptos"/>
              </a:defRPr>
            </a:pPr>
            <a:r>
              <a:rPr sz="1500" b="1" i="0">
                <a:solidFill>
                  <a:srgbClr val="FFFFFF"/>
                </a:solidFill>
                <a:latin typeface="Aptos"/>
                <a:ea typeface="Aptos"/>
                <a:cs typeface="Aptos"/>
              </a:rPr>
              <a:t>HR@10 = 0.588</a:t>
            </a:r>
          </a:p>
        </p:txBody>
      </p:sp>
      <p:sp>
        <p:nvSpPr>
          <p:cNvPr id="13" name="">
            <a:extLst xmlns:a="http://schemas.openxmlformats.org/drawingml/2006/main">
              <a:ext uri="{FF2B5EF4-FFF2-40B4-BE49-F238E27FC236}">
                <a16:creationId xmlns:a16="http://schemas.microsoft.com/office/drawing/2014/main" id="{FD85C288-69E2-414D-8B85-9356402AA618}"/>
              </a:ext>
            </a:extLst>
          </p:cNvPr>
          <p:cNvSpPr>
            <a:spLocks xmlns:a="http://schemas.openxmlformats.org/drawingml/2006/main" noGrp="1"/>
          </p:cNvSpPr>
          <p:nvPr/>
        </p:nvSpPr>
        <p:spPr>
          <a:xfrm xmlns:a="http://schemas.openxmlformats.org/drawingml/2006/main" rot="0">
            <a:off x="3219450" y="17430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LLM4POI</a:t>
            </a:r>
          </a:p>
        </p:txBody>
      </p:sp>
      <p:sp>
        <p:nvSpPr>
          <p:cNvPr id="14" name="">
            <a:extLst xmlns:a="http://schemas.openxmlformats.org/drawingml/2006/main">
              <a:ext uri="{FF2B5EF4-FFF2-40B4-BE49-F238E27FC236}">
                <a16:creationId xmlns:a16="http://schemas.microsoft.com/office/drawing/2014/main" id="{79EABBE0-D156-443E-9FC2-0BF61EFFA6F2}"/>
              </a:ext>
            </a:extLst>
          </p:cNvPr>
          <p:cNvSpPr>
            <a:spLocks xmlns:a="http://schemas.openxmlformats.org/drawingml/2006/main" noGrp="1"/>
          </p:cNvSpPr>
          <p:nvPr/>
        </p:nvSpPr>
        <p:spPr>
          <a:xfrm xmlns:a="http://schemas.openxmlformats.org/drawingml/2006/main">
            <a:off x="4667250" y="169545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49777E8-8B7D-4024-B107-DA538B3F4387}"/>
              </a:ext>
            </a:extLst>
          </p:cNvPr>
          <p:cNvSpPr>
            <a:spLocks xmlns:a="http://schemas.openxmlformats.org/drawingml/2006/main" noGrp="1"/>
          </p:cNvSpPr>
          <p:nvPr/>
        </p:nvSpPr>
        <p:spPr>
          <a:xfrm xmlns:a="http://schemas.openxmlformats.org/drawingml/2006/main">
            <a:off x="4667250" y="1695450"/>
            <a:ext cx="5847292"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53DD6B-17F1-4BEC-93C5-3505AF7DAC12}"/>
              </a:ext>
            </a:extLst>
          </p:cNvPr>
          <p:cNvSpPr>
            <a:spLocks xmlns:a="http://schemas.openxmlformats.org/drawingml/2006/main" noGrp="1"/>
          </p:cNvSpPr>
          <p:nvPr/>
        </p:nvSpPr>
        <p:spPr>
          <a:xfrm xmlns:a="http://schemas.openxmlformats.org/drawingml/2006/main" rot="0">
            <a:off x="10609792" y="1724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0.340</a:t>
            </a:r>
          </a:p>
        </p:txBody>
      </p:sp>
      <p:sp>
        <p:nvSpPr>
          <p:cNvPr id="17" name="">
            <a:extLst xmlns:a="http://schemas.openxmlformats.org/drawingml/2006/main">
              <a:ext uri="{FF2B5EF4-FFF2-40B4-BE49-F238E27FC236}">
                <a16:creationId xmlns:a16="http://schemas.microsoft.com/office/drawing/2014/main" id="{6B76DFDA-5043-4486-9DE3-651B2ECE3FB5}"/>
              </a:ext>
            </a:extLst>
          </p:cNvPr>
          <p:cNvSpPr>
            <a:spLocks xmlns:a="http://schemas.openxmlformats.org/drawingml/2006/main" noGrp="1"/>
          </p:cNvSpPr>
          <p:nvPr/>
        </p:nvSpPr>
        <p:spPr>
          <a:xfrm xmlns:a="http://schemas.openxmlformats.org/drawingml/2006/main" rot="0">
            <a:off x="3219450" y="23050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STHGCN</a:t>
            </a:r>
          </a:p>
        </p:txBody>
      </p:sp>
      <p:sp>
        <p:nvSpPr>
          <p:cNvPr id="18" name="">
            <a:extLst xmlns:a="http://schemas.openxmlformats.org/drawingml/2006/main">
              <a:ext uri="{FF2B5EF4-FFF2-40B4-BE49-F238E27FC236}">
                <a16:creationId xmlns:a16="http://schemas.microsoft.com/office/drawing/2014/main" id="{A175864F-26FA-4880-8777-3C9441E5C92A}"/>
              </a:ext>
            </a:extLst>
          </p:cNvPr>
          <p:cNvSpPr>
            <a:spLocks xmlns:a="http://schemas.openxmlformats.org/drawingml/2006/main" noGrp="1"/>
          </p:cNvSpPr>
          <p:nvPr/>
        </p:nvSpPr>
        <p:spPr>
          <a:xfrm xmlns:a="http://schemas.openxmlformats.org/drawingml/2006/main">
            <a:off x="4667250" y="225742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B07F01A-EEE7-4D26-B9D9-B6C2B4375011}"/>
              </a:ext>
            </a:extLst>
          </p:cNvPr>
          <p:cNvSpPr>
            <a:spLocks xmlns:a="http://schemas.openxmlformats.org/drawingml/2006/main" noGrp="1"/>
          </p:cNvSpPr>
          <p:nvPr/>
        </p:nvSpPr>
        <p:spPr>
          <a:xfrm xmlns:a="http://schemas.openxmlformats.org/drawingml/2006/main">
            <a:off x="4667250" y="2257425"/>
            <a:ext cx="4643438"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A2CED58-ECFE-4CEE-93F7-4BEE2758940F}"/>
              </a:ext>
            </a:extLst>
          </p:cNvPr>
          <p:cNvSpPr>
            <a:spLocks xmlns:a="http://schemas.openxmlformats.org/drawingml/2006/main" noGrp="1"/>
          </p:cNvSpPr>
          <p:nvPr/>
        </p:nvSpPr>
        <p:spPr>
          <a:xfrm xmlns:a="http://schemas.openxmlformats.org/drawingml/2006/main" rot="0">
            <a:off x="9405938" y="22860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0.270</a:t>
            </a:r>
          </a:p>
        </p:txBody>
      </p:sp>
      <p:sp>
        <p:nvSpPr>
          <p:cNvPr id="21" name="">
            <a:extLst xmlns:a="http://schemas.openxmlformats.org/drawingml/2006/main">
              <a:ext uri="{FF2B5EF4-FFF2-40B4-BE49-F238E27FC236}">
                <a16:creationId xmlns:a16="http://schemas.microsoft.com/office/drawing/2014/main" id="{DCC71CD9-C602-4C79-A3D0-22FA5E43313F}"/>
              </a:ext>
            </a:extLst>
          </p:cNvPr>
          <p:cNvSpPr>
            <a:spLocks xmlns:a="http://schemas.openxmlformats.org/drawingml/2006/main" noGrp="1"/>
          </p:cNvSpPr>
          <p:nvPr/>
        </p:nvSpPr>
        <p:spPr>
          <a:xfrm xmlns:a="http://schemas.openxmlformats.org/drawingml/2006/main" rot="0">
            <a:off x="3219450" y="28670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GETNext</a:t>
            </a:r>
          </a:p>
        </p:txBody>
      </p:sp>
      <p:sp>
        <p:nvSpPr>
          <p:cNvPr id="22" name="">
            <a:extLst xmlns:a="http://schemas.openxmlformats.org/drawingml/2006/main">
              <a:ext uri="{FF2B5EF4-FFF2-40B4-BE49-F238E27FC236}">
                <a16:creationId xmlns:a16="http://schemas.microsoft.com/office/drawing/2014/main" id="{A0A459CF-D0B5-47BD-A317-AA6B97F7A05D}"/>
              </a:ext>
            </a:extLst>
          </p:cNvPr>
          <p:cNvSpPr>
            <a:spLocks xmlns:a="http://schemas.openxmlformats.org/drawingml/2006/main" noGrp="1"/>
          </p:cNvSpPr>
          <p:nvPr/>
        </p:nvSpPr>
        <p:spPr>
          <a:xfrm xmlns:a="http://schemas.openxmlformats.org/drawingml/2006/main">
            <a:off x="4667250" y="281940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55FC2A-A443-451D-BF94-7C2461812C01}"/>
              </a:ext>
            </a:extLst>
          </p:cNvPr>
          <p:cNvSpPr>
            <a:spLocks xmlns:a="http://schemas.openxmlformats.org/drawingml/2006/main" noGrp="1"/>
          </p:cNvSpPr>
          <p:nvPr/>
        </p:nvSpPr>
        <p:spPr>
          <a:xfrm xmlns:a="http://schemas.openxmlformats.org/drawingml/2006/main">
            <a:off x="4667250" y="2819400"/>
            <a:ext cx="4127500"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FCF5A0E-99BC-4509-B3D9-E1D1B99229E9}"/>
              </a:ext>
            </a:extLst>
          </p:cNvPr>
          <p:cNvSpPr>
            <a:spLocks xmlns:a="http://schemas.openxmlformats.org/drawingml/2006/main" noGrp="1"/>
          </p:cNvSpPr>
          <p:nvPr/>
        </p:nvSpPr>
        <p:spPr>
          <a:xfrm xmlns:a="http://schemas.openxmlformats.org/drawingml/2006/main" rot="0">
            <a:off x="8890000" y="28479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0.240</a:t>
            </a:r>
          </a:p>
        </p:txBody>
      </p:sp>
      <p:sp>
        <p:nvSpPr>
          <p:cNvPr id="25" name="">
            <a:extLst xmlns:a="http://schemas.openxmlformats.org/drawingml/2006/main">
              <a:ext uri="{FF2B5EF4-FFF2-40B4-BE49-F238E27FC236}">
                <a16:creationId xmlns:a16="http://schemas.microsoft.com/office/drawing/2014/main" id="{AA1681B5-9DB2-41AC-9541-8016E2E66903}"/>
              </a:ext>
            </a:extLst>
          </p:cNvPr>
          <p:cNvSpPr>
            <a:spLocks xmlns:a="http://schemas.openxmlformats.org/drawingml/2006/main" noGrp="1"/>
          </p:cNvSpPr>
          <p:nvPr/>
        </p:nvSpPr>
        <p:spPr>
          <a:xfrm xmlns:a="http://schemas.openxmlformats.org/drawingml/2006/main" rot="0">
            <a:off x="3219450" y="342900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STAN</a:t>
            </a:r>
          </a:p>
        </p:txBody>
      </p:sp>
      <p:sp>
        <p:nvSpPr>
          <p:cNvPr id="26" name="">
            <a:extLst xmlns:a="http://schemas.openxmlformats.org/drawingml/2006/main">
              <a:ext uri="{FF2B5EF4-FFF2-40B4-BE49-F238E27FC236}">
                <a16:creationId xmlns:a16="http://schemas.microsoft.com/office/drawing/2014/main" id="{362502B5-821F-4119-BC91-5DC1D2047796}"/>
              </a:ext>
            </a:extLst>
          </p:cNvPr>
          <p:cNvSpPr>
            <a:spLocks xmlns:a="http://schemas.openxmlformats.org/drawingml/2006/main" noGrp="1"/>
          </p:cNvSpPr>
          <p:nvPr/>
        </p:nvSpPr>
        <p:spPr>
          <a:xfrm xmlns:a="http://schemas.openxmlformats.org/drawingml/2006/main">
            <a:off x="4667250" y="338137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18D7C8F-F0AA-439D-AB49-3992B850ACB4}"/>
              </a:ext>
            </a:extLst>
          </p:cNvPr>
          <p:cNvSpPr>
            <a:spLocks xmlns:a="http://schemas.openxmlformats.org/drawingml/2006/main" noGrp="1"/>
          </p:cNvSpPr>
          <p:nvPr/>
        </p:nvSpPr>
        <p:spPr>
          <a:xfrm xmlns:a="http://schemas.openxmlformats.org/drawingml/2006/main">
            <a:off x="4667250" y="3381375"/>
            <a:ext cx="3783542"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30A64E4-26EC-4AF4-8B15-E9DA53ECA499}"/>
              </a:ext>
            </a:extLst>
          </p:cNvPr>
          <p:cNvSpPr>
            <a:spLocks xmlns:a="http://schemas.openxmlformats.org/drawingml/2006/main" noGrp="1"/>
          </p:cNvSpPr>
          <p:nvPr/>
        </p:nvSpPr>
        <p:spPr>
          <a:xfrm xmlns:a="http://schemas.openxmlformats.org/drawingml/2006/main" rot="0">
            <a:off x="8546042" y="34099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0.220</a:t>
            </a:r>
          </a:p>
        </p:txBody>
      </p:sp>
      <p:sp>
        <p:nvSpPr>
          <p:cNvPr id="29" name="">
            <a:extLst xmlns:a="http://schemas.openxmlformats.org/drawingml/2006/main">
              <a:ext uri="{FF2B5EF4-FFF2-40B4-BE49-F238E27FC236}">
                <a16:creationId xmlns:a16="http://schemas.microsoft.com/office/drawing/2014/main" id="{CC0B2399-AE01-4A86-A3A3-C02CF0155008}"/>
              </a:ext>
            </a:extLst>
          </p:cNvPr>
          <p:cNvSpPr>
            <a:spLocks xmlns:a="http://schemas.openxmlformats.org/drawingml/2006/main" noGrp="1"/>
          </p:cNvSpPr>
          <p:nvPr/>
        </p:nvSpPr>
        <p:spPr>
          <a:xfrm xmlns:a="http://schemas.openxmlformats.org/drawingml/2006/main" rot="0">
            <a:off x="3219450" y="39909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OURS</a:t>
            </a:r>
          </a:p>
        </p:txBody>
      </p:sp>
      <p:sp>
        <p:nvSpPr>
          <p:cNvPr id="30" name="">
            <a:extLst xmlns:a="http://schemas.openxmlformats.org/drawingml/2006/main">
              <a:ext uri="{FF2B5EF4-FFF2-40B4-BE49-F238E27FC236}">
                <a16:creationId xmlns:a16="http://schemas.microsoft.com/office/drawing/2014/main" id="{1DFA9C64-F522-4699-90B4-C8A456CD8956}"/>
              </a:ext>
            </a:extLst>
          </p:cNvPr>
          <p:cNvSpPr>
            <a:spLocks xmlns:a="http://schemas.openxmlformats.org/drawingml/2006/main" noGrp="1"/>
          </p:cNvSpPr>
          <p:nvPr/>
        </p:nvSpPr>
        <p:spPr>
          <a:xfrm xmlns:a="http://schemas.openxmlformats.org/drawingml/2006/main">
            <a:off x="4667250" y="394335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F50C185-1BE9-4EC3-816A-9B322278A319}"/>
              </a:ext>
            </a:extLst>
          </p:cNvPr>
          <p:cNvSpPr>
            <a:spLocks xmlns:a="http://schemas.openxmlformats.org/drawingml/2006/main" noGrp="1"/>
          </p:cNvSpPr>
          <p:nvPr/>
        </p:nvSpPr>
        <p:spPr>
          <a:xfrm xmlns:a="http://schemas.openxmlformats.org/drawingml/2006/main">
            <a:off x="4667250" y="3943350"/>
            <a:ext cx="3216010" cy="3238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F4EEDA-83EE-4195-80F9-B7B1FE733580}"/>
              </a:ext>
            </a:extLst>
          </p:cNvPr>
          <p:cNvSpPr>
            <a:spLocks xmlns:a="http://schemas.openxmlformats.org/drawingml/2006/main" noGrp="1"/>
          </p:cNvSpPr>
          <p:nvPr/>
        </p:nvSpPr>
        <p:spPr>
          <a:xfrm xmlns:a="http://schemas.openxmlformats.org/drawingml/2006/main" rot="0">
            <a:off x="7978510" y="39719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0.187</a:t>
            </a:r>
          </a:p>
        </p:txBody>
      </p:sp>
      <p:sp>
        <p:nvSpPr>
          <p:cNvPr id="33" name="">
            <a:extLst xmlns:a="http://schemas.openxmlformats.org/drawingml/2006/main">
              <a:ext uri="{FF2B5EF4-FFF2-40B4-BE49-F238E27FC236}">
                <a16:creationId xmlns:a16="http://schemas.microsoft.com/office/drawing/2014/main" id="{A9E1A423-B423-4938-B673-1C5054AC09FB}"/>
              </a:ext>
            </a:extLst>
          </p:cNvPr>
          <p:cNvSpPr>
            <a:spLocks xmlns:a="http://schemas.openxmlformats.org/drawingml/2006/main" noGrp="1"/>
          </p:cNvSpPr>
          <p:nvPr/>
        </p:nvSpPr>
        <p:spPr>
          <a:xfrm xmlns:a="http://schemas.openxmlformats.org/drawingml/2006/main" rot="0">
            <a:off x="3219450" y="45529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STGCN</a:t>
            </a:r>
          </a:p>
        </p:txBody>
      </p:sp>
      <p:sp>
        <p:nvSpPr>
          <p:cNvPr id="34" name="">
            <a:extLst xmlns:a="http://schemas.openxmlformats.org/drawingml/2006/main">
              <a:ext uri="{FF2B5EF4-FFF2-40B4-BE49-F238E27FC236}">
                <a16:creationId xmlns:a16="http://schemas.microsoft.com/office/drawing/2014/main" id="{05D5CF55-2F1A-430F-B9D5-950839AD010F}"/>
              </a:ext>
            </a:extLst>
          </p:cNvPr>
          <p:cNvSpPr>
            <a:spLocks xmlns:a="http://schemas.openxmlformats.org/drawingml/2006/main" noGrp="1"/>
          </p:cNvSpPr>
          <p:nvPr/>
        </p:nvSpPr>
        <p:spPr>
          <a:xfrm xmlns:a="http://schemas.openxmlformats.org/drawingml/2006/main">
            <a:off x="4667250" y="450532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FFD8661-B6F4-4F40-8CF0-9FDF71C5E857}"/>
              </a:ext>
            </a:extLst>
          </p:cNvPr>
          <p:cNvSpPr>
            <a:spLocks xmlns:a="http://schemas.openxmlformats.org/drawingml/2006/main" noGrp="1"/>
          </p:cNvSpPr>
          <p:nvPr/>
        </p:nvSpPr>
        <p:spPr>
          <a:xfrm xmlns:a="http://schemas.openxmlformats.org/drawingml/2006/main">
            <a:off x="4667250" y="4505325"/>
            <a:ext cx="3095625" cy="323850"/>
          </a:xfrm>
          <a:prstGeom xmlns:a="http://schemas.openxmlformats.org/drawingml/2006/main" prst="rect">
            <a:avLst/>
          </a:prstGeom>
          <a:solidFill xmlns:a="http://schemas.openxmlformats.org/drawingml/2006/main">
            <a:srgbClr val="137B7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312C6BF-98B1-45E8-A44D-6F75B998158C}"/>
              </a:ext>
            </a:extLst>
          </p:cNvPr>
          <p:cNvSpPr>
            <a:spLocks xmlns:a="http://schemas.openxmlformats.org/drawingml/2006/main" noGrp="1"/>
          </p:cNvSpPr>
          <p:nvPr/>
        </p:nvSpPr>
        <p:spPr>
          <a:xfrm xmlns:a="http://schemas.openxmlformats.org/drawingml/2006/main" rot="0">
            <a:off x="7858125" y="4533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0.180</a:t>
            </a:r>
          </a:p>
        </p:txBody>
      </p:sp>
      <p:sp>
        <p:nvSpPr>
          <p:cNvPr id="37" name="">
            <a:extLst xmlns:a="http://schemas.openxmlformats.org/drawingml/2006/main">
              <a:ext uri="{FF2B5EF4-FFF2-40B4-BE49-F238E27FC236}">
                <a16:creationId xmlns:a16="http://schemas.microsoft.com/office/drawing/2014/main" id="{3269787E-3DBD-4D0D-B545-910039D755D4}"/>
              </a:ext>
            </a:extLst>
          </p:cNvPr>
          <p:cNvSpPr>
            <a:spLocks xmlns:a="http://schemas.openxmlformats.org/drawingml/2006/main" noGrp="1"/>
          </p:cNvSpPr>
          <p:nvPr/>
        </p:nvSpPr>
        <p:spPr>
          <a:xfrm xmlns:a="http://schemas.openxmlformats.org/drawingml/2006/main" rot="0">
            <a:off x="3219450" y="51149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LSTM</a:t>
            </a:r>
          </a:p>
        </p:txBody>
      </p:sp>
      <p:sp>
        <p:nvSpPr>
          <p:cNvPr id="38" name="">
            <a:extLst xmlns:a="http://schemas.openxmlformats.org/drawingml/2006/main">
              <a:ext uri="{FF2B5EF4-FFF2-40B4-BE49-F238E27FC236}">
                <a16:creationId xmlns:a16="http://schemas.microsoft.com/office/drawing/2014/main" id="{0DFB3811-B393-4900-98C3-B7C7DF29058D}"/>
              </a:ext>
            </a:extLst>
          </p:cNvPr>
          <p:cNvSpPr>
            <a:spLocks xmlns:a="http://schemas.openxmlformats.org/drawingml/2006/main" noGrp="1"/>
          </p:cNvSpPr>
          <p:nvPr/>
        </p:nvSpPr>
        <p:spPr>
          <a:xfrm xmlns:a="http://schemas.openxmlformats.org/drawingml/2006/main">
            <a:off x="4667250" y="506730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D87D4A8-2695-4E3A-AC87-D952BDB28D9C}"/>
              </a:ext>
            </a:extLst>
          </p:cNvPr>
          <p:cNvSpPr>
            <a:spLocks xmlns:a="http://schemas.openxmlformats.org/drawingml/2006/main" noGrp="1"/>
          </p:cNvSpPr>
          <p:nvPr/>
        </p:nvSpPr>
        <p:spPr>
          <a:xfrm xmlns:a="http://schemas.openxmlformats.org/drawingml/2006/main">
            <a:off x="4667250" y="5067300"/>
            <a:ext cx="2235729" cy="323850"/>
          </a:xfrm>
          <a:prstGeom xmlns:a="http://schemas.openxmlformats.org/drawingml/2006/main" prst="rect">
            <a:avLst/>
          </a:prstGeom>
          <a:solidFill xmlns:a="http://schemas.openxmlformats.org/drawingml/2006/main">
            <a:srgbClr val="5A6C79"/>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64E4204-30BE-4C1E-ABFD-72A567CDBB74}"/>
              </a:ext>
            </a:extLst>
          </p:cNvPr>
          <p:cNvSpPr>
            <a:spLocks xmlns:a="http://schemas.openxmlformats.org/drawingml/2006/main" noGrp="1"/>
          </p:cNvSpPr>
          <p:nvPr/>
        </p:nvSpPr>
        <p:spPr>
          <a:xfrm xmlns:a="http://schemas.openxmlformats.org/drawingml/2006/main" rot="0">
            <a:off x="6998229" y="5095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0.130</a:t>
            </a:r>
          </a:p>
        </p:txBody>
      </p:sp>
      <p:sp>
        <p:nvSpPr>
          <p:cNvPr id="41" name="">
            <a:extLst xmlns:a="http://schemas.openxmlformats.org/drawingml/2006/main">
              <a:ext uri="{FF2B5EF4-FFF2-40B4-BE49-F238E27FC236}">
                <a16:creationId xmlns:a16="http://schemas.microsoft.com/office/drawing/2014/main" id="{CC213AEB-A7AD-4511-B816-931676526DBD}"/>
              </a:ext>
            </a:extLst>
          </p:cNvPr>
          <p:cNvSpPr>
            <a:spLocks xmlns:a="http://schemas.openxmlformats.org/drawingml/2006/main" noGrp="1"/>
          </p:cNvSpPr>
          <p:nvPr/>
        </p:nvSpPr>
        <p:spPr>
          <a:xfrm xmlns:a="http://schemas.openxmlformats.org/drawingml/2006/main" rot="0">
            <a:off x="4667250" y="57531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i="0">
                <a:solidFill>
                  <a:srgbClr val="5A6C79"/>
                </a:solidFill>
                <a:latin typeface="Aptos"/>
                <a:ea typeface="Aptos"/>
                <a:cs typeface="Aptos"/>
              </a:defRPr>
            </a:pPr>
            <a:r>
              <a:rPr sz="1200" b="0" i="0">
                <a:solidFill>
                  <a:srgbClr val="5A6C79"/>
                </a:solidFill>
                <a:latin typeface="Aptos"/>
                <a:ea typeface="Aptos"/>
                <a:cs typeface="Aptos"/>
              </a:rPr>
              <a:t>Higher is better · full vocabulary · Foursquare NYC</a:t>
            </a:r>
          </a:p>
        </p:txBody>
      </p:sp>
      <p:sp>
        <p:nvSpPr>
          <p:cNvPr id="42" name="">
            <a:extLst xmlns:a="http://schemas.openxmlformats.org/drawingml/2006/main">
              <a:ext uri="{FF2B5EF4-FFF2-40B4-BE49-F238E27FC236}">
                <a16:creationId xmlns:a16="http://schemas.microsoft.com/office/drawing/2014/main" id="{7DCFBC0B-94BB-4D86-BDE2-B16EAC856172}"/>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 3.2 and Figure 3.2. Published comparison values use the same NYC full-vocabulary HR@1 protocol.</a:t>
            </a:r>
          </a:p>
        </p:txBody>
      </p:sp>
    </p:spTree>
    <p:extLst>
      <p:ext uri="{BB962C8B-B14F-4D97-AF65-F5344CB8AC3E}">
        <p14:creationId xmlns:p14="http://schemas.microsoft.com/office/powerpoint/2010/main" val="1622180066"/>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6" name="eyebrow">
            <a:extLst xmlns:a="http://schemas.openxmlformats.org/drawingml/2006/main">
              <a:ext uri="{FF2B5EF4-FFF2-40B4-BE49-F238E27FC236}">
                <a16:creationId xmlns:a16="http://schemas.microsoft.com/office/drawing/2014/main" id="{25347809-2072-48FA-BC9D-A3ED10CA4B33}"/>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2609974B-27AD-4D08-8747-00FD3AFD9710}"/>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Frozen Rollout turns next-POI scores into a loop-free route</a:t>
            </a:r>
          </a:p>
        </p:txBody>
      </p:sp>
      <p:sp>
        <p:nvSpPr>
          <p:cNvPr id="3" name="title-accent">
            <a:extLst xmlns:a="http://schemas.openxmlformats.org/drawingml/2006/main">
              <a:ext uri="{FF2B5EF4-FFF2-40B4-BE49-F238E27FC236}">
                <a16:creationId xmlns:a16="http://schemas.microsoft.com/office/drawing/2014/main" id="{0817A2B1-A04D-4489-8032-213642CF7D98}"/>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A382F9-A4EA-4A04-ACA3-99EA82B46C96}"/>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4F835897-A6C2-4E26-9BC9-071F3625EC7F}"/>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01272D50-ED7E-4F9F-832E-4AEF7DEC9580}"/>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6 / 10</a:t>
            </a:r>
          </a:p>
        </p:txBody>
      </p:sp>
      <p:sp>
        <p:nvSpPr>
          <p:cNvPr id="7" name="">
            <a:extLst xmlns:a="http://schemas.openxmlformats.org/drawingml/2006/main">
              <a:ext uri="{FF2B5EF4-FFF2-40B4-BE49-F238E27FC236}">
                <a16:creationId xmlns:a16="http://schemas.microsoft.com/office/drawing/2014/main" id="{9DBF6BFB-3BE5-427B-B5BA-4F518E8DB4EB}"/>
              </a:ext>
            </a:extLst>
          </p:cNvPr>
          <p:cNvSpPr>
            <a:spLocks xmlns:a="http://schemas.openxmlformats.org/drawingml/2006/main" noGrp="1"/>
          </p:cNvSpPr>
          <p:nvPr/>
        </p:nvSpPr>
        <p:spPr>
          <a:xfrm xmlns:a="http://schemas.openxmlformats.org/drawingml/2006/main">
            <a:off x="62865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8" name="">
            <a:extLst xmlns:a="http://schemas.openxmlformats.org/drawingml/2006/main">
              <a:ext uri="{FF2B5EF4-FFF2-40B4-BE49-F238E27FC236}">
                <a16:creationId xmlns:a16="http://schemas.microsoft.com/office/drawing/2014/main" id="{9A30872B-B65F-4A24-8A03-BED6E17D0E17}"/>
              </a:ext>
            </a:extLst>
          </p:cNvPr>
          <p:cNvSpPr>
            <a:spLocks xmlns:a="http://schemas.openxmlformats.org/drawingml/2006/main" noGrp="1"/>
          </p:cNvSpPr>
          <p:nvPr/>
        </p:nvSpPr>
        <p:spPr>
          <a:xfrm xmlns:a="http://schemas.openxmlformats.org/drawingml/2006/main">
            <a:off x="752475" y="1933575"/>
            <a:ext cx="323850" cy="323850"/>
          </a:xfrm>
          <a:prstGeom xmlns:a="http://schemas.openxmlformats.org/drawingml/2006/main" prst="ellipse">
            <a:avLst/>
          </a:prstGeom>
          <a:solidFill xmlns:a="http://schemas.openxmlformats.org/drawingml/2006/main">
            <a:srgbClr val="0B1F33"/>
          </a:solidFill>
          <a:ln xmlns:a="http://schemas.openxmlformats.org/drawingml/2006/main" w="28575">
            <a:solidFill>
              <a:srgbClr val="0B1F33"/>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DFC7CDFC-BE1D-4A70-A725-D156402A1A1F}"/>
              </a:ext>
            </a:extLst>
          </p:cNvPr>
          <p:cNvSpPr>
            <a:spLocks xmlns:a="http://schemas.openxmlformats.org/drawingml/2006/main" noGrp="1"/>
          </p:cNvSpPr>
          <p:nvPr/>
        </p:nvSpPr>
        <p:spPr>
          <a:xfrm xmlns:a="http://schemas.openxmlformats.org/drawingml/2006/main" rot="0">
            <a:off x="11811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QUERY</a:t>
            </a:r>
          </a:p>
        </p:txBody>
      </p:sp>
      <p:sp>
        <p:nvSpPr>
          <p:cNvPr id="10" name="">
            <a:extLst xmlns:a="http://schemas.openxmlformats.org/drawingml/2006/main">
              <a:ext uri="{FF2B5EF4-FFF2-40B4-BE49-F238E27FC236}">
                <a16:creationId xmlns:a16="http://schemas.microsoft.com/office/drawing/2014/main" id="{BB65A80B-6BCE-46F3-B490-2F7D9E172473}"/>
              </a:ext>
            </a:extLst>
          </p:cNvPr>
          <p:cNvSpPr>
            <a:spLocks xmlns:a="http://schemas.openxmlformats.org/drawingml/2006/main" noGrp="1"/>
          </p:cNvSpPr>
          <p:nvPr/>
        </p:nvSpPr>
        <p:spPr>
          <a:xfrm xmlns:a="http://schemas.openxmlformats.org/drawingml/2006/main" rot="0">
            <a:off x="8191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user · start · end · K</a:t>
            </a:r>
          </a:p>
        </p:txBody>
      </p:sp>
      <p:sp>
        <p:nvSpPr>
          <p:cNvPr id="11" name="">
            <a:extLst xmlns:a="http://schemas.openxmlformats.org/drawingml/2006/main">
              <a:ext uri="{FF2B5EF4-FFF2-40B4-BE49-F238E27FC236}">
                <a16:creationId xmlns:a16="http://schemas.microsoft.com/office/drawing/2014/main" id="{CE6B3E97-B6AD-4224-A4A7-396952432F5E}"/>
              </a:ext>
            </a:extLst>
          </p:cNvPr>
          <p:cNvSpPr>
            <a:spLocks xmlns:a="http://schemas.openxmlformats.org/drawingml/2006/main" noGrp="1"/>
          </p:cNvSpPr>
          <p:nvPr/>
        </p:nvSpPr>
        <p:spPr>
          <a:xfrm xmlns:a="http://schemas.openxmlformats.org/drawingml/2006/main">
            <a:off x="289560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12" name="">
            <a:extLst xmlns:a="http://schemas.openxmlformats.org/drawingml/2006/main">
              <a:ext uri="{FF2B5EF4-FFF2-40B4-BE49-F238E27FC236}">
                <a16:creationId xmlns:a16="http://schemas.microsoft.com/office/drawing/2014/main" id="{F64C8E6A-B80F-4A89-B7C6-BEC953BA57E6}"/>
              </a:ext>
            </a:extLst>
          </p:cNvPr>
          <p:cNvSpPr>
            <a:spLocks xmlns:a="http://schemas.openxmlformats.org/drawingml/2006/main" noGrp="1"/>
          </p:cNvSpPr>
          <p:nvPr/>
        </p:nvSpPr>
        <p:spPr>
          <a:xfrm xmlns:a="http://schemas.openxmlformats.org/drawingml/2006/main">
            <a:off x="3019425" y="1933575"/>
            <a:ext cx="323850" cy="323850"/>
          </a:xfrm>
          <a:prstGeom xmlns:a="http://schemas.openxmlformats.org/drawingml/2006/main" prst="ellipse">
            <a:avLst/>
          </a:prstGeom>
          <a:solidFill xmlns:a="http://schemas.openxmlformats.org/drawingml/2006/main">
            <a:srgbClr val="137B77"/>
          </a:solidFill>
          <a:ln xmlns:a="http://schemas.openxmlformats.org/drawingml/2006/main" w="28575">
            <a:solidFill>
              <a:srgbClr val="137B77"/>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99FE6123-F9A6-48D6-AD51-2636C0C27886}"/>
              </a:ext>
            </a:extLst>
          </p:cNvPr>
          <p:cNvSpPr>
            <a:spLocks xmlns:a="http://schemas.openxmlformats.org/drawingml/2006/main" noGrp="1"/>
          </p:cNvSpPr>
          <p:nvPr/>
        </p:nvSpPr>
        <p:spPr>
          <a:xfrm xmlns:a="http://schemas.openxmlformats.org/drawingml/2006/main" rot="0">
            <a:off x="344805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37B77"/>
                </a:solidFill>
                <a:latin typeface="Aptos"/>
                <a:ea typeface="Aptos"/>
                <a:cs typeface="Aptos"/>
              </a:defRPr>
            </a:pPr>
            <a:r>
              <a:rPr sz="1500" b="1" i="0">
                <a:solidFill>
                  <a:srgbClr val="137B77"/>
                </a:solidFill>
                <a:latin typeface="Aptos"/>
                <a:ea typeface="Aptos"/>
                <a:cs typeface="Aptos"/>
              </a:rPr>
              <a:t>SCORE</a:t>
            </a:r>
          </a:p>
        </p:txBody>
      </p:sp>
      <p:sp>
        <p:nvSpPr>
          <p:cNvPr id="14" name="">
            <a:extLst xmlns:a="http://schemas.openxmlformats.org/drawingml/2006/main">
              <a:ext uri="{FF2B5EF4-FFF2-40B4-BE49-F238E27FC236}">
                <a16:creationId xmlns:a16="http://schemas.microsoft.com/office/drawing/2014/main" id="{05F9AA87-D715-4082-93EF-A4EA9ED5454A}"/>
              </a:ext>
            </a:extLst>
          </p:cNvPr>
          <p:cNvSpPr>
            <a:spLocks xmlns:a="http://schemas.openxmlformats.org/drawingml/2006/main" noGrp="1"/>
          </p:cNvSpPr>
          <p:nvPr/>
        </p:nvSpPr>
        <p:spPr>
          <a:xfrm xmlns:a="http://schemas.openxmlformats.org/drawingml/2006/main" rot="0">
            <a:off x="308610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run frozen engine</a:t>
            </a:r>
          </a:p>
        </p:txBody>
      </p:sp>
      <p:sp>
        <p:nvSpPr>
          <p:cNvPr id="15" name="">
            <a:extLst xmlns:a="http://schemas.openxmlformats.org/drawingml/2006/main">
              <a:ext uri="{FF2B5EF4-FFF2-40B4-BE49-F238E27FC236}">
                <a16:creationId xmlns:a16="http://schemas.microsoft.com/office/drawing/2014/main" id="{CB110C57-655F-4E79-8E58-3F72DA4C6EEA}"/>
              </a:ext>
            </a:extLst>
          </p:cNvPr>
          <p:cNvSpPr>
            <a:spLocks xmlns:a="http://schemas.openxmlformats.org/drawingml/2006/main" noGrp="1"/>
          </p:cNvSpPr>
          <p:nvPr/>
        </p:nvSpPr>
        <p:spPr>
          <a:xfrm xmlns:a="http://schemas.openxmlformats.org/drawingml/2006/main">
            <a:off x="5162550" y="1809750"/>
            <a:ext cx="1866900" cy="1390650"/>
          </a:xfrm>
          <a:prstGeom xmlns:a="http://schemas.openxmlformats.org/drawingml/2006/main" prst="roundRect">
            <a:avLst>
              <a:gd name="adj" fmla="val 13699"/>
            </a:avLst>
          </a:prstGeom>
          <a:solidFill xmlns:a="http://schemas.openxmlformats.org/drawingml/2006/main">
            <a:srgbClr val="FCE8D9"/>
          </a:solidFill>
          <a:ln xmlns:a="http://schemas.openxmlformats.org/drawingml/2006/main" w="9525">
            <a:solidFill>
              <a:srgbClr val="F3C49D"/>
            </a:solidFill>
            <a:prstDash val="solid"/>
          </a:ln>
        </p:spPr>
      </p:sp>
      <p:sp>
        <p:nvSpPr>
          <p:cNvPr id="16" name="">
            <a:extLst xmlns:a="http://schemas.openxmlformats.org/drawingml/2006/main">
              <a:ext uri="{FF2B5EF4-FFF2-40B4-BE49-F238E27FC236}">
                <a16:creationId xmlns:a16="http://schemas.microsoft.com/office/drawing/2014/main" id="{2E425664-BCFC-4BFA-BE6F-94A1623227C6}"/>
              </a:ext>
            </a:extLst>
          </p:cNvPr>
          <p:cNvSpPr>
            <a:spLocks xmlns:a="http://schemas.openxmlformats.org/drawingml/2006/main" noGrp="1"/>
          </p:cNvSpPr>
          <p:nvPr/>
        </p:nvSpPr>
        <p:spPr>
          <a:xfrm xmlns:a="http://schemas.openxmlformats.org/drawingml/2006/main">
            <a:off x="5286375" y="1933575"/>
            <a:ext cx="323850" cy="3238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28C45"/>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FE22AAE4-DAD6-48D9-8EE6-4DF482F9DDC3}"/>
              </a:ext>
            </a:extLst>
          </p:cNvPr>
          <p:cNvSpPr>
            <a:spLocks xmlns:a="http://schemas.openxmlformats.org/drawingml/2006/main" noGrp="1"/>
          </p:cNvSpPr>
          <p:nvPr/>
        </p:nvSpPr>
        <p:spPr>
          <a:xfrm xmlns:a="http://schemas.openxmlformats.org/drawingml/2006/main" rot="0">
            <a:off x="57150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MASK</a:t>
            </a:r>
          </a:p>
        </p:txBody>
      </p:sp>
      <p:sp>
        <p:nvSpPr>
          <p:cNvPr id="18" name="">
            <a:extLst xmlns:a="http://schemas.openxmlformats.org/drawingml/2006/main">
              <a:ext uri="{FF2B5EF4-FFF2-40B4-BE49-F238E27FC236}">
                <a16:creationId xmlns:a16="http://schemas.microsoft.com/office/drawing/2014/main" id="{437BC1C7-BFC9-48B0-B3FC-9982A8E83C25}"/>
              </a:ext>
            </a:extLst>
          </p:cNvPr>
          <p:cNvSpPr>
            <a:spLocks xmlns:a="http://schemas.openxmlformats.org/drawingml/2006/main" noGrp="1"/>
          </p:cNvSpPr>
          <p:nvPr/>
        </p:nvSpPr>
        <p:spPr>
          <a:xfrm xmlns:a="http://schemas.openxmlformats.org/drawingml/2006/main" rot="0">
            <a:off x="53530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visited + early end</a:t>
            </a:r>
          </a:p>
        </p:txBody>
      </p:sp>
      <p:sp>
        <p:nvSpPr>
          <p:cNvPr id="19" name="">
            <a:extLst xmlns:a="http://schemas.openxmlformats.org/drawingml/2006/main">
              <a:ext uri="{FF2B5EF4-FFF2-40B4-BE49-F238E27FC236}">
                <a16:creationId xmlns:a16="http://schemas.microsoft.com/office/drawing/2014/main" id="{7915BB39-55C3-4E25-9A7B-FB71FA01A99F}"/>
              </a:ext>
            </a:extLst>
          </p:cNvPr>
          <p:cNvSpPr>
            <a:spLocks xmlns:a="http://schemas.openxmlformats.org/drawingml/2006/main" noGrp="1"/>
          </p:cNvSpPr>
          <p:nvPr/>
        </p:nvSpPr>
        <p:spPr>
          <a:xfrm xmlns:a="http://schemas.openxmlformats.org/drawingml/2006/main">
            <a:off x="742950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20" name="">
            <a:extLst xmlns:a="http://schemas.openxmlformats.org/drawingml/2006/main">
              <a:ext uri="{FF2B5EF4-FFF2-40B4-BE49-F238E27FC236}">
                <a16:creationId xmlns:a16="http://schemas.microsoft.com/office/drawing/2014/main" id="{3A8CED84-4107-49F0-B02E-0F00BA98FC15}"/>
              </a:ext>
            </a:extLst>
          </p:cNvPr>
          <p:cNvSpPr>
            <a:spLocks xmlns:a="http://schemas.openxmlformats.org/drawingml/2006/main" noGrp="1"/>
          </p:cNvSpPr>
          <p:nvPr/>
        </p:nvSpPr>
        <p:spPr>
          <a:xfrm xmlns:a="http://schemas.openxmlformats.org/drawingml/2006/main">
            <a:off x="7553325" y="1933575"/>
            <a:ext cx="323850" cy="323850"/>
          </a:xfrm>
          <a:prstGeom xmlns:a="http://schemas.openxmlformats.org/drawingml/2006/main" prst="ellipse">
            <a:avLst/>
          </a:prstGeom>
          <a:solidFill xmlns:a="http://schemas.openxmlformats.org/drawingml/2006/main">
            <a:srgbClr val="137B77"/>
          </a:solidFill>
          <a:ln xmlns:a="http://schemas.openxmlformats.org/drawingml/2006/main" w="28575">
            <a:solidFill>
              <a:srgbClr val="137B77"/>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715C13CB-000D-43A5-B773-96ABA32DD6B1}"/>
              </a:ext>
            </a:extLst>
          </p:cNvPr>
          <p:cNvSpPr>
            <a:spLocks xmlns:a="http://schemas.openxmlformats.org/drawingml/2006/main" noGrp="1"/>
          </p:cNvSpPr>
          <p:nvPr/>
        </p:nvSpPr>
        <p:spPr>
          <a:xfrm xmlns:a="http://schemas.openxmlformats.org/drawingml/2006/main" rot="0">
            <a:off x="798195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37B77"/>
                </a:solidFill>
                <a:latin typeface="Aptos"/>
                <a:ea typeface="Aptos"/>
                <a:cs typeface="Aptos"/>
              </a:defRPr>
            </a:pPr>
            <a:r>
              <a:rPr sz="1500" b="1" i="0">
                <a:solidFill>
                  <a:srgbClr val="137B77"/>
                </a:solidFill>
                <a:latin typeface="Aptos"/>
                <a:ea typeface="Aptos"/>
                <a:cs typeface="Aptos"/>
              </a:rPr>
              <a:t>SELECT</a:t>
            </a:r>
          </a:p>
        </p:txBody>
      </p:sp>
      <p:sp>
        <p:nvSpPr>
          <p:cNvPr id="22" name="">
            <a:extLst xmlns:a="http://schemas.openxmlformats.org/drawingml/2006/main">
              <a:ext uri="{FF2B5EF4-FFF2-40B4-BE49-F238E27FC236}">
                <a16:creationId xmlns:a16="http://schemas.microsoft.com/office/drawing/2014/main" id="{4254CAC9-337E-41E0-969E-F2CC3CDF9040}"/>
              </a:ext>
            </a:extLst>
          </p:cNvPr>
          <p:cNvSpPr>
            <a:spLocks xmlns:a="http://schemas.openxmlformats.org/drawingml/2006/main" noGrp="1"/>
          </p:cNvSpPr>
          <p:nvPr/>
        </p:nvSpPr>
        <p:spPr>
          <a:xfrm xmlns:a="http://schemas.openxmlformats.org/drawingml/2006/main" rot="0">
            <a:off x="762000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best valid candidate</a:t>
            </a:r>
          </a:p>
        </p:txBody>
      </p:sp>
      <p:sp>
        <p:nvSpPr>
          <p:cNvPr id="23" name="">
            <a:extLst xmlns:a="http://schemas.openxmlformats.org/drawingml/2006/main">
              <a:ext uri="{FF2B5EF4-FFF2-40B4-BE49-F238E27FC236}">
                <a16:creationId xmlns:a16="http://schemas.microsoft.com/office/drawing/2014/main" id="{B0D9604E-DB40-4D74-8B24-21402FE9BAB6}"/>
              </a:ext>
            </a:extLst>
          </p:cNvPr>
          <p:cNvSpPr>
            <a:spLocks xmlns:a="http://schemas.openxmlformats.org/drawingml/2006/main" noGrp="1"/>
          </p:cNvSpPr>
          <p:nvPr/>
        </p:nvSpPr>
        <p:spPr>
          <a:xfrm xmlns:a="http://schemas.openxmlformats.org/drawingml/2006/main">
            <a:off x="969645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24" name="">
            <a:extLst xmlns:a="http://schemas.openxmlformats.org/drawingml/2006/main">
              <a:ext uri="{FF2B5EF4-FFF2-40B4-BE49-F238E27FC236}">
                <a16:creationId xmlns:a16="http://schemas.microsoft.com/office/drawing/2014/main" id="{30752E8D-E9FF-4729-9D78-C688561BCA35}"/>
              </a:ext>
            </a:extLst>
          </p:cNvPr>
          <p:cNvSpPr>
            <a:spLocks xmlns:a="http://schemas.openxmlformats.org/drawingml/2006/main" noGrp="1"/>
          </p:cNvSpPr>
          <p:nvPr/>
        </p:nvSpPr>
        <p:spPr>
          <a:xfrm xmlns:a="http://schemas.openxmlformats.org/drawingml/2006/main">
            <a:off x="9820275" y="1933575"/>
            <a:ext cx="323850" cy="323850"/>
          </a:xfrm>
          <a:prstGeom xmlns:a="http://schemas.openxmlformats.org/drawingml/2006/main" prst="ellipse">
            <a:avLst/>
          </a:prstGeom>
          <a:solidFill xmlns:a="http://schemas.openxmlformats.org/drawingml/2006/main">
            <a:srgbClr val="0B1F33"/>
          </a:solidFill>
          <a:ln xmlns:a="http://schemas.openxmlformats.org/drawingml/2006/main" w="28575">
            <a:solidFill>
              <a:srgbClr val="0B1F33"/>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19500CE7-3FE3-4B36-BCE9-A8B38F7F4CAF}"/>
              </a:ext>
            </a:extLst>
          </p:cNvPr>
          <p:cNvSpPr>
            <a:spLocks xmlns:a="http://schemas.openxmlformats.org/drawingml/2006/main" noGrp="1"/>
          </p:cNvSpPr>
          <p:nvPr/>
        </p:nvSpPr>
        <p:spPr>
          <a:xfrm xmlns:a="http://schemas.openxmlformats.org/drawingml/2006/main" rot="0">
            <a:off x="102489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REPEAT</a:t>
            </a:r>
          </a:p>
        </p:txBody>
      </p:sp>
      <p:sp>
        <p:nvSpPr>
          <p:cNvPr id="26" name="">
            <a:extLst xmlns:a="http://schemas.openxmlformats.org/drawingml/2006/main">
              <a:ext uri="{FF2B5EF4-FFF2-40B4-BE49-F238E27FC236}">
                <a16:creationId xmlns:a16="http://schemas.microsoft.com/office/drawing/2014/main" id="{935A49A1-C3F3-48B2-9FA7-86C0CE0B8392}"/>
              </a:ext>
            </a:extLst>
          </p:cNvPr>
          <p:cNvSpPr>
            <a:spLocks xmlns:a="http://schemas.openxmlformats.org/drawingml/2006/main" noGrp="1"/>
          </p:cNvSpPr>
          <p:nvPr/>
        </p:nvSpPr>
        <p:spPr>
          <a:xfrm xmlns:a="http://schemas.openxmlformats.org/drawingml/2006/main" rot="0">
            <a:off x="98869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until length K</a:t>
            </a:r>
          </a:p>
        </p:txBody>
      </p:sp>
      <p:cxnSp>
        <p:nvCxnSpPr>
          <p:cNvPr id="72" name=""/>
          <p:cNvCxnSpPr>
            <a:stCxn xmlns:a="http://schemas.openxmlformats.org/drawingml/2006/main" id="7" idx="3"/>
            <a:endCxn xmlns:a="http://schemas.openxmlformats.org/drawingml/2006/main" id="11" idx="1"/>
          </p:cNvCxnSpPr>
          <p:nvPr/>
        </p:nvCxnSpPr>
        <p:spPr>
          <a:xfrm xmlns:a="http://schemas.openxmlformats.org/drawingml/2006/main">
            <a:off x="249555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3" name=""/>
          <p:cNvCxnSpPr>
            <a:stCxn xmlns:a="http://schemas.openxmlformats.org/drawingml/2006/main" id="11" idx="3"/>
            <a:endCxn xmlns:a="http://schemas.openxmlformats.org/drawingml/2006/main" id="15" idx="1"/>
          </p:cNvCxnSpPr>
          <p:nvPr/>
        </p:nvCxnSpPr>
        <p:spPr>
          <a:xfrm xmlns:a="http://schemas.openxmlformats.org/drawingml/2006/main">
            <a:off x="476250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4" name=""/>
          <p:cNvCxnSpPr>
            <a:stCxn xmlns:a="http://schemas.openxmlformats.org/drawingml/2006/main" id="15" idx="3"/>
            <a:endCxn xmlns:a="http://schemas.openxmlformats.org/drawingml/2006/main" id="19" idx="1"/>
          </p:cNvCxnSpPr>
          <p:nvPr/>
        </p:nvCxnSpPr>
        <p:spPr>
          <a:xfrm xmlns:a="http://schemas.openxmlformats.org/drawingml/2006/main">
            <a:off x="702945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5" name=""/>
          <p:cNvCxnSpPr>
            <a:stCxn xmlns:a="http://schemas.openxmlformats.org/drawingml/2006/main" id="19" idx="3"/>
            <a:endCxn xmlns:a="http://schemas.openxmlformats.org/drawingml/2006/main" id="23" idx="1"/>
          </p:cNvCxnSpPr>
          <p:nvPr/>
        </p:nvCxnSpPr>
        <p:spPr>
          <a:xfrm xmlns:a="http://schemas.openxmlformats.org/drawingml/2006/main">
            <a:off x="929640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sp>
        <p:nvSpPr>
          <p:cNvPr id="31" name="">
            <a:extLst xmlns:a="http://schemas.openxmlformats.org/drawingml/2006/main">
              <a:ext uri="{FF2B5EF4-FFF2-40B4-BE49-F238E27FC236}">
                <a16:creationId xmlns:a16="http://schemas.microsoft.com/office/drawing/2014/main" id="{6441D4B1-F05F-49A6-9BD6-55D098B8C735}"/>
              </a:ext>
            </a:extLst>
          </p:cNvPr>
          <p:cNvSpPr>
            <a:spLocks xmlns:a="http://schemas.openxmlformats.org/drawingml/2006/main" noGrp="1"/>
          </p:cNvSpPr>
          <p:nvPr/>
        </p:nvSpPr>
        <p:spPr>
          <a:xfrm xmlns:a="http://schemas.openxmlformats.org/drawingml/2006/main" rot="0">
            <a:off x="647700" y="36385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1" i="0">
                <a:solidFill>
                  <a:srgbClr val="0B1F33"/>
                </a:solidFill>
                <a:latin typeface="Aptos"/>
                <a:ea typeface="Aptos"/>
                <a:cs typeface="Aptos"/>
              </a:defRPr>
            </a:pPr>
            <a:r>
              <a:rPr sz="1800" b="1" i="0">
                <a:solidFill>
                  <a:srgbClr val="0B1F33"/>
                </a:solidFill>
                <a:latin typeface="Aptos"/>
                <a:ea typeface="Aptos"/>
                <a:cs typeface="Aptos"/>
              </a:rPr>
              <a:t>The route grows one valid stop at a time</a:t>
            </a:r>
          </a:p>
        </p:txBody>
      </p:sp>
      <p:sp>
        <p:nvSpPr>
          <p:cNvPr id="32" name="">
            <a:extLst xmlns:a="http://schemas.openxmlformats.org/drawingml/2006/main">
              <a:ext uri="{FF2B5EF4-FFF2-40B4-BE49-F238E27FC236}">
                <a16:creationId xmlns:a16="http://schemas.microsoft.com/office/drawing/2014/main" id="{F4674967-BEF9-4DA6-AB5C-A96184E7A62A}"/>
              </a:ext>
            </a:extLst>
          </p:cNvPr>
          <p:cNvSpPr>
            <a:spLocks xmlns:a="http://schemas.openxmlformats.org/drawingml/2006/main" noGrp="1"/>
          </p:cNvSpPr>
          <p:nvPr/>
        </p:nvSpPr>
        <p:spPr>
          <a:xfrm xmlns:a="http://schemas.openxmlformats.org/drawingml/2006/main">
            <a:off x="1362075" y="4695825"/>
            <a:ext cx="514350" cy="514350"/>
          </a:xfrm>
          <a:prstGeom xmlns:a="http://schemas.openxmlformats.org/drawingml/2006/main" prst="ellipse">
            <a:avLst/>
          </a:prstGeom>
          <a:solidFill xmlns:a="http://schemas.openxmlformats.org/drawingml/2006/main">
            <a:srgbClr val="0B1F33"/>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S</a:t>
            </a:r>
          </a:p>
        </p:txBody>
      </p:sp>
      <p:sp>
        <p:nvSpPr>
          <p:cNvPr id="33" name="">
            <a:extLst xmlns:a="http://schemas.openxmlformats.org/drawingml/2006/main">
              <a:ext uri="{FF2B5EF4-FFF2-40B4-BE49-F238E27FC236}">
                <a16:creationId xmlns:a16="http://schemas.microsoft.com/office/drawing/2014/main" id="{F4962C1F-063E-4D27-B28D-F557485EFF22}"/>
              </a:ext>
            </a:extLst>
          </p:cNvPr>
          <p:cNvSpPr>
            <a:spLocks xmlns:a="http://schemas.openxmlformats.org/drawingml/2006/main" noGrp="1"/>
          </p:cNvSpPr>
          <p:nvPr/>
        </p:nvSpPr>
        <p:spPr>
          <a:xfrm xmlns:a="http://schemas.openxmlformats.org/drawingml/2006/main">
            <a:off x="3124200" y="4200525"/>
            <a:ext cx="514350" cy="514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34" name="">
            <a:extLst xmlns:a="http://schemas.openxmlformats.org/drawingml/2006/main">
              <a:ext uri="{FF2B5EF4-FFF2-40B4-BE49-F238E27FC236}">
                <a16:creationId xmlns:a16="http://schemas.microsoft.com/office/drawing/2014/main" id="{65AF304B-A672-4096-8C82-EFA88E9201EC}"/>
              </a:ext>
            </a:extLst>
          </p:cNvPr>
          <p:cNvSpPr>
            <a:spLocks xmlns:a="http://schemas.openxmlformats.org/drawingml/2006/main" noGrp="1"/>
          </p:cNvSpPr>
          <p:nvPr/>
        </p:nvSpPr>
        <p:spPr>
          <a:xfrm xmlns:a="http://schemas.openxmlformats.org/drawingml/2006/main">
            <a:off x="5124450" y="4772025"/>
            <a:ext cx="514350" cy="514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5E1F0B79-B1A9-4824-A6D7-7FAB0D0ABBD7}"/>
              </a:ext>
            </a:extLst>
          </p:cNvPr>
          <p:cNvSpPr>
            <a:spLocks xmlns:a="http://schemas.openxmlformats.org/drawingml/2006/main" noGrp="1"/>
          </p:cNvSpPr>
          <p:nvPr/>
        </p:nvSpPr>
        <p:spPr>
          <a:xfrm xmlns:a="http://schemas.openxmlformats.org/drawingml/2006/main">
            <a:off x="7267575" y="4076700"/>
            <a:ext cx="514350" cy="5143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36" name="">
            <a:extLst xmlns:a="http://schemas.openxmlformats.org/drawingml/2006/main">
              <a:ext uri="{FF2B5EF4-FFF2-40B4-BE49-F238E27FC236}">
                <a16:creationId xmlns:a16="http://schemas.microsoft.com/office/drawing/2014/main" id="{FA126732-D6A1-45C8-A7E3-4B370D15424A}"/>
              </a:ext>
            </a:extLst>
          </p:cNvPr>
          <p:cNvSpPr>
            <a:spLocks xmlns:a="http://schemas.openxmlformats.org/drawingml/2006/main" noGrp="1"/>
          </p:cNvSpPr>
          <p:nvPr/>
        </p:nvSpPr>
        <p:spPr>
          <a:xfrm xmlns:a="http://schemas.openxmlformats.org/drawingml/2006/main">
            <a:off x="9791700" y="4695825"/>
            <a:ext cx="514350" cy="514350"/>
          </a:xfrm>
          <a:prstGeom xmlns:a="http://schemas.openxmlformats.org/drawingml/2006/main" prst="ellipse">
            <a:avLst/>
          </a:prstGeom>
          <a:solidFill xmlns:a="http://schemas.openxmlformats.org/drawingml/2006/main">
            <a:srgbClr val="0B1F33"/>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a:t>
            </a:r>
          </a:p>
        </p:txBody>
      </p:sp>
      <p:cxnSp>
        <p:nvCxnSpPr>
          <p:cNvPr id="82" name=""/>
          <p:cNvCxnSpPr>
            <a:stCxn xmlns:a="http://schemas.openxmlformats.org/drawingml/2006/main" id="32" idx="6"/>
            <a:endCxn xmlns:a="http://schemas.openxmlformats.org/drawingml/2006/main" id="33" idx="2"/>
          </p:cNvCxnSpPr>
          <p:nvPr/>
        </p:nvCxnSpPr>
        <p:spPr>
          <a:xfrm xmlns:a="http://schemas.openxmlformats.org/drawingml/2006/main" flipV="1">
            <a:off x="1876425" y="4457700"/>
            <a:ext cx="1247775" cy="4953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3" name=""/>
          <p:cNvCxnSpPr>
            <a:stCxn xmlns:a="http://schemas.openxmlformats.org/drawingml/2006/main" id="33" idx="6"/>
            <a:endCxn xmlns:a="http://schemas.openxmlformats.org/drawingml/2006/main" id="34" idx="2"/>
          </p:cNvCxnSpPr>
          <p:nvPr/>
        </p:nvCxnSpPr>
        <p:spPr>
          <a:xfrm xmlns:a="http://schemas.openxmlformats.org/drawingml/2006/main">
            <a:off x="3638550" y="4457700"/>
            <a:ext cx="1485900" cy="5715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4" name=""/>
          <p:cNvCxnSpPr>
            <a:stCxn xmlns:a="http://schemas.openxmlformats.org/drawingml/2006/main" id="34" idx="6"/>
            <a:endCxn xmlns:a="http://schemas.openxmlformats.org/drawingml/2006/main" id="35" idx="2"/>
          </p:cNvCxnSpPr>
          <p:nvPr/>
        </p:nvCxnSpPr>
        <p:spPr>
          <a:xfrm xmlns:a="http://schemas.openxmlformats.org/drawingml/2006/main" flipV="1">
            <a:off x="5638800" y="4333875"/>
            <a:ext cx="1628775" cy="695325"/>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5" name=""/>
          <p:cNvCxnSpPr>
            <a:stCxn xmlns:a="http://schemas.openxmlformats.org/drawingml/2006/main" id="35" idx="6"/>
            <a:endCxn xmlns:a="http://schemas.openxmlformats.org/drawingml/2006/main" id="36" idx="2"/>
          </p:cNvCxnSpPr>
          <p:nvPr/>
        </p:nvCxnSpPr>
        <p:spPr>
          <a:xfrm xmlns:a="http://schemas.openxmlformats.org/drawingml/2006/main">
            <a:off x="7781925" y="4333875"/>
            <a:ext cx="2009775" cy="619125"/>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sp>
        <p:nvSpPr>
          <p:cNvPr id="41" name="">
            <a:extLst xmlns:a="http://schemas.openxmlformats.org/drawingml/2006/main">
              <a:ext uri="{FF2B5EF4-FFF2-40B4-BE49-F238E27FC236}">
                <a16:creationId xmlns:a16="http://schemas.microsoft.com/office/drawing/2014/main" id="{321AFA99-28ED-469F-8F1A-7A314472C15A}"/>
              </a:ext>
            </a:extLst>
          </p:cNvPr>
          <p:cNvSpPr>
            <a:spLocks xmlns:a="http://schemas.openxmlformats.org/drawingml/2006/main" noGrp="1"/>
          </p:cNvSpPr>
          <p:nvPr/>
        </p:nvSpPr>
        <p:spPr>
          <a:xfrm xmlns:a="http://schemas.openxmlformats.org/drawingml/2006/main" rot="0">
            <a:off x="1000125" y="5448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No revisits</a:t>
            </a:r>
          </a:p>
        </p:txBody>
      </p:sp>
      <p:sp>
        <p:nvSpPr>
          <p:cNvPr id="42" name="">
            <a:extLst xmlns:a="http://schemas.openxmlformats.org/drawingml/2006/main">
              <a:ext uri="{FF2B5EF4-FFF2-40B4-BE49-F238E27FC236}">
                <a16:creationId xmlns:a16="http://schemas.microsoft.com/office/drawing/2014/main" id="{398CC19F-4557-4097-8179-8B64A9DCA0AC}"/>
              </a:ext>
            </a:extLst>
          </p:cNvPr>
          <p:cNvSpPr>
            <a:spLocks xmlns:a="http://schemas.openxmlformats.org/drawingml/2006/main" noGrp="1"/>
          </p:cNvSpPr>
          <p:nvPr/>
        </p:nvSpPr>
        <p:spPr>
          <a:xfrm xmlns:a="http://schemas.openxmlformats.org/drawingml/2006/main" rot="0">
            <a:off x="8382000" y="5448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Destination reserved for the last step</a:t>
            </a:r>
          </a:p>
        </p:txBody>
      </p:sp>
      <p:sp>
        <p:nvSpPr>
          <p:cNvPr id="43" name="">
            <a:extLst xmlns:a="http://schemas.openxmlformats.org/drawingml/2006/main">
              <a:ext uri="{FF2B5EF4-FFF2-40B4-BE49-F238E27FC236}">
                <a16:creationId xmlns:a16="http://schemas.microsoft.com/office/drawing/2014/main" id="{BD2ACD28-F356-48C1-A6FD-384317223EC3}"/>
              </a:ext>
            </a:extLst>
          </p:cNvPr>
          <p:cNvSpPr>
            <a:spLocks xmlns:a="http://schemas.openxmlformats.org/drawingml/2006/main" noGrp="1"/>
          </p:cNvSpPr>
          <p:nvPr/>
        </p:nvSpPr>
        <p:spPr>
          <a:xfrm xmlns:a="http://schemas.openxmlformats.org/drawingml/2006/main">
            <a:off x="4381500" y="5638800"/>
            <a:ext cx="333375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44" name="">
            <a:extLst xmlns:a="http://schemas.openxmlformats.org/drawingml/2006/main">
              <a:ext uri="{FF2B5EF4-FFF2-40B4-BE49-F238E27FC236}">
                <a16:creationId xmlns:a16="http://schemas.microsoft.com/office/drawing/2014/main" id="{112507DC-943E-45C8-9158-E61BC585457D}"/>
              </a:ext>
            </a:extLst>
          </p:cNvPr>
          <p:cNvSpPr>
            <a:spLocks xmlns:a="http://schemas.openxmlformats.org/drawingml/2006/main" noGrp="1"/>
          </p:cNvSpPr>
          <p:nvPr/>
        </p:nvSpPr>
        <p:spPr>
          <a:xfrm xmlns:a="http://schemas.openxmlformats.org/drawingml/2006/main" rot="0">
            <a:off x="4591050" y="5705475"/>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Same checkpoint · zero extra training</a:t>
            </a:r>
          </a:p>
        </p:txBody>
      </p:sp>
      <p:sp>
        <p:nvSpPr>
          <p:cNvPr id="45" name="">
            <a:extLst xmlns:a="http://schemas.openxmlformats.org/drawingml/2006/main">
              <a:ext uri="{FF2B5EF4-FFF2-40B4-BE49-F238E27FC236}">
                <a16:creationId xmlns:a16="http://schemas.microsoft.com/office/drawing/2014/main" id="{383D745C-3C24-48F2-BA2F-CE17C9381A3C}"/>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 3.5. Decode-time constraints: loop-free, fixed endpoints, requested length.</a:t>
            </a:r>
          </a:p>
        </p:txBody>
      </p:sp>
    </p:spTree>
    <p:extLst>
      <p:ext uri="{BB962C8B-B14F-4D97-AF65-F5344CB8AC3E}">
        <p14:creationId xmlns:p14="http://schemas.microsoft.com/office/powerpoint/2010/main" val="88792628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55EBEA8D-838A-40E3-BCE7-1FB2792F157B}"/>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1696E363-DEB3-46D3-AE6C-1AE353E4BB56}"/>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Dense supervision beats a purpose-trained itinerary model</a:t>
            </a:r>
          </a:p>
        </p:txBody>
      </p:sp>
      <p:sp>
        <p:nvSpPr>
          <p:cNvPr id="3" name="title-accent">
            <a:extLst xmlns:a="http://schemas.openxmlformats.org/drawingml/2006/main">
              <a:ext uri="{FF2B5EF4-FFF2-40B4-BE49-F238E27FC236}">
                <a16:creationId xmlns:a16="http://schemas.microsoft.com/office/drawing/2014/main" id="{ABA29897-D2DB-48EB-B6E7-C1D3B1BFF100}"/>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D2FF92-CE98-482E-B596-975B8822D411}"/>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14571CA6-8BB0-459A-A112-D87E78CE6B62}"/>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D968C363-9CD2-4758-B40F-D247ADB0030B}"/>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7 / 10</a:t>
            </a:r>
          </a:p>
        </p:txBody>
      </p:sp>
      <p:sp>
        <p:nvSpPr>
          <p:cNvPr id="7" name="">
            <a:extLst xmlns:a="http://schemas.openxmlformats.org/drawingml/2006/main">
              <a:ext uri="{FF2B5EF4-FFF2-40B4-BE49-F238E27FC236}">
                <a16:creationId xmlns:a16="http://schemas.microsoft.com/office/drawing/2014/main" id="{161FBB66-AF07-4587-8AC6-1306610D4293}"/>
              </a:ext>
            </a:extLst>
          </p:cNvPr>
          <p:cNvSpPr>
            <a:spLocks xmlns:a="http://schemas.openxmlformats.org/drawingml/2006/main" noGrp="1"/>
          </p:cNvSpPr>
          <p:nvPr/>
        </p:nvSpPr>
        <p:spPr>
          <a:xfrm xmlns:a="http://schemas.openxmlformats.org/drawingml/2006/main">
            <a:off x="666750" y="1676400"/>
            <a:ext cx="4905375" cy="3762375"/>
          </a:xfrm>
          <a:prstGeom xmlns:a="http://schemas.openxmlformats.org/drawingml/2006/main" prst="roundRect">
            <a:avLst>
              <a:gd name="adj" fmla="val 6076"/>
            </a:avLst>
          </a:prstGeom>
          <a:solidFill xmlns:a="http://schemas.openxmlformats.org/drawingml/2006/main">
            <a:srgbClr val="DDF3F1"/>
          </a:solidFill>
          <a:ln xmlns:a="http://schemas.openxmlformats.org/drawingml/2006/main" w="9525">
            <a:solidFill>
              <a:srgbClr val="A8D7D2"/>
            </a:solidFill>
            <a:prstDash val="solid"/>
          </a:ln>
        </p:spPr>
      </p:sp>
      <p:sp>
        <p:nvSpPr>
          <p:cNvPr id="8" name="">
            <a:extLst xmlns:a="http://schemas.openxmlformats.org/drawingml/2006/main">
              <a:ext uri="{FF2B5EF4-FFF2-40B4-BE49-F238E27FC236}">
                <a16:creationId xmlns:a16="http://schemas.microsoft.com/office/drawing/2014/main" id="{121955C8-C237-4F12-BE5A-81AA5CAF5F17}"/>
              </a:ext>
            </a:extLst>
          </p:cNvPr>
          <p:cNvSpPr>
            <a:spLocks xmlns:a="http://schemas.openxmlformats.org/drawingml/2006/main" noGrp="1"/>
          </p:cNvSpPr>
          <p:nvPr/>
        </p:nvSpPr>
        <p:spPr>
          <a:xfrm xmlns:a="http://schemas.openxmlformats.org/drawingml/2006/main">
            <a:off x="6619875" y="1676400"/>
            <a:ext cx="4905375" cy="3762375"/>
          </a:xfrm>
          <a:prstGeom xmlns:a="http://schemas.openxmlformats.org/drawingml/2006/main" prst="roundRect">
            <a:avLst>
              <a:gd name="adj" fmla="val 6076"/>
            </a:avLst>
          </a:prstGeom>
          <a:solidFill xmlns:a="http://schemas.openxmlformats.org/drawingml/2006/main">
            <a:srgbClr val="FCE8D9"/>
          </a:solidFill>
          <a:ln xmlns:a="http://schemas.openxmlformats.org/drawingml/2006/main" w="9525">
            <a:solidFill>
              <a:srgbClr val="F3C49D"/>
            </a:solidFill>
            <a:prstDash val="solid"/>
          </a:ln>
        </p:spPr>
      </p:sp>
      <p:sp>
        <p:nvSpPr>
          <p:cNvPr id="9" name="">
            <a:extLst xmlns:a="http://schemas.openxmlformats.org/drawingml/2006/main">
              <a:ext uri="{FF2B5EF4-FFF2-40B4-BE49-F238E27FC236}">
                <a16:creationId xmlns:a16="http://schemas.microsoft.com/office/drawing/2014/main" id="{6DED303E-1C34-4D38-A7E3-47494A15D957}"/>
              </a:ext>
            </a:extLst>
          </p:cNvPr>
          <p:cNvSpPr>
            <a:spLocks xmlns:a="http://schemas.openxmlformats.org/drawingml/2006/main" noGrp="1"/>
          </p:cNvSpPr>
          <p:nvPr/>
        </p:nvSpPr>
        <p:spPr>
          <a:xfrm xmlns:a="http://schemas.openxmlformats.org/drawingml/2006/main" rot="0">
            <a:off x="1009650" y="195262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FROZEN ROLLOUT</a:t>
            </a:r>
          </a:p>
        </p:txBody>
      </p:sp>
      <p:sp>
        <p:nvSpPr>
          <p:cNvPr id="10" name="">
            <a:extLst xmlns:a="http://schemas.openxmlformats.org/drawingml/2006/main">
              <a:ext uri="{FF2B5EF4-FFF2-40B4-BE49-F238E27FC236}">
                <a16:creationId xmlns:a16="http://schemas.microsoft.com/office/drawing/2014/main" id="{9A1C1880-6365-42BD-A96A-1AA4CAC58815}"/>
              </a:ext>
            </a:extLst>
          </p:cNvPr>
          <p:cNvSpPr>
            <a:spLocks xmlns:a="http://schemas.openxmlformats.org/drawingml/2006/main" noGrp="1"/>
          </p:cNvSpPr>
          <p:nvPr/>
        </p:nvSpPr>
        <p:spPr>
          <a:xfrm xmlns:a="http://schemas.openxmlformats.org/drawingml/2006/main" rot="0">
            <a:off x="6962775" y="195262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28C45"/>
                </a:solidFill>
                <a:latin typeface="Aptos"/>
                <a:ea typeface="Aptos"/>
                <a:cs typeface="Aptos"/>
              </a:defRPr>
            </a:pPr>
            <a:r>
              <a:rPr sz="1650" b="1" i="0">
                <a:solidFill>
                  <a:srgbClr val="F28C45"/>
                </a:solidFill>
                <a:latin typeface="Aptos"/>
                <a:ea typeface="Aptos"/>
                <a:cs typeface="Aptos"/>
              </a:rPr>
              <a:t>TRAINED POINTER</a:t>
            </a:r>
          </a:p>
        </p:txBody>
      </p:sp>
      <p:sp>
        <p:nvSpPr>
          <p:cNvPr id="11" name="">
            <a:extLst xmlns:a="http://schemas.openxmlformats.org/drawingml/2006/main">
              <a:ext uri="{FF2B5EF4-FFF2-40B4-BE49-F238E27FC236}">
                <a16:creationId xmlns:a16="http://schemas.microsoft.com/office/drawing/2014/main" id="{B2653F38-6F85-4089-80E3-011EF6576335}"/>
              </a:ext>
            </a:extLst>
          </p:cNvPr>
          <p:cNvSpPr>
            <a:spLocks xmlns:a="http://schemas.openxmlformats.org/drawingml/2006/main" noGrp="1"/>
          </p:cNvSpPr>
          <p:nvPr/>
        </p:nvSpPr>
        <p:spPr>
          <a:xfrm xmlns:a="http://schemas.openxmlformats.org/drawingml/2006/main" rot="0">
            <a:off x="1381125" y="255270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i="0">
                <a:solidFill>
                  <a:srgbClr val="137B77"/>
                </a:solidFill>
                <a:latin typeface="Aptos"/>
                <a:ea typeface="Aptos"/>
                <a:cs typeface="Aptos"/>
              </a:defRPr>
            </a:pPr>
            <a:r>
              <a:rPr sz="4350" b="1" i="0">
                <a:solidFill>
                  <a:srgbClr val="137B77"/>
                </a:solidFill>
                <a:latin typeface="Aptos"/>
                <a:ea typeface="Aptos"/>
                <a:cs typeface="Aptos"/>
              </a:rPr>
              <a:t>~10⁵</a:t>
            </a:r>
          </a:p>
        </p:txBody>
      </p:sp>
      <p:sp>
        <p:nvSpPr>
          <p:cNvPr id="12" name="">
            <a:extLst xmlns:a="http://schemas.openxmlformats.org/drawingml/2006/main">
              <a:ext uri="{FF2B5EF4-FFF2-40B4-BE49-F238E27FC236}">
                <a16:creationId xmlns:a16="http://schemas.microsoft.com/office/drawing/2014/main" id="{34EDB171-979C-41E4-95A0-19E147966CE9}"/>
              </a:ext>
            </a:extLst>
          </p:cNvPr>
          <p:cNvSpPr>
            <a:spLocks xmlns:a="http://schemas.openxmlformats.org/drawingml/2006/main" noGrp="1"/>
          </p:cNvSpPr>
          <p:nvPr/>
        </p:nvSpPr>
        <p:spPr>
          <a:xfrm xmlns:a="http://schemas.openxmlformats.org/drawingml/2006/main" rot="0">
            <a:off x="1047750" y="3295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42632"/>
                </a:solidFill>
                <a:latin typeface="Aptos"/>
                <a:ea typeface="Aptos"/>
                <a:cs typeface="Aptos"/>
              </a:defRPr>
            </a:pPr>
            <a:r>
              <a:rPr sz="1500" b="1" i="0">
                <a:solidFill>
                  <a:srgbClr val="142632"/>
                </a:solidFill>
                <a:latin typeface="Aptos"/>
                <a:ea typeface="Aptos"/>
                <a:cs typeface="Aptos"/>
              </a:rPr>
              <a:t>prefix → next-POI examples</a:t>
            </a:r>
          </a:p>
        </p:txBody>
      </p:sp>
      <p:sp>
        <p:nvSpPr>
          <p:cNvPr id="13" name="">
            <a:extLst xmlns:a="http://schemas.openxmlformats.org/drawingml/2006/main">
              <a:ext uri="{FF2B5EF4-FFF2-40B4-BE49-F238E27FC236}">
                <a16:creationId xmlns:a16="http://schemas.microsoft.com/office/drawing/2014/main" id="{87F4CF2F-D864-41E8-9EAE-1CAACFBAD766}"/>
              </a:ext>
            </a:extLst>
          </p:cNvPr>
          <p:cNvSpPr>
            <a:spLocks xmlns:a="http://schemas.openxmlformats.org/drawingml/2006/main" noGrp="1"/>
          </p:cNvSpPr>
          <p:nvPr/>
        </p:nvSpPr>
        <p:spPr>
          <a:xfrm xmlns:a="http://schemas.openxmlformats.org/drawingml/2006/main" rot="0">
            <a:off x="1047750" y="3790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Reuses a converged engine</a:t>
            </a:r>
          </a:p>
        </p:txBody>
      </p:sp>
      <p:sp>
        <p:nvSpPr>
          <p:cNvPr id="14" name="">
            <a:extLst xmlns:a="http://schemas.openxmlformats.org/drawingml/2006/main">
              <a:ext uri="{FF2B5EF4-FFF2-40B4-BE49-F238E27FC236}">
                <a16:creationId xmlns:a16="http://schemas.microsoft.com/office/drawing/2014/main" id="{DF81F165-FF67-463A-B238-65FF9B4144EE}"/>
              </a:ext>
            </a:extLst>
          </p:cNvPr>
          <p:cNvSpPr>
            <a:spLocks xmlns:a="http://schemas.openxmlformats.org/drawingml/2006/main" noGrp="1"/>
          </p:cNvSpPr>
          <p:nvPr/>
        </p:nvSpPr>
        <p:spPr>
          <a:xfrm xmlns:a="http://schemas.openxmlformats.org/drawingml/2006/main" rot="0">
            <a:off x="1381125" y="4267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0B1F33"/>
                </a:solidFill>
                <a:latin typeface="Aptos"/>
                <a:ea typeface="Aptos"/>
                <a:cs typeface="Aptos"/>
              </a:defRPr>
            </a:pPr>
            <a:r>
              <a:rPr sz="3900" b="1" i="0">
                <a:solidFill>
                  <a:srgbClr val="0B1F33"/>
                </a:solidFill>
                <a:latin typeface="Aptos"/>
                <a:ea typeface="Aptos"/>
                <a:cs typeface="Aptos"/>
              </a:rPr>
              <a:t>0.289</a:t>
            </a:r>
          </a:p>
        </p:txBody>
      </p:sp>
      <p:sp>
        <p:nvSpPr>
          <p:cNvPr id="15" name="">
            <a:extLst xmlns:a="http://schemas.openxmlformats.org/drawingml/2006/main">
              <a:ext uri="{FF2B5EF4-FFF2-40B4-BE49-F238E27FC236}">
                <a16:creationId xmlns:a16="http://schemas.microsoft.com/office/drawing/2014/main" id="{E7D9E4F5-695A-46FD-9AD2-FEF759B4B11B}"/>
              </a:ext>
            </a:extLst>
          </p:cNvPr>
          <p:cNvSpPr>
            <a:spLocks xmlns:a="http://schemas.openxmlformats.org/drawingml/2006/main" noGrp="1"/>
          </p:cNvSpPr>
          <p:nvPr/>
        </p:nvSpPr>
        <p:spPr>
          <a:xfrm xmlns:a="http://schemas.openxmlformats.org/drawingml/2006/main" rot="0">
            <a:off x="1695450" y="49339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i="0">
                <a:solidFill>
                  <a:srgbClr val="137B77"/>
                </a:solidFill>
                <a:latin typeface="Aptos"/>
                <a:ea typeface="Aptos"/>
                <a:cs typeface="Aptos"/>
              </a:defRPr>
            </a:pPr>
            <a:r>
              <a:rPr sz="1425" b="1" i="0">
                <a:solidFill>
                  <a:srgbClr val="137B77"/>
                </a:solidFill>
                <a:latin typeface="Aptos"/>
                <a:ea typeface="Aptos"/>
                <a:cs typeface="Aptos"/>
              </a:rPr>
              <a:t>pairs-F1</a:t>
            </a:r>
          </a:p>
        </p:txBody>
      </p:sp>
      <p:sp>
        <p:nvSpPr>
          <p:cNvPr id="16" name="">
            <a:extLst xmlns:a="http://schemas.openxmlformats.org/drawingml/2006/main">
              <a:ext uri="{FF2B5EF4-FFF2-40B4-BE49-F238E27FC236}">
                <a16:creationId xmlns:a16="http://schemas.microsoft.com/office/drawing/2014/main" id="{73E57722-AECC-47B5-9938-C688CD0A7D50}"/>
              </a:ext>
            </a:extLst>
          </p:cNvPr>
          <p:cNvSpPr>
            <a:spLocks xmlns:a="http://schemas.openxmlformats.org/drawingml/2006/main" noGrp="1"/>
          </p:cNvSpPr>
          <p:nvPr/>
        </p:nvSpPr>
        <p:spPr>
          <a:xfrm xmlns:a="http://schemas.openxmlformats.org/drawingml/2006/main" rot="0">
            <a:off x="7429500" y="255270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i="0">
                <a:solidFill>
                  <a:srgbClr val="F28C45"/>
                </a:solidFill>
                <a:latin typeface="Aptos"/>
                <a:ea typeface="Aptos"/>
                <a:cs typeface="Aptos"/>
              </a:defRPr>
            </a:pPr>
            <a:r>
              <a:rPr sz="4350" b="1" i="0">
                <a:solidFill>
                  <a:srgbClr val="F28C45"/>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65AB3157-633A-4D8D-A1DE-9033F474DCD6}"/>
              </a:ext>
            </a:extLst>
          </p:cNvPr>
          <p:cNvSpPr>
            <a:spLocks xmlns:a="http://schemas.openxmlformats.org/drawingml/2006/main" noGrp="1"/>
          </p:cNvSpPr>
          <p:nvPr/>
        </p:nvSpPr>
        <p:spPr>
          <a:xfrm xmlns:a="http://schemas.openxmlformats.org/drawingml/2006/main" rot="0">
            <a:off x="7000875" y="3295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42632"/>
                </a:solidFill>
                <a:latin typeface="Aptos"/>
                <a:ea typeface="Aptos"/>
                <a:cs typeface="Aptos"/>
              </a:defRPr>
            </a:pPr>
            <a:r>
              <a:rPr sz="1500" b="1" i="0">
                <a:solidFill>
                  <a:srgbClr val="142632"/>
                </a:solidFill>
                <a:latin typeface="Aptos"/>
                <a:ea typeface="Aptos"/>
                <a:cs typeface="Aptos"/>
              </a:rPr>
              <a:t>whole trajectory per session</a:t>
            </a:r>
          </a:p>
        </p:txBody>
      </p:sp>
      <p:sp>
        <p:nvSpPr>
          <p:cNvPr id="18" name="">
            <a:extLst xmlns:a="http://schemas.openxmlformats.org/drawingml/2006/main">
              <a:ext uri="{FF2B5EF4-FFF2-40B4-BE49-F238E27FC236}">
                <a16:creationId xmlns:a16="http://schemas.microsoft.com/office/drawing/2014/main" id="{607345AE-26F8-40B7-909E-65A716DE4F24}"/>
              </a:ext>
            </a:extLst>
          </p:cNvPr>
          <p:cNvSpPr>
            <a:spLocks xmlns:a="http://schemas.openxmlformats.org/drawingml/2006/main" noGrp="1"/>
          </p:cNvSpPr>
          <p:nvPr/>
        </p:nvSpPr>
        <p:spPr>
          <a:xfrm xmlns:a="http://schemas.openxmlformats.org/drawingml/2006/main" rot="0">
            <a:off x="7000875"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Trains end-to-end from scratch</a:t>
            </a:r>
          </a:p>
        </p:txBody>
      </p:sp>
      <p:sp>
        <p:nvSpPr>
          <p:cNvPr id="19" name="">
            <a:extLst xmlns:a="http://schemas.openxmlformats.org/drawingml/2006/main">
              <a:ext uri="{FF2B5EF4-FFF2-40B4-BE49-F238E27FC236}">
                <a16:creationId xmlns:a16="http://schemas.microsoft.com/office/drawing/2014/main" id="{FEA98659-384B-4084-857D-4D1C3F98093F}"/>
              </a:ext>
            </a:extLst>
          </p:cNvPr>
          <p:cNvSpPr>
            <a:spLocks xmlns:a="http://schemas.openxmlformats.org/drawingml/2006/main" noGrp="1"/>
          </p:cNvSpPr>
          <p:nvPr/>
        </p:nvSpPr>
        <p:spPr>
          <a:xfrm xmlns:a="http://schemas.openxmlformats.org/drawingml/2006/main" rot="0">
            <a:off x="7429500" y="4267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0B1F33"/>
                </a:solidFill>
                <a:latin typeface="Aptos"/>
                <a:ea typeface="Aptos"/>
                <a:cs typeface="Aptos"/>
              </a:defRPr>
            </a:pPr>
            <a:r>
              <a:rPr sz="3900" b="1" i="0">
                <a:solidFill>
                  <a:srgbClr val="0B1F33"/>
                </a:solidFill>
                <a:latin typeface="Aptos"/>
                <a:ea typeface="Aptos"/>
                <a:cs typeface="Aptos"/>
              </a:rPr>
              <a:t>0.259</a:t>
            </a:r>
          </a:p>
        </p:txBody>
      </p:sp>
      <p:sp>
        <p:nvSpPr>
          <p:cNvPr id="20" name="">
            <a:extLst xmlns:a="http://schemas.openxmlformats.org/drawingml/2006/main">
              <a:ext uri="{FF2B5EF4-FFF2-40B4-BE49-F238E27FC236}">
                <a16:creationId xmlns:a16="http://schemas.microsoft.com/office/drawing/2014/main" id="{6B25CB8F-202E-4B88-ABD6-C07F9A1A5655}"/>
              </a:ext>
            </a:extLst>
          </p:cNvPr>
          <p:cNvSpPr>
            <a:spLocks xmlns:a="http://schemas.openxmlformats.org/drawingml/2006/main" noGrp="1"/>
          </p:cNvSpPr>
          <p:nvPr/>
        </p:nvSpPr>
        <p:spPr>
          <a:xfrm xmlns:a="http://schemas.openxmlformats.org/drawingml/2006/main" rot="0">
            <a:off x="7743825" y="49339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i="0">
                <a:solidFill>
                  <a:srgbClr val="F28C45"/>
                </a:solidFill>
                <a:latin typeface="Aptos"/>
                <a:ea typeface="Aptos"/>
                <a:cs typeface="Aptos"/>
              </a:defRPr>
            </a:pPr>
            <a:r>
              <a:rPr sz="1425" b="1" i="0">
                <a:solidFill>
                  <a:srgbClr val="F28C45"/>
                </a:solidFill>
                <a:latin typeface="Aptos"/>
                <a:ea typeface="Aptos"/>
                <a:cs typeface="Aptos"/>
              </a:rPr>
              <a:t>pairs-F1</a:t>
            </a:r>
          </a:p>
        </p:txBody>
      </p:sp>
      <p:sp>
        <p:nvSpPr>
          <p:cNvPr id="21" name="">
            <a:extLst xmlns:a="http://schemas.openxmlformats.org/drawingml/2006/main">
              <a:ext uri="{FF2B5EF4-FFF2-40B4-BE49-F238E27FC236}">
                <a16:creationId xmlns:a16="http://schemas.microsoft.com/office/drawing/2014/main" id="{935A8942-EE0B-4E13-B96F-B4AD9C91D8A9}"/>
              </a:ext>
            </a:extLst>
          </p:cNvPr>
          <p:cNvSpPr>
            <a:spLocks xmlns:a="http://schemas.openxmlformats.org/drawingml/2006/main" noGrp="1"/>
          </p:cNvSpPr>
          <p:nvPr/>
        </p:nvSpPr>
        <p:spPr>
          <a:xfrm xmlns:a="http://schemas.openxmlformats.org/drawingml/2006/main">
            <a:off x="5695950" y="3143250"/>
            <a:ext cx="800100" cy="800100"/>
          </a:xfrm>
          <a:prstGeom xmlns:a="http://schemas.openxmlformats.org/drawingml/2006/main" prst="ellipse">
            <a:avLst/>
          </a:prstGeom>
          <a:solidFill xmlns:a="http://schemas.openxmlformats.org/drawingml/2006/main">
            <a:srgbClr val="0B1F33"/>
          </a:solidFill>
          <a:ln xmlns:a="http://schemas.openxmlformats.org/drawingml/2006/main" w="3810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150" b="1">
                <a:solidFill>
                  <a:srgbClr val="FFFFFF"/>
                </a:solidFill>
                <a:latin typeface="Aptos"/>
                <a:ea typeface="Aptos"/>
                <a:cs typeface="Aptos"/>
              </a:defRPr>
            </a:pPr>
            <a:r>
              <a:rPr sz="3150" b="1">
                <a:solidFill>
                  <a:srgbClr val="FFFFFF"/>
                </a:solidFill>
                <a:latin typeface="Aptos"/>
                <a:ea typeface="Aptos"/>
                <a:cs typeface="Aptos"/>
              </a:rPr>
              <a:t>&gt;</a:t>
            </a:r>
          </a:p>
        </p:txBody>
      </p:sp>
      <p:sp>
        <p:nvSpPr>
          <p:cNvPr id="22" name="">
            <a:extLst xmlns:a="http://schemas.openxmlformats.org/drawingml/2006/main">
              <a:ext uri="{FF2B5EF4-FFF2-40B4-BE49-F238E27FC236}">
                <a16:creationId xmlns:a16="http://schemas.microsoft.com/office/drawing/2014/main" id="{10D30E55-E347-4F6A-B80E-792837C240C4}"/>
              </a:ext>
            </a:extLst>
          </p:cNvPr>
          <p:cNvSpPr>
            <a:spLocks xmlns:a="http://schemas.openxmlformats.org/drawingml/2006/main" noGrp="1"/>
          </p:cNvSpPr>
          <p:nvPr/>
        </p:nvSpPr>
        <p:spPr>
          <a:xfrm xmlns:a="http://schemas.openxmlformats.org/drawingml/2006/main">
            <a:off x="3876675" y="5667375"/>
            <a:ext cx="443865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23" name="">
            <a:extLst xmlns:a="http://schemas.openxmlformats.org/drawingml/2006/main">
              <a:ext uri="{FF2B5EF4-FFF2-40B4-BE49-F238E27FC236}">
                <a16:creationId xmlns:a16="http://schemas.microsoft.com/office/drawing/2014/main" id="{C994D118-7B9C-42D7-AA90-164391F8E6CA}"/>
              </a:ext>
            </a:extLst>
          </p:cNvPr>
          <p:cNvSpPr>
            <a:spLocks xmlns:a="http://schemas.openxmlformats.org/drawingml/2006/main" noGrp="1"/>
          </p:cNvSpPr>
          <p:nvPr/>
        </p:nvSpPr>
        <p:spPr>
          <a:xfrm xmlns:a="http://schemas.openxmlformats.org/drawingml/2006/main" rot="0">
            <a:off x="4095750" y="5734050"/>
            <a:ext cx="400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Aptos"/>
                <a:ea typeface="Aptos"/>
                <a:cs typeface="Aptos"/>
              </a:defRPr>
            </a:pPr>
            <a:r>
              <a:rPr sz="1275" b="1" i="0">
                <a:solidFill>
                  <a:srgbClr val="FFFFFF"/>
                </a:solidFill>
                <a:latin typeface="Aptos"/>
                <a:ea typeface="Aptos"/>
                <a:cs typeface="Aptos"/>
              </a:rPr>
              <a:t>NYC · n = 2,880 · length &gt;= 3 · order-aware pairs-F1</a:t>
            </a:r>
          </a:p>
        </p:txBody>
      </p:sp>
      <p:sp>
        <p:nvSpPr>
          <p:cNvPr id="24" name="">
            <a:extLst xmlns:a="http://schemas.openxmlformats.org/drawingml/2006/main">
              <a:ext uri="{FF2B5EF4-FFF2-40B4-BE49-F238E27FC236}">
                <a16:creationId xmlns:a16="http://schemas.microsoft.com/office/drawing/2014/main" id="{28B7FB44-1814-4072-B7D2-61FA5A0E5C10}"/>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 3.3. Beam search changes Frozen Rollout only from 0.289 to 0.290.</a:t>
            </a:r>
          </a:p>
        </p:txBody>
      </p:sp>
    </p:spTree>
    <p:extLst>
      <p:ext uri="{BB962C8B-B14F-4D97-AF65-F5344CB8AC3E}">
        <p14:creationId xmlns:p14="http://schemas.microsoft.com/office/powerpoint/2010/main" val="33830540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1" name="eyebrow">
            <a:extLst xmlns:a="http://schemas.openxmlformats.org/drawingml/2006/main">
              <a:ext uri="{FF2B5EF4-FFF2-40B4-BE49-F238E27FC236}">
                <a16:creationId xmlns:a16="http://schemas.microsoft.com/office/drawing/2014/main" id="{1B3F0B76-F3E5-4B0A-9C90-B06442904080}"/>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F3F49E07-AE3A-4B43-9C47-B732A33E7449}"/>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A fair literature comparison requires the same benchmark</a:t>
            </a:r>
          </a:p>
        </p:txBody>
      </p:sp>
      <p:sp>
        <p:nvSpPr>
          <p:cNvPr id="3" name="title-accent">
            <a:extLst xmlns:a="http://schemas.openxmlformats.org/drawingml/2006/main">
              <a:ext uri="{FF2B5EF4-FFF2-40B4-BE49-F238E27FC236}">
                <a16:creationId xmlns:a16="http://schemas.microsoft.com/office/drawing/2014/main" id="{C258D92A-391D-48DC-A64E-BC1E092B0B16}"/>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C7996C-EE76-4820-898A-461FAD54D5BC}"/>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289120B1-605B-4E2E-B0BB-85D816A25599}"/>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C62F9822-853B-4C4F-BF40-5E56D79BFE3E}"/>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8 / 10</a:t>
            </a:r>
          </a:p>
        </p:txBody>
      </p:sp>
      <p:sp>
        <p:nvSpPr>
          <p:cNvPr id="7" name="">
            <a:extLst xmlns:a="http://schemas.openxmlformats.org/drawingml/2006/main">
              <a:ext uri="{FF2B5EF4-FFF2-40B4-BE49-F238E27FC236}">
                <a16:creationId xmlns:a16="http://schemas.microsoft.com/office/drawing/2014/main" id="{ECB00238-1782-4624-A5E4-D35237E64675}"/>
              </a:ext>
            </a:extLst>
          </p:cNvPr>
          <p:cNvSpPr>
            <a:spLocks xmlns:a="http://schemas.openxmlformats.org/drawingml/2006/main" noGrp="1"/>
          </p:cNvSpPr>
          <p:nvPr/>
        </p:nvSpPr>
        <p:spPr>
          <a:xfrm xmlns:a="http://schemas.openxmlformats.org/drawingml/2006/main" rot="0">
            <a:off x="666750" y="1638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NYC INTERNAL STUDY</a:t>
            </a:r>
          </a:p>
        </p:txBody>
      </p:sp>
      <p:sp>
        <p:nvSpPr>
          <p:cNvPr id="8" name="">
            <a:extLst xmlns:a="http://schemas.openxmlformats.org/drawingml/2006/main">
              <a:ext uri="{FF2B5EF4-FFF2-40B4-BE49-F238E27FC236}">
                <a16:creationId xmlns:a16="http://schemas.microsoft.com/office/drawing/2014/main" id="{A4963D79-92A5-4BBF-808B-CD9F063B71BE}"/>
              </a:ext>
            </a:extLst>
          </p:cNvPr>
          <p:cNvSpPr>
            <a:spLocks xmlns:a="http://schemas.openxmlformats.org/drawingml/2006/main" noGrp="1"/>
          </p:cNvSpPr>
          <p:nvPr/>
        </p:nvSpPr>
        <p:spPr>
          <a:xfrm xmlns:a="http://schemas.openxmlformats.org/drawingml/2006/main">
            <a:off x="666750" y="2038350"/>
            <a:ext cx="2628900" cy="2209800"/>
          </a:xfrm>
          <a:prstGeom xmlns:a="http://schemas.openxmlformats.org/drawingml/2006/main" prst="roundRect">
            <a:avLst>
              <a:gd name="adj" fmla="val 9483"/>
            </a:avLst>
          </a:prstGeom>
          <a:solidFill xmlns:a="http://schemas.openxmlformats.org/drawingml/2006/main">
            <a:srgbClr val="EDF2F5"/>
          </a:solidFill>
          <a:ln xmlns:a="http://schemas.openxmlformats.org/drawingml/2006/main" w="9525">
            <a:solidFill>
              <a:srgbClr val="DCE4E9"/>
            </a:solidFill>
            <a:prstDash val="solid"/>
          </a:ln>
        </p:spPr>
      </p:sp>
      <p:sp>
        <p:nvSpPr>
          <p:cNvPr id="9" name="">
            <a:extLst xmlns:a="http://schemas.openxmlformats.org/drawingml/2006/main">
              <a:ext uri="{FF2B5EF4-FFF2-40B4-BE49-F238E27FC236}">
                <a16:creationId xmlns:a16="http://schemas.microsoft.com/office/drawing/2014/main" id="{9F9C2BE4-6EDE-4A41-80C4-14BC4C4207B1}"/>
              </a:ext>
            </a:extLst>
          </p:cNvPr>
          <p:cNvSpPr>
            <a:spLocks xmlns:a="http://schemas.openxmlformats.org/drawingml/2006/main" noGrp="1"/>
          </p:cNvSpPr>
          <p:nvPr/>
        </p:nvSpPr>
        <p:spPr>
          <a:xfrm xmlns:a="http://schemas.openxmlformats.org/drawingml/2006/main" rot="0">
            <a:off x="933450" y="24003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0B1F33"/>
                </a:solidFill>
                <a:latin typeface="Aptos"/>
                <a:ea typeface="Aptos"/>
                <a:cs typeface="Aptos"/>
              </a:defRPr>
            </a:pPr>
            <a:r>
              <a:rPr sz="3900" b="1" i="0">
                <a:solidFill>
                  <a:srgbClr val="0B1F33"/>
                </a:solidFill>
                <a:latin typeface="Aptos"/>
                <a:ea typeface="Aptos"/>
                <a:cs typeface="Aptos"/>
              </a:rPr>
              <a:t>~5,100</a:t>
            </a:r>
          </a:p>
        </p:txBody>
      </p:sp>
      <p:sp>
        <p:nvSpPr>
          <p:cNvPr id="10" name="">
            <a:extLst xmlns:a="http://schemas.openxmlformats.org/drawingml/2006/main">
              <a:ext uri="{FF2B5EF4-FFF2-40B4-BE49-F238E27FC236}">
                <a16:creationId xmlns:a16="http://schemas.microsoft.com/office/drawing/2014/main" id="{8F4B0127-2162-4D5A-9EDB-F984496BE699}"/>
              </a:ext>
            </a:extLst>
          </p:cNvPr>
          <p:cNvSpPr>
            <a:spLocks xmlns:a="http://schemas.openxmlformats.org/drawingml/2006/main" noGrp="1"/>
          </p:cNvSpPr>
          <p:nvPr/>
        </p:nvSpPr>
        <p:spPr>
          <a:xfrm xmlns:a="http://schemas.openxmlformats.org/drawingml/2006/main" rot="0">
            <a:off x="933450" y="3086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POIs</a:t>
            </a:r>
          </a:p>
        </p:txBody>
      </p:sp>
      <p:sp>
        <p:nvSpPr>
          <p:cNvPr id="11" name="">
            <a:extLst xmlns:a="http://schemas.openxmlformats.org/drawingml/2006/main">
              <a:ext uri="{FF2B5EF4-FFF2-40B4-BE49-F238E27FC236}">
                <a16:creationId xmlns:a16="http://schemas.microsoft.com/office/drawing/2014/main" id="{865AB9CB-C770-4159-B0B3-64671E6B0754}"/>
              </a:ext>
            </a:extLst>
          </p:cNvPr>
          <p:cNvSpPr>
            <a:spLocks xmlns:a="http://schemas.openxmlformats.org/drawingml/2006/main" noGrp="1"/>
          </p:cNvSpPr>
          <p:nvPr/>
        </p:nvSpPr>
        <p:spPr>
          <a:xfrm xmlns:a="http://schemas.openxmlformats.org/drawingml/2006/main" rot="0">
            <a:off x="933450" y="36385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NYC pairs-F1</a:t>
            </a:r>
          </a:p>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0.26 - 0.29</a:t>
            </a:r>
          </a:p>
        </p:txBody>
      </p:sp>
      <p:sp>
        <p:nvSpPr>
          <p:cNvPr id="12" name="">
            <a:extLst xmlns:a="http://schemas.openxmlformats.org/drawingml/2006/main">
              <a:ext uri="{FF2B5EF4-FFF2-40B4-BE49-F238E27FC236}">
                <a16:creationId xmlns:a16="http://schemas.microsoft.com/office/drawing/2014/main" id="{2F73809B-7F3E-4537-ACD1-4A86117D3CFA}"/>
              </a:ext>
            </a:extLst>
          </p:cNvPr>
          <p:cNvSpPr>
            <a:spLocks xmlns:a="http://schemas.openxmlformats.org/drawingml/2006/main" noGrp="1"/>
          </p:cNvSpPr>
          <p:nvPr/>
        </p:nvSpPr>
        <p:spPr>
          <a:xfrm xmlns:a="http://schemas.openxmlformats.org/drawingml/2006/main" rot="0">
            <a:off x="4057650" y="1638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F28C45"/>
                </a:solidFill>
                <a:latin typeface="Aptos"/>
                <a:ea typeface="Aptos"/>
                <a:cs typeface="Aptos"/>
              </a:defRPr>
            </a:pPr>
            <a:r>
              <a:rPr sz="1275" b="1" i="0">
                <a:solidFill>
                  <a:srgbClr val="F28C45"/>
                </a:solidFill>
                <a:latin typeface="Aptos"/>
                <a:ea typeface="Aptos"/>
                <a:cs typeface="Aptos"/>
              </a:rPr>
              <a:t>FLICKR BENCHMARK</a:t>
            </a:r>
          </a:p>
        </p:txBody>
      </p:sp>
      <p:sp>
        <p:nvSpPr>
          <p:cNvPr id="13" name="">
            <a:extLst xmlns:a="http://schemas.openxmlformats.org/drawingml/2006/main">
              <a:ext uri="{FF2B5EF4-FFF2-40B4-BE49-F238E27FC236}">
                <a16:creationId xmlns:a16="http://schemas.microsoft.com/office/drawing/2014/main" id="{CEB21427-96FB-47EC-BA31-ECB2EC66C3DB}"/>
              </a:ext>
            </a:extLst>
          </p:cNvPr>
          <p:cNvSpPr>
            <a:spLocks xmlns:a="http://schemas.openxmlformats.org/drawingml/2006/main" noGrp="1"/>
          </p:cNvSpPr>
          <p:nvPr/>
        </p:nvSpPr>
        <p:spPr>
          <a:xfrm xmlns:a="http://schemas.openxmlformats.org/drawingml/2006/main">
            <a:off x="4057650" y="2038350"/>
            <a:ext cx="2628900" cy="2209800"/>
          </a:xfrm>
          <a:prstGeom xmlns:a="http://schemas.openxmlformats.org/drawingml/2006/main" prst="roundRect">
            <a:avLst>
              <a:gd name="adj" fmla="val 9483"/>
            </a:avLst>
          </a:prstGeom>
          <a:solidFill xmlns:a="http://schemas.openxmlformats.org/drawingml/2006/main">
            <a:srgbClr val="FCE8D9"/>
          </a:solidFill>
          <a:ln xmlns:a="http://schemas.openxmlformats.org/drawingml/2006/main" w="9525">
            <a:solidFill>
              <a:srgbClr val="F3C49D"/>
            </a:solidFill>
            <a:prstDash val="solid"/>
          </a:ln>
        </p:spPr>
      </p:sp>
      <p:sp>
        <p:nvSpPr>
          <p:cNvPr id="14" name="">
            <a:extLst xmlns:a="http://schemas.openxmlformats.org/drawingml/2006/main">
              <a:ext uri="{FF2B5EF4-FFF2-40B4-BE49-F238E27FC236}">
                <a16:creationId xmlns:a16="http://schemas.microsoft.com/office/drawing/2014/main" id="{D8118837-E507-4E06-A8CF-DAD690B01BB8}"/>
              </a:ext>
            </a:extLst>
          </p:cNvPr>
          <p:cNvSpPr>
            <a:spLocks xmlns:a="http://schemas.openxmlformats.org/drawingml/2006/main" noGrp="1"/>
          </p:cNvSpPr>
          <p:nvPr/>
        </p:nvSpPr>
        <p:spPr>
          <a:xfrm xmlns:a="http://schemas.openxmlformats.org/drawingml/2006/main" rot="0">
            <a:off x="4324350" y="24003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F28C45"/>
                </a:solidFill>
                <a:latin typeface="Aptos"/>
                <a:ea typeface="Aptos"/>
                <a:cs typeface="Aptos"/>
              </a:defRPr>
            </a:pPr>
            <a:r>
              <a:rPr sz="3900" b="1" i="0">
                <a:solidFill>
                  <a:srgbClr val="F28C45"/>
                </a:solidFill>
                <a:latin typeface="Aptos"/>
                <a:ea typeface="Aptos"/>
                <a:cs typeface="Aptos"/>
              </a:rPr>
              <a:t>27 - 88</a:t>
            </a:r>
          </a:p>
        </p:txBody>
      </p:sp>
      <p:sp>
        <p:nvSpPr>
          <p:cNvPr id="15" name="">
            <a:extLst xmlns:a="http://schemas.openxmlformats.org/drawingml/2006/main">
              <a:ext uri="{FF2B5EF4-FFF2-40B4-BE49-F238E27FC236}">
                <a16:creationId xmlns:a16="http://schemas.microsoft.com/office/drawing/2014/main" id="{ED8CC7CD-DE16-4DEF-8B94-B0DC55E1D454}"/>
              </a:ext>
            </a:extLst>
          </p:cNvPr>
          <p:cNvSpPr>
            <a:spLocks xmlns:a="http://schemas.openxmlformats.org/drawingml/2006/main" noGrp="1"/>
          </p:cNvSpPr>
          <p:nvPr/>
        </p:nvSpPr>
        <p:spPr>
          <a:xfrm xmlns:a="http://schemas.openxmlformats.org/drawingml/2006/main" rot="0">
            <a:off x="4324350" y="3086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42632"/>
                </a:solidFill>
                <a:latin typeface="Aptos"/>
                <a:ea typeface="Aptos"/>
                <a:cs typeface="Aptos"/>
              </a:defRPr>
            </a:pPr>
            <a:r>
              <a:rPr sz="1650" b="1" i="0">
                <a:solidFill>
                  <a:srgbClr val="142632"/>
                </a:solidFill>
                <a:latin typeface="Aptos"/>
                <a:ea typeface="Aptos"/>
                <a:cs typeface="Aptos"/>
              </a:rPr>
              <a:t>POIs per city</a:t>
            </a:r>
          </a:p>
        </p:txBody>
      </p:sp>
      <p:sp>
        <p:nvSpPr>
          <p:cNvPr id="16" name="">
            <a:extLst xmlns:a="http://schemas.openxmlformats.org/drawingml/2006/main">
              <a:ext uri="{FF2B5EF4-FFF2-40B4-BE49-F238E27FC236}">
                <a16:creationId xmlns:a16="http://schemas.microsoft.com/office/drawing/2014/main" id="{1651631A-3CCA-4744-9042-7AC30EDB499F}"/>
              </a:ext>
            </a:extLst>
          </p:cNvPr>
          <p:cNvSpPr>
            <a:spLocks xmlns:a="http://schemas.openxmlformats.org/drawingml/2006/main" noGrp="1"/>
          </p:cNvSpPr>
          <p:nvPr/>
        </p:nvSpPr>
        <p:spPr>
          <a:xfrm xmlns:a="http://schemas.openxmlformats.org/drawingml/2006/main" rot="0">
            <a:off x="4324350" y="36385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Published pairs-F1</a:t>
            </a:r>
          </a:p>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~0.26 - 0.85</a:t>
            </a:r>
          </a:p>
        </p:txBody>
      </p:sp>
      <p:sp>
        <p:nvSpPr>
          <p:cNvPr id="17" name="">
            <a:extLst xmlns:a="http://schemas.openxmlformats.org/drawingml/2006/main">
              <a:ext uri="{FF2B5EF4-FFF2-40B4-BE49-F238E27FC236}">
                <a16:creationId xmlns:a16="http://schemas.microsoft.com/office/drawing/2014/main" id="{AE60E829-39FA-40D0-88CA-91226076B260}"/>
              </a:ext>
            </a:extLst>
          </p:cNvPr>
          <p:cNvSpPr>
            <a:spLocks xmlns:a="http://schemas.openxmlformats.org/drawingml/2006/main" noGrp="1"/>
          </p:cNvSpPr>
          <p:nvPr/>
        </p:nvSpPr>
        <p:spPr>
          <a:xfrm xmlns:a="http://schemas.openxmlformats.org/drawingml/2006/main" rot="0">
            <a:off x="3352800" y="2781300"/>
            <a:ext cx="647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600" b="1" i="0">
                <a:solidFill>
                  <a:srgbClr val="C94F4F"/>
                </a:solidFill>
                <a:latin typeface="Aptos"/>
                <a:ea typeface="Aptos"/>
                <a:cs typeface="Aptos"/>
              </a:defRPr>
            </a:pPr>
            <a:r>
              <a:rPr sz="3600" b="1" i="0">
                <a:solidFill>
                  <a:srgbClr val="C94F4F"/>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9832508-5B10-4877-86A6-4DD76C1D3F54}"/>
              </a:ext>
            </a:extLst>
          </p:cNvPr>
          <p:cNvSpPr>
            <a:spLocks xmlns:a="http://schemas.openxmlformats.org/drawingml/2006/main" noGrp="1"/>
          </p:cNvSpPr>
          <p:nvPr/>
        </p:nvSpPr>
        <p:spPr>
          <a:xfrm xmlns:a="http://schemas.openxmlformats.org/drawingml/2006/main">
            <a:off x="1066800" y="4552950"/>
            <a:ext cx="5219700" cy="1047750"/>
          </a:xfrm>
          <a:prstGeom xmlns:a="http://schemas.openxmlformats.org/drawingml/2006/main" prst="roundRect">
            <a:avLst>
              <a:gd name="adj" fmla="val 18182"/>
            </a:avLst>
          </a:prstGeom>
          <a:solidFill xmlns:a="http://schemas.openxmlformats.org/drawingml/2006/main">
            <a:srgbClr val="0B1F33"/>
          </a:solidFill>
          <a:ln xmlns:a="http://schemas.openxmlformats.org/drawingml/2006/main" w="9525">
            <a:solidFill>
              <a:srgbClr val="0B1F33"/>
            </a:solidFill>
            <a:prstDash val="solid"/>
          </a:ln>
        </p:spPr>
      </p:sp>
      <p:sp>
        <p:nvSpPr>
          <p:cNvPr id="19" name="">
            <a:extLst xmlns:a="http://schemas.openxmlformats.org/drawingml/2006/main">
              <a:ext uri="{FF2B5EF4-FFF2-40B4-BE49-F238E27FC236}">
                <a16:creationId xmlns:a16="http://schemas.microsoft.com/office/drawing/2014/main" id="{D6F1CFD6-983F-409D-AEBC-347A00E9857E}"/>
              </a:ext>
            </a:extLst>
          </p:cNvPr>
          <p:cNvSpPr>
            <a:spLocks xmlns:a="http://schemas.openxmlformats.org/drawingml/2006/main" noGrp="1"/>
          </p:cNvSpPr>
          <p:nvPr/>
        </p:nvSpPr>
        <p:spPr>
          <a:xfrm xmlns:a="http://schemas.openxmlformats.org/drawingml/2006/main" rot="0">
            <a:off x="1295400" y="469582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THE BRIDGE</a:t>
            </a:r>
          </a:p>
        </p:txBody>
      </p:sp>
      <p:sp>
        <p:nvSpPr>
          <p:cNvPr id="20" name="">
            <a:extLst xmlns:a="http://schemas.openxmlformats.org/drawingml/2006/main">
              <a:ext uri="{FF2B5EF4-FFF2-40B4-BE49-F238E27FC236}">
                <a16:creationId xmlns:a16="http://schemas.microsoft.com/office/drawing/2014/main" id="{D2879ED2-BCA0-417A-86DC-45274389E1B2}"/>
              </a:ext>
            </a:extLst>
          </p:cNvPr>
          <p:cNvSpPr>
            <a:spLocks xmlns:a="http://schemas.openxmlformats.org/drawingml/2006/main" noGrp="1"/>
          </p:cNvSpPr>
          <p:nvPr/>
        </p:nvSpPr>
        <p:spPr>
          <a:xfrm xmlns:a="http://schemas.openxmlformats.org/drawingml/2006/main" rot="0">
            <a:off x="1295400" y="5010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957"/>
          </a:bodyPr>
          <a:lstStyle xmlns:a="http://schemas.openxmlformats.org/drawingml/2006/main"/>
          <a:p xmlns:a="http://schemas.openxmlformats.org/drawingml/2006/main">
            <a:pPr algn="l">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Run our methods on their data, protocol, and metric</a:t>
            </a:r>
          </a:p>
        </p:txBody>
      </p:sp>
      <p:sp>
        <p:nvSpPr>
          <p:cNvPr id="21" name="">
            <a:extLst xmlns:a="http://schemas.openxmlformats.org/drawingml/2006/main">
              <a:ext uri="{FF2B5EF4-FFF2-40B4-BE49-F238E27FC236}">
                <a16:creationId xmlns:a16="http://schemas.microsoft.com/office/drawing/2014/main" id="{E929E5AB-BE87-443C-847C-F98B9B010B41}"/>
              </a:ext>
            </a:extLst>
          </p:cNvPr>
          <p:cNvSpPr>
            <a:spLocks xmlns:a="http://schemas.openxmlformats.org/drawingml/2006/main" noGrp="1"/>
          </p:cNvSpPr>
          <p:nvPr/>
        </p:nvSpPr>
        <p:spPr>
          <a:xfrm xmlns:a="http://schemas.openxmlformats.org/drawingml/2006/main">
            <a:off x="7334250" y="1695450"/>
            <a:ext cx="4191000" cy="4000500"/>
          </a:xfrm>
          <a:prstGeom xmlns:a="http://schemas.openxmlformats.org/drawingml/2006/main" prst="roundRect">
            <a:avLst>
              <a:gd name="adj" fmla="val 5238"/>
            </a:avLst>
          </a:prstGeom>
          <a:solidFill xmlns:a="http://schemas.openxmlformats.org/drawingml/2006/main">
            <a:srgbClr val="FFFFFF"/>
          </a:solidFill>
          <a:ln xmlns:a="http://schemas.openxmlformats.org/drawingml/2006/main" w="9525">
            <a:solidFill>
              <a:srgbClr val="DCE4E9"/>
            </a:solidFill>
            <a:prstDash val="solid"/>
          </a:ln>
        </p:spPr>
      </p:sp>
      <p:sp>
        <p:nvSpPr>
          <p:cNvPr id="22" name="">
            <a:extLst xmlns:a="http://schemas.openxmlformats.org/drawingml/2006/main">
              <a:ext uri="{FF2B5EF4-FFF2-40B4-BE49-F238E27FC236}">
                <a16:creationId xmlns:a16="http://schemas.microsoft.com/office/drawing/2014/main" id="{8F196DA2-4D07-4E5E-8625-473ABBC72299}"/>
              </a:ext>
            </a:extLst>
          </p:cNvPr>
          <p:cNvSpPr>
            <a:spLocks xmlns:a="http://schemas.openxmlformats.org/drawingml/2006/main" noGrp="1"/>
          </p:cNvSpPr>
          <p:nvPr/>
        </p:nvSpPr>
        <p:spPr>
          <a:xfrm xmlns:a="http://schemas.openxmlformats.org/drawingml/2006/main" rot="0">
            <a:off x="7639050" y="1895475"/>
            <a:ext cx="3581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0B1F33"/>
                </a:solidFill>
                <a:latin typeface="Aptos"/>
                <a:ea typeface="Aptos"/>
                <a:cs typeface="Aptos"/>
              </a:defRPr>
            </a:pPr>
            <a:r>
              <a:rPr sz="1575" b="1" i="0">
                <a:solidFill>
                  <a:srgbClr val="0B1F33"/>
                </a:solidFill>
                <a:latin typeface="Aptos"/>
                <a:ea typeface="Aptos"/>
                <a:cs typeface="Aptos"/>
              </a:rPr>
              <a:t>Random reproduction check</a:t>
            </a:r>
          </a:p>
        </p:txBody>
      </p:sp>
      <p:sp>
        <p:nvSpPr>
          <p:cNvPr id="23" name="">
            <a:extLst xmlns:a="http://schemas.openxmlformats.org/drawingml/2006/main">
              <a:ext uri="{FF2B5EF4-FFF2-40B4-BE49-F238E27FC236}">
                <a16:creationId xmlns:a16="http://schemas.microsoft.com/office/drawing/2014/main" id="{4C10552A-B8D1-4184-83F0-325ED5042C63}"/>
              </a:ext>
            </a:extLst>
          </p:cNvPr>
          <p:cNvSpPr>
            <a:spLocks xmlns:a="http://schemas.openxmlformats.org/drawingml/2006/main" noGrp="1"/>
          </p:cNvSpPr>
          <p:nvPr/>
        </p:nvSpPr>
        <p:spPr>
          <a:xfrm xmlns:a="http://schemas.openxmlformats.org/drawingml/2006/main" flipV="0">
            <a:off x="7905750" y="5029200"/>
            <a:ext cx="2952750" cy="0"/>
          </a:xfrm>
          <a:prstGeom xmlns:a="http://schemas.openxmlformats.org/drawingml/2006/main" prst="line">
            <a:avLst/>
          </a:prstGeom>
          <a:noFill xmlns:a="http://schemas.openxmlformats.org/drawingml/2006/main"/>
          <a:ln xmlns:a="http://schemas.openxmlformats.org/drawingml/2006/main" w="19050">
            <a:solidFill>
              <a:srgbClr val="5A6C79"/>
            </a:solidFill>
            <a:prstDash val="solid"/>
          </a:ln>
        </p:spPr>
      </p:sp>
      <p:sp>
        <p:nvSpPr>
          <p:cNvPr id="24" name="">
            <a:extLst xmlns:a="http://schemas.openxmlformats.org/drawingml/2006/main">
              <a:ext uri="{FF2B5EF4-FFF2-40B4-BE49-F238E27FC236}">
                <a16:creationId xmlns:a16="http://schemas.microsoft.com/office/drawing/2014/main" id="{445FC07A-BD0A-4CCA-8ED7-BA1F20BB4DD1}"/>
              </a:ext>
            </a:extLst>
          </p:cNvPr>
          <p:cNvSpPr>
            <a:spLocks xmlns:a="http://schemas.openxmlformats.org/drawingml/2006/main" noGrp="1"/>
          </p:cNvSpPr>
          <p:nvPr/>
        </p:nvSpPr>
        <p:spPr>
          <a:xfrm xmlns:a="http://schemas.openxmlformats.org/drawingml/2006/main" flipV="1">
            <a:off x="7905750" y="2647950"/>
            <a:ext cx="0" cy="2381250"/>
          </a:xfrm>
          <a:prstGeom xmlns:a="http://schemas.openxmlformats.org/drawingml/2006/main" prst="line">
            <a:avLst/>
          </a:prstGeom>
          <a:noFill xmlns:a="http://schemas.openxmlformats.org/drawingml/2006/main"/>
          <a:ln xmlns:a="http://schemas.openxmlformats.org/drawingml/2006/main" w="19050">
            <a:solidFill>
              <a:srgbClr val="5A6C79"/>
            </a:solidFill>
            <a:prstDash val="solid"/>
          </a:ln>
        </p:spPr>
      </p:sp>
      <p:sp>
        <p:nvSpPr>
          <p:cNvPr id="25" name="">
            <a:extLst xmlns:a="http://schemas.openxmlformats.org/drawingml/2006/main">
              <a:ext uri="{FF2B5EF4-FFF2-40B4-BE49-F238E27FC236}">
                <a16:creationId xmlns:a16="http://schemas.microsoft.com/office/drawing/2014/main" id="{9ECAE436-3214-47C8-9DB6-BAA72F1C85A1}"/>
              </a:ext>
            </a:extLst>
          </p:cNvPr>
          <p:cNvSpPr>
            <a:spLocks xmlns:a="http://schemas.openxmlformats.org/drawingml/2006/main" noGrp="1"/>
          </p:cNvSpPr>
          <p:nvPr/>
        </p:nvSpPr>
        <p:spPr>
          <a:xfrm xmlns:a="http://schemas.openxmlformats.org/drawingml/2006/main" flipV="1">
            <a:off x="7905750" y="2647950"/>
            <a:ext cx="2952750" cy="2381250"/>
          </a:xfrm>
          <a:prstGeom xmlns:a="http://schemas.openxmlformats.org/drawingml/2006/main" prst="line">
            <a:avLst/>
          </a:prstGeom>
          <a:noFill xmlns:a="http://schemas.openxmlformats.org/drawingml/2006/main"/>
          <a:ln xmlns:a="http://schemas.openxmlformats.org/drawingml/2006/main" w="19050">
            <a:solidFill>
              <a:srgbClr val="DCE4E9"/>
            </a:solidFill>
            <a:prstDash val="dash"/>
          </a:ln>
        </p:spPr>
      </p:sp>
      <p:sp>
        <p:nvSpPr>
          <p:cNvPr id="26" name="">
            <a:extLst xmlns:a="http://schemas.openxmlformats.org/drawingml/2006/main">
              <a:ext uri="{FF2B5EF4-FFF2-40B4-BE49-F238E27FC236}">
                <a16:creationId xmlns:a16="http://schemas.microsoft.com/office/drawing/2014/main" id="{B046DB2B-CE43-460F-A153-2F030D8C48DF}"/>
              </a:ext>
            </a:extLst>
          </p:cNvPr>
          <p:cNvSpPr>
            <a:spLocks xmlns:a="http://schemas.openxmlformats.org/drawingml/2006/main" noGrp="1"/>
          </p:cNvSpPr>
          <p:nvPr/>
        </p:nvSpPr>
        <p:spPr>
          <a:xfrm xmlns:a="http://schemas.openxmlformats.org/drawingml/2006/main" rot="0">
            <a:off x="8810625" y="5181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5A6C79"/>
                </a:solidFill>
                <a:latin typeface="Aptos"/>
                <a:ea typeface="Aptos"/>
                <a:cs typeface="Aptos"/>
              </a:defRPr>
            </a:pPr>
            <a:r>
              <a:rPr sz="1050" b="0" i="0">
                <a:solidFill>
                  <a:srgbClr val="5A6C79"/>
                </a:solidFill>
                <a:latin typeface="Aptos"/>
                <a:ea typeface="Aptos"/>
                <a:cs typeface="Aptos"/>
              </a:rPr>
              <a:t>Chen 2016</a:t>
            </a:r>
          </a:p>
        </p:txBody>
      </p:sp>
      <p:sp>
        <p:nvSpPr>
          <p:cNvPr id="27" name="">
            <a:extLst xmlns:a="http://schemas.openxmlformats.org/drawingml/2006/main">
              <a:ext uri="{FF2B5EF4-FFF2-40B4-BE49-F238E27FC236}">
                <a16:creationId xmlns:a16="http://schemas.microsoft.com/office/drawing/2014/main" id="{D03E44DA-C0F7-44F8-AB36-9604DC9FF6A4}"/>
              </a:ext>
            </a:extLst>
          </p:cNvPr>
          <p:cNvSpPr>
            <a:spLocks xmlns:a="http://schemas.openxmlformats.org/drawingml/2006/main" noGrp="1"/>
          </p:cNvSpPr>
          <p:nvPr/>
        </p:nvSpPr>
        <p:spPr>
          <a:xfrm xmlns:a="http://schemas.openxmlformats.org/drawingml/2006/main" rot="16200000">
            <a:off x="7505700" y="35052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5A6C79"/>
                </a:solidFill>
                <a:latin typeface="Aptos"/>
                <a:ea typeface="Aptos"/>
                <a:cs typeface="Aptos"/>
              </a:defRPr>
            </a:pPr>
            <a:r>
              <a:rPr sz="1050" b="0" i="0">
                <a:solidFill>
                  <a:srgbClr val="5A6C79"/>
                </a:solidFill>
                <a:latin typeface="Aptos"/>
                <a:ea typeface="Aptos"/>
                <a:cs typeface="Aptos"/>
              </a:rPr>
              <a:t>ours</a:t>
            </a:r>
          </a:p>
        </p:txBody>
      </p:sp>
      <p:sp>
        <p:nvSpPr>
          <p:cNvPr id="28" name="">
            <a:extLst xmlns:a="http://schemas.openxmlformats.org/drawingml/2006/main">
              <a:ext uri="{FF2B5EF4-FFF2-40B4-BE49-F238E27FC236}">
                <a16:creationId xmlns:a16="http://schemas.microsoft.com/office/drawing/2014/main" id="{A02255FC-E969-4951-B16D-3FE1C9769288}"/>
              </a:ext>
            </a:extLst>
          </p:cNvPr>
          <p:cNvSpPr>
            <a:spLocks xmlns:a="http://schemas.openxmlformats.org/drawingml/2006/main" noGrp="1"/>
          </p:cNvSpPr>
          <p:nvPr/>
        </p:nvSpPr>
        <p:spPr>
          <a:xfrm xmlns:a="http://schemas.openxmlformats.org/drawingml/2006/main">
            <a:off x="10235911" y="3254952"/>
            <a:ext cx="171450" cy="17145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D2C8685F-89AE-426C-9445-3825FD983C34}"/>
              </a:ext>
            </a:extLst>
          </p:cNvPr>
          <p:cNvSpPr>
            <a:spLocks xmlns:a="http://schemas.openxmlformats.org/drawingml/2006/main" noGrp="1"/>
          </p:cNvSpPr>
          <p:nvPr/>
        </p:nvSpPr>
        <p:spPr>
          <a:xfrm xmlns:a="http://schemas.openxmlformats.org/drawingml/2006/main" rot="0">
            <a:off x="10150186" y="3083502"/>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i="0">
                <a:solidFill>
                  <a:srgbClr val="0B1F33"/>
                </a:solidFill>
                <a:latin typeface="Aptos"/>
                <a:ea typeface="Aptos"/>
                <a:cs typeface="Aptos"/>
              </a:defRPr>
            </a:pPr>
            <a:r>
              <a:rPr sz="825" b="1" i="0">
                <a:solidFill>
                  <a:srgbClr val="0B1F33"/>
                </a:solidFill>
                <a:latin typeface="Aptos"/>
                <a:ea typeface="Aptos"/>
                <a:cs typeface="Aptos"/>
              </a:rPr>
              <a:t>TO</a:t>
            </a:r>
          </a:p>
        </p:txBody>
      </p:sp>
      <p:sp>
        <p:nvSpPr>
          <p:cNvPr id="30" name="">
            <a:extLst xmlns:a="http://schemas.openxmlformats.org/drawingml/2006/main">
              <a:ext uri="{FF2B5EF4-FFF2-40B4-BE49-F238E27FC236}">
                <a16:creationId xmlns:a16="http://schemas.microsoft.com/office/drawing/2014/main" id="{A79F1DD5-F3DC-4FE2-AB13-D0629CAC3BA4}"/>
              </a:ext>
            </a:extLst>
          </p:cNvPr>
          <p:cNvSpPr>
            <a:spLocks xmlns:a="http://schemas.openxmlformats.org/drawingml/2006/main" noGrp="1"/>
          </p:cNvSpPr>
          <p:nvPr/>
        </p:nvSpPr>
        <p:spPr>
          <a:xfrm xmlns:a="http://schemas.openxmlformats.org/drawingml/2006/main">
            <a:off x="10074852" y="3190009"/>
            <a:ext cx="171450" cy="17145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sp>
      <p:sp>
        <p:nvSpPr>
          <p:cNvPr id="31" name="">
            <a:extLst xmlns:a="http://schemas.openxmlformats.org/drawingml/2006/main">
              <a:ext uri="{FF2B5EF4-FFF2-40B4-BE49-F238E27FC236}">
                <a16:creationId xmlns:a16="http://schemas.microsoft.com/office/drawing/2014/main" id="{55687098-A8A0-4E27-B4C1-F79592CBBC4F}"/>
              </a:ext>
            </a:extLst>
          </p:cNvPr>
          <p:cNvSpPr>
            <a:spLocks xmlns:a="http://schemas.openxmlformats.org/drawingml/2006/main" noGrp="1"/>
          </p:cNvSpPr>
          <p:nvPr/>
        </p:nvSpPr>
        <p:spPr>
          <a:xfrm xmlns:a="http://schemas.openxmlformats.org/drawingml/2006/main" rot="0">
            <a:off x="9989127" y="3018559"/>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i="0">
                <a:solidFill>
                  <a:srgbClr val="0B1F33"/>
                </a:solidFill>
                <a:latin typeface="Aptos"/>
                <a:ea typeface="Aptos"/>
                <a:cs typeface="Aptos"/>
              </a:defRPr>
            </a:pPr>
            <a:r>
              <a:rPr sz="825" b="1" i="0">
                <a:solidFill>
                  <a:srgbClr val="0B1F33"/>
                </a:solidFill>
                <a:latin typeface="Aptos"/>
                <a:ea typeface="Aptos"/>
                <a:cs typeface="Aptos"/>
              </a:rPr>
              <a:t>OS</a:t>
            </a:r>
          </a:p>
        </p:txBody>
      </p:sp>
      <p:sp>
        <p:nvSpPr>
          <p:cNvPr id="32" name="">
            <a:extLst xmlns:a="http://schemas.openxmlformats.org/drawingml/2006/main">
              <a:ext uri="{FF2B5EF4-FFF2-40B4-BE49-F238E27FC236}">
                <a16:creationId xmlns:a16="http://schemas.microsoft.com/office/drawing/2014/main" id="{6087C62B-3A03-4A0B-9CF0-C741360270F6}"/>
              </a:ext>
            </a:extLst>
          </p:cNvPr>
          <p:cNvSpPr>
            <a:spLocks xmlns:a="http://schemas.openxmlformats.org/drawingml/2006/main" noGrp="1"/>
          </p:cNvSpPr>
          <p:nvPr/>
        </p:nvSpPr>
        <p:spPr>
          <a:xfrm xmlns:a="http://schemas.openxmlformats.org/drawingml/2006/main">
            <a:off x="10504343" y="3190009"/>
            <a:ext cx="171450" cy="17145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sp>
      <p:sp>
        <p:nvSpPr>
          <p:cNvPr id="33" name="">
            <a:extLst xmlns:a="http://schemas.openxmlformats.org/drawingml/2006/main">
              <a:ext uri="{FF2B5EF4-FFF2-40B4-BE49-F238E27FC236}">
                <a16:creationId xmlns:a16="http://schemas.microsoft.com/office/drawing/2014/main" id="{34588A3C-7A10-4166-A5F9-6A1D1B653929}"/>
              </a:ext>
            </a:extLst>
          </p:cNvPr>
          <p:cNvSpPr>
            <a:spLocks xmlns:a="http://schemas.openxmlformats.org/drawingml/2006/main" noGrp="1"/>
          </p:cNvSpPr>
          <p:nvPr/>
        </p:nvSpPr>
        <p:spPr>
          <a:xfrm xmlns:a="http://schemas.openxmlformats.org/drawingml/2006/main" rot="0">
            <a:off x="10418618" y="3018559"/>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i="0">
                <a:solidFill>
                  <a:srgbClr val="0B1F33"/>
                </a:solidFill>
                <a:latin typeface="Aptos"/>
                <a:ea typeface="Aptos"/>
                <a:cs typeface="Aptos"/>
              </a:defRPr>
            </a:pPr>
            <a:r>
              <a:rPr sz="825" b="1" i="0">
                <a:solidFill>
                  <a:srgbClr val="0B1F33"/>
                </a:solidFill>
                <a:latin typeface="Aptos"/>
                <a:ea typeface="Aptos"/>
                <a:cs typeface="Aptos"/>
              </a:rPr>
              <a:t>GL</a:t>
            </a:r>
          </a:p>
        </p:txBody>
      </p:sp>
      <p:sp>
        <p:nvSpPr>
          <p:cNvPr id="34" name="">
            <a:extLst xmlns:a="http://schemas.openxmlformats.org/drawingml/2006/main">
              <a:ext uri="{FF2B5EF4-FFF2-40B4-BE49-F238E27FC236}">
                <a16:creationId xmlns:a16="http://schemas.microsoft.com/office/drawing/2014/main" id="{3500EB0C-57D9-4740-A3B5-F07F7D537087}"/>
              </a:ext>
            </a:extLst>
          </p:cNvPr>
          <p:cNvSpPr>
            <a:spLocks xmlns:a="http://schemas.openxmlformats.org/drawingml/2006/main" noGrp="1"/>
          </p:cNvSpPr>
          <p:nvPr/>
        </p:nvSpPr>
        <p:spPr>
          <a:xfrm xmlns:a="http://schemas.openxmlformats.org/drawingml/2006/main">
            <a:off x="8920595" y="3861089"/>
            <a:ext cx="171450" cy="17145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4F26A47C-53E3-4138-B7FA-04DC1B5F129A}"/>
              </a:ext>
            </a:extLst>
          </p:cNvPr>
          <p:cNvSpPr>
            <a:spLocks xmlns:a="http://schemas.openxmlformats.org/drawingml/2006/main" noGrp="1"/>
          </p:cNvSpPr>
          <p:nvPr/>
        </p:nvSpPr>
        <p:spPr>
          <a:xfrm xmlns:a="http://schemas.openxmlformats.org/drawingml/2006/main" rot="0">
            <a:off x="8834870" y="3689639"/>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i="0">
                <a:solidFill>
                  <a:srgbClr val="0B1F33"/>
                </a:solidFill>
                <a:latin typeface="Aptos"/>
                <a:ea typeface="Aptos"/>
                <a:cs typeface="Aptos"/>
              </a:defRPr>
            </a:pPr>
            <a:r>
              <a:rPr sz="825" b="1" i="0">
                <a:solidFill>
                  <a:srgbClr val="0B1F33"/>
                </a:solidFill>
                <a:latin typeface="Aptos"/>
                <a:ea typeface="Aptos"/>
                <a:cs typeface="Aptos"/>
              </a:rPr>
              <a:t>ED</a:t>
            </a:r>
          </a:p>
        </p:txBody>
      </p:sp>
      <p:sp>
        <p:nvSpPr>
          <p:cNvPr id="36" name="">
            <a:extLst xmlns:a="http://schemas.openxmlformats.org/drawingml/2006/main">
              <a:ext uri="{FF2B5EF4-FFF2-40B4-BE49-F238E27FC236}">
                <a16:creationId xmlns:a16="http://schemas.microsoft.com/office/drawing/2014/main" id="{A73557E3-0999-4B53-BD8F-506302CBE775}"/>
              </a:ext>
            </a:extLst>
          </p:cNvPr>
          <p:cNvSpPr>
            <a:spLocks xmlns:a="http://schemas.openxmlformats.org/drawingml/2006/main" noGrp="1"/>
          </p:cNvSpPr>
          <p:nvPr/>
        </p:nvSpPr>
        <p:spPr>
          <a:xfrm xmlns:a="http://schemas.openxmlformats.org/drawingml/2006/main">
            <a:off x="8571634" y="4791941"/>
            <a:ext cx="171450" cy="17145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sp>
      <p:sp>
        <p:nvSpPr>
          <p:cNvPr id="37" name="">
            <a:extLst xmlns:a="http://schemas.openxmlformats.org/drawingml/2006/main">
              <a:ext uri="{FF2B5EF4-FFF2-40B4-BE49-F238E27FC236}">
                <a16:creationId xmlns:a16="http://schemas.microsoft.com/office/drawing/2014/main" id="{B23E9D0D-A3B3-4661-B1CD-62B632CCC83D}"/>
              </a:ext>
            </a:extLst>
          </p:cNvPr>
          <p:cNvSpPr>
            <a:spLocks xmlns:a="http://schemas.openxmlformats.org/drawingml/2006/main" noGrp="1"/>
          </p:cNvSpPr>
          <p:nvPr/>
        </p:nvSpPr>
        <p:spPr>
          <a:xfrm xmlns:a="http://schemas.openxmlformats.org/drawingml/2006/main" rot="0">
            <a:off x="8485909" y="4620491"/>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i="0">
                <a:solidFill>
                  <a:srgbClr val="0B1F33"/>
                </a:solidFill>
                <a:latin typeface="Aptos"/>
                <a:ea typeface="Aptos"/>
                <a:cs typeface="Aptos"/>
              </a:defRPr>
            </a:pPr>
            <a:r>
              <a:rPr sz="825" b="1" i="0">
                <a:solidFill>
                  <a:srgbClr val="0B1F33"/>
                </a:solidFill>
                <a:latin typeface="Aptos"/>
                <a:ea typeface="Aptos"/>
                <a:cs typeface="Aptos"/>
              </a:rPr>
              <a:t>ME</a:t>
            </a:r>
          </a:p>
        </p:txBody>
      </p:sp>
      <p:sp>
        <p:nvSpPr>
          <p:cNvPr id="38" name="">
            <a:extLst xmlns:a="http://schemas.openxmlformats.org/drawingml/2006/main">
              <a:ext uri="{FF2B5EF4-FFF2-40B4-BE49-F238E27FC236}">
                <a16:creationId xmlns:a16="http://schemas.microsoft.com/office/drawing/2014/main" id="{2E2EA0C1-DD15-4945-9598-86E4EBE0C616}"/>
              </a:ext>
            </a:extLst>
          </p:cNvPr>
          <p:cNvSpPr>
            <a:spLocks xmlns:a="http://schemas.openxmlformats.org/drawingml/2006/main" noGrp="1"/>
          </p:cNvSpPr>
          <p:nvPr/>
        </p:nvSpPr>
        <p:spPr>
          <a:xfrm xmlns:a="http://schemas.openxmlformats.org/drawingml/2006/main">
            <a:off x="7924800" y="5219700"/>
            <a:ext cx="3009900" cy="361950"/>
          </a:xfrm>
          <a:prstGeom xmlns:a="http://schemas.openxmlformats.org/drawingml/2006/main" prst="roundRect">
            <a:avLst>
              <a:gd name="adj" fmla="val 36842"/>
            </a:avLst>
          </a:prstGeom>
          <a:solidFill xmlns:a="http://schemas.openxmlformats.org/drawingml/2006/main">
            <a:srgbClr val="137B77"/>
          </a:solidFill>
          <a:ln xmlns:a="http://schemas.openxmlformats.org/drawingml/2006/main" w="9525">
            <a:solidFill>
              <a:srgbClr val="137B77"/>
            </a:solidFill>
            <a:prstDash val="solid"/>
          </a:ln>
        </p:spPr>
      </p:sp>
      <p:sp>
        <p:nvSpPr>
          <p:cNvPr id="39" name="">
            <a:extLst xmlns:a="http://schemas.openxmlformats.org/drawingml/2006/main">
              <a:ext uri="{FF2B5EF4-FFF2-40B4-BE49-F238E27FC236}">
                <a16:creationId xmlns:a16="http://schemas.microsoft.com/office/drawing/2014/main" id="{80F63F93-FAE4-4F58-9AFC-68B484A1D10A}"/>
              </a:ext>
            </a:extLst>
          </p:cNvPr>
          <p:cNvSpPr>
            <a:spLocks xmlns:a="http://schemas.openxmlformats.org/drawingml/2006/main" noGrp="1"/>
          </p:cNvSpPr>
          <p:nvPr/>
        </p:nvSpPr>
        <p:spPr>
          <a:xfrm xmlns:a="http://schemas.openxmlformats.org/drawingml/2006/main" rot="0">
            <a:off x="8096250" y="527685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Aptos"/>
                <a:ea typeface="Aptos"/>
                <a:cs typeface="Aptos"/>
              </a:defRPr>
            </a:pPr>
            <a:r>
              <a:rPr sz="1275" b="1" i="0">
                <a:solidFill>
                  <a:srgbClr val="FFFFFF"/>
                </a:solidFill>
                <a:latin typeface="Aptos"/>
                <a:ea typeface="Aptos"/>
                <a:cs typeface="Aptos"/>
              </a:rPr>
              <a:t>maximum absolute gap = 0.021</a:t>
            </a:r>
          </a:p>
        </p:txBody>
      </p:sp>
      <p:sp>
        <p:nvSpPr>
          <p:cNvPr id="40" name="">
            <a:extLst xmlns:a="http://schemas.openxmlformats.org/drawingml/2006/main">
              <a:ext uri="{FF2B5EF4-FFF2-40B4-BE49-F238E27FC236}">
                <a16:creationId xmlns:a16="http://schemas.microsoft.com/office/drawing/2014/main" id="{0414540D-934B-447E-97BD-2CF33AF69035}"/>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Tables 3.4-3.5 and Figure 3.4; Chen et al. (2016). Random uses the Chen-2016 protocol.</a:t>
            </a:r>
          </a:p>
        </p:txBody>
      </p:sp>
    </p:spTree>
    <p:extLst>
      <p:ext uri="{BB962C8B-B14F-4D97-AF65-F5344CB8AC3E}">
        <p14:creationId xmlns:p14="http://schemas.microsoft.com/office/powerpoint/2010/main" val="152590949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0" name="eyebrow">
            <a:extLst xmlns:a="http://schemas.openxmlformats.org/drawingml/2006/main">
              <a:ext uri="{FF2B5EF4-FFF2-40B4-BE49-F238E27FC236}">
                <a16:creationId xmlns:a16="http://schemas.microsoft.com/office/drawing/2014/main" id="{33117928-7D35-4C43-A49E-7F894D39A191}"/>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SMART VISIT / PFE DEFENSE</a:t>
            </a:r>
          </a:p>
        </p:txBody>
      </p:sp>
      <p:sp>
        <p:nvSpPr>
          <p:cNvPr id="2" name="slide-title">
            <a:extLst xmlns:a="http://schemas.openxmlformats.org/drawingml/2006/main">
              <a:ext uri="{FF2B5EF4-FFF2-40B4-BE49-F238E27FC236}">
                <a16:creationId xmlns:a16="http://schemas.microsoft.com/office/drawing/2014/main" id="{9CD0E1AC-B1E2-4521-9EA5-E9EC74901FA3}"/>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The benchmark confirms our position - and exposes cold-start</a:t>
            </a:r>
          </a:p>
        </p:txBody>
      </p:sp>
      <p:sp>
        <p:nvSpPr>
          <p:cNvPr id="3" name="title-accent">
            <a:extLst xmlns:a="http://schemas.openxmlformats.org/drawingml/2006/main">
              <a:ext uri="{FF2B5EF4-FFF2-40B4-BE49-F238E27FC236}">
                <a16:creationId xmlns:a16="http://schemas.microsoft.com/office/drawing/2014/main" id="{FC06726F-1060-4180-A6D5-3C427898D41B}"/>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4D4D11-46C9-4732-96EA-891F70628CB0}"/>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C7C83C62-AE4A-4CD4-A7DC-808D1658270F}"/>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312067EF-F1FF-4790-A448-7DF2A80A0344}"/>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9 / 10</a:t>
            </a:r>
          </a:p>
        </p:txBody>
      </p:sp>
      <p:sp>
        <p:nvSpPr>
          <p:cNvPr id="7" name="">
            <a:extLst xmlns:a="http://schemas.openxmlformats.org/drawingml/2006/main">
              <a:ext uri="{FF2B5EF4-FFF2-40B4-BE49-F238E27FC236}">
                <a16:creationId xmlns:a16="http://schemas.microsoft.com/office/drawing/2014/main" id="{017B123F-CA98-4455-BD31-BA4B7C57F1A3}"/>
              </a:ext>
            </a:extLst>
          </p:cNvPr>
          <p:cNvSpPr>
            <a:spLocks xmlns:a="http://schemas.openxmlformats.org/drawingml/2006/main" noGrp="1"/>
          </p:cNvSpPr>
          <p:nvPr/>
        </p:nvSpPr>
        <p:spPr>
          <a:xfrm xmlns:a="http://schemas.openxmlformats.org/drawingml/2006/main" rot="0">
            <a:off x="666750" y="161925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FLICKR BENCHMARK · PAIRS-F1 ON THE PUBLISHED SCALE</a:t>
            </a:r>
          </a:p>
        </p:txBody>
      </p:sp>
      <p:sp>
        <p:nvSpPr>
          <p:cNvPr id="8" name="">
            <a:extLst xmlns:a="http://schemas.openxmlformats.org/drawingml/2006/main">
              <a:ext uri="{FF2B5EF4-FFF2-40B4-BE49-F238E27FC236}">
                <a16:creationId xmlns:a16="http://schemas.microsoft.com/office/drawing/2014/main" id="{B4431244-0F39-4024-8043-622F3CC86F83}"/>
              </a:ext>
            </a:extLst>
          </p:cNvPr>
          <p:cNvSpPr>
            <a:spLocks xmlns:a="http://schemas.openxmlformats.org/drawingml/2006/main" noGrp="1"/>
          </p:cNvSpPr>
          <p:nvPr/>
        </p:nvSpPr>
        <p:spPr>
          <a:xfrm xmlns:a="http://schemas.openxmlformats.org/drawingml/2006/main" flipV="0">
            <a:off x="2381250" y="4857750"/>
            <a:ext cx="4953000" cy="0"/>
          </a:xfrm>
          <a:prstGeom xmlns:a="http://schemas.openxmlformats.org/drawingml/2006/main" prst="line">
            <a:avLst/>
          </a:prstGeom>
          <a:noFill xmlns:a="http://schemas.openxmlformats.org/drawingml/2006/main"/>
          <a:ln xmlns:a="http://schemas.openxmlformats.org/drawingml/2006/main" w="19050">
            <a:solidFill>
              <a:srgbClr val="5A6C79"/>
            </a:solidFill>
            <a:prstDash val="solid"/>
          </a:ln>
        </p:spPr>
      </p:sp>
      <p:sp>
        <p:nvSpPr>
          <p:cNvPr id="9" name="">
            <a:extLst xmlns:a="http://schemas.openxmlformats.org/drawingml/2006/main">
              <a:ext uri="{FF2B5EF4-FFF2-40B4-BE49-F238E27FC236}">
                <a16:creationId xmlns:a16="http://schemas.microsoft.com/office/drawing/2014/main" id="{B78F7303-21FE-4CEE-9A9E-687D27ED8A6B}"/>
              </a:ext>
            </a:extLst>
          </p:cNvPr>
          <p:cNvSpPr>
            <a:spLocks xmlns:a="http://schemas.openxmlformats.org/drawingml/2006/main" noGrp="1"/>
          </p:cNvSpPr>
          <p:nvPr/>
        </p:nvSpPr>
        <p:spPr>
          <a:xfrm xmlns:a="http://schemas.openxmlformats.org/drawingml/2006/main" flipV="0">
            <a:off x="23812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10" name="">
            <a:extLst xmlns:a="http://schemas.openxmlformats.org/drawingml/2006/main">
              <a:ext uri="{FF2B5EF4-FFF2-40B4-BE49-F238E27FC236}">
                <a16:creationId xmlns:a16="http://schemas.microsoft.com/office/drawing/2014/main" id="{43F27E76-A86B-4F78-B2C3-D94F4EBE2DCB}"/>
              </a:ext>
            </a:extLst>
          </p:cNvPr>
          <p:cNvSpPr>
            <a:spLocks xmlns:a="http://schemas.openxmlformats.org/drawingml/2006/main" noGrp="1"/>
          </p:cNvSpPr>
          <p:nvPr/>
        </p:nvSpPr>
        <p:spPr>
          <a:xfrm xmlns:a="http://schemas.openxmlformats.org/drawingml/2006/main" rot="0">
            <a:off x="21907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0.0</a:t>
            </a:r>
          </a:p>
        </p:txBody>
      </p:sp>
      <p:sp>
        <p:nvSpPr>
          <p:cNvPr id="11" name="">
            <a:extLst xmlns:a="http://schemas.openxmlformats.org/drawingml/2006/main">
              <a:ext uri="{FF2B5EF4-FFF2-40B4-BE49-F238E27FC236}">
                <a16:creationId xmlns:a16="http://schemas.microsoft.com/office/drawing/2014/main" id="{351512BC-3507-4EC8-A556-8C76B91ED4C0}"/>
              </a:ext>
            </a:extLst>
          </p:cNvPr>
          <p:cNvSpPr>
            <a:spLocks xmlns:a="http://schemas.openxmlformats.org/drawingml/2006/main" noGrp="1"/>
          </p:cNvSpPr>
          <p:nvPr/>
        </p:nvSpPr>
        <p:spPr>
          <a:xfrm xmlns:a="http://schemas.openxmlformats.org/drawingml/2006/main" flipV="0">
            <a:off x="33718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12" name="">
            <a:extLst xmlns:a="http://schemas.openxmlformats.org/drawingml/2006/main">
              <a:ext uri="{FF2B5EF4-FFF2-40B4-BE49-F238E27FC236}">
                <a16:creationId xmlns:a16="http://schemas.microsoft.com/office/drawing/2014/main" id="{525C228E-075F-4ED6-8788-51BFA22978D8}"/>
              </a:ext>
            </a:extLst>
          </p:cNvPr>
          <p:cNvSpPr>
            <a:spLocks xmlns:a="http://schemas.openxmlformats.org/drawingml/2006/main" noGrp="1"/>
          </p:cNvSpPr>
          <p:nvPr/>
        </p:nvSpPr>
        <p:spPr>
          <a:xfrm xmlns:a="http://schemas.openxmlformats.org/drawingml/2006/main" rot="0">
            <a:off x="31813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5890F5D7-0215-42B4-B101-B0EFDD5C136D}"/>
              </a:ext>
            </a:extLst>
          </p:cNvPr>
          <p:cNvSpPr>
            <a:spLocks xmlns:a="http://schemas.openxmlformats.org/drawingml/2006/main" noGrp="1"/>
          </p:cNvSpPr>
          <p:nvPr/>
        </p:nvSpPr>
        <p:spPr>
          <a:xfrm xmlns:a="http://schemas.openxmlformats.org/drawingml/2006/main" flipV="0">
            <a:off x="43624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14" name="">
            <a:extLst xmlns:a="http://schemas.openxmlformats.org/drawingml/2006/main">
              <a:ext uri="{FF2B5EF4-FFF2-40B4-BE49-F238E27FC236}">
                <a16:creationId xmlns:a16="http://schemas.microsoft.com/office/drawing/2014/main" id="{6296DF78-43CF-446C-A454-130DA860A70F}"/>
              </a:ext>
            </a:extLst>
          </p:cNvPr>
          <p:cNvSpPr>
            <a:spLocks xmlns:a="http://schemas.openxmlformats.org/drawingml/2006/main" noGrp="1"/>
          </p:cNvSpPr>
          <p:nvPr/>
        </p:nvSpPr>
        <p:spPr>
          <a:xfrm xmlns:a="http://schemas.openxmlformats.org/drawingml/2006/main" rot="0">
            <a:off x="41719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48A0557A-A38B-434D-8D01-97BEFD20CC9E}"/>
              </a:ext>
            </a:extLst>
          </p:cNvPr>
          <p:cNvSpPr>
            <a:spLocks xmlns:a="http://schemas.openxmlformats.org/drawingml/2006/main" noGrp="1"/>
          </p:cNvSpPr>
          <p:nvPr/>
        </p:nvSpPr>
        <p:spPr>
          <a:xfrm xmlns:a="http://schemas.openxmlformats.org/drawingml/2006/main" flipV="0">
            <a:off x="53530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16" name="">
            <a:extLst xmlns:a="http://schemas.openxmlformats.org/drawingml/2006/main">
              <a:ext uri="{FF2B5EF4-FFF2-40B4-BE49-F238E27FC236}">
                <a16:creationId xmlns:a16="http://schemas.microsoft.com/office/drawing/2014/main" id="{211E6B55-F52C-4289-B621-C19E5DCA11EE}"/>
              </a:ext>
            </a:extLst>
          </p:cNvPr>
          <p:cNvSpPr>
            <a:spLocks xmlns:a="http://schemas.openxmlformats.org/drawingml/2006/main" noGrp="1"/>
          </p:cNvSpPr>
          <p:nvPr/>
        </p:nvSpPr>
        <p:spPr>
          <a:xfrm xmlns:a="http://schemas.openxmlformats.org/drawingml/2006/main" rot="0">
            <a:off x="51625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0.6</a:t>
            </a:r>
          </a:p>
        </p:txBody>
      </p:sp>
      <p:sp>
        <p:nvSpPr>
          <p:cNvPr id="17" name="">
            <a:extLst xmlns:a="http://schemas.openxmlformats.org/drawingml/2006/main">
              <a:ext uri="{FF2B5EF4-FFF2-40B4-BE49-F238E27FC236}">
                <a16:creationId xmlns:a16="http://schemas.microsoft.com/office/drawing/2014/main" id="{73347E97-27B3-4EFF-BCA9-24F670B9603F}"/>
              </a:ext>
            </a:extLst>
          </p:cNvPr>
          <p:cNvSpPr>
            <a:spLocks xmlns:a="http://schemas.openxmlformats.org/drawingml/2006/main" noGrp="1"/>
          </p:cNvSpPr>
          <p:nvPr/>
        </p:nvSpPr>
        <p:spPr>
          <a:xfrm xmlns:a="http://schemas.openxmlformats.org/drawingml/2006/main" flipV="0">
            <a:off x="63436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18" name="">
            <a:extLst xmlns:a="http://schemas.openxmlformats.org/drawingml/2006/main">
              <a:ext uri="{FF2B5EF4-FFF2-40B4-BE49-F238E27FC236}">
                <a16:creationId xmlns:a16="http://schemas.microsoft.com/office/drawing/2014/main" id="{063DB25B-9AEC-4A1D-B588-286A19867828}"/>
              </a:ext>
            </a:extLst>
          </p:cNvPr>
          <p:cNvSpPr>
            <a:spLocks xmlns:a="http://schemas.openxmlformats.org/drawingml/2006/main" noGrp="1"/>
          </p:cNvSpPr>
          <p:nvPr/>
        </p:nvSpPr>
        <p:spPr>
          <a:xfrm xmlns:a="http://schemas.openxmlformats.org/drawingml/2006/main" rot="0">
            <a:off x="61531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0.8</a:t>
            </a:r>
          </a:p>
        </p:txBody>
      </p:sp>
      <p:sp>
        <p:nvSpPr>
          <p:cNvPr id="19" name="">
            <a:extLst xmlns:a="http://schemas.openxmlformats.org/drawingml/2006/main">
              <a:ext uri="{FF2B5EF4-FFF2-40B4-BE49-F238E27FC236}">
                <a16:creationId xmlns:a16="http://schemas.microsoft.com/office/drawing/2014/main" id="{2F414B17-5D2F-48A7-A73D-B77AC0C1E2CB}"/>
              </a:ext>
            </a:extLst>
          </p:cNvPr>
          <p:cNvSpPr>
            <a:spLocks xmlns:a="http://schemas.openxmlformats.org/drawingml/2006/main" noGrp="1"/>
          </p:cNvSpPr>
          <p:nvPr/>
        </p:nvSpPr>
        <p:spPr>
          <a:xfrm xmlns:a="http://schemas.openxmlformats.org/drawingml/2006/main" flipV="0">
            <a:off x="7334250" y="4819650"/>
            <a:ext cx="0" cy="114300"/>
          </a:xfrm>
          <a:prstGeom xmlns:a="http://schemas.openxmlformats.org/drawingml/2006/main" prst="line">
            <a:avLst/>
          </a:prstGeom>
          <a:noFill xmlns:a="http://schemas.openxmlformats.org/drawingml/2006/main"/>
          <a:ln xmlns:a="http://schemas.openxmlformats.org/drawingml/2006/main" w="9525">
            <a:solidFill>
              <a:srgbClr val="5A6C79"/>
            </a:solidFill>
            <a:prstDash val="solid"/>
          </a:ln>
        </p:spPr>
      </p:sp>
      <p:sp>
        <p:nvSpPr>
          <p:cNvPr id="20" name="">
            <a:extLst xmlns:a="http://schemas.openxmlformats.org/drawingml/2006/main">
              <a:ext uri="{FF2B5EF4-FFF2-40B4-BE49-F238E27FC236}">
                <a16:creationId xmlns:a16="http://schemas.microsoft.com/office/drawing/2014/main" id="{740A7C91-BB6C-4782-964D-1B1EC1525361}"/>
              </a:ext>
            </a:extLst>
          </p:cNvPr>
          <p:cNvSpPr>
            <a:spLocks xmlns:a="http://schemas.openxmlformats.org/drawingml/2006/main" noGrp="1"/>
          </p:cNvSpPr>
          <p:nvPr/>
        </p:nvSpPr>
        <p:spPr>
          <a:xfrm xmlns:a="http://schemas.openxmlformats.org/drawingml/2006/main" rot="0">
            <a:off x="7143750" y="4972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0">
                <a:solidFill>
                  <a:srgbClr val="5A6C79"/>
                </a:solidFill>
                <a:latin typeface="Aptos"/>
                <a:ea typeface="Aptos"/>
                <a:cs typeface="Aptos"/>
              </a:defRPr>
            </a:pPr>
            <a:r>
              <a:rPr sz="975" b="0" i="0">
                <a:solidFill>
                  <a:srgbClr val="5A6C79"/>
                </a:solidFill>
                <a:latin typeface="Aptos"/>
                <a:ea typeface="Aptos"/>
                <a:cs typeface="Aptos"/>
              </a:rPr>
              <a:t>1.0</a:t>
            </a:r>
          </a:p>
        </p:txBody>
      </p:sp>
      <p:sp>
        <p:nvSpPr>
          <p:cNvPr id="21" name="">
            <a:extLst xmlns:a="http://schemas.openxmlformats.org/drawingml/2006/main">
              <a:ext uri="{FF2B5EF4-FFF2-40B4-BE49-F238E27FC236}">
                <a16:creationId xmlns:a16="http://schemas.microsoft.com/office/drawing/2014/main" id="{5C8A3DCC-7D54-4E8D-8F43-013740B0A098}"/>
              </a:ext>
            </a:extLst>
          </p:cNvPr>
          <p:cNvSpPr>
            <a:spLocks xmlns:a="http://schemas.openxmlformats.org/drawingml/2006/main" noGrp="1"/>
          </p:cNvSpPr>
          <p:nvPr/>
        </p:nvSpPr>
        <p:spPr>
          <a:xfrm xmlns:a="http://schemas.openxmlformats.org/drawingml/2006/main" rot="0">
            <a:off x="666750" y="21907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i="0">
                <a:solidFill>
                  <a:srgbClr val="142632"/>
                </a:solidFill>
                <a:latin typeface="Aptos"/>
                <a:ea typeface="Aptos"/>
                <a:cs typeface="Aptos"/>
              </a:defRPr>
            </a:pPr>
            <a:r>
              <a:rPr sz="1425" b="1" i="0">
                <a:solidFill>
                  <a:srgbClr val="142632"/>
                </a:solidFill>
                <a:latin typeface="Aptos"/>
                <a:ea typeface="Aptos"/>
                <a:cs typeface="Aptos"/>
              </a:rPr>
              <a:t>Markov family</a:t>
            </a:r>
          </a:p>
        </p:txBody>
      </p:sp>
      <p:sp>
        <p:nvSpPr>
          <p:cNvPr id="22" name="">
            <a:extLst xmlns:a="http://schemas.openxmlformats.org/drawingml/2006/main">
              <a:ext uri="{FF2B5EF4-FFF2-40B4-BE49-F238E27FC236}">
                <a16:creationId xmlns:a16="http://schemas.microsoft.com/office/drawing/2014/main" id="{850E681D-E54D-4B04-A813-A8D414A3E584}"/>
              </a:ext>
            </a:extLst>
          </p:cNvPr>
          <p:cNvSpPr>
            <a:spLocks xmlns:a="http://schemas.openxmlformats.org/drawingml/2006/main" noGrp="1"/>
          </p:cNvSpPr>
          <p:nvPr/>
        </p:nvSpPr>
        <p:spPr>
          <a:xfrm xmlns:a="http://schemas.openxmlformats.org/drawingml/2006/main">
            <a:off x="2381250" y="2209800"/>
            <a:ext cx="4953000" cy="2857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E2D3BE1-A9CB-477A-9D1B-8A48F26026C3}"/>
              </a:ext>
            </a:extLst>
          </p:cNvPr>
          <p:cNvSpPr>
            <a:spLocks xmlns:a="http://schemas.openxmlformats.org/drawingml/2006/main" noGrp="1"/>
          </p:cNvSpPr>
          <p:nvPr/>
        </p:nvSpPr>
        <p:spPr>
          <a:xfrm xmlns:a="http://schemas.openxmlformats.org/drawingml/2006/main">
            <a:off x="3520440" y="2209800"/>
            <a:ext cx="1783080" cy="285750"/>
          </a:xfrm>
          <a:prstGeom xmlns:a="http://schemas.openxmlformats.org/drawingml/2006/main" prst="rect">
            <a:avLst/>
          </a:prstGeom>
          <a:solidFill xmlns:a="http://schemas.openxmlformats.org/drawingml/2006/main">
            <a:srgbClr val="137B7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9D8F6A0-E848-49B5-A46B-7DCE6B8A4B5A}"/>
              </a:ext>
            </a:extLst>
          </p:cNvPr>
          <p:cNvSpPr>
            <a:spLocks xmlns:a="http://schemas.openxmlformats.org/drawingml/2006/main" noGrp="1"/>
          </p:cNvSpPr>
          <p:nvPr/>
        </p:nvSpPr>
        <p:spPr>
          <a:xfrm xmlns:a="http://schemas.openxmlformats.org/drawingml/2006/main" rot="0">
            <a:off x="3520440" y="2552700"/>
            <a:ext cx="17830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137B77"/>
                </a:solidFill>
                <a:latin typeface="Aptos"/>
                <a:ea typeface="Aptos"/>
                <a:cs typeface="Aptos"/>
              </a:defRPr>
            </a:pPr>
            <a:r>
              <a:rPr sz="1125" b="1" i="0">
                <a:solidFill>
                  <a:srgbClr val="137B77"/>
                </a:solidFill>
                <a:latin typeface="Aptos"/>
                <a:ea typeface="Aptos"/>
                <a:cs typeface="Aptos"/>
              </a:rPr>
              <a:t>0.23 - 0.59</a:t>
            </a:r>
          </a:p>
        </p:txBody>
      </p:sp>
      <p:sp>
        <p:nvSpPr>
          <p:cNvPr id="25" name="">
            <a:extLst xmlns:a="http://schemas.openxmlformats.org/drawingml/2006/main">
              <a:ext uri="{FF2B5EF4-FFF2-40B4-BE49-F238E27FC236}">
                <a16:creationId xmlns:a16="http://schemas.microsoft.com/office/drawing/2014/main" id="{BF504F59-FD2F-4FF7-BEDE-1958A88325E7}"/>
              </a:ext>
            </a:extLst>
          </p:cNvPr>
          <p:cNvSpPr>
            <a:spLocks xmlns:a="http://schemas.openxmlformats.org/drawingml/2006/main" noGrp="1"/>
          </p:cNvSpPr>
          <p:nvPr/>
        </p:nvSpPr>
        <p:spPr>
          <a:xfrm xmlns:a="http://schemas.openxmlformats.org/drawingml/2006/main" rot="0">
            <a:off x="666750" y="31813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i="0">
                <a:solidFill>
                  <a:srgbClr val="142632"/>
                </a:solidFill>
                <a:latin typeface="Aptos"/>
                <a:ea typeface="Aptos"/>
                <a:cs typeface="Aptos"/>
              </a:defRPr>
            </a:pPr>
            <a:r>
              <a:rPr sz="1425" b="1" i="0">
                <a:solidFill>
                  <a:srgbClr val="142632"/>
                </a:solidFill>
                <a:latin typeface="Aptos"/>
                <a:ea typeface="Aptos"/>
                <a:cs typeface="Aptos"/>
              </a:rPr>
              <a:t>Trained Pointer</a:t>
            </a:r>
          </a:p>
        </p:txBody>
      </p:sp>
      <p:sp>
        <p:nvSpPr>
          <p:cNvPr id="26" name="">
            <a:extLst xmlns:a="http://schemas.openxmlformats.org/drawingml/2006/main">
              <a:ext uri="{FF2B5EF4-FFF2-40B4-BE49-F238E27FC236}">
                <a16:creationId xmlns:a16="http://schemas.microsoft.com/office/drawing/2014/main" id="{5F5848BB-2E61-4876-A877-D4394D54A3D6}"/>
              </a:ext>
            </a:extLst>
          </p:cNvPr>
          <p:cNvSpPr>
            <a:spLocks xmlns:a="http://schemas.openxmlformats.org/drawingml/2006/main" noGrp="1"/>
          </p:cNvSpPr>
          <p:nvPr/>
        </p:nvSpPr>
        <p:spPr>
          <a:xfrm xmlns:a="http://schemas.openxmlformats.org/drawingml/2006/main">
            <a:off x="2381250" y="3200400"/>
            <a:ext cx="4953000" cy="2857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CC37ECA-BDEE-46ED-86A3-B219EBBCE12D}"/>
              </a:ext>
            </a:extLst>
          </p:cNvPr>
          <p:cNvSpPr>
            <a:spLocks xmlns:a="http://schemas.openxmlformats.org/drawingml/2006/main" noGrp="1"/>
          </p:cNvSpPr>
          <p:nvPr/>
        </p:nvSpPr>
        <p:spPr>
          <a:xfrm xmlns:a="http://schemas.openxmlformats.org/drawingml/2006/main">
            <a:off x="3916680" y="3200400"/>
            <a:ext cx="891540" cy="2857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565172C-CD59-4B02-9F53-6B34737EC940}"/>
              </a:ext>
            </a:extLst>
          </p:cNvPr>
          <p:cNvSpPr>
            <a:spLocks xmlns:a="http://schemas.openxmlformats.org/drawingml/2006/main" noGrp="1"/>
          </p:cNvSpPr>
          <p:nvPr/>
        </p:nvSpPr>
        <p:spPr>
          <a:xfrm xmlns:a="http://schemas.openxmlformats.org/drawingml/2006/main" rot="0">
            <a:off x="3916680" y="3543300"/>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F28C45"/>
                </a:solidFill>
                <a:latin typeface="Aptos"/>
                <a:ea typeface="Aptos"/>
                <a:cs typeface="Aptos"/>
              </a:defRPr>
            </a:pPr>
            <a:r>
              <a:rPr sz="1125" b="1" i="0">
                <a:solidFill>
                  <a:srgbClr val="F28C45"/>
                </a:solidFill>
                <a:latin typeface="Aptos"/>
                <a:ea typeface="Aptos"/>
                <a:cs typeface="Aptos"/>
              </a:rPr>
              <a:t>0.31 - 0.49</a:t>
            </a:r>
          </a:p>
        </p:txBody>
      </p:sp>
      <p:sp>
        <p:nvSpPr>
          <p:cNvPr id="29" name="">
            <a:extLst xmlns:a="http://schemas.openxmlformats.org/drawingml/2006/main">
              <a:ext uri="{FF2B5EF4-FFF2-40B4-BE49-F238E27FC236}">
                <a16:creationId xmlns:a16="http://schemas.microsoft.com/office/drawing/2014/main" id="{E5C9D4FF-FF72-410A-A12D-A5AC2769D8BA}"/>
              </a:ext>
            </a:extLst>
          </p:cNvPr>
          <p:cNvSpPr>
            <a:spLocks xmlns:a="http://schemas.openxmlformats.org/drawingml/2006/main" noGrp="1"/>
          </p:cNvSpPr>
          <p:nvPr/>
        </p:nvSpPr>
        <p:spPr>
          <a:xfrm xmlns:a="http://schemas.openxmlformats.org/drawingml/2006/main" rot="0">
            <a:off x="666750" y="41719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i="0">
                <a:solidFill>
                  <a:srgbClr val="142632"/>
                </a:solidFill>
                <a:latin typeface="Aptos"/>
                <a:ea typeface="Aptos"/>
                <a:cs typeface="Aptos"/>
              </a:defRPr>
            </a:pPr>
            <a:r>
              <a:rPr sz="1425" b="1" i="0">
                <a:solidFill>
                  <a:srgbClr val="142632"/>
                </a:solidFill>
                <a:latin typeface="Aptos"/>
                <a:ea typeface="Aptos"/>
                <a:cs typeface="Aptos"/>
              </a:rPr>
              <a:t>SelfTrip / AR-Trip</a:t>
            </a:r>
          </a:p>
        </p:txBody>
      </p:sp>
      <p:sp>
        <p:nvSpPr>
          <p:cNvPr id="30" name="">
            <a:extLst xmlns:a="http://schemas.openxmlformats.org/drawingml/2006/main">
              <a:ext uri="{FF2B5EF4-FFF2-40B4-BE49-F238E27FC236}">
                <a16:creationId xmlns:a16="http://schemas.microsoft.com/office/drawing/2014/main" id="{6E36933B-2011-4AE0-A236-D4A08555C7A7}"/>
              </a:ext>
            </a:extLst>
          </p:cNvPr>
          <p:cNvSpPr>
            <a:spLocks xmlns:a="http://schemas.openxmlformats.org/drawingml/2006/main" noGrp="1"/>
          </p:cNvSpPr>
          <p:nvPr/>
        </p:nvSpPr>
        <p:spPr>
          <a:xfrm xmlns:a="http://schemas.openxmlformats.org/drawingml/2006/main">
            <a:off x="2381250" y="4191000"/>
            <a:ext cx="4953000" cy="2857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89743B6-45AD-4EB1-AF16-3A6B1774E0EF}"/>
              </a:ext>
            </a:extLst>
          </p:cNvPr>
          <p:cNvSpPr>
            <a:spLocks xmlns:a="http://schemas.openxmlformats.org/drawingml/2006/main" noGrp="1"/>
          </p:cNvSpPr>
          <p:nvPr/>
        </p:nvSpPr>
        <p:spPr>
          <a:xfrm xmlns:a="http://schemas.openxmlformats.org/drawingml/2006/main">
            <a:off x="6244590" y="4191000"/>
            <a:ext cx="346710" cy="2857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274B6EE-176F-4323-ACD4-6D096C87EAB4}"/>
              </a:ext>
            </a:extLst>
          </p:cNvPr>
          <p:cNvSpPr>
            <a:spLocks xmlns:a="http://schemas.openxmlformats.org/drawingml/2006/main" noGrp="1"/>
          </p:cNvSpPr>
          <p:nvPr/>
        </p:nvSpPr>
        <p:spPr>
          <a:xfrm xmlns:a="http://schemas.openxmlformats.org/drawingml/2006/main" rot="0">
            <a:off x="6244590" y="4533900"/>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153B5B"/>
                </a:solidFill>
                <a:latin typeface="Aptos"/>
                <a:ea typeface="Aptos"/>
                <a:cs typeface="Aptos"/>
              </a:defRPr>
            </a:pPr>
            <a:r>
              <a:rPr sz="1125" b="1" i="0">
                <a:solidFill>
                  <a:srgbClr val="153B5B"/>
                </a:solidFill>
                <a:latin typeface="Aptos"/>
                <a:ea typeface="Aptos"/>
                <a:cs typeface="Aptos"/>
              </a:rPr>
              <a:t>0.78 - 0.85</a:t>
            </a:r>
          </a:p>
        </p:txBody>
      </p:sp>
      <p:sp>
        <p:nvSpPr>
          <p:cNvPr id="33" name="">
            <a:extLst xmlns:a="http://schemas.openxmlformats.org/drawingml/2006/main">
              <a:ext uri="{FF2B5EF4-FFF2-40B4-BE49-F238E27FC236}">
                <a16:creationId xmlns:a16="http://schemas.microsoft.com/office/drawing/2014/main" id="{4C76FE77-C332-44BF-A038-42E7934901AE}"/>
              </a:ext>
            </a:extLst>
          </p:cNvPr>
          <p:cNvSpPr>
            <a:spLocks xmlns:a="http://schemas.openxmlformats.org/drawingml/2006/main" noGrp="1"/>
          </p:cNvSpPr>
          <p:nvPr/>
        </p:nvSpPr>
        <p:spPr>
          <a:xfrm xmlns:a="http://schemas.openxmlformats.org/drawingml/2006/main">
            <a:off x="781050" y="5476875"/>
            <a:ext cx="6438900" cy="457200"/>
          </a:xfrm>
          <a:prstGeom xmlns:a="http://schemas.openxmlformats.org/drawingml/2006/main" prst="roundRect">
            <a:avLst>
              <a:gd name="adj" fmla="val 33333"/>
            </a:avLst>
          </a:prstGeom>
          <a:solidFill xmlns:a="http://schemas.openxmlformats.org/drawingml/2006/main">
            <a:srgbClr val="0B1F33"/>
          </a:solidFill>
          <a:ln xmlns:a="http://schemas.openxmlformats.org/drawingml/2006/main" w="9525">
            <a:solidFill>
              <a:srgbClr val="0B1F33"/>
            </a:solidFill>
            <a:prstDash val="solid"/>
          </a:ln>
        </p:spPr>
      </p:sp>
      <p:sp>
        <p:nvSpPr>
          <p:cNvPr id="34" name="">
            <a:extLst xmlns:a="http://schemas.openxmlformats.org/drawingml/2006/main">
              <a:ext uri="{FF2B5EF4-FFF2-40B4-BE49-F238E27FC236}">
                <a16:creationId xmlns:a16="http://schemas.microsoft.com/office/drawing/2014/main" id="{602A7277-FA3B-4E4E-AC66-C0EC2639B542}"/>
              </a:ext>
            </a:extLst>
          </p:cNvPr>
          <p:cNvSpPr>
            <a:spLocks xmlns:a="http://schemas.openxmlformats.org/drawingml/2006/main" noGrp="1"/>
          </p:cNvSpPr>
          <p:nvPr/>
        </p:nvSpPr>
        <p:spPr>
          <a:xfrm xmlns:a="http://schemas.openxmlformats.org/drawingml/2006/main" rot="0">
            <a:off x="990600" y="5543550"/>
            <a:ext cx="601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985"/>
          </a:bodyPr>
          <a:lstStyle xmlns:a="http://schemas.openxmlformats.org/drawingml/2006/main"/>
          <a:p xmlns:a="http://schemas.openxmlformats.org/drawingml/2006/main">
            <a:pPr algn="ctr">
              <a:lnSpc>
                <a:spcPct val="100000"/>
              </a:lnSpc>
              <a:buNone/>
              <a:defRPr sz="1275" b="1" i="0">
                <a:solidFill>
                  <a:srgbClr val="FFFFFF"/>
                </a:solidFill>
                <a:latin typeface="Aptos"/>
                <a:ea typeface="Aptos"/>
                <a:cs typeface="Aptos"/>
              </a:defRPr>
            </a:pPr>
            <a:r>
              <a:rPr sz="1275" b="1" i="0">
                <a:solidFill>
                  <a:srgbClr val="FFFFFF"/>
                </a:solidFill>
                <a:latin typeface="Aptos"/>
                <a:ea typeface="Aptos"/>
                <a:cs typeface="Aptos"/>
              </a:rPr>
              <a:t>Our classical methods reach the published scale; neural SOTA remains clearly ahead</a:t>
            </a:r>
          </a:p>
        </p:txBody>
      </p:sp>
      <p:sp>
        <p:nvSpPr>
          <p:cNvPr id="35" name="">
            <a:extLst xmlns:a="http://schemas.openxmlformats.org/drawingml/2006/main">
              <a:ext uri="{FF2B5EF4-FFF2-40B4-BE49-F238E27FC236}">
                <a16:creationId xmlns:a16="http://schemas.microsoft.com/office/drawing/2014/main" id="{A179ADBA-6365-4FB8-9438-FD192CF03061}"/>
              </a:ext>
            </a:extLst>
          </p:cNvPr>
          <p:cNvSpPr>
            <a:spLocks xmlns:a="http://schemas.openxmlformats.org/drawingml/2006/main" noGrp="1"/>
          </p:cNvSpPr>
          <p:nvPr/>
        </p:nvSpPr>
        <p:spPr>
          <a:xfrm xmlns:a="http://schemas.openxmlformats.org/drawingml/2006/main" rot="0">
            <a:off x="8191500" y="1619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USER EMBEDDING ABLATION</a:t>
            </a:r>
          </a:p>
        </p:txBody>
      </p:sp>
      <p:sp>
        <p:nvSpPr>
          <p:cNvPr id="36" name="">
            <a:extLst xmlns:a="http://schemas.openxmlformats.org/drawingml/2006/main">
              <a:ext uri="{FF2B5EF4-FFF2-40B4-BE49-F238E27FC236}">
                <a16:creationId xmlns:a16="http://schemas.microsoft.com/office/drawing/2014/main" id="{49D151D5-8508-4E5A-BC40-EF96AE98E360}"/>
              </a:ext>
            </a:extLst>
          </p:cNvPr>
          <p:cNvSpPr>
            <a:spLocks xmlns:a="http://schemas.openxmlformats.org/drawingml/2006/main" noGrp="1"/>
          </p:cNvSpPr>
          <p:nvPr/>
        </p:nvSpPr>
        <p:spPr>
          <a:xfrm xmlns:a="http://schemas.openxmlformats.org/drawingml/2006/main">
            <a:off x="8020050" y="2038350"/>
            <a:ext cx="3429000" cy="3352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CE4E9"/>
            </a:solidFill>
            <a:prstDash val="solid"/>
          </a:ln>
        </p:spPr>
      </p:sp>
      <p:sp>
        <p:nvSpPr>
          <p:cNvPr id="37" name="">
            <a:extLst xmlns:a="http://schemas.openxmlformats.org/drawingml/2006/main">
              <a:ext uri="{FF2B5EF4-FFF2-40B4-BE49-F238E27FC236}">
                <a16:creationId xmlns:a16="http://schemas.microsoft.com/office/drawing/2014/main" id="{572DD3DC-1D55-4982-AA99-CE49B1B73637}"/>
              </a:ext>
            </a:extLst>
          </p:cNvPr>
          <p:cNvSpPr>
            <a:spLocks xmlns:a="http://schemas.openxmlformats.org/drawingml/2006/main" noGrp="1"/>
          </p:cNvSpPr>
          <p:nvPr/>
        </p:nvSpPr>
        <p:spPr>
          <a:xfrm xmlns:a="http://schemas.openxmlformats.org/drawingml/2006/main" flipV="0">
            <a:off x="8477250" y="3857625"/>
            <a:ext cx="2524125" cy="0"/>
          </a:xfrm>
          <a:prstGeom xmlns:a="http://schemas.openxmlformats.org/drawingml/2006/main" prst="line">
            <a:avLst/>
          </a:prstGeom>
          <a:noFill xmlns:a="http://schemas.openxmlformats.org/drawingml/2006/main"/>
          <a:ln xmlns:a="http://schemas.openxmlformats.org/drawingml/2006/main" w="19050">
            <a:solidFill>
              <a:srgbClr val="5A6C79"/>
            </a:solidFill>
            <a:prstDash val="solid"/>
          </a:ln>
        </p:spPr>
      </p:sp>
      <p:sp>
        <p:nvSpPr>
          <p:cNvPr id="38" name="">
            <a:extLst xmlns:a="http://schemas.openxmlformats.org/drawingml/2006/main">
              <a:ext uri="{FF2B5EF4-FFF2-40B4-BE49-F238E27FC236}">
                <a16:creationId xmlns:a16="http://schemas.microsoft.com/office/drawing/2014/main" id="{01C698FB-01E3-4AF6-A27B-E279E79C286C}"/>
              </a:ext>
            </a:extLst>
          </p:cNvPr>
          <p:cNvSpPr>
            <a:spLocks xmlns:a="http://schemas.openxmlformats.org/drawingml/2006/main" noGrp="1"/>
          </p:cNvSpPr>
          <p:nvPr/>
        </p:nvSpPr>
        <p:spPr>
          <a:xfrm xmlns:a="http://schemas.openxmlformats.org/drawingml/2006/main">
            <a:off x="8763000" y="2771775"/>
            <a:ext cx="495300" cy="1085850"/>
          </a:xfrm>
          <a:prstGeom xmlns:a="http://schemas.openxmlformats.org/drawingml/2006/main" prst="rect">
            <a:avLst/>
          </a:prstGeom>
          <a:solidFill xmlns:a="http://schemas.openxmlformats.org/drawingml/2006/main">
            <a:srgbClr val="3B8F6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0D5731D-B1D0-4F98-AAB9-CE163C62FCD9}"/>
              </a:ext>
            </a:extLst>
          </p:cNvPr>
          <p:cNvSpPr>
            <a:spLocks xmlns:a="http://schemas.openxmlformats.org/drawingml/2006/main" noGrp="1"/>
          </p:cNvSpPr>
          <p:nvPr/>
        </p:nvSpPr>
        <p:spPr>
          <a:xfrm xmlns:a="http://schemas.openxmlformats.org/drawingml/2006/main" rot="0">
            <a:off x="8629650" y="28479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FFFFFF"/>
                </a:solidFill>
                <a:latin typeface="Aptos"/>
                <a:ea typeface="Aptos"/>
                <a:cs typeface="Aptos"/>
              </a:defRPr>
            </a:pPr>
            <a:r>
              <a:rPr sz="1200" b="1" i="0">
                <a:solidFill>
                  <a:srgbClr val="FFFFFF"/>
                </a:solidFill>
                <a:latin typeface="Aptos"/>
                <a:ea typeface="Aptos"/>
                <a:cs typeface="Aptos"/>
              </a:rPr>
              <a:t>+0.038</a:t>
            </a:r>
          </a:p>
        </p:txBody>
      </p:sp>
      <p:sp>
        <p:nvSpPr>
          <p:cNvPr id="40" name="">
            <a:extLst xmlns:a="http://schemas.openxmlformats.org/drawingml/2006/main">
              <a:ext uri="{FF2B5EF4-FFF2-40B4-BE49-F238E27FC236}">
                <a16:creationId xmlns:a16="http://schemas.microsoft.com/office/drawing/2014/main" id="{56B63CD2-AC83-42CB-8C4A-05455949A820}"/>
              </a:ext>
            </a:extLst>
          </p:cNvPr>
          <p:cNvSpPr>
            <a:spLocks xmlns:a="http://schemas.openxmlformats.org/drawingml/2006/main" noGrp="1"/>
          </p:cNvSpPr>
          <p:nvPr/>
        </p:nvSpPr>
        <p:spPr>
          <a:xfrm xmlns:a="http://schemas.openxmlformats.org/drawingml/2006/main" rot="0">
            <a:off x="8572500" y="47625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Glasgow</a:t>
            </a:r>
          </a:p>
        </p:txBody>
      </p:sp>
      <p:sp>
        <p:nvSpPr>
          <p:cNvPr id="41" name="">
            <a:extLst xmlns:a="http://schemas.openxmlformats.org/drawingml/2006/main">
              <a:ext uri="{FF2B5EF4-FFF2-40B4-BE49-F238E27FC236}">
                <a16:creationId xmlns:a16="http://schemas.microsoft.com/office/drawing/2014/main" id="{5A82469E-1C64-4DCC-A317-2FD9E5B06991}"/>
              </a:ext>
            </a:extLst>
          </p:cNvPr>
          <p:cNvSpPr>
            <a:spLocks xmlns:a="http://schemas.openxmlformats.org/drawingml/2006/main" noGrp="1"/>
          </p:cNvSpPr>
          <p:nvPr/>
        </p:nvSpPr>
        <p:spPr>
          <a:xfrm xmlns:a="http://schemas.openxmlformats.org/drawingml/2006/main">
            <a:off x="9639300" y="3857625"/>
            <a:ext cx="495300" cy="2000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D48EA51-AC1A-45C2-BE12-D2B84B324C87}"/>
              </a:ext>
            </a:extLst>
          </p:cNvPr>
          <p:cNvSpPr>
            <a:spLocks xmlns:a="http://schemas.openxmlformats.org/drawingml/2006/main" noGrp="1"/>
          </p:cNvSpPr>
          <p:nvPr/>
        </p:nvSpPr>
        <p:spPr>
          <a:xfrm xmlns:a="http://schemas.openxmlformats.org/drawingml/2006/main" rot="0">
            <a:off x="9505950" y="41052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-0.007</a:t>
            </a:r>
          </a:p>
        </p:txBody>
      </p:sp>
      <p:sp>
        <p:nvSpPr>
          <p:cNvPr id="43" name="">
            <a:extLst xmlns:a="http://schemas.openxmlformats.org/drawingml/2006/main">
              <a:ext uri="{FF2B5EF4-FFF2-40B4-BE49-F238E27FC236}">
                <a16:creationId xmlns:a16="http://schemas.microsoft.com/office/drawing/2014/main" id="{BC8186FA-FF8F-46A8-A3B4-3512F3E8DFE1}"/>
              </a:ext>
            </a:extLst>
          </p:cNvPr>
          <p:cNvSpPr>
            <a:spLocks xmlns:a="http://schemas.openxmlformats.org/drawingml/2006/main" noGrp="1"/>
          </p:cNvSpPr>
          <p:nvPr/>
        </p:nvSpPr>
        <p:spPr>
          <a:xfrm xmlns:a="http://schemas.openxmlformats.org/drawingml/2006/main" rot="0">
            <a:off x="9448800" y="47625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Osaka</a:t>
            </a:r>
          </a:p>
        </p:txBody>
      </p:sp>
      <p:sp>
        <p:nvSpPr>
          <p:cNvPr id="44" name="">
            <a:extLst xmlns:a="http://schemas.openxmlformats.org/drawingml/2006/main">
              <a:ext uri="{FF2B5EF4-FFF2-40B4-BE49-F238E27FC236}">
                <a16:creationId xmlns:a16="http://schemas.microsoft.com/office/drawing/2014/main" id="{FD4AFC8A-46B3-46F4-90D1-B2032DCB09E5}"/>
              </a:ext>
            </a:extLst>
          </p:cNvPr>
          <p:cNvSpPr>
            <a:spLocks xmlns:a="http://schemas.openxmlformats.org/drawingml/2006/main" noGrp="1"/>
          </p:cNvSpPr>
          <p:nvPr/>
        </p:nvSpPr>
        <p:spPr>
          <a:xfrm xmlns:a="http://schemas.openxmlformats.org/drawingml/2006/main">
            <a:off x="10515600" y="3857625"/>
            <a:ext cx="495300" cy="485775"/>
          </a:xfrm>
          <a:prstGeom xmlns:a="http://schemas.openxmlformats.org/drawingml/2006/main" prst="rect">
            <a:avLst/>
          </a:prstGeom>
          <a:solidFill xmlns:a="http://schemas.openxmlformats.org/drawingml/2006/main">
            <a:srgbClr val="C94F4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EABC242-C808-4D50-9CAC-82FC3B2F7B15}"/>
              </a:ext>
            </a:extLst>
          </p:cNvPr>
          <p:cNvSpPr>
            <a:spLocks xmlns:a="http://schemas.openxmlformats.org/drawingml/2006/main" noGrp="1"/>
          </p:cNvSpPr>
          <p:nvPr/>
        </p:nvSpPr>
        <p:spPr>
          <a:xfrm xmlns:a="http://schemas.openxmlformats.org/drawingml/2006/main" rot="0">
            <a:off x="10382250" y="4391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C94F4F"/>
                </a:solidFill>
                <a:latin typeface="Aptos"/>
                <a:ea typeface="Aptos"/>
                <a:cs typeface="Aptos"/>
              </a:defRPr>
            </a:pPr>
            <a:r>
              <a:rPr sz="1200" b="1" i="0">
                <a:solidFill>
                  <a:srgbClr val="C94F4F"/>
                </a:solidFill>
                <a:latin typeface="Aptos"/>
                <a:ea typeface="Aptos"/>
                <a:cs typeface="Aptos"/>
              </a:rPr>
              <a:t>-0.017</a:t>
            </a:r>
          </a:p>
        </p:txBody>
      </p:sp>
      <p:sp>
        <p:nvSpPr>
          <p:cNvPr id="46" name="">
            <a:extLst xmlns:a="http://schemas.openxmlformats.org/drawingml/2006/main">
              <a:ext uri="{FF2B5EF4-FFF2-40B4-BE49-F238E27FC236}">
                <a16:creationId xmlns:a16="http://schemas.microsoft.com/office/drawing/2014/main" id="{972879A5-1251-4580-BC79-46550267F257}"/>
              </a:ext>
            </a:extLst>
          </p:cNvPr>
          <p:cNvSpPr>
            <a:spLocks xmlns:a="http://schemas.openxmlformats.org/drawingml/2006/main" noGrp="1"/>
          </p:cNvSpPr>
          <p:nvPr/>
        </p:nvSpPr>
        <p:spPr>
          <a:xfrm xmlns:a="http://schemas.openxmlformats.org/drawingml/2006/main" rot="0">
            <a:off x="10325100" y="47625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Toronto</a:t>
            </a:r>
          </a:p>
        </p:txBody>
      </p:sp>
      <p:sp>
        <p:nvSpPr>
          <p:cNvPr id="47" name="">
            <a:extLst xmlns:a="http://schemas.openxmlformats.org/drawingml/2006/main">
              <a:ext uri="{FF2B5EF4-FFF2-40B4-BE49-F238E27FC236}">
                <a16:creationId xmlns:a16="http://schemas.microsoft.com/office/drawing/2014/main" id="{0698BA6A-2F59-4872-A9B2-084199F4E51A}"/>
              </a:ext>
            </a:extLst>
          </p:cNvPr>
          <p:cNvSpPr>
            <a:spLocks xmlns:a="http://schemas.openxmlformats.org/drawingml/2006/main" noGrp="1"/>
          </p:cNvSpPr>
          <p:nvPr/>
        </p:nvSpPr>
        <p:spPr>
          <a:xfrm xmlns:a="http://schemas.openxmlformats.org/drawingml/2006/main" rot="0">
            <a:off x="8334375" y="2238375"/>
            <a:ext cx="2800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887"/>
          </a:bodyPr>
          <a:lstStyle xmlns:a="http://schemas.openxmlformats.org/drawingml/2006/main"/>
          <a:p xmlns:a="http://schemas.openxmlformats.org/drawingml/2006/main">
            <a:pPr algn="ctr">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Personalization helps only when enough user history survives leave-one-out</a:t>
            </a:r>
          </a:p>
        </p:txBody>
      </p:sp>
      <p:sp>
        <p:nvSpPr>
          <p:cNvPr id="48" name="">
            <a:extLst xmlns:a="http://schemas.openxmlformats.org/drawingml/2006/main">
              <a:ext uri="{FF2B5EF4-FFF2-40B4-BE49-F238E27FC236}">
                <a16:creationId xmlns:a16="http://schemas.microsoft.com/office/drawing/2014/main" id="{12E043A2-29E1-45E9-A66C-AF7E0BD20C20}"/>
              </a:ext>
            </a:extLst>
          </p:cNvPr>
          <p:cNvSpPr>
            <a:spLocks xmlns:a="http://schemas.openxmlformats.org/drawingml/2006/main" noGrp="1"/>
          </p:cNvSpPr>
          <p:nvPr/>
        </p:nvSpPr>
        <p:spPr>
          <a:xfrm xmlns:a="http://schemas.openxmlformats.org/drawingml/2006/main" rot="0">
            <a:off x="8420100" y="5095875"/>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0" i="1">
                <a:solidFill>
                  <a:srgbClr val="5A6C79"/>
                </a:solidFill>
                <a:latin typeface="Aptos"/>
                <a:ea typeface="Aptos"/>
                <a:cs typeface="Aptos"/>
              </a:defRPr>
            </a:pPr>
            <a:r>
              <a:rPr sz="975" b="0" i="1">
                <a:solidFill>
                  <a:srgbClr val="5A6C79"/>
                </a:solidFill>
                <a:latin typeface="Aptos"/>
                <a:ea typeface="Aptos"/>
                <a:cs typeface="Aptos"/>
              </a:rPr>
              <a:t>Separate 30-epoch ablation</a:t>
            </a:r>
          </a:p>
        </p:txBody>
      </p:sp>
      <p:sp>
        <p:nvSpPr>
          <p:cNvPr id="49" name="">
            <a:extLst xmlns:a="http://schemas.openxmlformats.org/drawingml/2006/main">
              <a:ext uri="{FF2B5EF4-FFF2-40B4-BE49-F238E27FC236}">
                <a16:creationId xmlns:a16="http://schemas.microsoft.com/office/drawing/2014/main" id="{52F81BF3-3605-4B78-B397-383AF6F915B2}"/>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Tables 3.6-3.8 and Figure 3.5. The ablation is separate from the main Trained Pointer run.</a:t>
            </a:r>
          </a:p>
        </p:txBody>
      </p:sp>
    </p:spTree>
    <p:extLst>
      <p:ext uri="{BB962C8B-B14F-4D97-AF65-F5344CB8AC3E}">
        <p14:creationId xmlns:p14="http://schemas.microsoft.com/office/powerpoint/2010/main" val="1082175260"/>
      </p:ext>
    </p:extLst>
  </p:cSld>
</p:sld>
</file>

<file path=ppt/slides/slide1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03593A7-1B7D-41E7-85EA-F7016755C122}"/>
              </a:ext>
            </a:extLst>
          </p:cNvPr>
          <p:cNvSpPr>
            <a:spLocks xmlns:a="http://schemas.openxmlformats.org/drawingml/2006/main" noGrp="1"/>
          </p:cNvSpPr>
          <p:nvPr/>
        </p:nvSpPr>
        <p:spPr>
          <a:xfrm xmlns:a="http://schemas.openxmlformats.org/drawingml/2006/main" rot="0">
            <a:off x="647700" y="4381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THREE RESULTS TO REMEMBER</a:t>
            </a:r>
          </a:p>
        </p:txBody>
      </p:sp>
      <p:sp>
        <p:nvSpPr>
          <p:cNvPr id="2" name="">
            <a:extLst xmlns:a="http://schemas.openxmlformats.org/drawingml/2006/main">
              <a:ext uri="{FF2B5EF4-FFF2-40B4-BE49-F238E27FC236}">
                <a16:creationId xmlns:a16="http://schemas.microsoft.com/office/drawing/2014/main" id="{85F3584D-4ABD-42FD-9FD9-C48C9AD29D43}"/>
              </a:ext>
            </a:extLst>
          </p:cNvPr>
          <p:cNvSpPr>
            <a:spLocks xmlns:a="http://schemas.openxmlformats.org/drawingml/2006/main" noGrp="1"/>
          </p:cNvSpPr>
          <p:nvPr/>
        </p:nvSpPr>
        <p:spPr>
          <a:xfrm xmlns:a="http://schemas.openxmlformats.org/drawingml/2006/main" rot="0">
            <a:off x="647700" y="876300"/>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150" b="1" i="0">
                <a:solidFill>
                  <a:srgbClr val="FFFFFF"/>
                </a:solidFill>
                <a:latin typeface="Aptos"/>
                <a:ea typeface="Aptos"/>
                <a:cs typeface="Aptos"/>
              </a:defRPr>
            </a:pPr>
            <a:r>
              <a:rPr sz="3150" b="1" i="0">
                <a:solidFill>
                  <a:srgbClr val="FFFFFF"/>
                </a:solidFill>
                <a:latin typeface="Aptos"/>
                <a:ea typeface="Aptos"/>
                <a:cs typeface="Aptos"/>
              </a:rPr>
              <a:t>A defensible path from prediction to itinerary</a:t>
            </a:r>
          </a:p>
        </p:txBody>
      </p:sp>
      <p:sp>
        <p:nvSpPr>
          <p:cNvPr id="3" name="">
            <a:extLst xmlns:a="http://schemas.openxmlformats.org/drawingml/2006/main">
              <a:ext uri="{FF2B5EF4-FFF2-40B4-BE49-F238E27FC236}">
                <a16:creationId xmlns:a16="http://schemas.microsoft.com/office/drawing/2014/main" id="{27CE6C17-30D1-41B4-9873-FC5EA83C117E}"/>
              </a:ext>
            </a:extLst>
          </p:cNvPr>
          <p:cNvSpPr>
            <a:spLocks xmlns:a="http://schemas.openxmlformats.org/drawingml/2006/main" noGrp="1"/>
          </p:cNvSpPr>
          <p:nvPr/>
        </p:nvSpPr>
        <p:spPr>
          <a:xfrm xmlns:a="http://schemas.openxmlformats.org/drawingml/2006/main">
            <a:off x="1247775" y="3057525"/>
            <a:ext cx="742950" cy="74295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1</a:t>
            </a:r>
          </a:p>
        </p:txBody>
      </p:sp>
      <p:sp>
        <p:nvSpPr>
          <p:cNvPr id="4" name="">
            <a:extLst xmlns:a="http://schemas.openxmlformats.org/drawingml/2006/main">
              <a:ext uri="{FF2B5EF4-FFF2-40B4-BE49-F238E27FC236}">
                <a16:creationId xmlns:a16="http://schemas.microsoft.com/office/drawing/2014/main" id="{0424D350-FEBC-4F89-B04F-7B26736FCE1D}"/>
              </a:ext>
            </a:extLst>
          </p:cNvPr>
          <p:cNvSpPr>
            <a:spLocks xmlns:a="http://schemas.openxmlformats.org/drawingml/2006/main" noGrp="1"/>
          </p:cNvSpPr>
          <p:nvPr/>
        </p:nvSpPr>
        <p:spPr>
          <a:xfrm xmlns:a="http://schemas.openxmlformats.org/drawingml/2006/main">
            <a:off x="5724525" y="3057525"/>
            <a:ext cx="742950" cy="7429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2</a:t>
            </a:r>
          </a:p>
        </p:txBody>
      </p:sp>
      <p:sp>
        <p:nvSpPr>
          <p:cNvPr id="5" name="">
            <a:extLst xmlns:a="http://schemas.openxmlformats.org/drawingml/2006/main">
              <a:ext uri="{FF2B5EF4-FFF2-40B4-BE49-F238E27FC236}">
                <a16:creationId xmlns:a16="http://schemas.microsoft.com/office/drawing/2014/main" id="{C743D9EB-8887-464B-AEBD-4DA93606B6E6}"/>
              </a:ext>
            </a:extLst>
          </p:cNvPr>
          <p:cNvSpPr>
            <a:spLocks xmlns:a="http://schemas.openxmlformats.org/drawingml/2006/main" noGrp="1"/>
          </p:cNvSpPr>
          <p:nvPr/>
        </p:nvSpPr>
        <p:spPr>
          <a:xfrm xmlns:a="http://schemas.openxmlformats.org/drawingml/2006/main">
            <a:off x="10201275" y="3057525"/>
            <a:ext cx="742950" cy="7429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3</a:t>
            </a:r>
          </a:p>
        </p:txBody>
      </p:sp>
      <p:cxnSp>
        <p:nvCxnSpPr>
          <p:cNvPr id="23" name=""/>
          <p:cNvCxnSpPr>
            <a:stCxn xmlns:a="http://schemas.openxmlformats.org/drawingml/2006/main" id="3" idx="6"/>
            <a:endCxn xmlns:a="http://schemas.openxmlformats.org/drawingml/2006/main" id="4" idx="2"/>
          </p:cNvCxnSpPr>
          <p:nvPr/>
        </p:nvCxnSpPr>
        <p:spPr>
          <a:xfrm xmlns:a="http://schemas.openxmlformats.org/drawingml/2006/main">
            <a:off x="1990725" y="3429000"/>
            <a:ext cx="3733800" cy="0"/>
          </a:xfrm>
          <a:prstGeom xmlns:a="http://schemas.openxmlformats.org/drawingml/2006/main" prst="straightConnector1">
            <a:avLst/>
          </a:prstGeom>
          <a:ln xmlns:a="http://schemas.openxmlformats.org/drawingml/2006/main" w="47625">
            <a:solidFill>
              <a:srgbClr val="5A7891"/>
            </a:solidFill>
            <a:prstDash val="solid"/>
            <a:headEnd type="none" w="med" len="med"/>
            <a:tailEnd type="triangle" w="sm" len="sm"/>
          </a:ln>
        </p:spPr>
      </p:cxnSp>
      <p:cxnSp>
        <p:nvCxnSpPr>
          <p:cNvPr id="24" name=""/>
          <p:cNvCxnSpPr>
            <a:stCxn xmlns:a="http://schemas.openxmlformats.org/drawingml/2006/main" id="4" idx="6"/>
            <a:endCxn xmlns:a="http://schemas.openxmlformats.org/drawingml/2006/main" id="5" idx="2"/>
          </p:cNvCxnSpPr>
          <p:nvPr/>
        </p:nvCxnSpPr>
        <p:spPr>
          <a:xfrm xmlns:a="http://schemas.openxmlformats.org/drawingml/2006/main">
            <a:off x="6467475" y="3429000"/>
            <a:ext cx="3733800" cy="0"/>
          </a:xfrm>
          <a:prstGeom xmlns:a="http://schemas.openxmlformats.org/drawingml/2006/main" prst="straightConnector1">
            <a:avLst/>
          </a:prstGeom>
          <a:ln xmlns:a="http://schemas.openxmlformats.org/drawingml/2006/main" w="47625">
            <a:solidFill>
              <a:srgbClr val="5A7891"/>
            </a:solidFill>
            <a:prstDash val="solid"/>
            <a:headEnd type="none" w="med" len="med"/>
            <a:tailEnd type="triangle" w="sm" len="sm"/>
          </a:ln>
        </p:spPr>
      </p:cxnSp>
      <p:sp>
        <p:nvSpPr>
          <p:cNvPr id="8" name="">
            <a:extLst xmlns:a="http://schemas.openxmlformats.org/drawingml/2006/main">
              <a:ext uri="{FF2B5EF4-FFF2-40B4-BE49-F238E27FC236}">
                <a16:creationId xmlns:a16="http://schemas.microsoft.com/office/drawing/2014/main" id="{286959F9-D66F-4E81-ABD6-86CB538229F3}"/>
              </a:ext>
            </a:extLst>
          </p:cNvPr>
          <p:cNvSpPr>
            <a:spLocks xmlns:a="http://schemas.openxmlformats.org/drawingml/2006/main" noGrp="1"/>
          </p:cNvSpPr>
          <p:nvPr/>
        </p:nvSpPr>
        <p:spPr>
          <a:xfrm xmlns:a="http://schemas.openxmlformats.org/drawingml/2006/main" rot="0">
            <a:off x="6667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0.187 HR@1</a:t>
            </a:r>
          </a:p>
        </p:txBody>
      </p:sp>
      <p:sp>
        <p:nvSpPr>
          <p:cNvPr id="9" name="">
            <a:extLst xmlns:a="http://schemas.openxmlformats.org/drawingml/2006/main">
              <a:ext uri="{FF2B5EF4-FFF2-40B4-BE49-F238E27FC236}">
                <a16:creationId xmlns:a16="http://schemas.microsoft.com/office/drawing/2014/main" id="{2A89341D-63E7-46A7-B575-C3164F924B35}"/>
              </a:ext>
            </a:extLst>
          </p:cNvPr>
          <p:cNvSpPr>
            <a:spLocks xmlns:a="http://schemas.openxmlformats.org/drawingml/2006/main" noGrp="1"/>
          </p:cNvSpPr>
          <p:nvPr/>
        </p:nvSpPr>
        <p:spPr>
          <a:xfrm xmlns:a="http://schemas.openxmlformats.org/drawingml/2006/main" rot="0">
            <a:off x="6667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honest next-POI engine</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~5,100 NYC candidates</a:t>
            </a:r>
          </a:p>
        </p:txBody>
      </p:sp>
      <p:sp>
        <p:nvSpPr>
          <p:cNvPr id="10" name="">
            <a:extLst xmlns:a="http://schemas.openxmlformats.org/drawingml/2006/main">
              <a:ext uri="{FF2B5EF4-FFF2-40B4-BE49-F238E27FC236}">
                <a16:creationId xmlns:a16="http://schemas.microsoft.com/office/drawing/2014/main" id="{D7ABB3BC-A10C-4E0F-A0EC-0083A5703C18}"/>
              </a:ext>
            </a:extLst>
          </p:cNvPr>
          <p:cNvSpPr>
            <a:spLocks xmlns:a="http://schemas.openxmlformats.org/drawingml/2006/main" noGrp="1"/>
          </p:cNvSpPr>
          <p:nvPr/>
        </p:nvSpPr>
        <p:spPr>
          <a:xfrm xmlns:a="http://schemas.openxmlformats.org/drawingml/2006/main" rot="0">
            <a:off x="46672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0.289 &gt; 0.259</a:t>
            </a:r>
          </a:p>
        </p:txBody>
      </p:sp>
      <p:sp>
        <p:nvSpPr>
          <p:cNvPr id="11" name="">
            <a:extLst xmlns:a="http://schemas.openxmlformats.org/drawingml/2006/main">
              <a:ext uri="{FF2B5EF4-FFF2-40B4-BE49-F238E27FC236}">
                <a16:creationId xmlns:a16="http://schemas.microsoft.com/office/drawing/2014/main" id="{F0B24D48-CD16-4164-B2A1-7CB64B37AA18}"/>
              </a:ext>
            </a:extLst>
          </p:cNvPr>
          <p:cNvSpPr>
            <a:spLocks xmlns:a="http://schemas.openxmlformats.org/drawingml/2006/main" noGrp="1"/>
          </p:cNvSpPr>
          <p:nvPr/>
        </p:nvSpPr>
        <p:spPr>
          <a:xfrm xmlns:a="http://schemas.openxmlformats.org/drawingml/2006/main" rot="0">
            <a:off x="46672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Frozen Rollout beats</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the Trained Pointer</a:t>
            </a:r>
          </a:p>
        </p:txBody>
      </p:sp>
      <p:sp>
        <p:nvSpPr>
          <p:cNvPr id="12" name="">
            <a:extLst xmlns:a="http://schemas.openxmlformats.org/drawingml/2006/main">
              <a:ext uri="{FF2B5EF4-FFF2-40B4-BE49-F238E27FC236}">
                <a16:creationId xmlns:a16="http://schemas.microsoft.com/office/drawing/2014/main" id="{8375629F-068C-4598-95AA-09D8C3757DD7}"/>
              </a:ext>
            </a:extLst>
          </p:cNvPr>
          <p:cNvSpPr>
            <a:spLocks xmlns:a="http://schemas.openxmlformats.org/drawingml/2006/main" noGrp="1"/>
          </p:cNvSpPr>
          <p:nvPr/>
        </p:nvSpPr>
        <p:spPr>
          <a:xfrm xmlns:a="http://schemas.openxmlformats.org/drawingml/2006/main" rot="0">
            <a:off x="86677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max gap 0.021</a:t>
            </a:r>
          </a:p>
        </p:txBody>
      </p:sp>
      <p:sp>
        <p:nvSpPr>
          <p:cNvPr id="13" name="">
            <a:extLst xmlns:a="http://schemas.openxmlformats.org/drawingml/2006/main">
              <a:ext uri="{FF2B5EF4-FFF2-40B4-BE49-F238E27FC236}">
                <a16:creationId xmlns:a16="http://schemas.microsoft.com/office/drawing/2014/main" id="{8B120641-AFE2-4165-ACF5-DE1519EAB344}"/>
              </a:ext>
            </a:extLst>
          </p:cNvPr>
          <p:cNvSpPr>
            <a:spLocks xmlns:a="http://schemas.openxmlformats.org/drawingml/2006/main" noGrp="1"/>
          </p:cNvSpPr>
          <p:nvPr/>
        </p:nvSpPr>
        <p:spPr>
          <a:xfrm xmlns:a="http://schemas.openxmlformats.org/drawingml/2006/main" rot="0">
            <a:off x="86677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Flickr Benchmark reproduces</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Chen 2016 Random</a:t>
            </a:r>
          </a:p>
        </p:txBody>
      </p:sp>
      <p:sp>
        <p:nvSpPr>
          <p:cNvPr id="14" name="">
            <a:extLst xmlns:a="http://schemas.openxmlformats.org/drawingml/2006/main">
              <a:ext uri="{FF2B5EF4-FFF2-40B4-BE49-F238E27FC236}">
                <a16:creationId xmlns:a16="http://schemas.microsoft.com/office/drawing/2014/main" id="{743AA892-D909-43EC-8C16-76E5A0EB854F}"/>
              </a:ext>
            </a:extLst>
          </p:cNvPr>
          <p:cNvSpPr>
            <a:spLocks xmlns:a="http://schemas.openxmlformats.org/drawingml/2006/main" noGrp="1"/>
          </p:cNvSpPr>
          <p:nvPr/>
        </p:nvSpPr>
        <p:spPr>
          <a:xfrm xmlns:a="http://schemas.openxmlformats.org/drawingml/2006/main">
            <a:off x="2095500" y="5581650"/>
            <a:ext cx="8001000" cy="476250"/>
          </a:xfrm>
          <a:prstGeom xmlns:a="http://schemas.openxmlformats.org/drawingml/2006/main" prst="roundRect">
            <a:avLst>
              <a:gd name="adj" fmla="val 36000"/>
            </a:avLst>
          </a:prstGeom>
          <a:solidFill xmlns:a="http://schemas.openxmlformats.org/drawingml/2006/main">
            <a:srgbClr val="153B5B"/>
          </a:solidFill>
          <a:ln xmlns:a="http://schemas.openxmlformats.org/drawingml/2006/main" w="9525">
            <a:solidFill>
              <a:srgbClr val="153B5B"/>
            </a:solidFill>
            <a:prstDash val="solid"/>
          </a:ln>
        </p:spPr>
      </p:sp>
      <p:sp>
        <p:nvSpPr>
          <p:cNvPr id="15" name="">
            <a:extLst xmlns:a="http://schemas.openxmlformats.org/drawingml/2006/main">
              <a:ext uri="{FF2B5EF4-FFF2-40B4-BE49-F238E27FC236}">
                <a16:creationId xmlns:a16="http://schemas.microsoft.com/office/drawing/2014/main" id="{8F7407AE-79FA-415E-9A74-0C5B6573A204}"/>
              </a:ext>
            </a:extLst>
          </p:cNvPr>
          <p:cNvSpPr>
            <a:spLocks xmlns:a="http://schemas.openxmlformats.org/drawingml/2006/main" noGrp="1"/>
          </p:cNvSpPr>
          <p:nvPr/>
        </p:nvSpPr>
        <p:spPr>
          <a:xfrm xmlns:a="http://schemas.openxmlformats.org/drawingml/2006/main" rot="0">
            <a:off x="2381250" y="5676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ptos"/>
                <a:ea typeface="Aptos"/>
                <a:cs typeface="Aptos"/>
              </a:defRPr>
            </a:pPr>
            <a:r>
              <a:rPr sz="1575" b="1" i="0">
                <a:solidFill>
                  <a:srgbClr val="FFFFFF"/>
                </a:solidFill>
                <a:latin typeface="Aptos"/>
                <a:ea typeface="Aptos"/>
                <a:cs typeface="Aptos"/>
              </a:rPr>
              <a:t>Compare only when dataset + protocol + metric are identical</a:t>
            </a:r>
          </a:p>
        </p:txBody>
      </p:sp>
      <p:sp>
        <p:nvSpPr>
          <p:cNvPr id="16" name="">
            <a:extLst xmlns:a="http://schemas.openxmlformats.org/drawingml/2006/main">
              <a:ext uri="{FF2B5EF4-FFF2-40B4-BE49-F238E27FC236}">
                <a16:creationId xmlns:a16="http://schemas.microsoft.com/office/drawing/2014/main" id="{79A4C4E2-3F16-4706-BB96-5233F386DDC5}"/>
              </a:ext>
            </a:extLst>
          </p:cNvPr>
          <p:cNvSpPr>
            <a:spLocks xmlns:a="http://schemas.openxmlformats.org/drawingml/2006/main" noGrp="1"/>
          </p:cNvSpPr>
          <p:nvPr/>
        </p:nvSpPr>
        <p:spPr>
          <a:xfrm xmlns:a="http://schemas.openxmlformats.org/drawingml/2006/main" rot="0">
            <a:off x="9810750" y="63246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Questions</a:t>
            </a:r>
          </a:p>
        </p:txBody>
      </p:sp>
      <p:sp>
        <p:nvSpPr>
          <p:cNvPr id="17" name="">
            <a:extLst xmlns:a="http://schemas.openxmlformats.org/drawingml/2006/main">
              <a:ext uri="{FF2B5EF4-FFF2-40B4-BE49-F238E27FC236}">
                <a16:creationId xmlns:a16="http://schemas.microsoft.com/office/drawing/2014/main" id="{61117DD9-D50A-44D0-A118-D51EFD283389}"/>
              </a:ext>
            </a:extLst>
          </p:cNvPr>
          <p:cNvSpPr>
            <a:spLocks xmlns:a="http://schemas.openxmlformats.org/drawingml/2006/main" noGrp="1"/>
          </p:cNvSpPr>
          <p:nvPr/>
        </p:nvSpPr>
        <p:spPr>
          <a:xfrm xmlns:a="http://schemas.openxmlformats.org/drawingml/2006/main" rot="0">
            <a:off x="647700" y="63246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i="0">
                <a:solidFill>
                  <a:srgbClr val="AFC0CD"/>
                </a:solidFill>
                <a:latin typeface="Aptos"/>
                <a:ea typeface="Aptos"/>
                <a:cs typeface="Aptos"/>
              </a:defRPr>
            </a:pPr>
            <a:r>
              <a:rPr sz="975" b="0" i="0">
                <a:solidFill>
                  <a:srgbClr val="AFC0CD"/>
                </a:solidFill>
                <a:latin typeface="Aptos"/>
                <a:ea typeface="Aptos"/>
                <a:cs typeface="Aptos"/>
              </a:rPr>
              <a:t>Ayman Naaimi · ENSAM Meknes</a:t>
            </a:r>
          </a:p>
        </p:txBody>
      </p:sp>
    </p:spTree>
    <p:extLst>
      <p:ext uri="{BB962C8B-B14F-4D97-AF65-F5344CB8AC3E}">
        <p14:creationId xmlns:p14="http://schemas.microsoft.com/office/powerpoint/2010/main" val="78284964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4356625A-5E5B-443E-97E8-877E0C2AED07}"/>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FC41758C-092E-4CC7-A647-925FB30BEA16}"/>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Data preparation and evaluation protocols</a:t>
            </a:r>
          </a:p>
        </p:txBody>
      </p:sp>
      <p:sp>
        <p:nvSpPr>
          <p:cNvPr id="3" name="title-accent">
            <a:extLst xmlns:a="http://schemas.openxmlformats.org/drawingml/2006/main">
              <a:ext uri="{FF2B5EF4-FFF2-40B4-BE49-F238E27FC236}">
                <a16:creationId xmlns:a16="http://schemas.microsoft.com/office/drawing/2014/main" id="{C68BCCBB-D2AE-439F-AF3B-125CAB879A69}"/>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747FEE-8A67-4484-B6A4-67A0EED434D6}"/>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03CBF6E0-0499-4F68-AE6E-C8252144E90E}"/>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8FDC4504-AF79-4819-AC98-89B72BC15162}"/>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1</a:t>
            </a:r>
          </a:p>
        </p:txBody>
      </p:sp>
      <p:sp>
        <p:nvSpPr>
          <p:cNvPr id="7" name="">
            <a:extLst xmlns:a="http://schemas.openxmlformats.org/drawingml/2006/main">
              <a:ext uri="{FF2B5EF4-FFF2-40B4-BE49-F238E27FC236}">
                <a16:creationId xmlns:a16="http://schemas.microsoft.com/office/drawing/2014/main" id="{B217F1E0-1FA5-4E0C-9CB0-5822DFF28969}"/>
              </a:ext>
            </a:extLst>
          </p:cNvPr>
          <p:cNvSpPr>
            <a:spLocks xmlns:a="http://schemas.openxmlformats.org/drawingml/2006/main" noGrp="1"/>
          </p:cNvSpPr>
          <p:nvPr/>
        </p:nvSpPr>
        <p:spPr>
          <a:xfrm xmlns:a="http://schemas.openxmlformats.org/drawingml/2006/main" rot="0">
            <a:off x="666750" y="1581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PHASE 1 · FOURSQUARE NYC</a:t>
            </a:r>
          </a:p>
        </p:txBody>
      </p:sp>
      <p:sp>
        <p:nvSpPr>
          <p:cNvPr id="8" name="">
            <a:extLst xmlns:a="http://schemas.openxmlformats.org/drawingml/2006/main">
              <a:ext uri="{FF2B5EF4-FFF2-40B4-BE49-F238E27FC236}">
                <a16:creationId xmlns:a16="http://schemas.microsoft.com/office/drawing/2014/main" id="{57C0EFD5-C00B-454C-8435-51F239182D4E}"/>
              </a:ext>
            </a:extLst>
          </p:cNvPr>
          <p:cNvSpPr>
            <a:spLocks xmlns:a="http://schemas.openxmlformats.org/drawingml/2006/main" noGrp="1"/>
          </p:cNvSpPr>
          <p:nvPr/>
        </p:nvSpPr>
        <p:spPr>
          <a:xfrm xmlns:a="http://schemas.openxmlformats.org/drawingml/2006/main">
            <a:off x="733425" y="20764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828DB12B-F6E6-4987-81DC-839EAC3D715E}"/>
              </a:ext>
            </a:extLst>
          </p:cNvPr>
          <p:cNvSpPr>
            <a:spLocks xmlns:a="http://schemas.openxmlformats.org/drawingml/2006/main" noGrp="1"/>
          </p:cNvSpPr>
          <p:nvPr/>
        </p:nvSpPr>
        <p:spPr>
          <a:xfrm xmlns:a="http://schemas.openxmlformats.org/drawingml/2006/main" rot="0">
            <a:off x="1123950" y="20002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Raw data</a:t>
            </a:r>
          </a:p>
        </p:txBody>
      </p:sp>
      <p:sp>
        <p:nvSpPr>
          <p:cNvPr id="10" name="">
            <a:extLst xmlns:a="http://schemas.openxmlformats.org/drawingml/2006/main">
              <a:ext uri="{FF2B5EF4-FFF2-40B4-BE49-F238E27FC236}">
                <a16:creationId xmlns:a16="http://schemas.microsoft.com/office/drawing/2014/main" id="{AB9E005F-6E31-49FE-86D9-FDAF0EDFD526}"/>
              </a:ext>
            </a:extLst>
          </p:cNvPr>
          <p:cNvSpPr>
            <a:spLocks xmlns:a="http://schemas.openxmlformats.org/drawingml/2006/main" noGrp="1"/>
          </p:cNvSpPr>
          <p:nvPr/>
        </p:nvSpPr>
        <p:spPr>
          <a:xfrm xmlns:a="http://schemas.openxmlformats.org/drawingml/2006/main" rot="0">
            <a:off x="2324100" y="20002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~227K check-ins · ~1.08K users · ~38K venues</a:t>
            </a:r>
          </a:p>
        </p:txBody>
      </p:sp>
      <p:sp>
        <p:nvSpPr>
          <p:cNvPr id="11" name="">
            <a:extLst xmlns:a="http://schemas.openxmlformats.org/drawingml/2006/main">
              <a:ext uri="{FF2B5EF4-FFF2-40B4-BE49-F238E27FC236}">
                <a16:creationId xmlns:a16="http://schemas.microsoft.com/office/drawing/2014/main" id="{6F726BD7-2CB3-46EA-864D-F402736C0AC7}"/>
              </a:ext>
            </a:extLst>
          </p:cNvPr>
          <p:cNvSpPr>
            <a:spLocks xmlns:a="http://schemas.openxmlformats.org/drawingml/2006/main" noGrp="1"/>
          </p:cNvSpPr>
          <p:nvPr/>
        </p:nvSpPr>
        <p:spPr>
          <a:xfrm xmlns:a="http://schemas.openxmlformats.org/drawingml/2006/main">
            <a:off x="733425" y="266700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B6F5818E-30D9-4EC3-9062-488ADF87B6F5}"/>
              </a:ext>
            </a:extLst>
          </p:cNvPr>
          <p:cNvSpPr>
            <a:spLocks xmlns:a="http://schemas.openxmlformats.org/drawingml/2006/main" noGrp="1"/>
          </p:cNvSpPr>
          <p:nvPr/>
        </p:nvSpPr>
        <p:spPr>
          <a:xfrm xmlns:a="http://schemas.openxmlformats.org/drawingml/2006/main" rot="0">
            <a:off x="1123950" y="25908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Filter</a:t>
            </a:r>
          </a:p>
        </p:txBody>
      </p:sp>
      <p:sp>
        <p:nvSpPr>
          <p:cNvPr id="13" name="">
            <a:extLst xmlns:a="http://schemas.openxmlformats.org/drawingml/2006/main">
              <a:ext uri="{FF2B5EF4-FFF2-40B4-BE49-F238E27FC236}">
                <a16:creationId xmlns:a16="http://schemas.microsoft.com/office/drawing/2014/main" id="{9DF078F7-B659-4DE2-A060-2CD5606B7D9F}"/>
              </a:ext>
            </a:extLst>
          </p:cNvPr>
          <p:cNvSpPr>
            <a:spLocks xmlns:a="http://schemas.openxmlformats.org/drawingml/2006/main" noGrp="1"/>
          </p:cNvSpPr>
          <p:nvPr/>
        </p:nvSpPr>
        <p:spPr>
          <a:xfrm xmlns:a="http://schemas.openxmlformats.org/drawingml/2006/main" rot="0">
            <a:off x="2324100" y="25908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Iterative user/POI count &gt;= 10</a:t>
            </a:r>
          </a:p>
        </p:txBody>
      </p:sp>
      <p:sp>
        <p:nvSpPr>
          <p:cNvPr id="14" name="">
            <a:extLst xmlns:a="http://schemas.openxmlformats.org/drawingml/2006/main">
              <a:ext uri="{FF2B5EF4-FFF2-40B4-BE49-F238E27FC236}">
                <a16:creationId xmlns:a16="http://schemas.microsoft.com/office/drawing/2014/main" id="{A3909149-714D-45D1-98EB-80F73FEAC282}"/>
              </a:ext>
            </a:extLst>
          </p:cNvPr>
          <p:cNvSpPr>
            <a:spLocks xmlns:a="http://schemas.openxmlformats.org/drawingml/2006/main" noGrp="1"/>
          </p:cNvSpPr>
          <p:nvPr/>
        </p:nvSpPr>
        <p:spPr>
          <a:xfrm xmlns:a="http://schemas.openxmlformats.org/drawingml/2006/main">
            <a:off x="733425" y="32575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D2A5E515-76D7-467A-A636-F16A75A9E3C0}"/>
              </a:ext>
            </a:extLst>
          </p:cNvPr>
          <p:cNvSpPr>
            <a:spLocks xmlns:a="http://schemas.openxmlformats.org/drawingml/2006/main" noGrp="1"/>
          </p:cNvSpPr>
          <p:nvPr/>
        </p:nvSpPr>
        <p:spPr>
          <a:xfrm xmlns:a="http://schemas.openxmlformats.org/drawingml/2006/main" rot="0">
            <a:off x="1123950" y="31813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Final catalog</a:t>
            </a:r>
          </a:p>
        </p:txBody>
      </p:sp>
      <p:sp>
        <p:nvSpPr>
          <p:cNvPr id="16" name="">
            <a:extLst xmlns:a="http://schemas.openxmlformats.org/drawingml/2006/main">
              <a:ext uri="{FF2B5EF4-FFF2-40B4-BE49-F238E27FC236}">
                <a16:creationId xmlns:a16="http://schemas.microsoft.com/office/drawing/2014/main" id="{3ECD4C3A-1B04-44FB-B2CB-1095F9244182}"/>
              </a:ext>
            </a:extLst>
          </p:cNvPr>
          <p:cNvSpPr>
            <a:spLocks xmlns:a="http://schemas.openxmlformats.org/drawingml/2006/main" noGrp="1"/>
          </p:cNvSpPr>
          <p:nvPr/>
        </p:nvSpPr>
        <p:spPr>
          <a:xfrm xmlns:a="http://schemas.openxmlformats.org/drawingml/2006/main" rot="0">
            <a:off x="2324100" y="31813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~5,100 POIs · ~1,000 users</a:t>
            </a:r>
          </a:p>
        </p:txBody>
      </p:sp>
      <p:sp>
        <p:nvSpPr>
          <p:cNvPr id="17" name="">
            <a:extLst xmlns:a="http://schemas.openxmlformats.org/drawingml/2006/main">
              <a:ext uri="{FF2B5EF4-FFF2-40B4-BE49-F238E27FC236}">
                <a16:creationId xmlns:a16="http://schemas.microsoft.com/office/drawing/2014/main" id="{BFD903A6-3CF7-4E8B-BF1B-7E9747816547}"/>
              </a:ext>
            </a:extLst>
          </p:cNvPr>
          <p:cNvSpPr>
            <a:spLocks xmlns:a="http://schemas.openxmlformats.org/drawingml/2006/main" noGrp="1"/>
          </p:cNvSpPr>
          <p:nvPr/>
        </p:nvSpPr>
        <p:spPr>
          <a:xfrm xmlns:a="http://schemas.openxmlformats.org/drawingml/2006/main">
            <a:off x="733425" y="384810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CFE52480-64DE-4431-B5B3-4FC517A586DC}"/>
              </a:ext>
            </a:extLst>
          </p:cNvPr>
          <p:cNvSpPr>
            <a:spLocks xmlns:a="http://schemas.openxmlformats.org/drawingml/2006/main" noGrp="1"/>
          </p:cNvSpPr>
          <p:nvPr/>
        </p:nvSpPr>
        <p:spPr>
          <a:xfrm xmlns:a="http://schemas.openxmlformats.org/drawingml/2006/main" rot="0">
            <a:off x="1123950" y="37719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Sessions</a:t>
            </a:r>
          </a:p>
        </p:txBody>
      </p:sp>
      <p:sp>
        <p:nvSpPr>
          <p:cNvPr id="19" name="">
            <a:extLst xmlns:a="http://schemas.openxmlformats.org/drawingml/2006/main">
              <a:ext uri="{FF2B5EF4-FFF2-40B4-BE49-F238E27FC236}">
                <a16:creationId xmlns:a16="http://schemas.microsoft.com/office/drawing/2014/main" id="{BAB2E917-39E5-49CE-8799-254AE36DCEDC}"/>
              </a:ext>
            </a:extLst>
          </p:cNvPr>
          <p:cNvSpPr>
            <a:spLocks xmlns:a="http://schemas.openxmlformats.org/drawingml/2006/main" noGrp="1"/>
          </p:cNvSpPr>
          <p:nvPr/>
        </p:nvSpPr>
        <p:spPr>
          <a:xfrm xmlns:a="http://schemas.openxmlformats.org/drawingml/2006/main" rot="0">
            <a:off x="2324100" y="37719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Split after &gt;24 h silence</a:t>
            </a:r>
          </a:p>
        </p:txBody>
      </p:sp>
      <p:sp>
        <p:nvSpPr>
          <p:cNvPr id="20" name="">
            <a:extLst xmlns:a="http://schemas.openxmlformats.org/drawingml/2006/main">
              <a:ext uri="{FF2B5EF4-FFF2-40B4-BE49-F238E27FC236}">
                <a16:creationId xmlns:a16="http://schemas.microsoft.com/office/drawing/2014/main" id="{906670F1-D67E-487C-B57C-39E2981E4744}"/>
              </a:ext>
            </a:extLst>
          </p:cNvPr>
          <p:cNvSpPr>
            <a:spLocks xmlns:a="http://schemas.openxmlformats.org/drawingml/2006/main" noGrp="1"/>
          </p:cNvSpPr>
          <p:nvPr/>
        </p:nvSpPr>
        <p:spPr>
          <a:xfrm xmlns:a="http://schemas.openxmlformats.org/drawingml/2006/main">
            <a:off x="733425" y="44386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05C1B88F-CD5C-46E7-8EC1-EA5C04140F09}"/>
              </a:ext>
            </a:extLst>
          </p:cNvPr>
          <p:cNvSpPr>
            <a:spLocks xmlns:a="http://schemas.openxmlformats.org/drawingml/2006/main" noGrp="1"/>
          </p:cNvSpPr>
          <p:nvPr/>
        </p:nvSpPr>
        <p:spPr>
          <a:xfrm xmlns:a="http://schemas.openxmlformats.org/drawingml/2006/main" rot="0">
            <a:off x="1123950" y="43624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Split</a:t>
            </a:r>
          </a:p>
        </p:txBody>
      </p:sp>
      <p:sp>
        <p:nvSpPr>
          <p:cNvPr id="22" name="">
            <a:extLst xmlns:a="http://schemas.openxmlformats.org/drawingml/2006/main">
              <a:ext uri="{FF2B5EF4-FFF2-40B4-BE49-F238E27FC236}">
                <a16:creationId xmlns:a16="http://schemas.microsoft.com/office/drawing/2014/main" id="{662AB1BB-8FD7-4B3E-BFF9-10276EB06BBD}"/>
              </a:ext>
            </a:extLst>
          </p:cNvPr>
          <p:cNvSpPr>
            <a:spLocks xmlns:a="http://schemas.openxmlformats.org/drawingml/2006/main" noGrp="1"/>
          </p:cNvSpPr>
          <p:nvPr/>
        </p:nvSpPr>
        <p:spPr>
          <a:xfrm xmlns:a="http://schemas.openxmlformats.org/drawingml/2006/main" rot="0">
            <a:off x="2324100" y="43624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Chronological per user: 70 / 10 / 20</a:t>
            </a:r>
          </a:p>
        </p:txBody>
      </p:sp>
      <p:sp>
        <p:nvSpPr>
          <p:cNvPr id="23" name="">
            <a:extLst xmlns:a="http://schemas.openxmlformats.org/drawingml/2006/main">
              <a:ext uri="{FF2B5EF4-FFF2-40B4-BE49-F238E27FC236}">
                <a16:creationId xmlns:a16="http://schemas.microsoft.com/office/drawing/2014/main" id="{91B47322-081F-4BC9-8B03-0F5324D3FC47}"/>
              </a:ext>
            </a:extLst>
          </p:cNvPr>
          <p:cNvSpPr>
            <a:spLocks xmlns:a="http://schemas.openxmlformats.org/drawingml/2006/main" noGrp="1"/>
          </p:cNvSpPr>
          <p:nvPr/>
        </p:nvSpPr>
        <p:spPr>
          <a:xfrm xmlns:a="http://schemas.openxmlformats.org/drawingml/2006/main">
            <a:off x="733425" y="5029200"/>
            <a:ext cx="266700" cy="26670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6</a:t>
            </a:r>
          </a:p>
        </p:txBody>
      </p:sp>
      <p:sp>
        <p:nvSpPr>
          <p:cNvPr id="24" name="">
            <a:extLst xmlns:a="http://schemas.openxmlformats.org/drawingml/2006/main">
              <a:ext uri="{FF2B5EF4-FFF2-40B4-BE49-F238E27FC236}">
                <a16:creationId xmlns:a16="http://schemas.microsoft.com/office/drawing/2014/main" id="{CB1C44C4-4586-4C6C-98AD-B426104E4F75}"/>
              </a:ext>
            </a:extLst>
          </p:cNvPr>
          <p:cNvSpPr>
            <a:spLocks xmlns:a="http://schemas.openxmlformats.org/drawingml/2006/main" noGrp="1"/>
          </p:cNvSpPr>
          <p:nvPr/>
        </p:nvSpPr>
        <p:spPr>
          <a:xfrm xmlns:a="http://schemas.openxmlformats.org/drawingml/2006/main" rot="0">
            <a:off x="1123950" y="49530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Evaluation</a:t>
            </a:r>
          </a:p>
        </p:txBody>
      </p:sp>
      <p:sp>
        <p:nvSpPr>
          <p:cNvPr id="25" name="">
            <a:extLst xmlns:a="http://schemas.openxmlformats.org/drawingml/2006/main">
              <a:ext uri="{FF2B5EF4-FFF2-40B4-BE49-F238E27FC236}">
                <a16:creationId xmlns:a16="http://schemas.microsoft.com/office/drawing/2014/main" id="{33C216B3-6908-442D-98B7-57D584F1B417}"/>
              </a:ext>
            </a:extLst>
          </p:cNvPr>
          <p:cNvSpPr>
            <a:spLocks xmlns:a="http://schemas.openxmlformats.org/drawingml/2006/main" noGrp="1"/>
          </p:cNvSpPr>
          <p:nvPr/>
        </p:nvSpPr>
        <p:spPr>
          <a:xfrm xmlns:a="http://schemas.openxmlformats.org/drawingml/2006/main" rot="0">
            <a:off x="2324100" y="49530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Full vocabulary · no sampled negatives</a:t>
            </a:r>
          </a:p>
        </p:txBody>
      </p:sp>
      <p:sp>
        <p:nvSpPr>
          <p:cNvPr id="26" name="">
            <a:extLst xmlns:a="http://schemas.openxmlformats.org/drawingml/2006/main">
              <a:ext uri="{FF2B5EF4-FFF2-40B4-BE49-F238E27FC236}">
                <a16:creationId xmlns:a16="http://schemas.microsoft.com/office/drawing/2014/main" id="{43ADF9E6-FD47-44AC-AAC1-7E053D89C919}"/>
              </a:ext>
            </a:extLst>
          </p:cNvPr>
          <p:cNvSpPr>
            <a:spLocks xmlns:a="http://schemas.openxmlformats.org/drawingml/2006/main" noGrp="1"/>
          </p:cNvSpPr>
          <p:nvPr/>
        </p:nvSpPr>
        <p:spPr>
          <a:xfrm xmlns:a="http://schemas.openxmlformats.org/drawingml/2006/main" rot="0">
            <a:off x="6191250" y="1581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F28C45"/>
                </a:solidFill>
                <a:latin typeface="Aptos"/>
                <a:ea typeface="Aptos"/>
                <a:cs typeface="Aptos"/>
              </a:defRPr>
            </a:pPr>
            <a:r>
              <a:rPr sz="1425" b="1" i="0">
                <a:solidFill>
                  <a:srgbClr val="F28C45"/>
                </a:solidFill>
                <a:latin typeface="Aptos"/>
                <a:ea typeface="Aptos"/>
                <a:cs typeface="Aptos"/>
              </a:rPr>
              <a:t>PHASE 2 · FLICKR BENCHMARK</a:t>
            </a:r>
          </a:p>
        </p:txBody>
      </p:sp>
      <p:graphicFrame>
        <p:nvGraphicFramePr>
          <p:cNvPr id="58" name=""/>
          <p:cNvGraphicFramePr/>
          <p:nvPr/>
        </p:nvGraphicFramePr>
        <p:xfrm>
          <a:off xmlns:a="http://schemas.openxmlformats.org/drawingml/2006/main" x="6191250" y="2000250"/>
          <a:ext xmlns:a="http://schemas.openxmlformats.org/drawingml/2006/main" cx="5334000" cy="2476500"/>
        </p:xfrm>
        <a:graphic xmlns:a="http://schemas.openxmlformats.org/drawingml/2006/main">
          <a:graphicData uri="http://schemas.openxmlformats.org/drawingml/2006/table">
            <a:tbl>
              <a:tblPr/>
              <a:tblGrid>
                <a:gridCol w="1619250"/>
                <a:gridCol w="762000"/>
                <a:gridCol w="952500"/>
                <a:gridCol w="952500"/>
                <a:gridCol w="1047750"/>
              </a:tblGrid>
              <a:tr h="412750">
                <a:tc>
                  <a:txBody>
                    <a:bodyPr anchor="ctr">
                      <a:normAutofit/>
                    </a:bodyPr>
                    <a:lstStyle/>
                    <a:p>
                      <a:pPr algn="l"/>
                      <a:r>
                        <a:rPr sz="1125" b="1">
                          <a:solidFill>
                            <a:srgbClr val="FFFFFF"/>
                          </a:solidFill>
                          <a:latin typeface="Aptos"/>
                          <a:ea typeface="Aptos"/>
                          <a:cs typeface="Aptos"/>
                        </a:rPr>
                        <a:t>City</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POIs</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Users</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Traj.</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Eval. &gt;=3</a:t>
                      </a:r>
                    </a:p>
                  </a:txBody>
                  <a:tcPr marL="91440" marR="91440" marT="45720" marB="45720">
                    <a:solidFill>
                      <a:srgbClr val="F28C45"/>
                    </a:solidFill>
                  </a:tcPr>
                </a:tc>
              </a:tr>
              <a:tr h="412750">
                <a:tc>
                  <a:txBody>
                    <a:bodyPr anchor="ctr">
                      <a:normAutofit/>
                    </a:bodyPr>
                    <a:lstStyle/>
                    <a:p>
                      <a:pPr algn="l"/>
                      <a:r>
                        <a:rPr sz="1125" b="1">
                          <a:solidFill>
                            <a:srgbClr val="142632"/>
                          </a:solidFill>
                          <a:latin typeface="Aptos"/>
                          <a:ea typeface="Aptos"/>
                          <a:cs typeface="Aptos"/>
                        </a:rPr>
                        <a:t>Toronto</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1,395</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6,057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335</a:t>
                      </a:r>
                    </a:p>
                  </a:txBody>
                  <a:tcPr marL="91440" marR="91440" marT="45720" marB="45720">
                    <a:solidFill>
                      <a:srgbClr val="FFFFFF"/>
                    </a:solidFill>
                  </a:tcPr>
                </a:tc>
              </a:tr>
              <a:tr h="412750">
                <a:tc>
                  <a:txBody>
                    <a:bodyPr anchor="ctr">
                      <a:normAutofit/>
                    </a:bodyPr>
                    <a:lstStyle/>
                    <a:p>
                      <a:pPr algn="l"/>
                      <a:r>
                        <a:rPr sz="1125" b="1">
                          <a:solidFill>
                            <a:srgbClr val="142632"/>
                          </a:solidFill>
                          <a:latin typeface="Aptos"/>
                          <a:ea typeface="Aptos"/>
                          <a:cs typeface="Aptos"/>
                        </a:rPr>
                        <a:t>Osaka</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27</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450</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1,115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47</a:t>
                      </a:r>
                    </a:p>
                  </a:txBody>
                  <a:tcPr marL="91440" marR="91440" marT="45720" marB="45720">
                    <a:solidFill>
                      <a:srgbClr val="EDF2F5"/>
                    </a:solidFill>
                  </a:tcPr>
                </a:tc>
              </a:tr>
              <a:tr h="412750">
                <a:tc>
                  <a:txBody>
                    <a:bodyPr anchor="ctr">
                      <a:normAutofit/>
                    </a:bodyPr>
                    <a:lstStyle/>
                    <a:p>
                      <a:pPr algn="l"/>
                      <a:r>
                        <a:rPr sz="1125" b="1">
                          <a:solidFill>
                            <a:srgbClr val="142632"/>
                          </a:solidFill>
                          <a:latin typeface="Aptos"/>
                          <a:ea typeface="Aptos"/>
                          <a:cs typeface="Aptos"/>
                        </a:rPr>
                        <a:t>Glasgow</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601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2,227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112</a:t>
                      </a:r>
                    </a:p>
                  </a:txBody>
                  <a:tcPr marL="91440" marR="91440" marT="45720" marB="45720">
                    <a:solidFill>
                      <a:srgbClr val="FFFFFF"/>
                    </a:solidFill>
                  </a:tcPr>
                </a:tc>
              </a:tr>
              <a:tr h="412750">
                <a:tc>
                  <a:txBody>
                    <a:bodyPr anchor="ctr">
                      <a:normAutofit/>
                    </a:bodyPr>
                    <a:lstStyle/>
                    <a:p>
                      <a:pPr algn="l"/>
                      <a:r>
                        <a:rPr sz="1125" b="1">
                          <a:solidFill>
                            <a:srgbClr val="142632"/>
                          </a:solidFill>
                          <a:latin typeface="Aptos"/>
                          <a:ea typeface="Aptos"/>
                          <a:cs typeface="Aptos"/>
                        </a:rPr>
                        <a:t>Edinburgh</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1,454</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5,028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634</a:t>
                      </a:r>
                    </a:p>
                  </a:txBody>
                  <a:tcPr marL="91440" marR="91440" marT="45720" marB="45720">
                    <a:solidFill>
                      <a:srgbClr val="EDF2F5"/>
                    </a:solidFill>
                  </a:tcPr>
                </a:tc>
              </a:tr>
              <a:tr h="412750">
                <a:tc>
                  <a:txBody>
                    <a:bodyPr anchor="ctr">
                      <a:normAutofit/>
                    </a:bodyPr>
                    <a:lstStyle/>
                    <a:p>
                      <a:pPr algn="l"/>
                      <a:r>
                        <a:rPr sz="1125" b="1">
                          <a:solidFill>
                            <a:srgbClr val="142632"/>
                          </a:solidFill>
                          <a:latin typeface="Aptos"/>
                          <a:ea typeface="Aptos"/>
                          <a:cs typeface="Aptos"/>
                        </a:rPr>
                        <a:t>Melbourne</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88</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1,000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5,106</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442</a:t>
                      </a:r>
                    </a:p>
                  </a:txBody>
                  <a:tcPr marL="91440" marR="91440" marT="45720" marB="45720">
                    <a:solidFill>
                      <a:srgbClr val="FFFFFF"/>
                    </a:solidFill>
                  </a:tcPr>
                </a:tc>
              </a:tr>
            </a:tbl>
          </a:graphicData>
        </a:graphic>
      </p:graphicFrame>
      <p:sp>
        <p:nvSpPr>
          <p:cNvPr id="28" name="">
            <a:extLst xmlns:a="http://schemas.openxmlformats.org/drawingml/2006/main">
              <a:ext uri="{FF2B5EF4-FFF2-40B4-BE49-F238E27FC236}">
                <a16:creationId xmlns:a16="http://schemas.microsoft.com/office/drawing/2014/main" id="{1D6B91EE-E680-48A4-B204-A9F10E68CCE3}"/>
              </a:ext>
            </a:extLst>
          </p:cNvPr>
          <p:cNvSpPr>
            <a:spLocks xmlns:a="http://schemas.openxmlformats.org/drawingml/2006/main" noGrp="1"/>
          </p:cNvSpPr>
          <p:nvPr/>
        </p:nvSpPr>
        <p:spPr>
          <a:xfrm xmlns:a="http://schemas.openxmlformats.org/drawingml/2006/main">
            <a:off x="6191250" y="4762500"/>
            <a:ext cx="5334000" cy="1009650"/>
          </a:xfrm>
          <a:prstGeom xmlns:a="http://schemas.openxmlformats.org/drawingml/2006/main" prst="roundRect">
            <a:avLst>
              <a:gd name="adj" fmla="val 16981"/>
            </a:avLst>
          </a:prstGeom>
          <a:solidFill xmlns:a="http://schemas.openxmlformats.org/drawingml/2006/main">
            <a:srgbClr val="FCE8D9"/>
          </a:solidFill>
          <a:ln xmlns:a="http://schemas.openxmlformats.org/drawingml/2006/main" w="9525">
            <a:solidFill>
              <a:srgbClr val="F3C49D"/>
            </a:solidFill>
            <a:prstDash val="solid"/>
          </a:ln>
        </p:spPr>
      </p:sp>
      <p:sp>
        <p:nvSpPr>
          <p:cNvPr id="29" name="">
            <a:extLst xmlns:a="http://schemas.openxmlformats.org/drawingml/2006/main">
              <a:ext uri="{FF2B5EF4-FFF2-40B4-BE49-F238E27FC236}">
                <a16:creationId xmlns:a16="http://schemas.microsoft.com/office/drawing/2014/main" id="{2E0CDE67-E8B0-4FE7-8DF5-3FC7DAF07466}"/>
              </a:ext>
            </a:extLst>
          </p:cNvPr>
          <p:cNvSpPr>
            <a:spLocks xmlns:a="http://schemas.openxmlformats.org/drawingml/2006/main" noGrp="1"/>
          </p:cNvSpPr>
          <p:nvPr/>
        </p:nvSpPr>
        <p:spPr>
          <a:xfrm xmlns:a="http://schemas.openxmlformats.org/drawingml/2006/main" rot="0">
            <a:off x="6429375" y="49053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Chen-2016 protocol</a:t>
            </a:r>
          </a:p>
        </p:txBody>
      </p:sp>
      <p:sp>
        <p:nvSpPr>
          <p:cNvPr id="30" name="">
            <a:extLst xmlns:a="http://schemas.openxmlformats.org/drawingml/2006/main">
              <a:ext uri="{FF2B5EF4-FFF2-40B4-BE49-F238E27FC236}">
                <a16:creationId xmlns:a16="http://schemas.microsoft.com/office/drawing/2014/main" id="{452862F6-0EC4-4BF2-ADA4-4675763B665F}"/>
              </a:ext>
            </a:extLst>
          </p:cNvPr>
          <p:cNvSpPr>
            <a:spLocks xmlns:a="http://schemas.openxmlformats.org/drawingml/2006/main" noGrp="1"/>
          </p:cNvSpPr>
          <p:nvPr/>
        </p:nvSpPr>
        <p:spPr>
          <a:xfrm xmlns:a="http://schemas.openxmlformats.org/drawingml/2006/main" rot="0">
            <a:off x="6429375" y="5219700"/>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Leave one trajectory out · first + last POI + length given</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length &gt;= 3 · loop-free · pairs-F1</a:t>
            </a:r>
          </a:p>
        </p:txBody>
      </p:sp>
      <p:sp>
        <p:nvSpPr>
          <p:cNvPr id="31" name="">
            <a:extLst xmlns:a="http://schemas.openxmlformats.org/drawingml/2006/main">
              <a:ext uri="{FF2B5EF4-FFF2-40B4-BE49-F238E27FC236}">
                <a16:creationId xmlns:a16="http://schemas.microsoft.com/office/drawing/2014/main" id="{16EE5741-E664-4403-B535-820FC96E46F6}"/>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 and 3.6; Table 3.4.</a:t>
            </a:r>
          </a:p>
        </p:txBody>
      </p:sp>
    </p:spTree>
    <p:extLst>
      <p:ext uri="{BB962C8B-B14F-4D97-AF65-F5344CB8AC3E}">
        <p14:creationId xmlns:p14="http://schemas.microsoft.com/office/powerpoint/2010/main" val="698811278"/>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1754C07E-346F-4A9A-BFD3-CD576F8F8C9A}"/>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DD1217BB-6C24-4215-8532-2E1036FCEAEC}"/>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Metric definitions and complete result tables</a:t>
            </a:r>
          </a:p>
        </p:txBody>
      </p:sp>
      <p:sp>
        <p:nvSpPr>
          <p:cNvPr id="3" name="title-accent">
            <a:extLst xmlns:a="http://schemas.openxmlformats.org/drawingml/2006/main">
              <a:ext uri="{FF2B5EF4-FFF2-40B4-BE49-F238E27FC236}">
                <a16:creationId xmlns:a16="http://schemas.microsoft.com/office/drawing/2014/main" id="{0F5A75C4-FCA7-4973-979A-897CFEC9270F}"/>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62356D-4186-4200-B949-6C41BAE66073}"/>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4877623B-9FC6-41FE-A650-38D93256BF7E}"/>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20583738-0448-4DE6-9B51-791BD2E73C8B}"/>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2</a:t>
            </a:r>
          </a:p>
        </p:txBody>
      </p:sp>
      <p:sp>
        <p:nvSpPr>
          <p:cNvPr id="7" name="">
            <a:extLst xmlns:a="http://schemas.openxmlformats.org/drawingml/2006/main">
              <a:ext uri="{FF2B5EF4-FFF2-40B4-BE49-F238E27FC236}">
                <a16:creationId xmlns:a16="http://schemas.microsoft.com/office/drawing/2014/main" id="{40A8DC64-E03D-4221-A563-C4FC5AFF5C5B}"/>
              </a:ext>
            </a:extLst>
          </p:cNvPr>
          <p:cNvSpPr>
            <a:spLocks xmlns:a="http://schemas.openxmlformats.org/drawingml/2006/main" noGrp="1"/>
          </p:cNvSpPr>
          <p:nvPr/>
        </p:nvSpPr>
        <p:spPr>
          <a:xfrm xmlns:a="http://schemas.openxmlformats.org/drawingml/2006/main" rot="0">
            <a:off x="62865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NEXT-POI · NYC</a:t>
            </a:r>
          </a:p>
        </p:txBody>
      </p:sp>
      <p:graphicFrame>
        <p:nvGraphicFramePr>
          <p:cNvPr id="24" name=""/>
          <p:cNvGraphicFramePr/>
          <p:nvPr/>
        </p:nvGraphicFramePr>
        <p:xfrm>
          <a:off xmlns:a="http://schemas.openxmlformats.org/drawingml/2006/main" x="628650" y="1847850"/>
          <a:ext xmlns:a="http://schemas.openxmlformats.org/drawingml/2006/main" cx="2571750" cy="2514600"/>
        </p:xfrm>
        <a:graphic xmlns:a="http://schemas.openxmlformats.org/drawingml/2006/main">
          <a:graphicData uri="http://schemas.openxmlformats.org/drawingml/2006/table">
            <a:tbl>
              <a:tblPr/>
              <a:tblGrid>
                <a:gridCol w="1543050"/>
                <a:gridCol w="1028700"/>
              </a:tblGrid>
              <a:tr h="359229">
                <a:tc>
                  <a:txBody>
                    <a:bodyPr anchor="ctr">
                      <a:normAutofit/>
                    </a:bodyPr>
                    <a:lstStyle/>
                    <a:p>
                      <a:pPr algn="l"/>
                      <a:r>
                        <a:rPr sz="1125" b="1">
                          <a:solidFill>
                            <a:srgbClr val="FFFFFF"/>
                          </a:solidFill>
                          <a:latin typeface="Aptos"/>
                          <a:ea typeface="Aptos"/>
                          <a:cs typeface="Aptos"/>
                        </a:rPr>
                        <a:t>Metric</a:t>
                      </a:r>
                    </a:p>
                  </a:txBody>
                  <a:tcPr marL="91440" marR="91440" marT="45720" marB="45720">
                    <a:solidFill>
                      <a:srgbClr val="0B1F33"/>
                    </a:solidFill>
                  </a:tcPr>
                </a:tc>
                <a:tc>
                  <a:txBody>
                    <a:bodyPr anchor="ctr">
                      <a:normAutofit/>
                    </a:bodyPr>
                    <a:lstStyle/>
                    <a:p>
                      <a:pPr algn="ctr"/>
                      <a:r>
                        <a:rPr sz="1125" b="1">
                          <a:solidFill>
                            <a:srgbClr val="FFFFFF"/>
                          </a:solidFill>
                          <a:latin typeface="Aptos"/>
                          <a:ea typeface="Aptos"/>
                          <a:cs typeface="Aptos"/>
                        </a:rPr>
                        <a:t>Score</a:t>
                      </a:r>
                    </a:p>
                  </a:txBody>
                  <a:tcPr marL="91440" marR="91440" marT="45720" marB="45720">
                    <a:solidFill>
                      <a:srgbClr val="0B1F33"/>
                    </a:solidFill>
                  </a:tcPr>
                </a:tc>
              </a:tr>
              <a:tr h="359229">
                <a:tc>
                  <a:txBody>
                    <a:bodyPr anchor="ctr">
                      <a:normAutofit/>
                    </a:bodyPr>
                    <a:lstStyle/>
                    <a:p>
                      <a:pPr algn="l"/>
                      <a:r>
                        <a:rPr sz="1125" b="1">
                          <a:solidFill>
                            <a:srgbClr val="142632"/>
                          </a:solidFill>
                          <a:latin typeface="Aptos"/>
                          <a:ea typeface="Aptos"/>
                          <a:cs typeface="Aptos"/>
                        </a:rPr>
                        <a:t>HR@1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0.187</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HR@5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0.476</a:t>
                      </a:r>
                    </a:p>
                  </a:txBody>
                  <a:tcPr marL="91440" marR="91440" marT="45720" marB="45720">
                    <a:solidFill>
                      <a:srgbClr val="EDF2F5"/>
                    </a:solidFill>
                  </a:tcPr>
                </a:tc>
              </a:tr>
              <a:tr h="359229">
                <a:tc>
                  <a:txBody>
                    <a:bodyPr anchor="ctr">
                      <a:normAutofit/>
                    </a:bodyPr>
                    <a:lstStyle/>
                    <a:p>
                      <a:pPr algn="l"/>
                      <a:r>
                        <a:rPr sz="1125" b="1">
                          <a:solidFill>
                            <a:srgbClr val="142632"/>
                          </a:solidFill>
                          <a:latin typeface="Aptos"/>
                          <a:ea typeface="Aptos"/>
                          <a:cs typeface="Aptos"/>
                        </a:rPr>
                        <a:t>HR@10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0.588</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NDCG@5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0.339</a:t>
                      </a:r>
                    </a:p>
                  </a:txBody>
                  <a:tcPr marL="91440" marR="91440" marT="45720" marB="45720">
                    <a:solidFill>
                      <a:srgbClr val="EDF2F5"/>
                    </a:solidFill>
                  </a:tcPr>
                </a:tc>
              </a:tr>
              <a:tr h="359229">
                <a:tc>
                  <a:txBody>
                    <a:bodyPr anchor="ctr">
                      <a:normAutofit/>
                    </a:bodyPr>
                    <a:lstStyle/>
                    <a:p>
                      <a:pPr algn="l"/>
                      <a:r>
                        <a:rPr sz="1125" b="1">
                          <a:solidFill>
                            <a:srgbClr val="142632"/>
                          </a:solidFill>
                          <a:latin typeface="Aptos"/>
                          <a:ea typeface="Aptos"/>
                          <a:cs typeface="Aptos"/>
                        </a:rPr>
                        <a:t>NDCG@10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0.375</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MRR</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0.316</a:t>
                      </a:r>
                    </a:p>
                  </a:txBody>
                  <a:tcPr marL="91440" marR="91440" marT="45720" marB="45720">
                    <a:solidFill>
                      <a:srgbClr val="EDF2F5"/>
                    </a:solidFill>
                  </a:tcPr>
                </a:tc>
              </a:tr>
            </a:tbl>
          </a:graphicData>
        </a:graphic>
      </p:graphicFrame>
      <p:sp>
        <p:nvSpPr>
          <p:cNvPr id="9" name="">
            <a:extLst xmlns:a="http://schemas.openxmlformats.org/drawingml/2006/main">
              <a:ext uri="{FF2B5EF4-FFF2-40B4-BE49-F238E27FC236}">
                <a16:creationId xmlns:a16="http://schemas.microsoft.com/office/drawing/2014/main" id="{B57E489B-DD84-4D79-8D71-7659B1E15514}"/>
              </a:ext>
            </a:extLst>
          </p:cNvPr>
          <p:cNvSpPr>
            <a:spLocks xmlns:a="http://schemas.openxmlformats.org/drawingml/2006/main" noGrp="1"/>
          </p:cNvSpPr>
          <p:nvPr/>
        </p:nvSpPr>
        <p:spPr>
          <a:xfrm xmlns:a="http://schemas.openxmlformats.org/drawingml/2006/main" rot="0">
            <a:off x="628650" y="4629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ITINERARY · NYC</a:t>
            </a:r>
          </a:p>
        </p:txBody>
      </p:sp>
      <p:graphicFrame>
        <p:nvGraphicFramePr>
          <p:cNvPr id="26" name=""/>
          <p:cNvGraphicFramePr/>
          <p:nvPr/>
        </p:nvGraphicFramePr>
        <p:xfrm>
          <a:off xmlns:a="http://schemas.openxmlformats.org/drawingml/2006/main" x="628650" y="4953000"/>
          <a:ext xmlns:a="http://schemas.openxmlformats.org/drawingml/2006/main" cx="4476750" cy="1181100"/>
        </p:xfrm>
        <a:graphic xmlns:a="http://schemas.openxmlformats.org/drawingml/2006/main">
          <a:graphicData uri="http://schemas.openxmlformats.org/drawingml/2006/table">
            <a:tbl>
              <a:tblPr/>
              <a:tblGrid>
                <a:gridCol w="2141054"/>
                <a:gridCol w="778565"/>
                <a:gridCol w="778565"/>
                <a:gridCol w="778565"/>
              </a:tblGrid>
              <a:tr h="236220">
                <a:tc>
                  <a:txBody>
                    <a:bodyPr anchor="ctr">
                      <a:normAutofit/>
                    </a:bodyPr>
                    <a:lstStyle/>
                    <a:p>
                      <a:pPr algn="l"/>
                      <a:r>
                        <a:rPr sz="1050" b="1">
                          <a:solidFill>
                            <a:srgbClr val="FFFFFF"/>
                          </a:solidFill>
                          <a:latin typeface="Aptos"/>
                          <a:ea typeface="Aptos"/>
                          <a:cs typeface="Aptos"/>
                        </a:rPr>
                        <a:t>Method</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pairs</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set</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exact</a:t>
                      </a:r>
                    </a:p>
                  </a:txBody>
                  <a:tcPr marL="91440" marR="91440" marT="45720" marB="45720">
                    <a:solidFill>
                      <a:srgbClr val="F28C45"/>
                    </a:solidFill>
                  </a:tcPr>
                </a:tc>
              </a:tr>
              <a:tr h="236220">
                <a:tc>
                  <a:txBody>
                    <a:bodyPr anchor="ctr">
                      <a:normAutofit/>
                    </a:bodyPr>
                    <a:lstStyle/>
                    <a:p>
                      <a:pPr algn="l"/>
                      <a:r>
                        <a:rPr sz="1050" b="1">
                          <a:solidFill>
                            <a:srgbClr val="142632"/>
                          </a:solidFill>
                          <a:latin typeface="Aptos"/>
                          <a:ea typeface="Aptos"/>
                          <a:cs typeface="Aptos"/>
                        </a:rPr>
                        <a:t>Frozen Rollout · greedy</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.289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.609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.054</a:t>
                      </a:r>
                    </a:p>
                  </a:txBody>
                  <a:tcPr marL="91440" marR="91440" marT="45720" marB="45720">
                    <a:solidFill>
                      <a:srgbClr val="FFFFFF"/>
                    </a:solidFill>
                  </a:tcPr>
                </a:tc>
              </a:tr>
              <a:tr h="236220">
                <a:tc>
                  <a:txBody>
                    <a:bodyPr anchor="ctr">
                      <a:normAutofit/>
                    </a:bodyPr>
                    <a:lstStyle/>
                    <a:p>
                      <a:pPr algn="l"/>
                      <a:r>
                        <a:rPr sz="1050" b="1">
                          <a:solidFill>
                            <a:srgbClr val="142632"/>
                          </a:solidFill>
                          <a:latin typeface="Aptos"/>
                          <a:ea typeface="Aptos"/>
                          <a:cs typeface="Aptos"/>
                        </a:rPr>
                        <a:t>Frozen Rollout · beam 3</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.290</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.610</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.057</a:t>
                      </a:r>
                    </a:p>
                  </a:txBody>
                  <a:tcPr marL="91440" marR="91440" marT="45720" marB="45720">
                    <a:solidFill>
                      <a:srgbClr val="EDF2F5"/>
                    </a:solidFill>
                  </a:tcPr>
                </a:tc>
              </a:tr>
              <a:tr h="236220">
                <a:tc>
                  <a:txBody>
                    <a:bodyPr anchor="ctr">
                      <a:normAutofit/>
                    </a:bodyPr>
                    <a:lstStyle/>
                    <a:p>
                      <a:pPr algn="l"/>
                      <a:r>
                        <a:rPr sz="1050" b="1">
                          <a:solidFill>
                            <a:srgbClr val="142632"/>
                          </a:solidFill>
                          <a:latin typeface="Aptos"/>
                          <a:ea typeface="Aptos"/>
                          <a:cs typeface="Aptos"/>
                        </a:rPr>
                        <a:t>Trained Pointer · v1</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.259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.578</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.043</a:t>
                      </a:r>
                    </a:p>
                  </a:txBody>
                  <a:tcPr marL="91440" marR="91440" marT="45720" marB="45720">
                    <a:solidFill>
                      <a:srgbClr val="FFFFFF"/>
                    </a:solidFill>
                  </a:tcPr>
                </a:tc>
              </a:tr>
              <a:tr h="236220">
                <a:tc>
                  <a:txBody>
                    <a:bodyPr anchor="ctr">
                      <a:normAutofit/>
                    </a:bodyPr>
                    <a:lstStyle/>
                    <a:p>
                      <a:pPr algn="l"/>
                      <a:r>
                        <a:rPr sz="1050" b="1">
                          <a:solidFill>
                            <a:srgbClr val="142632"/>
                          </a:solidFill>
                          <a:latin typeface="Aptos"/>
                          <a:ea typeface="Aptos"/>
                          <a:cs typeface="Aptos"/>
                        </a:rPr>
                        <a:t>Trained Pointer · v2 +ctx</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.261</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a:t>
                      </a:r>
                    </a:p>
                  </a:txBody>
                  <a:tcPr marL="91440" marR="91440" marT="45720" marB="45720">
                    <a:solidFill>
                      <a:srgbClr val="EDF2F5"/>
                    </a:solidFill>
                  </a:tcPr>
                </a:tc>
              </a:tr>
            </a:tbl>
          </a:graphicData>
        </a:graphic>
      </p:graphicFrame>
      <p:sp>
        <p:nvSpPr>
          <p:cNvPr id="11" name="">
            <a:extLst xmlns:a="http://schemas.openxmlformats.org/drawingml/2006/main">
              <a:ext uri="{FF2B5EF4-FFF2-40B4-BE49-F238E27FC236}">
                <a16:creationId xmlns:a16="http://schemas.microsoft.com/office/drawing/2014/main" id="{3C413E02-B5ED-4D5A-AF4D-3676DCD61846}"/>
              </a:ext>
            </a:extLst>
          </p:cNvPr>
          <p:cNvSpPr>
            <a:spLocks xmlns:a="http://schemas.openxmlformats.org/drawingml/2006/main" noGrp="1"/>
          </p:cNvSpPr>
          <p:nvPr/>
        </p:nvSpPr>
        <p:spPr>
          <a:xfrm xmlns:a="http://schemas.openxmlformats.org/drawingml/2006/main" rot="0">
            <a:off x="3524250" y="15240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FLICKR BENCHMARK · PAIRS-F1</a:t>
            </a:r>
          </a:p>
        </p:txBody>
      </p:sp>
      <p:graphicFrame>
        <p:nvGraphicFramePr>
          <p:cNvPr id="28" name=""/>
          <p:cNvGraphicFramePr/>
          <p:nvPr/>
        </p:nvGraphicFramePr>
        <p:xfrm>
          <a:off xmlns:a="http://schemas.openxmlformats.org/drawingml/2006/main" x="3524250" y="1847850"/>
          <a:ext xmlns:a="http://schemas.openxmlformats.org/drawingml/2006/main" cx="8001000" cy="2514600"/>
        </p:xfrm>
        <a:graphic xmlns:a="http://schemas.openxmlformats.org/drawingml/2006/main">
          <a:graphicData uri="http://schemas.openxmlformats.org/drawingml/2006/table">
            <a:tbl>
              <a:tblPr/>
              <a:tblGrid>
                <a:gridCol w="2286000"/>
                <a:gridCol w="1143000"/>
                <a:gridCol w="1143000"/>
                <a:gridCol w="1143000"/>
                <a:gridCol w="1143000"/>
                <a:gridCol w="1143000"/>
              </a:tblGrid>
              <a:tr h="419100">
                <a:tc>
                  <a:txBody>
                    <a:bodyPr anchor="ctr">
                      <a:normAutofit/>
                    </a:bodyPr>
                    <a:lstStyle/>
                    <a:p>
                      <a:pPr algn="l"/>
                      <a:r>
                        <a:rPr sz="1125" b="1">
                          <a:solidFill>
                            <a:srgbClr val="FFFFFF"/>
                          </a:solidFill>
                          <a:latin typeface="Aptos"/>
                          <a:ea typeface="Aptos"/>
                          <a:cs typeface="Aptos"/>
                        </a:rPr>
                        <a:t>Method</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Toronto</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Osaka</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Glasgow</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Edin.</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Melb.</a:t>
                      </a:r>
                    </a:p>
                  </a:txBody>
                  <a:tcPr marL="91440" marR="91440" marT="45720" marB="45720">
                    <a:solidFill>
                      <a:srgbClr val="137B77"/>
                    </a:solidFill>
                  </a:tcPr>
                </a:tc>
              </a:tr>
              <a:tr h="419100">
                <a:tc>
                  <a:txBody>
                    <a:bodyPr anchor="ctr">
                      <a:normAutofit/>
                    </a:bodyPr>
                    <a:lstStyle/>
                    <a:p>
                      <a:pPr algn="l"/>
                      <a:r>
                        <a:rPr sz="1125" b="1">
                          <a:solidFill>
                            <a:srgbClr val="142632"/>
                          </a:solidFill>
                          <a:latin typeface="Aptos"/>
                          <a:ea typeface="Aptos"/>
                          <a:cs typeface="Aptos"/>
                        </a:rPr>
                        <a:t>Random</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.298</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.270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.227</a:t>
                      </a:r>
                    </a:p>
                  </a:txBody>
                  <a:tcPr marL="91440" marR="91440" marT="45720" marB="45720">
                    <a:solidFill>
                      <a:srgbClr val="FFFFFF"/>
                    </a:solidFill>
                  </a:tcPr>
                </a:tc>
              </a:tr>
              <a:tr h="419100">
                <a:tc>
                  <a:txBody>
                    <a:bodyPr anchor="ctr">
                      <a:normAutofit/>
                    </a:bodyPr>
                    <a:lstStyle/>
                    <a:p>
                      <a:pPr algn="l"/>
                      <a:r>
                        <a:rPr sz="1125" b="1">
                          <a:solidFill>
                            <a:srgbClr val="142632"/>
                          </a:solidFill>
                          <a:latin typeface="Aptos"/>
                          <a:ea typeface="Aptos"/>
                          <a:cs typeface="Aptos"/>
                        </a:rPr>
                        <a:t>PoiPopularity</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.443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.413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.510</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.439</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.320</a:t>
                      </a:r>
                    </a:p>
                  </a:txBody>
                  <a:tcPr marL="91440" marR="91440" marT="45720" marB="45720">
                    <a:solidFill>
                      <a:srgbClr val="EDF2F5"/>
                    </a:solidFill>
                  </a:tcPr>
                </a:tc>
              </a:tr>
              <a:tr h="419100">
                <a:tc>
                  <a:txBody>
                    <a:bodyPr anchor="ctr">
                      <a:normAutofit/>
                    </a:bodyPr>
                    <a:lstStyle/>
                    <a:p>
                      <a:pPr algn="l"/>
                      <a:r>
                        <a:rPr sz="1125" b="1">
                          <a:solidFill>
                            <a:srgbClr val="142632"/>
                          </a:solidFill>
                          <a:latin typeface="Aptos"/>
                          <a:ea typeface="Aptos"/>
                          <a:cs typeface="Aptos"/>
                        </a:rPr>
                        <a:t>Markov</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.504</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.421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.587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.449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.333</a:t>
                      </a:r>
                    </a:p>
                  </a:txBody>
                  <a:tcPr marL="91440" marR="91440" marT="45720" marB="45720">
                    <a:solidFill>
                      <a:srgbClr val="FFFFFF"/>
                    </a:solidFill>
                  </a:tcPr>
                </a:tc>
              </a:tr>
              <a:tr h="419100">
                <a:tc>
                  <a:txBody>
                    <a:bodyPr anchor="ctr">
                      <a:normAutofit/>
                    </a:bodyPr>
                    <a:lstStyle/>
                    <a:p>
                      <a:pPr algn="l"/>
                      <a:r>
                        <a:rPr sz="1125" b="1">
                          <a:solidFill>
                            <a:srgbClr val="142632"/>
                          </a:solidFill>
                          <a:latin typeface="Aptos"/>
                          <a:ea typeface="Aptos"/>
                          <a:cs typeface="Aptos"/>
                        </a:rPr>
                        <a:t>MarkovPath</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.398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.543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.452</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.346</a:t>
                      </a:r>
                    </a:p>
                  </a:txBody>
                  <a:tcPr marL="91440" marR="91440" marT="45720" marB="45720">
                    <a:solidFill>
                      <a:srgbClr val="EDF2F5"/>
                    </a:solidFill>
                  </a:tcPr>
                </a:tc>
              </a:tr>
              <a:tr h="419100">
                <a:tc>
                  <a:txBody>
                    <a:bodyPr anchor="ctr">
                      <a:normAutofit/>
                    </a:bodyPr>
                    <a:lstStyle/>
                    <a:p>
                      <a:pPr algn="l"/>
                      <a:r>
                        <a:rPr sz="1125" b="1">
                          <a:solidFill>
                            <a:srgbClr val="142632"/>
                          </a:solidFill>
                          <a:latin typeface="Aptos"/>
                          <a:ea typeface="Aptos"/>
                          <a:cs typeface="Aptos"/>
                        </a:rPr>
                        <a:t>Trained Pointer · beam 3</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.431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.399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.489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.414</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.312</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5C36AE2E-5F01-4E5F-978D-812F136C15E2}"/>
              </a:ext>
            </a:extLst>
          </p:cNvPr>
          <p:cNvSpPr>
            <a:spLocks xmlns:a="http://schemas.openxmlformats.org/drawingml/2006/main" noGrp="1"/>
          </p:cNvSpPr>
          <p:nvPr/>
        </p:nvSpPr>
        <p:spPr>
          <a:xfrm xmlns:a="http://schemas.openxmlformats.org/drawingml/2006/main">
            <a:off x="5505450" y="4762500"/>
            <a:ext cx="6019800" cy="1371600"/>
          </a:xfrm>
          <a:prstGeom xmlns:a="http://schemas.openxmlformats.org/drawingml/2006/main" prst="roundRect">
            <a:avLst>
              <a:gd name="adj" fmla="val 12500"/>
            </a:avLst>
          </a:prstGeom>
          <a:solidFill xmlns:a="http://schemas.openxmlformats.org/drawingml/2006/main">
            <a:srgbClr val="0B1F33"/>
          </a:solidFill>
          <a:ln xmlns:a="http://schemas.openxmlformats.org/drawingml/2006/main" w="9525">
            <a:solidFill>
              <a:srgbClr val="0B1F33"/>
            </a:solidFill>
            <a:prstDash val="solid"/>
          </a:ln>
        </p:spPr>
      </p:sp>
      <p:sp>
        <p:nvSpPr>
          <p:cNvPr id="14" name="">
            <a:extLst xmlns:a="http://schemas.openxmlformats.org/drawingml/2006/main">
              <a:ext uri="{FF2B5EF4-FFF2-40B4-BE49-F238E27FC236}">
                <a16:creationId xmlns:a16="http://schemas.microsoft.com/office/drawing/2014/main" id="{B07F968A-6998-4E59-B63F-1622550ECEE9}"/>
              </a:ext>
            </a:extLst>
          </p:cNvPr>
          <p:cNvSpPr>
            <a:spLocks xmlns:a="http://schemas.openxmlformats.org/drawingml/2006/main" noGrp="1"/>
          </p:cNvSpPr>
          <p:nvPr/>
        </p:nvSpPr>
        <p:spPr>
          <a:xfrm xmlns:a="http://schemas.openxmlformats.org/drawingml/2006/main" rot="0">
            <a:off x="5753100" y="4895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METRIC BOUNDARY</a:t>
            </a:r>
          </a:p>
        </p:txBody>
      </p:sp>
      <p:sp>
        <p:nvSpPr>
          <p:cNvPr id="15" name="">
            <a:extLst xmlns:a="http://schemas.openxmlformats.org/drawingml/2006/main">
              <a:ext uri="{FF2B5EF4-FFF2-40B4-BE49-F238E27FC236}">
                <a16:creationId xmlns:a16="http://schemas.microsoft.com/office/drawing/2014/main" id="{2AF7B52F-05C3-4FB8-B97C-B04A9D8A73B2}"/>
              </a:ext>
            </a:extLst>
          </p:cNvPr>
          <p:cNvSpPr>
            <a:spLocks xmlns:a="http://schemas.openxmlformats.org/drawingml/2006/main" noGrp="1"/>
          </p:cNvSpPr>
          <p:nvPr/>
        </p:nvSpPr>
        <p:spPr>
          <a:xfrm xmlns:a="http://schemas.openxmlformats.org/drawingml/2006/main" rot="0">
            <a:off x="5753100" y="5219700"/>
            <a:ext cx="5505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HR@k / NDCG / MRR rank one next POI.</a:t>
            </a:r>
          </a:p>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set-F1 measures recovered places. pairs-F1 measures order.</a:t>
            </a:r>
          </a:p>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These values never share one leaderboard.</a:t>
            </a:r>
          </a:p>
        </p:txBody>
      </p:sp>
      <p:sp>
        <p:nvSpPr>
          <p:cNvPr id="16" name="">
            <a:extLst xmlns:a="http://schemas.openxmlformats.org/drawingml/2006/main">
              <a:ext uri="{FF2B5EF4-FFF2-40B4-BE49-F238E27FC236}">
                <a16:creationId xmlns:a16="http://schemas.microsoft.com/office/drawing/2014/main" id="{C825A0C2-90AB-4B72-8793-91B59DDFA729}"/>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Tables 3.2, 3.3 and 3.6. Dashes mean unreported, not zero.</a:t>
            </a:r>
          </a:p>
        </p:txBody>
      </p:sp>
    </p:spTree>
    <p:extLst>
      <p:ext uri="{BB962C8B-B14F-4D97-AF65-F5344CB8AC3E}">
        <p14:creationId xmlns:p14="http://schemas.microsoft.com/office/powerpoint/2010/main" val="1371501228"/>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30D27CB8-CD61-4D01-875B-04461C04CBC4}"/>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5FC6D632-1BC9-4B71-B5D0-E039F47F58F8}"/>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Detailed architecture, dimensions, and training controls</a:t>
            </a:r>
          </a:p>
        </p:txBody>
      </p:sp>
      <p:sp>
        <p:nvSpPr>
          <p:cNvPr id="3" name="title-accent">
            <a:extLst xmlns:a="http://schemas.openxmlformats.org/drawingml/2006/main">
              <a:ext uri="{FF2B5EF4-FFF2-40B4-BE49-F238E27FC236}">
                <a16:creationId xmlns:a16="http://schemas.microsoft.com/office/drawing/2014/main" id="{A7961D84-9A7C-4823-86D9-702AD42AEA64}"/>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222AE22-C701-411B-9F0F-1898A49B6023}"/>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D0648CC0-3A2D-400C-A39D-4E217FC25B7A}"/>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4CA22083-D737-4DE6-BC2D-1D77565B9868}"/>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3</a:t>
            </a:r>
          </a:p>
        </p:txBody>
      </p:sp>
      <p:sp>
        <p:nvSpPr>
          <p:cNvPr id="7" name="">
            <a:extLst xmlns:a="http://schemas.openxmlformats.org/drawingml/2006/main">
              <a:ext uri="{FF2B5EF4-FFF2-40B4-BE49-F238E27FC236}">
                <a16:creationId xmlns:a16="http://schemas.microsoft.com/office/drawing/2014/main" id="{812E022D-5B56-4005-AB6C-DFFB170D4DA7}"/>
              </a:ext>
            </a:extLst>
          </p:cNvPr>
          <p:cNvSpPr>
            <a:spLocks xmlns:a="http://schemas.openxmlformats.org/drawingml/2006/main" noGrp="1"/>
          </p:cNvSpPr>
          <p:nvPr/>
        </p:nvSpPr>
        <p:spPr>
          <a:xfrm xmlns:a="http://schemas.openxmlformats.org/drawingml/2006/main">
            <a:off x="666750" y="2000250"/>
            <a:ext cx="1905000" cy="990600"/>
          </a:xfrm>
          <a:prstGeom xmlns:a="http://schemas.openxmlformats.org/drawingml/2006/main" prst="roundRect">
            <a:avLst>
              <a:gd name="adj" fmla="val 17308"/>
            </a:avLst>
          </a:prstGeom>
          <a:solidFill xmlns:a="http://schemas.openxmlformats.org/drawingml/2006/main">
            <a:srgbClr val="DDF3F1"/>
          </a:solidFill>
          <a:ln xmlns:a="http://schemas.openxmlformats.org/drawingml/2006/main" w="9525">
            <a:solidFill>
              <a:srgbClr val="A8D7D2"/>
            </a:solidFill>
            <a:prstDash val="solid"/>
          </a:ln>
        </p:spPr>
      </p:sp>
      <p:sp>
        <p:nvSpPr>
          <p:cNvPr id="8" name="">
            <a:extLst xmlns:a="http://schemas.openxmlformats.org/drawingml/2006/main">
              <a:ext uri="{FF2B5EF4-FFF2-40B4-BE49-F238E27FC236}">
                <a16:creationId xmlns:a16="http://schemas.microsoft.com/office/drawing/2014/main" id="{9E904475-1D81-4249-85FC-F60370B4B257}"/>
              </a:ext>
            </a:extLst>
          </p:cNvPr>
          <p:cNvSpPr>
            <a:spLocks xmlns:a="http://schemas.openxmlformats.org/drawingml/2006/main" noGrp="1"/>
          </p:cNvSpPr>
          <p:nvPr/>
        </p:nvSpPr>
        <p:spPr>
          <a:xfrm xmlns:a="http://schemas.openxmlformats.org/drawingml/2006/main">
            <a:off x="666750" y="3390900"/>
            <a:ext cx="1905000" cy="990600"/>
          </a:xfrm>
          <a:prstGeom xmlns:a="http://schemas.openxmlformats.org/drawingml/2006/main" prst="roundRect">
            <a:avLst>
              <a:gd name="adj" fmla="val 17308"/>
            </a:avLst>
          </a:prstGeom>
          <a:solidFill xmlns:a="http://schemas.openxmlformats.org/drawingml/2006/main">
            <a:srgbClr val="FCE8D9"/>
          </a:solidFill>
          <a:ln xmlns:a="http://schemas.openxmlformats.org/drawingml/2006/main" w="9525">
            <a:solidFill>
              <a:srgbClr val="F3C49D"/>
            </a:solidFill>
            <a:prstDash val="solid"/>
          </a:ln>
        </p:spPr>
      </p:sp>
      <p:sp>
        <p:nvSpPr>
          <p:cNvPr id="9" name="">
            <a:extLst xmlns:a="http://schemas.openxmlformats.org/drawingml/2006/main">
              <a:ext uri="{FF2B5EF4-FFF2-40B4-BE49-F238E27FC236}">
                <a16:creationId xmlns:a16="http://schemas.microsoft.com/office/drawing/2014/main" id="{A2FB4B99-232C-4C8D-8B6E-3068E46C0984}"/>
              </a:ext>
            </a:extLst>
          </p:cNvPr>
          <p:cNvSpPr>
            <a:spLocks xmlns:a="http://schemas.openxmlformats.org/drawingml/2006/main" noGrp="1"/>
          </p:cNvSpPr>
          <p:nvPr/>
        </p:nvSpPr>
        <p:spPr>
          <a:xfrm xmlns:a="http://schemas.openxmlformats.org/drawingml/2006/main">
            <a:off x="666750" y="4781550"/>
            <a:ext cx="1905000" cy="800100"/>
          </a:xfrm>
          <a:prstGeom xmlns:a="http://schemas.openxmlformats.org/drawingml/2006/main" prst="roundRect">
            <a:avLst>
              <a:gd name="adj" fmla="val 21429"/>
            </a:avLst>
          </a:prstGeom>
          <a:solidFill xmlns:a="http://schemas.openxmlformats.org/drawingml/2006/main">
            <a:srgbClr val="EDF2F5"/>
          </a:solidFill>
          <a:ln xmlns:a="http://schemas.openxmlformats.org/drawingml/2006/main" w="9525">
            <a:solidFill>
              <a:srgbClr val="DCE4E9"/>
            </a:solidFill>
            <a:prstDash val="solid"/>
          </a:ln>
        </p:spPr>
      </p:sp>
      <p:sp>
        <p:nvSpPr>
          <p:cNvPr id="10" name="">
            <a:extLst xmlns:a="http://schemas.openxmlformats.org/drawingml/2006/main">
              <a:ext uri="{FF2B5EF4-FFF2-40B4-BE49-F238E27FC236}">
                <a16:creationId xmlns:a16="http://schemas.microsoft.com/office/drawing/2014/main" id="{805F163F-DF35-48A3-9E6A-91AAEF37CFE2}"/>
              </a:ext>
            </a:extLst>
          </p:cNvPr>
          <p:cNvSpPr>
            <a:spLocks xmlns:a="http://schemas.openxmlformats.org/drawingml/2006/main" noGrp="1"/>
          </p:cNvSpPr>
          <p:nvPr/>
        </p:nvSpPr>
        <p:spPr>
          <a:xfrm xmlns:a="http://schemas.openxmlformats.org/drawingml/2006/main">
            <a:off x="3714750" y="2667000"/>
            <a:ext cx="2095500" cy="1428750"/>
          </a:xfrm>
          <a:prstGeom xmlns:a="http://schemas.openxmlformats.org/drawingml/2006/main" prst="roundRect">
            <a:avLst>
              <a:gd name="adj" fmla="val 14667"/>
            </a:avLst>
          </a:prstGeom>
          <a:solidFill xmlns:a="http://schemas.openxmlformats.org/drawingml/2006/main">
            <a:srgbClr val="0B1F33"/>
          </a:solidFill>
          <a:ln xmlns:a="http://schemas.openxmlformats.org/drawingml/2006/main" w="9525">
            <a:solidFill>
              <a:srgbClr val="0B1F33"/>
            </a:solidFill>
            <a:prstDash val="solid"/>
          </a:ln>
        </p:spPr>
      </p:sp>
      <p:sp>
        <p:nvSpPr>
          <p:cNvPr id="11" name="">
            <a:extLst xmlns:a="http://schemas.openxmlformats.org/drawingml/2006/main">
              <a:ext uri="{FF2B5EF4-FFF2-40B4-BE49-F238E27FC236}">
                <a16:creationId xmlns:a16="http://schemas.microsoft.com/office/drawing/2014/main" id="{48AEDB35-98A4-4E84-B496-A31DC1767C33}"/>
              </a:ext>
            </a:extLst>
          </p:cNvPr>
          <p:cNvSpPr>
            <a:spLocks xmlns:a="http://schemas.openxmlformats.org/drawingml/2006/main" noGrp="1"/>
          </p:cNvSpPr>
          <p:nvPr/>
        </p:nvSpPr>
        <p:spPr>
          <a:xfrm xmlns:a="http://schemas.openxmlformats.org/drawingml/2006/main">
            <a:off x="6953250" y="2667000"/>
            <a:ext cx="2095500" cy="1428750"/>
          </a:xfrm>
          <a:prstGeom xmlns:a="http://schemas.openxmlformats.org/drawingml/2006/main" prst="roundRect">
            <a:avLst>
              <a:gd name="adj" fmla="val 14667"/>
            </a:avLst>
          </a:prstGeom>
          <a:solidFill xmlns:a="http://schemas.openxmlformats.org/drawingml/2006/main">
            <a:srgbClr val="137B77"/>
          </a:solidFill>
          <a:ln xmlns:a="http://schemas.openxmlformats.org/drawingml/2006/main" w="9525">
            <a:solidFill>
              <a:srgbClr val="137B77"/>
            </a:solidFill>
            <a:prstDash val="solid"/>
          </a:ln>
        </p:spPr>
      </p:sp>
      <p:sp>
        <p:nvSpPr>
          <p:cNvPr id="12" name="">
            <a:extLst xmlns:a="http://schemas.openxmlformats.org/drawingml/2006/main">
              <a:ext uri="{FF2B5EF4-FFF2-40B4-BE49-F238E27FC236}">
                <a16:creationId xmlns:a16="http://schemas.microsoft.com/office/drawing/2014/main" id="{E13F631A-D411-4660-844B-751A249A4BA2}"/>
              </a:ext>
            </a:extLst>
          </p:cNvPr>
          <p:cNvSpPr>
            <a:spLocks xmlns:a="http://schemas.openxmlformats.org/drawingml/2006/main" noGrp="1"/>
          </p:cNvSpPr>
          <p:nvPr/>
        </p:nvSpPr>
        <p:spPr>
          <a:xfrm xmlns:a="http://schemas.openxmlformats.org/drawingml/2006/main" rot="0">
            <a:off x="895350" y="219075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37B77"/>
                </a:solidFill>
                <a:latin typeface="Aptos"/>
                <a:ea typeface="Aptos"/>
                <a:cs typeface="Aptos"/>
              </a:defRPr>
            </a:pPr>
            <a:r>
              <a:rPr sz="1575" b="1" i="0">
                <a:solidFill>
                  <a:srgbClr val="137B77"/>
                </a:solidFill>
                <a:latin typeface="Aptos"/>
                <a:ea typeface="Aptos"/>
                <a:cs typeface="Aptos"/>
              </a:rPr>
              <a:t>2-layer GCN</a:t>
            </a:r>
          </a:p>
          <a:p xmlns:a="http://schemas.openxmlformats.org/drawingml/2006/main">
            <a:pPr algn="ctr">
              <a:lnSpc>
                <a:spcPct val="100000"/>
              </a:lnSpc>
              <a:buNone/>
              <a:defRPr sz="1575" b="1" i="0">
                <a:solidFill>
                  <a:srgbClr val="137B77"/>
                </a:solidFill>
                <a:latin typeface="Aptos"/>
                <a:ea typeface="Aptos"/>
                <a:cs typeface="Aptos"/>
              </a:defRPr>
            </a:pPr>
            <a:r>
              <a:rPr sz="1575" b="1" i="0">
                <a:solidFill>
                  <a:srgbClr val="137B77"/>
                </a:solidFill>
                <a:latin typeface="Aptos"/>
                <a:ea typeface="Aptos"/>
                <a:cs typeface="Aptos"/>
              </a:rPr>
              <a:t>POI dim = 128</a:t>
            </a:r>
          </a:p>
        </p:txBody>
      </p:sp>
      <p:sp>
        <p:nvSpPr>
          <p:cNvPr id="13" name="">
            <a:extLst xmlns:a="http://schemas.openxmlformats.org/drawingml/2006/main">
              <a:ext uri="{FF2B5EF4-FFF2-40B4-BE49-F238E27FC236}">
                <a16:creationId xmlns:a16="http://schemas.microsoft.com/office/drawing/2014/main" id="{41CA74DC-C963-4E11-BB86-8F9266348458}"/>
              </a:ext>
            </a:extLst>
          </p:cNvPr>
          <p:cNvSpPr>
            <a:spLocks xmlns:a="http://schemas.openxmlformats.org/drawingml/2006/main" noGrp="1"/>
          </p:cNvSpPr>
          <p:nvPr/>
        </p:nvSpPr>
        <p:spPr>
          <a:xfrm xmlns:a="http://schemas.openxmlformats.org/drawingml/2006/main" rot="0">
            <a:off x="895350" y="35814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588"/>
          </a:bodyPr>
          <a:lstStyle xmlns:a="http://schemas.openxmlformats.org/drawingml/2006/main"/>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Δd · Δt MLPs</a:t>
            </a:r>
          </a:p>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context dim = 32</a:t>
            </a:r>
          </a:p>
        </p:txBody>
      </p:sp>
      <p:sp>
        <p:nvSpPr>
          <p:cNvPr id="14" name="">
            <a:extLst xmlns:a="http://schemas.openxmlformats.org/drawingml/2006/main">
              <a:ext uri="{FF2B5EF4-FFF2-40B4-BE49-F238E27FC236}">
                <a16:creationId xmlns:a16="http://schemas.microsoft.com/office/drawing/2014/main" id="{B37B2E99-249B-4509-B560-7565CFA84FC1}"/>
              </a:ext>
            </a:extLst>
          </p:cNvPr>
          <p:cNvSpPr>
            <a:spLocks xmlns:a="http://schemas.openxmlformats.org/drawingml/2006/main" noGrp="1"/>
          </p:cNvSpPr>
          <p:nvPr/>
        </p:nvSpPr>
        <p:spPr>
          <a:xfrm xmlns:a="http://schemas.openxmlformats.org/drawingml/2006/main" rot="0">
            <a:off x="895350" y="4895850"/>
            <a:ext cx="144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User embedding</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dim = 64</a:t>
            </a:r>
          </a:p>
        </p:txBody>
      </p:sp>
      <p:sp>
        <p:nvSpPr>
          <p:cNvPr id="15" name="">
            <a:extLst xmlns:a="http://schemas.openxmlformats.org/drawingml/2006/main">
              <a:ext uri="{FF2B5EF4-FFF2-40B4-BE49-F238E27FC236}">
                <a16:creationId xmlns:a16="http://schemas.microsoft.com/office/drawing/2014/main" id="{5D33D3CA-4DD9-43F6-BF3C-745B7DDA8F9B}"/>
              </a:ext>
            </a:extLst>
          </p:cNvPr>
          <p:cNvSpPr>
            <a:spLocks xmlns:a="http://schemas.openxmlformats.org/drawingml/2006/main" noGrp="1"/>
          </p:cNvSpPr>
          <p:nvPr/>
        </p:nvSpPr>
        <p:spPr>
          <a:xfrm xmlns:a="http://schemas.openxmlformats.org/drawingml/2006/main" rot="0">
            <a:off x="3981450" y="2971800"/>
            <a:ext cx="1562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593"/>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GRU</a:t>
            </a:r>
          </a:p>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hidden dim = 128</a:t>
            </a:r>
          </a:p>
        </p:txBody>
      </p:sp>
      <p:sp>
        <p:nvSpPr>
          <p:cNvPr id="16" name="">
            <a:extLst xmlns:a="http://schemas.openxmlformats.org/drawingml/2006/main">
              <a:ext uri="{FF2B5EF4-FFF2-40B4-BE49-F238E27FC236}">
                <a16:creationId xmlns:a16="http://schemas.microsoft.com/office/drawing/2014/main" id="{7C7F33E2-68C5-44CB-AC97-CA00A55F8094}"/>
              </a:ext>
            </a:extLst>
          </p:cNvPr>
          <p:cNvSpPr>
            <a:spLocks xmlns:a="http://schemas.openxmlformats.org/drawingml/2006/main" noGrp="1"/>
          </p:cNvSpPr>
          <p:nvPr/>
        </p:nvSpPr>
        <p:spPr>
          <a:xfrm xmlns:a="http://schemas.openxmlformats.org/drawingml/2006/main" rot="0">
            <a:off x="7219950" y="2971800"/>
            <a:ext cx="1562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MLP + softmax</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~5,100 classes</a:t>
            </a:r>
          </a:p>
        </p:txBody>
      </p:sp>
      <p:cxnSp>
        <p:nvCxnSpPr>
          <p:cNvPr id="43" name=""/>
          <p:cNvCxnSpPr>
            <a:stCxn xmlns:a="http://schemas.openxmlformats.org/drawingml/2006/main" id="7" idx="3"/>
            <a:endCxn xmlns:a="http://schemas.openxmlformats.org/drawingml/2006/main" id="10" idx="1"/>
          </p:cNvCxnSpPr>
          <p:nvPr/>
        </p:nvCxnSpPr>
        <p:spPr>
          <a:xfrm xmlns:a="http://schemas.openxmlformats.org/drawingml/2006/main">
            <a:off x="2571750" y="2495550"/>
            <a:ext cx="1143000" cy="885825"/>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44" name=""/>
          <p:cNvCxnSpPr>
            <a:stCxn xmlns:a="http://schemas.openxmlformats.org/drawingml/2006/main" id="8" idx="3"/>
            <a:endCxn xmlns:a="http://schemas.openxmlformats.org/drawingml/2006/main" id="10" idx="1"/>
          </p:cNvCxnSpPr>
          <p:nvPr/>
        </p:nvCxnSpPr>
        <p:spPr>
          <a:xfrm xmlns:a="http://schemas.openxmlformats.org/drawingml/2006/main" flipV="1">
            <a:off x="2571750" y="3381375"/>
            <a:ext cx="1143000" cy="504825"/>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5810250" y="3381375"/>
            <a:ext cx="1143000"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46" name=""/>
          <p:cNvCxnSpPr>
            <a:stCxn xmlns:a="http://schemas.openxmlformats.org/drawingml/2006/main" id="9" idx="3"/>
            <a:endCxn xmlns:a="http://schemas.openxmlformats.org/drawingml/2006/main" id="11" idx="2"/>
          </p:cNvCxnSpPr>
          <p:nvPr/>
        </p:nvCxnSpPr>
        <p:spPr>
          <a:xfrm xmlns:a="http://schemas.openxmlformats.org/drawingml/2006/main" flipV="1">
            <a:off x="2571750" y="4095750"/>
            <a:ext cx="5429250" cy="1085850"/>
          </a:xfrm>
          <a:prstGeom xmlns:a="http://schemas.openxmlformats.org/drawingml/2006/main" prst="bentConnector2">
            <a:avLst/>
          </a:prstGeom>
          <a:ln xmlns:a="http://schemas.openxmlformats.org/drawingml/2006/main" w="38100">
            <a:solidFill>
              <a:srgbClr val="5A6C79"/>
            </a:solidFill>
            <a:prstDash val="solid"/>
            <a:headEnd type="none" w="med" len="med"/>
            <a:tailEnd type="triangle" w="sm" len="sm"/>
          </a:ln>
        </p:spPr>
      </p:cxnSp>
      <p:sp>
        <p:nvSpPr>
          <p:cNvPr id="21" name="">
            <a:extLst xmlns:a="http://schemas.openxmlformats.org/drawingml/2006/main">
              <a:ext uri="{FF2B5EF4-FFF2-40B4-BE49-F238E27FC236}">
                <a16:creationId xmlns:a16="http://schemas.microsoft.com/office/drawing/2014/main" id="{C27F87AB-B827-4172-B012-F6D06AB14C6F}"/>
              </a:ext>
            </a:extLst>
          </p:cNvPr>
          <p:cNvSpPr>
            <a:spLocks xmlns:a="http://schemas.openxmlformats.org/drawingml/2006/main" noGrp="1"/>
          </p:cNvSpPr>
          <p:nvPr/>
        </p:nvSpPr>
        <p:spPr>
          <a:xfrm xmlns:a="http://schemas.openxmlformats.org/drawingml/2006/main">
            <a:off x="9572625" y="1847850"/>
            <a:ext cx="1952625" cy="37147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CE4E9"/>
            </a:solidFill>
            <a:prstDash val="solid"/>
          </a:ln>
        </p:spPr>
      </p:sp>
      <p:sp>
        <p:nvSpPr>
          <p:cNvPr id="22" name="">
            <a:extLst xmlns:a="http://schemas.openxmlformats.org/drawingml/2006/main">
              <a:ext uri="{FF2B5EF4-FFF2-40B4-BE49-F238E27FC236}">
                <a16:creationId xmlns:a16="http://schemas.microsoft.com/office/drawing/2014/main" id="{54EA0A57-B653-47F6-BDDC-CBB8A2061ADE}"/>
              </a:ext>
            </a:extLst>
          </p:cNvPr>
          <p:cNvSpPr>
            <a:spLocks xmlns:a="http://schemas.openxmlformats.org/drawingml/2006/main" noGrp="1"/>
          </p:cNvSpPr>
          <p:nvPr/>
        </p:nvSpPr>
        <p:spPr>
          <a:xfrm xmlns:a="http://schemas.openxmlformats.org/drawingml/2006/main" rot="0">
            <a:off x="9782175" y="205740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IMPLEMENTED SETTINGS</a:t>
            </a:r>
          </a:p>
        </p:txBody>
      </p:sp>
      <p:sp>
        <p:nvSpPr>
          <p:cNvPr id="23" name="">
            <a:extLst xmlns:a="http://schemas.openxmlformats.org/drawingml/2006/main">
              <a:ext uri="{FF2B5EF4-FFF2-40B4-BE49-F238E27FC236}">
                <a16:creationId xmlns:a16="http://schemas.microsoft.com/office/drawing/2014/main" id="{A39D458E-5DC3-443F-A231-74555765CE89}"/>
              </a:ext>
            </a:extLst>
          </p:cNvPr>
          <p:cNvSpPr>
            <a:spLocks xmlns:a="http://schemas.openxmlformats.org/drawingml/2006/main" noGrp="1"/>
          </p:cNvSpPr>
          <p:nvPr/>
        </p:nvSpPr>
        <p:spPr>
          <a:xfrm xmlns:a="http://schemas.openxmlformats.org/drawingml/2006/main" rot="0">
            <a:off x="9829800" y="2590800"/>
            <a:ext cx="1447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Graph</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co-visits &gt;= 3</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+ 10 nearest POIs</a:t>
            </a:r>
          </a:p>
          <a:p xmlns:a="http://schemas.openxmlformats.org/drawingml/2006/main">
            <a:r>
              <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Context bounds</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Δd: 0-100 km</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Δt: 0-24 h</a:t>
            </a:r>
          </a:p>
          <a:p xmlns:a="http://schemas.openxmlformats.org/drawingml/2006/main">
            <a:r>
              <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Training</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cross-entropy</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Adam · clipping · dropout</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early stop on HR@10</a:t>
            </a:r>
          </a:p>
        </p:txBody>
      </p:sp>
      <p:sp>
        <p:nvSpPr>
          <p:cNvPr id="24" name="">
            <a:extLst xmlns:a="http://schemas.openxmlformats.org/drawingml/2006/main">
              <a:ext uri="{FF2B5EF4-FFF2-40B4-BE49-F238E27FC236}">
                <a16:creationId xmlns:a16="http://schemas.microsoft.com/office/drawing/2014/main" id="{AD288D90-94BE-438D-96D9-B8B9E996E3AF}"/>
              </a:ext>
            </a:extLst>
          </p:cNvPr>
          <p:cNvSpPr>
            <a:spLocks xmlns:a="http://schemas.openxmlformats.org/drawingml/2006/main" noGrp="1"/>
          </p:cNvSpPr>
          <p:nvPr/>
        </p:nvSpPr>
        <p:spPr>
          <a:xfrm xmlns:a="http://schemas.openxmlformats.org/drawingml/2006/main">
            <a:off x="3238500" y="4857750"/>
            <a:ext cx="5905500" cy="723900"/>
          </a:xfrm>
          <a:prstGeom xmlns:a="http://schemas.openxmlformats.org/drawingml/2006/main" prst="roundRect">
            <a:avLst>
              <a:gd name="adj" fmla="val 23684"/>
            </a:avLst>
          </a:prstGeom>
          <a:solidFill xmlns:a="http://schemas.openxmlformats.org/drawingml/2006/main">
            <a:srgbClr val="0B1F33"/>
          </a:solidFill>
          <a:ln xmlns:a="http://schemas.openxmlformats.org/drawingml/2006/main" w="9525">
            <a:solidFill>
              <a:srgbClr val="0B1F33"/>
            </a:solidFill>
            <a:prstDash val="solid"/>
          </a:ln>
        </p:spPr>
      </p:sp>
      <p:sp>
        <p:nvSpPr>
          <p:cNvPr id="25" name="">
            <a:extLst xmlns:a="http://schemas.openxmlformats.org/drawingml/2006/main">
              <a:ext uri="{FF2B5EF4-FFF2-40B4-BE49-F238E27FC236}">
                <a16:creationId xmlns:a16="http://schemas.microsoft.com/office/drawing/2014/main" id="{DAD1021F-A42A-492F-96C3-29A3BA86903D}"/>
              </a:ext>
            </a:extLst>
          </p:cNvPr>
          <p:cNvSpPr>
            <a:spLocks xmlns:a="http://schemas.openxmlformats.org/drawingml/2006/main" noGrp="1"/>
          </p:cNvSpPr>
          <p:nvPr/>
        </p:nvSpPr>
        <p:spPr>
          <a:xfrm xmlns:a="http://schemas.openxmlformats.org/drawingml/2006/main" rot="0">
            <a:off x="3505200" y="5010150"/>
            <a:ext cx="5372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No learning rate, batch size, or epoch count is invented here; the final thesis does not state them.</a:t>
            </a:r>
          </a:p>
        </p:txBody>
      </p:sp>
      <p:sp>
        <p:nvSpPr>
          <p:cNvPr id="26" name="">
            <a:extLst xmlns:a="http://schemas.openxmlformats.org/drawingml/2006/main">
              <a:ext uri="{FF2B5EF4-FFF2-40B4-BE49-F238E27FC236}">
                <a16:creationId xmlns:a16="http://schemas.microsoft.com/office/drawing/2014/main" id="{EBCA0C2D-4242-474F-88D7-F601222508AC}"/>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3.3-3.4. Co-visitation edges are computed from training data only.</a:t>
            </a:r>
          </a:p>
        </p:txBody>
      </p:sp>
    </p:spTree>
    <p:extLst>
      <p:ext uri="{BB962C8B-B14F-4D97-AF65-F5344CB8AC3E}">
        <p14:creationId xmlns:p14="http://schemas.microsoft.com/office/powerpoint/2010/main" val="417891521"/>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E76210DD-6A20-4EA1-BD3F-BA0E41B46C1C}"/>
              </a:ext>
            </a:extLst>
          </p:cNvPr>
          <p:cNvSpPr>
            <a:spLocks xmlns:a="http://schemas.openxmlformats.org/drawingml/2006/main" noGrp="1"/>
          </p:cNvSpPr>
          <p:nvPr/>
        </p:nvSpPr>
        <p:spPr>
          <a:xfrm xmlns:a="http://schemas.openxmlformats.org/drawingml/2006/main" rot="0">
            <a:off x="6096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8B8C22C4-912E-4B1E-B36E-360ABA2C6DC3}"/>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Why the Trained Pointer loses - limitations and next steps</a:t>
            </a:r>
          </a:p>
        </p:txBody>
      </p:sp>
      <p:sp>
        <p:nvSpPr>
          <p:cNvPr id="3" name="title-accent">
            <a:extLst xmlns:a="http://schemas.openxmlformats.org/drawingml/2006/main">
              <a:ext uri="{FF2B5EF4-FFF2-40B4-BE49-F238E27FC236}">
                <a16:creationId xmlns:a16="http://schemas.microsoft.com/office/drawing/2014/main" id="{1BDDDBB6-BE5F-479A-9749-BDBD43393E8E}"/>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245DF6-AFEC-4083-9759-9F63A49CFC1C}"/>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803FB33B-7EC2-463D-8F04-3B7BBC5CFE66}"/>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FFB69D6E-834A-4DE7-B0C5-5FBF65CA7051}"/>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4</a:t>
            </a:r>
          </a:p>
        </p:txBody>
      </p:sp>
      <p:sp>
        <p:nvSpPr>
          <p:cNvPr id="7" name="">
            <a:extLst xmlns:a="http://schemas.openxmlformats.org/drawingml/2006/main">
              <a:ext uri="{FF2B5EF4-FFF2-40B4-BE49-F238E27FC236}">
                <a16:creationId xmlns:a16="http://schemas.microsoft.com/office/drawing/2014/main" id="{182568D9-4EEE-4CA6-AC9B-2F7661F13A9A}"/>
              </a:ext>
            </a:extLst>
          </p:cNvPr>
          <p:cNvSpPr>
            <a:spLocks xmlns:a="http://schemas.openxmlformats.org/drawingml/2006/main" noGrp="1"/>
          </p:cNvSpPr>
          <p:nvPr/>
        </p:nvSpPr>
        <p:spPr>
          <a:xfrm xmlns:a="http://schemas.openxmlformats.org/drawingml/2006/main" rot="0">
            <a:off x="666750" y="15621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TRAINING CONTROLS</a:t>
            </a:r>
          </a:p>
        </p:txBody>
      </p:sp>
      <p:sp>
        <p:nvSpPr>
          <p:cNvPr id="8" name="">
            <a:extLst xmlns:a="http://schemas.openxmlformats.org/drawingml/2006/main">
              <a:ext uri="{FF2B5EF4-FFF2-40B4-BE49-F238E27FC236}">
                <a16:creationId xmlns:a16="http://schemas.microsoft.com/office/drawing/2014/main" id="{3C538DF1-B89E-4A00-9624-B0EB836602E9}"/>
              </a:ext>
            </a:extLst>
          </p:cNvPr>
          <p:cNvSpPr>
            <a:spLocks xmlns:a="http://schemas.openxmlformats.org/drawingml/2006/main" noGrp="1"/>
          </p:cNvSpPr>
          <p:nvPr/>
        </p:nvSpPr>
        <p:spPr>
          <a:xfrm xmlns:a="http://schemas.openxmlformats.org/drawingml/2006/main">
            <a:off x="666750" y="1962150"/>
            <a:ext cx="3333750" cy="3352800"/>
          </a:xfrm>
          <a:prstGeom xmlns:a="http://schemas.openxmlformats.org/drawingml/2006/main" prst="roundRect">
            <a:avLst>
              <a:gd name="adj" fmla="val 6286"/>
            </a:avLst>
          </a:prstGeom>
          <a:solidFill xmlns:a="http://schemas.openxmlformats.org/drawingml/2006/main">
            <a:srgbClr val="DDF3F1"/>
          </a:solidFill>
          <a:ln xmlns:a="http://schemas.openxmlformats.org/drawingml/2006/main" w="9525">
            <a:solidFill>
              <a:srgbClr val="A8D7D2"/>
            </a:solidFill>
            <a:prstDash val="solid"/>
          </a:ln>
        </p:spPr>
      </p:sp>
      <p:sp>
        <p:nvSpPr>
          <p:cNvPr id="9" name="">
            <a:extLst xmlns:a="http://schemas.openxmlformats.org/drawingml/2006/main">
              <a:ext uri="{FF2B5EF4-FFF2-40B4-BE49-F238E27FC236}">
                <a16:creationId xmlns:a16="http://schemas.microsoft.com/office/drawing/2014/main" id="{8F777EE5-E544-4C65-AA9A-D70D148144CC}"/>
              </a:ext>
            </a:extLst>
          </p:cNvPr>
          <p:cNvSpPr>
            <a:spLocks xmlns:a="http://schemas.openxmlformats.org/drawingml/2006/main" noGrp="1"/>
          </p:cNvSpPr>
          <p:nvPr/>
        </p:nvSpPr>
        <p:spPr>
          <a:xfrm xmlns:a="http://schemas.openxmlformats.org/drawingml/2006/main" rot="0">
            <a:off x="933450" y="22288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925" b="1" i="0">
                <a:solidFill>
                  <a:srgbClr val="0B1F33"/>
                </a:solidFill>
                <a:latin typeface="Aptos"/>
                <a:ea typeface="Aptos"/>
                <a:cs typeface="Aptos"/>
              </a:defRPr>
            </a:pPr>
            <a:r>
              <a:rPr sz="2925" b="1" i="0">
                <a:solidFill>
                  <a:srgbClr val="0B1F33"/>
                </a:solidFill>
                <a:latin typeface="Aptos"/>
                <a:ea typeface="Aptos"/>
                <a:cs typeface="Aptos"/>
              </a:rPr>
              <a:t>0.259 → 0.261</a:t>
            </a:r>
          </a:p>
        </p:txBody>
      </p:sp>
      <p:sp>
        <p:nvSpPr>
          <p:cNvPr id="10" name="">
            <a:extLst xmlns:a="http://schemas.openxmlformats.org/drawingml/2006/main">
              <a:ext uri="{FF2B5EF4-FFF2-40B4-BE49-F238E27FC236}">
                <a16:creationId xmlns:a16="http://schemas.microsoft.com/office/drawing/2014/main" id="{E10C2F4F-D6D4-4C34-9158-1D1AC821405A}"/>
              </a:ext>
            </a:extLst>
          </p:cNvPr>
          <p:cNvSpPr>
            <a:spLocks xmlns:a="http://schemas.openxmlformats.org/drawingml/2006/main" noGrp="1"/>
          </p:cNvSpPr>
          <p:nvPr/>
        </p:nvSpPr>
        <p:spPr>
          <a:xfrm xmlns:a="http://schemas.openxmlformats.org/drawingml/2006/main" rot="0">
            <a:off x="933450" y="283845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Adding context recovers only +0.002</a:t>
            </a:r>
          </a:p>
        </p:txBody>
      </p:sp>
      <p:sp>
        <p:nvSpPr>
          <p:cNvPr id="11" name="">
            <a:extLst xmlns:a="http://schemas.openxmlformats.org/drawingml/2006/main">
              <a:ext uri="{FF2B5EF4-FFF2-40B4-BE49-F238E27FC236}">
                <a16:creationId xmlns:a16="http://schemas.microsoft.com/office/drawing/2014/main" id="{2EC76F07-046B-45A7-9BF8-4F0655AEB20D}"/>
              </a:ext>
            </a:extLst>
          </p:cNvPr>
          <p:cNvSpPr>
            <a:spLocks xmlns:a="http://schemas.openxmlformats.org/drawingml/2006/main" noGrp="1"/>
          </p:cNvSpPr>
          <p:nvPr/>
        </p:nvSpPr>
        <p:spPr>
          <a:xfrm xmlns:a="http://schemas.openxmlformats.org/drawingml/2006/main" rot="0">
            <a:off x="990600" y="3371850"/>
            <a:ext cx="26860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71"/>
          </a:bodyPr>
          <a:lstStyle xmlns:a="http://schemas.openxmlformats.org/drawingml/2006/main"/>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validation pairs-F1 reaches a real peak</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early stopping applied</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context-aware variant tested</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Trained Pointer also trails Markov on the Flickr Benchmark</a:t>
            </a:r>
          </a:p>
          <a:p xmlns:a="http://schemas.openxmlformats.org/drawingml/2006/main">
            <a:r>
              <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Conclusion: a genuine negative result for this tested setup, not a universal claim about all itinerary models.</a:t>
            </a:r>
          </a:p>
        </p:txBody>
      </p:sp>
      <p:sp>
        <p:nvSpPr>
          <p:cNvPr id="12" name="">
            <a:extLst xmlns:a="http://schemas.openxmlformats.org/drawingml/2006/main">
              <a:ext uri="{FF2B5EF4-FFF2-40B4-BE49-F238E27FC236}">
                <a16:creationId xmlns:a16="http://schemas.microsoft.com/office/drawing/2014/main" id="{5392B90D-28F4-472E-BEFE-8CF28D812F35}"/>
              </a:ext>
            </a:extLst>
          </p:cNvPr>
          <p:cNvSpPr>
            <a:spLocks xmlns:a="http://schemas.openxmlformats.org/drawingml/2006/main" noGrp="1"/>
          </p:cNvSpPr>
          <p:nvPr/>
        </p:nvSpPr>
        <p:spPr>
          <a:xfrm xmlns:a="http://schemas.openxmlformats.org/drawingml/2006/main" rot="0">
            <a:off x="4400550" y="1562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MAIN LIMITATIONS</a:t>
            </a:r>
          </a:p>
        </p:txBody>
      </p:sp>
      <p:sp>
        <p:nvSpPr>
          <p:cNvPr id="13" name="">
            <a:extLst xmlns:a="http://schemas.openxmlformats.org/drawingml/2006/main">
              <a:ext uri="{FF2B5EF4-FFF2-40B4-BE49-F238E27FC236}">
                <a16:creationId xmlns:a16="http://schemas.microsoft.com/office/drawing/2014/main" id="{AB3C1855-0E4E-4A30-B8BA-31724F7B2D46}"/>
              </a:ext>
            </a:extLst>
          </p:cNvPr>
          <p:cNvSpPr>
            <a:spLocks xmlns:a="http://schemas.openxmlformats.org/drawingml/2006/main" noGrp="1"/>
          </p:cNvSpPr>
          <p:nvPr/>
        </p:nvSpPr>
        <p:spPr>
          <a:xfrm xmlns:a="http://schemas.openxmlformats.org/drawingml/2006/main">
            <a:off x="4400550" y="1962150"/>
            <a:ext cx="3333750" cy="3352800"/>
          </a:xfrm>
          <a:prstGeom xmlns:a="http://schemas.openxmlformats.org/drawingml/2006/main" prst="roundRect">
            <a:avLst>
              <a:gd name="adj" fmla="val 6286"/>
            </a:avLst>
          </a:prstGeom>
          <a:solidFill xmlns:a="http://schemas.openxmlformats.org/drawingml/2006/main">
            <a:srgbClr val="FCE8D9"/>
          </a:solidFill>
          <a:ln xmlns:a="http://schemas.openxmlformats.org/drawingml/2006/main" w="9525">
            <a:solidFill>
              <a:srgbClr val="F3C49D"/>
            </a:solidFill>
            <a:prstDash val="solid"/>
          </a:ln>
        </p:spPr>
      </p:sp>
      <p:sp>
        <p:nvSpPr>
          <p:cNvPr id="14" name="">
            <a:extLst xmlns:a="http://schemas.openxmlformats.org/drawingml/2006/main">
              <a:ext uri="{FF2B5EF4-FFF2-40B4-BE49-F238E27FC236}">
                <a16:creationId xmlns:a16="http://schemas.microsoft.com/office/drawing/2014/main" id="{C5FE451D-2307-4EEA-9704-40D1FA81C493}"/>
              </a:ext>
            </a:extLst>
          </p:cNvPr>
          <p:cNvSpPr>
            <a:spLocks xmlns:a="http://schemas.openxmlformats.org/drawingml/2006/main" noGrp="1"/>
          </p:cNvSpPr>
          <p:nvPr/>
        </p:nvSpPr>
        <p:spPr>
          <a:xfrm xmlns:a="http://schemas.openxmlformats.org/drawingml/2006/main" rot="0">
            <a:off x="4762500" y="2305050"/>
            <a:ext cx="26098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below neural / LLM SOTA</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scorer remains locally myopic</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context only uses Δd and Δt</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decode-time Δt is assumed</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no opening hours or time windows</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one next-POI city</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offline evaluation only</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no deployment or user study</a:t>
            </a:r>
          </a:p>
        </p:txBody>
      </p:sp>
      <p:sp>
        <p:nvSpPr>
          <p:cNvPr id="15" name="">
            <a:extLst xmlns:a="http://schemas.openxmlformats.org/drawingml/2006/main">
              <a:ext uri="{FF2B5EF4-FFF2-40B4-BE49-F238E27FC236}">
                <a16:creationId xmlns:a16="http://schemas.microsoft.com/office/drawing/2014/main" id="{73743B70-13A1-420A-9D75-E47FBA6E4188}"/>
              </a:ext>
            </a:extLst>
          </p:cNvPr>
          <p:cNvSpPr>
            <a:spLocks xmlns:a="http://schemas.openxmlformats.org/drawingml/2006/main" noGrp="1"/>
          </p:cNvSpPr>
          <p:nvPr/>
        </p:nvSpPr>
        <p:spPr>
          <a:xfrm xmlns:a="http://schemas.openxmlformats.org/drawingml/2006/main" rot="0">
            <a:off x="8115300" y="1562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NEXT STEPS</a:t>
            </a:r>
          </a:p>
        </p:txBody>
      </p:sp>
      <p:sp>
        <p:nvSpPr>
          <p:cNvPr id="16" name="">
            <a:extLst xmlns:a="http://schemas.openxmlformats.org/drawingml/2006/main">
              <a:ext uri="{FF2B5EF4-FFF2-40B4-BE49-F238E27FC236}">
                <a16:creationId xmlns:a16="http://schemas.microsoft.com/office/drawing/2014/main" id="{088498D3-167C-4CFB-B733-EB97F7C4EEDC}"/>
              </a:ext>
            </a:extLst>
          </p:cNvPr>
          <p:cNvSpPr>
            <a:spLocks xmlns:a="http://schemas.openxmlformats.org/drawingml/2006/main" noGrp="1"/>
          </p:cNvSpPr>
          <p:nvPr/>
        </p:nvSpPr>
        <p:spPr>
          <a:xfrm xmlns:a="http://schemas.openxmlformats.org/drawingml/2006/main">
            <a:off x="8115300" y="1962150"/>
            <a:ext cx="3409950" cy="3352800"/>
          </a:xfrm>
          <a:prstGeom xmlns:a="http://schemas.openxmlformats.org/drawingml/2006/main" prst="roundRect">
            <a:avLst>
              <a:gd name="adj" fmla="val 6250"/>
            </a:avLst>
          </a:prstGeom>
          <a:solidFill xmlns:a="http://schemas.openxmlformats.org/drawingml/2006/main">
            <a:srgbClr val="EDF2F5"/>
          </a:solidFill>
          <a:ln xmlns:a="http://schemas.openxmlformats.org/drawingml/2006/main" w="9525">
            <a:solidFill>
              <a:srgbClr val="DCE4E9"/>
            </a:solidFill>
            <a:prstDash val="solid"/>
          </a:ln>
        </p:spPr>
      </p:sp>
      <p:sp>
        <p:nvSpPr>
          <p:cNvPr id="17" name="">
            <a:extLst xmlns:a="http://schemas.openxmlformats.org/drawingml/2006/main">
              <a:ext uri="{FF2B5EF4-FFF2-40B4-BE49-F238E27FC236}">
                <a16:creationId xmlns:a16="http://schemas.microsoft.com/office/drawing/2014/main" id="{E4A065FC-4406-4953-964A-2200BD6B654C}"/>
              </a:ext>
            </a:extLst>
          </p:cNvPr>
          <p:cNvSpPr>
            <a:spLocks xmlns:a="http://schemas.openxmlformats.org/drawingml/2006/main" noGrp="1"/>
          </p:cNvSpPr>
          <p:nvPr/>
        </p:nvSpPr>
        <p:spPr>
          <a:xfrm xmlns:a="http://schemas.openxmlformats.org/drawingml/2006/main" rot="0">
            <a:off x="8458200" y="2305050"/>
            <a:ext cx="27241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weather and time-of-day context</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persona/content cold-start encoder</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travel cost and opening hours</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schedule-aware constrained decoding</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pre-training and trajectory augmentation</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multi-city validation</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user study</a:t>
            </a:r>
          </a:p>
        </p:txBody>
      </p:sp>
      <p:sp>
        <p:nvSpPr>
          <p:cNvPr id="18" name="">
            <a:extLst xmlns:a="http://schemas.openxmlformats.org/drawingml/2006/main">
              <a:ext uri="{FF2B5EF4-FFF2-40B4-BE49-F238E27FC236}">
                <a16:creationId xmlns:a16="http://schemas.microsoft.com/office/drawing/2014/main" id="{2E3CE55A-E6E9-460F-B0AF-30F1BD8F3986}"/>
              </a:ext>
            </a:extLst>
          </p:cNvPr>
          <p:cNvSpPr>
            <a:spLocks xmlns:a="http://schemas.openxmlformats.org/drawingml/2006/main" noGrp="1"/>
          </p:cNvSpPr>
          <p:nvPr/>
        </p:nvSpPr>
        <p:spPr>
          <a:xfrm xmlns:a="http://schemas.openxmlformats.org/drawingml/2006/main">
            <a:off x="8401050" y="4667250"/>
            <a:ext cx="2838450" cy="457200"/>
          </a:xfrm>
          <a:prstGeom xmlns:a="http://schemas.openxmlformats.org/drawingml/2006/main" prst="roundRect">
            <a:avLst>
              <a:gd name="adj" fmla="val 29167"/>
            </a:avLst>
          </a:prstGeom>
          <a:solidFill xmlns:a="http://schemas.openxmlformats.org/drawingml/2006/main">
            <a:srgbClr val="0B1F33"/>
          </a:solidFill>
          <a:ln xmlns:a="http://schemas.openxmlformats.org/drawingml/2006/main" w="9525">
            <a:solidFill>
              <a:srgbClr val="0B1F33"/>
            </a:solidFill>
            <a:prstDash val="solid"/>
          </a:ln>
        </p:spPr>
      </p:sp>
      <p:sp>
        <p:nvSpPr>
          <p:cNvPr id="19" name="">
            <a:extLst xmlns:a="http://schemas.openxmlformats.org/drawingml/2006/main">
              <a:ext uri="{FF2B5EF4-FFF2-40B4-BE49-F238E27FC236}">
                <a16:creationId xmlns:a16="http://schemas.microsoft.com/office/drawing/2014/main" id="{ADEC08A4-33B0-4B8A-8D7A-A9A3297E592F}"/>
              </a:ext>
            </a:extLst>
          </p:cNvPr>
          <p:cNvSpPr>
            <a:spLocks xmlns:a="http://schemas.openxmlformats.org/drawingml/2006/main" noGrp="1"/>
          </p:cNvSpPr>
          <p:nvPr/>
        </p:nvSpPr>
        <p:spPr>
          <a:xfrm xmlns:a="http://schemas.openxmlformats.org/drawingml/2006/main" rot="0">
            <a:off x="8534400" y="47529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372"/>
          </a:bodyPr>
          <a:lstStyle xmlns:a="http://schemas.openxmlformats.org/drawingml/2006/main"/>
          <a:p xmlns:a="http://schemas.openxmlformats.org/drawingml/2006/main">
            <a:pPr algn="ctr">
              <a:lnSpc>
                <a:spcPct val="100000"/>
              </a:lnSpc>
              <a:buNone/>
              <a:defRPr sz="1200" b="1" i="0">
                <a:solidFill>
                  <a:srgbClr val="FFFFFF"/>
                </a:solidFill>
                <a:latin typeface="Aptos"/>
                <a:ea typeface="Aptos"/>
                <a:cs typeface="Aptos"/>
              </a:defRPr>
            </a:pPr>
            <a:r>
              <a:rPr sz="1200" b="1" i="0">
                <a:solidFill>
                  <a:srgbClr val="FFFFFF"/>
                </a:solidFill>
                <a:latin typeface="Aptos"/>
                <a:ea typeface="Aptos"/>
                <a:cs typeface="Aptos"/>
              </a:rPr>
              <a:t>Orienteering / ILS: scoped, NOT implemented</a:t>
            </a:r>
          </a:p>
        </p:txBody>
      </p:sp>
      <p:sp>
        <p:nvSpPr>
          <p:cNvPr id="20" name="">
            <a:extLst xmlns:a="http://schemas.openxmlformats.org/drawingml/2006/main">
              <a:ext uri="{FF2B5EF4-FFF2-40B4-BE49-F238E27FC236}">
                <a16:creationId xmlns:a16="http://schemas.microsoft.com/office/drawing/2014/main" id="{8F39855E-BD7E-4C73-9B95-408CB11DADD4}"/>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3.7.5 and General Conclusion. Reader-facing method names are used throughout.</a:t>
            </a:r>
          </a:p>
        </p:txBody>
      </p:sp>
    </p:spTree>
    <p:extLst>
      <p:ext uri="{BB962C8B-B14F-4D97-AF65-F5344CB8AC3E}">
        <p14:creationId xmlns:p14="http://schemas.microsoft.com/office/powerpoint/2010/main" val="1365090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2026-07-16T21:17:45.1830000Z</dcterms:created>
  <dcterms:modified xsi:type="dcterms:W3CDTF">2026-07-16T21:17:45.1830000Z</dcterms:modified>
</coreProperties>
</file>