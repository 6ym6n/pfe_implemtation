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90df7d18ab54845" /><Relationship Type="http://schemas.openxmlformats.org/officeDocument/2006/relationships/extended-properties" Target="/docProps/app.xml" Id="Rfe4362752b434695" /><Relationship Type="http://schemas.openxmlformats.org/officeDocument/2006/relationships/officeDocument" Target="/ppt/presentation.xml" Id="R6c070f70301d4f7c" /></Relationships>
</file>

<file path=ppt/presentation.xml><?xml version="1.0" encoding="utf-8"?>
<p:presentation xmlns:p="http://schemas.openxmlformats.org/presentationml/2006/main">
  <p:sldMasterIdLst>
    <p:sldMasterId xmlns:r="http://schemas.openxmlformats.org/officeDocument/2006/relationships" id="2147483648" r:id="R58defa304b684206"/>
  </p:sldMasterIdLst>
  <p:notesMasterIdLst>
    <p:notesMasterId xmlns:r="http://schemas.openxmlformats.org/officeDocument/2006/relationships" r:id="R9d950df8bae84688"/>
  </p:notesMasterIdLst>
  <p:sldIdLst>
    <p:sldId xmlns:r="http://schemas.openxmlformats.org/officeDocument/2006/relationships" id="256" r:id="Rd406ea2e159946b4"/>
    <p:sldId xmlns:r="http://schemas.openxmlformats.org/officeDocument/2006/relationships" id="257" r:id="Rc422d21bb4854223"/>
    <p:sldId xmlns:r="http://schemas.openxmlformats.org/officeDocument/2006/relationships" id="258" r:id="Rc0003f17552047eb"/>
    <p:sldId xmlns:r="http://schemas.openxmlformats.org/officeDocument/2006/relationships" id="259" r:id="R3fd9b930ee4c456a"/>
    <p:sldId xmlns:r="http://schemas.openxmlformats.org/officeDocument/2006/relationships" id="260" r:id="R4396a534dff1455a"/>
    <p:sldId xmlns:r="http://schemas.openxmlformats.org/officeDocument/2006/relationships" id="261" r:id="R514c31d7b2ee461a"/>
    <p:sldId xmlns:r="http://schemas.openxmlformats.org/officeDocument/2006/relationships" id="262" r:id="R46f07e0d60b94812"/>
    <p:sldId xmlns:r="http://schemas.openxmlformats.org/officeDocument/2006/relationships" id="263" r:id="Ra93275eeb1d64123"/>
    <p:sldId xmlns:r="http://schemas.openxmlformats.org/officeDocument/2006/relationships" id="264" r:id="R90ea9fcbde564b29"/>
    <p:sldId xmlns:r="http://schemas.openxmlformats.org/officeDocument/2006/relationships" id="265" r:id="Re012f64ebfb144d2"/>
    <p:sldId xmlns:r="http://schemas.openxmlformats.org/officeDocument/2006/relationships" id="266" r:id="R751b5ab7ecb143b6"/>
    <p:sldId xmlns:r="http://schemas.openxmlformats.org/officeDocument/2006/relationships" id="267" r:id="R9e4e85de9e514aeb"/>
    <p:sldId xmlns:r="http://schemas.openxmlformats.org/officeDocument/2006/relationships" id="268" r:id="Radf6633f62ce4353"/>
    <p:sldId xmlns:r="http://schemas.openxmlformats.org/officeDocument/2006/relationships" id="269" r:id="R2b51a880e918491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5f9977781e34e84" /><Relationship Type="http://schemas.openxmlformats.org/officeDocument/2006/relationships/slideMaster" Target="/ppt/slideMasters/slideMaster1.xml" Id="R58defa304b684206" /><Relationship Type="http://schemas.openxmlformats.org/officeDocument/2006/relationships/notesMaster" Target="/ppt/notesMasters/notesMaster1.xml" Id="R9d950df8bae84688" /><Relationship Type="http://schemas.openxmlformats.org/officeDocument/2006/relationships/presProps" Target="/ppt/presProps.xml" Id="R38b54f8f9b7f4d39" /><Relationship Type="http://schemas.openxmlformats.org/officeDocument/2006/relationships/tableStyles" Target="/ppt/tableStyles.xml" Id="R450e4cbada164700" /><Relationship Type="http://schemas.openxmlformats.org/officeDocument/2006/relationships/slide" Target="/ppt/slides/slide1.xml" Id="Rd406ea2e159946b4" /><Relationship Type="http://schemas.openxmlformats.org/officeDocument/2006/relationships/slide" Target="/ppt/slides/slide2.xml" Id="Rc422d21bb4854223" /><Relationship Type="http://schemas.openxmlformats.org/officeDocument/2006/relationships/slide" Target="/ppt/slides/slide3.xml" Id="Rc0003f17552047eb" /><Relationship Type="http://schemas.openxmlformats.org/officeDocument/2006/relationships/slide" Target="/ppt/slides/slide4.xml" Id="R3fd9b930ee4c456a" /><Relationship Type="http://schemas.openxmlformats.org/officeDocument/2006/relationships/slide" Target="/ppt/slides/slide5.xml" Id="R4396a534dff1455a" /><Relationship Type="http://schemas.openxmlformats.org/officeDocument/2006/relationships/slide" Target="/ppt/slides/slide6.xml" Id="R514c31d7b2ee461a" /><Relationship Type="http://schemas.openxmlformats.org/officeDocument/2006/relationships/slide" Target="/ppt/slides/slide7.xml" Id="R46f07e0d60b94812" /><Relationship Type="http://schemas.openxmlformats.org/officeDocument/2006/relationships/slide" Target="/ppt/slides/slide8.xml" Id="Ra93275eeb1d64123" /><Relationship Type="http://schemas.openxmlformats.org/officeDocument/2006/relationships/slide" Target="/ppt/slides/slide9.xml" Id="R90ea9fcbde564b29" /><Relationship Type="http://schemas.openxmlformats.org/officeDocument/2006/relationships/slide" Target="/ppt/slides/slide10.xml" Id="Re012f64ebfb144d2" /><Relationship Type="http://schemas.openxmlformats.org/officeDocument/2006/relationships/slide" Target="/ppt/slides/slide11.xml" Id="R751b5ab7ecb143b6" /><Relationship Type="http://schemas.openxmlformats.org/officeDocument/2006/relationships/slide" Target="/ppt/slides/slide12.xml" Id="R9e4e85de9e514aeb" /><Relationship Type="http://schemas.openxmlformats.org/officeDocument/2006/relationships/slide" Target="/ppt/slides/slide13.xml" Id="Radf6633f62ce4353" /><Relationship Type="http://schemas.openxmlformats.org/officeDocument/2006/relationships/slide" Target="/ppt/slides/slide14.xml" Id="R2b51a880e91849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6d4513b2be943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572b1c0e4e646cb" /><Relationship Type="http://schemas.openxmlformats.org/officeDocument/2006/relationships/notesMaster" Target="/ppt/notesMasters/notesMaster1.xml" Id="Ra418e0134f05499f"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097d72511c4f37" /><Relationship Type="http://schemas.openxmlformats.org/officeDocument/2006/relationships/notesMaster" Target="/ppt/notesMasters/notesMaster1.xml" Id="R1ca676f0a7124b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0a0c66d1794bf7" /><Relationship Type="http://schemas.openxmlformats.org/officeDocument/2006/relationships/notesMaster" Target="/ppt/notesMasters/notesMaster1.xml" Id="R8088bc813fb94e1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e42dcc402a4a5c" /><Relationship Type="http://schemas.openxmlformats.org/officeDocument/2006/relationships/notesMaster" Target="/ppt/notesMasters/notesMaster1.xml" Id="Ra366016302b24b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764451a4cc447f" /><Relationship Type="http://schemas.openxmlformats.org/officeDocument/2006/relationships/notesMaster" Target="/ppt/notesMasters/notesMaster1.xml" Id="R940e987f98b745e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67a50fccab449ef" /><Relationship Type="http://schemas.openxmlformats.org/officeDocument/2006/relationships/notesMaster" Target="/ppt/notesMasters/notesMaster1.xml" Id="R51d6bf7022f54a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e4285f0adcad4cc1" /><Relationship Type="http://schemas.openxmlformats.org/officeDocument/2006/relationships/notesMaster" Target="/ppt/notesMasters/notesMaster1.xml" Id="Raee386cdf80b43b9"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6a68b968c441f9" /><Relationship Type="http://schemas.openxmlformats.org/officeDocument/2006/relationships/notesMaster" Target="/ppt/notesMasters/notesMaster1.xml" Id="Rd3f011f997514001" /></Relationships>
</file>

<file path=ppt/notesSlides/_rels/notesSlide9.xml.rels>&#65279;<?xml version="1.0" encoding="utf-8"?><Relationships xmlns="http://schemas.openxmlformats.org/package/2006/relationships"><Relationship Type="http://schemas.openxmlformats.org/officeDocument/2006/relationships/slide" Target="/ppt/slides/slide9.xml" Id="Raea1274dfa634cfb" /><Relationship Type="http://schemas.openxmlformats.org/officeDocument/2006/relationships/notesMaster" Target="/ppt/notesMasters/notesMaster1.xml" Id="Rf21e86cee4fb458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1bcf71369af45ad" /><Relationship Type="http://schemas.openxmlformats.org/officeDocument/2006/relationships/notesMaster" Target="/ppt/notesMasters/notesMaster1.xml" Id="R851fe1b884d145a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c8a6fff10b944ac" /><Relationship Type="http://schemas.openxmlformats.org/officeDocument/2006/relationships/notesMaster" Target="/ppt/notesMasters/notesMaster1.xml" Id="R13369199bffe48b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7258e695f064dac" /><Relationship Type="http://schemas.openxmlformats.org/officeDocument/2006/relationships/notesMaster" Target="/ppt/notesMasters/notesMaster1.xml" Id="R3e1c8ee3f9b0418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5fac059411b4598" /><Relationship Type="http://schemas.openxmlformats.org/officeDocument/2006/relationships/notesMaster" Target="/ppt/notesMasters/notesMaster1.xml" Id="R75bf53b701874b3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20a004d30e145b4" /><Relationship Type="http://schemas.openxmlformats.org/officeDocument/2006/relationships/notesMaster" Target="/ppt/notesMasters/notesMaster1.xml" Id="Re730d99555bc489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0:25</a:t>
            </a:r>
          </a:p>
          <a:p xmlns:a="http://schemas.openxmlformats.org/drawingml/2006/main">
            <a:r>
              <a:t>MEMORY SENTENCE: Smart Visit converts candidates into one coherent route.</a:t>
            </a:r>
          </a:p>
          <a:p xmlns:a="http://schemas.openxmlformats.org/drawingml/2006/main">
            <a:r>
              <a:t/>
            </a:r>
          </a:p>
          <a:p xmlns:a="http://schemas.openxmlformats.org/drawingml/2006/main">
            <a:r>
              <a:t>SCRIPT:</a:t>
            </a:r>
          </a:p>
          <a:p xmlns:a="http://schemas.openxmlformats.org/drawingml/2006/main">
            <a:r>
              <a:t>Good morning. Smart Visit asks how roughly 5,100 candidate places can become one personalized, coherent tourist itinerary. I will follow five parts: the problem, the state of the art, the solution, its implementation, and the conclusion.</a:t>
            </a:r>
          </a:p>
          <a:p xmlns:a="http://schemas.openxmlformats.org/drawingml/2006/main">
            <a:r>
              <a:t/>
            </a:r>
          </a:p>
          <a:p xmlns:a="http://schemas.openxmlformats.org/drawingml/2006/main">
            <a:r>
              <a:t>TRANSITION: First, what problem are we solving?</a:t>
            </a:r>
          </a:p>
          <a:p xmlns:a="http://schemas.openxmlformats.org/drawingml/2006/main">
            <a:r>
              <a:t/>
            </a:r>
          </a:p>
          <a:p xmlns:a="http://schemas.openxmlformats.org/drawingml/2006/main">
            <a:r>
              <a:t>SKIP IF LATE: I will follow five parts in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0:55</a:t>
            </a:r>
          </a:p>
          <a:p xmlns:a="http://schemas.openxmlformats.org/drawingml/2006/main">
            <a:r>
              <a:t>MEMORY SENTENCE: A useful trip needs both selection and correct order.</a:t>
            </a:r>
          </a:p>
          <a:p xmlns:a="http://schemas.openxmlformats.org/drawingml/2006/main">
            <a:r>
              <a:t/>
            </a:r>
          </a:p>
          <a:p xmlns:a="http://schemas.openxmlformats.org/drawingml/2006/main">
            <a:r>
              <a:t>SCRIPT:</a:t>
            </a:r>
          </a:p>
          <a:p xmlns:a="http://schemas.openxmlformats.org/drawingml/2006/main">
            <a:r>
              <a:t>A tourist system must answer two different questions: what should this user visit next, and in what order should several places form a complete trip? A ranked list is not yet an itinerary; it may repeat locations, ignore the destination, or create a poor order. The research question is whether a personalized, context-aware next-POI engine can be decoded into a loop-free route without confusing next-step accuracy with itinerary quality.</a:t>
            </a:r>
          </a:p>
          <a:p xmlns:a="http://schemas.openxmlformats.org/drawingml/2006/main">
            <a:r>
              <a:t/>
            </a:r>
          </a:p>
          <a:p xmlns:a="http://schemas.openxmlformats.org/drawingml/2006/main">
            <a:r>
              <a:t>TRANSITION: Now consider how the literature approaches this problem.</a:t>
            </a:r>
          </a:p>
          <a:p xmlns:a="http://schemas.openxmlformats.org/drawingml/2006/main">
            <a:r>
              <a:t/>
            </a:r>
          </a:p>
          <a:p xmlns:a="http://schemas.openxmlformats.org/drawingml/2006/main">
            <a:r>
              <a:t>SKIP IF LATE: A ranked list is not yet an itinerary.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1:00</a:t>
            </a:r>
          </a:p>
          <a:p xmlns:a="http://schemas.openxmlformats.org/drawingml/2006/main">
            <a:r>
              <a:t>MEMORY SENTENCE: Existing methods trade off personalization and route feasibility.</a:t>
            </a:r>
          </a:p>
          <a:p xmlns:a="http://schemas.openxmlformats.org/drawingml/2006/main">
            <a:r>
              <a:t/>
            </a:r>
          </a:p>
          <a:p xmlns:a="http://schemas.openxmlformats.org/drawingml/2006/main">
            <a:r>
              <a:t>SCRIPT:</a:t>
            </a:r>
          </a:p>
          <a:p xmlns:a="http://schemas.openxmlformats.org/drawingml/2006/main">
            <a:r>
              <a:t>Three broad families dominate the literature. Route-optimization methods such as OP and TTDP enforce constraints by construction, but often use simple utility scores. Personalized and context-aware recommenders learn relevance, yet usually rank individual POIs rather than generate a constrained route. Deep sequential models learn mobility transitions, but next-POI objectives and greedy decoding do not guarantee global coherence. No family fully unifies personalization, context, ordering, and route feasibility. The central gaps are therefore the connection between prediction and itinerary quality, and fragmented evaluation. This thesis addresses those two gaps directly; cold-start and richer environmental context remain partial gaps.</a:t>
            </a:r>
          </a:p>
          <a:p xmlns:a="http://schemas.openxmlformats.org/drawingml/2006/main">
            <a:r>
              <a:t/>
            </a:r>
          </a:p>
          <a:p xmlns:a="http://schemas.openxmlformats.org/drawingml/2006/main">
            <a:r>
              <a:t>TRANSITION: These gaps determine the proposed solution.</a:t>
            </a:r>
          </a:p>
          <a:p xmlns:a="http://schemas.openxmlformats.org/drawingml/2006/main">
            <a:r>
              <a:t/>
            </a:r>
          </a:p>
          <a:p xmlns:a="http://schemas.openxmlformats.org/drawingml/2006/main">
            <a:r>
              <a:t>SKIP IF LATE: Cold-start and richer environmental context remain partial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1:00</a:t>
            </a:r>
          </a:p>
          <a:p xmlns:a="http://schemas.openxmlformats.org/drawingml/2006/main">
            <a:r>
              <a:t>MEMORY SENTENCE: One pipeline contains two distinct evaluation spaces.</a:t>
            </a:r>
          </a:p>
          <a:p xmlns:a="http://schemas.openxmlformats.org/drawingml/2006/main">
            <a:r>
              <a:t/>
            </a:r>
          </a:p>
          <a:p xmlns:a="http://schemas.openxmlformats.org/drawingml/2006/main">
            <a:r>
              <a:t>SCRIPT:</a:t>
            </a:r>
          </a:p>
          <a:p xmlns:a="http://schemas.openxmlformats.org/drawingml/2006/main">
            <a:r>
              <a:t>The solution deliberately separates two phases. Phase one trains a personalized next-POI engine on Foursquare New York and evaluates it with HR, NDCG, and MRR. Phase two turns its scores into routes through Frozen Rollout, compared internally with a Trained Pointer using set-F1 and pairs-F1. Since New York itinerary values cannot be compared with Flickr literature values, the itinerary task is repeated on the Flickr Benchmark under the Chen-2016 protocol. The two tasks never share one leaderboard.</a:t>
            </a:r>
          </a:p>
          <a:p xmlns:a="http://schemas.openxmlformats.org/drawingml/2006/main">
            <a:r>
              <a:t/>
            </a:r>
          </a:p>
          <a:p xmlns:a="http://schemas.openxmlformats.org/drawingml/2006/main">
            <a:r>
              <a:t>TRANSITION: Let us now open the prediction engine.</a:t>
            </a:r>
          </a:p>
          <a:p xmlns:a="http://schemas.openxmlformats.org/drawingml/2006/main">
            <a:r>
              <a:t/>
            </a:r>
          </a:p>
          <a:p xmlns:a="http://schemas.openxmlformats.org/drawingml/2006/main">
            <a:r>
              <a:t>SKIP IF LATE: The two tasks never share one leaderboard.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1:10</a:t>
            </a:r>
          </a:p>
          <a:p xmlns:a="http://schemas.openxmlformats.org/drawingml/2006/main">
            <a:r>
              <a:t>MEMORY SENTENCE: Graph, context, user, and sequence signals produce one ranking.</a:t>
            </a:r>
          </a:p>
          <a:p xmlns:a="http://schemas.openxmlformats.org/drawingml/2006/main">
            <a:r>
              <a:t/>
            </a:r>
          </a:p>
          <a:p xmlns:a="http://schemas.openxmlformats.org/drawingml/2006/main">
            <a:r>
              <a:t>SCRIPT:</a:t>
            </a:r>
          </a:p>
          <a:p xmlns:a="http://schemas.openxmlformats.org/drawingml/2006/main">
            <a:r>
              <a:t>The implemented engine combines four signals. A hybrid graph links POIs through training-only co-visits and ten geographic neighbours, and a two-layer GCN creates place features. Distance and elapsed-time gaps provide lightweight context. A GRU summarizes the visited sequence, while a learned user embedding represents identity-based preference. The GRU state and user embedding feed an MLP that scores the full vocabulary of about 5,100 POIs. Each session contributes every prefix-to-next-POI pair, producing on the order of one hundred thousand supervised examples. Training uses Adam, dropout, gradient clipping, and early stopping on validation HR at ten.</a:t>
            </a:r>
          </a:p>
          <a:p xmlns:a="http://schemas.openxmlformats.org/drawingml/2006/main">
            <a:r>
              <a:t/>
            </a:r>
          </a:p>
          <a:p xmlns:a="http://schemas.openxmlformats.org/drawingml/2006/main">
            <a:r>
              <a:t>TRANSITION: The same trained engine is then reused as a route scorer.</a:t>
            </a:r>
          </a:p>
          <a:p xmlns:a="http://schemas.openxmlformats.org/drawingml/2006/main">
            <a:r>
              <a:t/>
            </a:r>
          </a:p>
          <a:p xmlns:a="http://schemas.openxmlformats.org/drawingml/2006/main">
            <a:r>
              <a:t>SKIP IF LATE: Training uses Adam, dropout, clipping, and early stopping.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1:05</a:t>
            </a:r>
          </a:p>
          <a:p xmlns:a="http://schemas.openxmlformats.org/drawingml/2006/main">
            <a:r>
              <a:t>MEMORY SENTENCE: Frozen Rollout adds route constraints without changing the model.</a:t>
            </a:r>
          </a:p>
          <a:p xmlns:a="http://schemas.openxmlformats.org/drawingml/2006/main">
            <a:r>
              <a:t/>
            </a:r>
          </a:p>
          <a:p xmlns:a="http://schemas.openxmlformats.org/drawingml/2006/main">
            <a:r>
              <a:t>SCRIPT:</a:t>
            </a:r>
          </a:p>
          <a:p xmlns:a="http://schemas.openxmlformats.org/drawingml/2006/main">
            <a:r>
              <a:t>Frozen Rollout creates an itinerary without retraining the engine. A query provides a user, a start POI, an optional destination, and the desired length. At each step, the frozen engine scores all candidates; the decoder masks visited POIs, reserves a supplied destination for the final step, selects the best valid candidate, and repeats. Greedy is the headline decoder, while beam search keeps several partial routes. When a destination is supplied, the method guarantees it as the last stop; in all cases, the route is loop-free and has the requested length. It does not claim a global optimum, opening-hour feasibility, or travel-time optimization.</a:t>
            </a:r>
          </a:p>
          <a:p xmlns:a="http://schemas.openxmlformats.org/drawingml/2006/main">
            <a:r>
              <a:t/>
            </a:r>
          </a:p>
          <a:p xmlns:a="http://schemas.openxmlformats.org/drawingml/2006/main">
            <a:r>
              <a:t>TRANSITION: We can now evaluate the engine and the generated routes.</a:t>
            </a:r>
          </a:p>
          <a:p xmlns:a="http://schemas.openxmlformats.org/drawingml/2006/main">
            <a:r>
              <a:t/>
            </a:r>
          </a:p>
          <a:p xmlns:a="http://schemas.openxmlformats.org/drawingml/2006/main">
            <a:r>
              <a:t>SKIP IF LATE: Beam search keeps several partial routes.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0:45</a:t>
            </a:r>
          </a:p>
          <a:p xmlns:a="http://schemas.openxmlformats.org/drawingml/2006/main">
            <a:r>
              <a:t>MEMORY SENTENCE: The engine is competitive, but not state of the art.</a:t>
            </a:r>
          </a:p>
          <a:p xmlns:a="http://schemas.openxmlformats.org/drawingml/2006/main">
            <a:r>
              <a:t/>
            </a:r>
          </a:p>
          <a:p xmlns:a="http://schemas.openxmlformats.org/drawingml/2006/main">
            <a:r>
              <a:t>SCRIPT:</a:t>
            </a:r>
          </a:p>
          <a:p xmlns:a="http://schemas.openxmlformats.org/drawingml/2006/main">
            <a:r>
              <a:t>On New York, the engine obtains HR at one of 0.187, HR at five of 0.476, HR at ten of 0.588, and MRR of 0.316. HR at one means the exact next POI ranks first among roughly 5,100 candidates almost one time in five. The result is slightly above STGCN at 0.180, but below GETNext at 0.240 and LLM4POI at 0.340. Its honest position is the LSTM/STGCN tier, not the state of the art.</a:t>
            </a:r>
          </a:p>
          <a:p xmlns:a="http://schemas.openxmlformats.org/drawingml/2006/main">
            <a:r>
              <a:t/>
            </a:r>
          </a:p>
          <a:p xmlns:a="http://schemas.openxmlformats.org/drawingml/2006/main">
            <a:r>
              <a:t>TRANSITION: The itinerary experiment gives the more surprising result.</a:t>
            </a:r>
          </a:p>
          <a:p xmlns:a="http://schemas.openxmlformats.org/drawingml/2006/main">
            <a:r>
              <a:t/>
            </a:r>
          </a:p>
          <a:p xmlns:a="http://schemas.openxmlformats.org/drawingml/2006/main">
            <a:r>
              <a:t>SKIP IF LATE: Its honest position is the LSTM-STGCN tier.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1:00</a:t>
            </a:r>
          </a:p>
          <a:p xmlns:a="http://schemas.openxmlformats.org/drawingml/2006/main">
            <a:r>
              <a:t>MEMORY SENTENCE: Frozen Rollout wins, and dense prefix supervision helps explain why.</a:t>
            </a:r>
          </a:p>
          <a:p xmlns:a="http://schemas.openxmlformats.org/drawingml/2006/main">
            <a:r>
              <a:t/>
            </a:r>
          </a:p>
          <a:p xmlns:a="http://schemas.openxmlformats.org/drawingml/2006/main">
            <a:r>
              <a:t>SCRIPT:</a:t>
            </a:r>
          </a:p>
          <a:p xmlns:a="http://schemas.openxmlformats.org/drawingml/2006/main">
            <a:r>
              <a:t>On 2,880 New York itineraries of length at least three, Frozen Rollout reaches 0.289 pairs-F1, compared with 0.259 for the Trained Pointer. Beam search reaches only 0.290. The strongest explanation is supervision density: the engine learns from every prefix, on the order of one hundred thousand prefix-target examples, whereas the Trained Pointer sees one complete trajectory per session and trains from scratch. The lesson is not that pointer models never work; it is that a densely supervised scorer is difficult to beat. These itinerary metrics are never compared with next-POI HR.</a:t>
            </a:r>
          </a:p>
          <a:p xmlns:a="http://schemas.openxmlformats.org/drawingml/2006/main">
            <a:r>
              <a:t/>
            </a:r>
          </a:p>
          <a:p xmlns:a="http://schemas.openxmlformats.org/drawingml/2006/main">
            <a:r>
              <a:t>TRANSITION: But New York is not a valid literature benchmark.</a:t>
            </a:r>
          </a:p>
          <a:p xmlns:a="http://schemas.openxmlformats.org/drawingml/2006/main">
            <a:r>
              <a:t/>
            </a:r>
          </a:p>
          <a:p xmlns:a="http://schemas.openxmlformats.org/drawingml/2006/main">
            <a:r>
              <a:t>SKIP IF LATE: Beam search reaches only 0.290.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1:15</a:t>
            </a:r>
          </a:p>
          <a:p xmlns:a="http://schemas.openxmlformats.org/drawingml/2006/main">
            <a:r>
              <a:t>MEMORY SENTENCE: Flickr makes the literature comparison valid and honest.</a:t>
            </a:r>
          </a:p>
          <a:p xmlns:a="http://schemas.openxmlformats.org/drawingml/2006/main">
            <a:r>
              <a:t/>
            </a:r>
          </a:p>
          <a:p xmlns:a="http://schemas.openxmlformats.org/drawingml/2006/main">
            <a:r>
              <a:t>SCRIPT:</a:t>
            </a:r>
          </a:p>
          <a:p xmlns:a="http://schemas.openxmlformats.org/drawingml/2006/main">
            <a:r>
              <a:t>For fair literature comparison, the Flickr Benchmark follows the Chen-2016 protocol: leave one trajectory out, provide the first and last POI plus route length, and evaluate loop-free routes of length at least three with pairs-F1. Our Random results reproduce Chen's published Random baseline within a maximum absolute gap of 0.021, validating the harness. On that published scale, our classical baselines span 0.23 to 0.59, and the Trained Pointer spans 0.31 to 0.49, while SelfTrip and AR-Trip remain around 0.80. Personalization is conditional: the user embedding changes pairs-F1 by plus 0.038 in Glasgow, minus 0.007 in Osaka, and minus 0.017 in Toronto. These deltas come from a separate user-embedding ablation, not the main pointer run. Sparse leave-one-out history therefore exposes cold-start. Other limits are New-York-only engine training, offline evaluation, context restricted to distance and elapsed time, and no opening-hour or scheduling constraints. New York and Flickr scores are never compared directly.</a:t>
            </a:r>
          </a:p>
          <a:p xmlns:a="http://schemas.openxmlformats.org/drawingml/2006/main">
            <a:r>
              <a:t/>
            </a:r>
          </a:p>
          <a:p xmlns:a="http://schemas.openxmlformats.org/drawingml/2006/main">
            <a:r>
              <a:t>TRANSITION: I will close with the three results to retain.</a:t>
            </a:r>
          </a:p>
          <a:p xmlns:a="http://schemas.openxmlformats.org/drawingml/2006/main">
            <a:r>
              <a:t/>
            </a:r>
          </a:p>
          <a:p xmlns:a="http://schemas.openxmlformats.org/drawingml/2006/main">
            <a:r>
              <a:t>SKIP IF LATE: New York and Flickr scores are never compared directly.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0:40</a:t>
            </a:r>
          </a:p>
          <a:p xmlns:a="http://schemas.openxmlformats.org/drawingml/2006/main">
            <a:r>
              <a:t>MEMORY SENTENCE: Score, decode, and evaluate honestly.</a:t>
            </a:r>
          </a:p>
          <a:p xmlns:a="http://schemas.openxmlformats.org/drawingml/2006/main">
            <a:r>
              <a:t/>
            </a:r>
          </a:p>
          <a:p xmlns:a="http://schemas.openxmlformats.org/drawingml/2006/main">
            <a:r>
              <a:t>SCRIPT:</a:t>
            </a:r>
          </a:p>
          <a:p xmlns:a="http://schemas.openxmlformats.org/drawingml/2006/main">
            <a:r>
              <a:t>Three results matter. The engine reaches HR at one of 0.187. Frozen Rollout converts its scores into loop-free itineraries and reaches 0.289 pairs-F1, above the Trained Pointer at 0.259 on the same New York protocol. The Flickr reproduction validates the literature comparison. The contribution is therefore a reproducible foundation: a personalized scorer, a simple effective decoder, and an honest evaluation. Thank you.</a:t>
            </a:r>
          </a:p>
          <a:p xmlns:a="http://schemas.openxmlformats.org/drawingml/2006/main">
            <a:r>
              <a:t/>
            </a:r>
          </a:p>
          <a:p xmlns:a="http://schemas.openxmlformats.org/drawingml/2006/main">
            <a:r>
              <a:t>TRANSITION: Thank you; I welcome your questions.</a:t>
            </a:r>
          </a:p>
          <a:p xmlns:a="http://schemas.openxmlformats.org/drawingml/2006/main">
            <a:r>
              <a:t/>
            </a:r>
          </a:p>
          <a:p xmlns:a="http://schemas.openxmlformats.org/drawingml/2006/main">
            <a:r>
              <a:t>SKIP IF LATE: The contribution is a reproducible foundation for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Data preparation and evaluation protocols</a:t>
            </a:r>
          </a:p>
          <a:p xmlns:a="http://schemas.openxmlformats.org/drawingml/2006/main">
            <a:r>
              <a:t>USE WHEN: The jury asks about filtering, leakage, dataset sizes, or the exact Chen-2016 protocol.</a:t>
            </a:r>
          </a:p>
          <a:p xmlns:a="http://schemas.openxmlformats.org/drawingml/2006/main">
            <a:r>
              <a:t/>
            </a:r>
          </a:p>
          <a:p xmlns:a="http://schemas.openxmlformats.org/drawingml/2006/main">
            <a:r>
              <a:t>Keep the answer short, point to the requested evidence, and return to the closing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Metric definitions and complete result tables</a:t>
            </a:r>
          </a:p>
          <a:p xmlns:a="http://schemas.openxmlformats.org/drawingml/2006/main">
            <a:r>
              <a:t>USE WHEN: The jury requests an exact number, asks what pairs-F1 measures, or challenges metric comparability.</a:t>
            </a:r>
          </a:p>
          <a:p xmlns:a="http://schemas.openxmlformats.org/drawingml/2006/main">
            <a:r>
              <a:t/>
            </a:r>
          </a:p>
          <a:p xmlns:a="http://schemas.openxmlformats.org/drawingml/2006/main">
            <a:r>
              <a:t>Keep the answer short, point to the requested evidence, and return to the closing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Detailed architecture, dimensions, and training controls</a:t>
            </a:r>
          </a:p>
          <a:p xmlns:a="http://schemas.openxmlformats.org/drawingml/2006/main">
            <a:r>
              <a:t>USE WHEN: The jury asks for dimensions, graph construction, context bounds, training objective, or leakage controls.</a:t>
            </a:r>
          </a:p>
          <a:p xmlns:a="http://schemas.openxmlformats.org/drawingml/2006/main">
            <a:r>
              <a:t/>
            </a:r>
          </a:p>
          <a:p xmlns:a="http://schemas.openxmlformats.org/drawingml/2006/main">
            <a:r>
              <a:t>Keep the answer short, point to the requested evidence, and return to the closing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Why the Trained Pointer loses - limitations and next steps</a:t>
            </a:r>
          </a:p>
          <a:p xmlns:a="http://schemas.openxmlformats.org/drawingml/2006/main">
            <a:r>
              <a:t>USE WHEN: The jury challenges the negative result, asks whether training failed, or asks about limitations and future work.</a:t>
            </a:r>
          </a:p>
          <a:p xmlns:a="http://schemas.openxmlformats.org/drawingml/2006/main">
            <a:r>
              <a:t/>
            </a:r>
          </a:p>
          <a:p xmlns:a="http://schemas.openxmlformats.org/drawingml/2006/main">
            <a:r>
              <a:t>Keep the answer short, point to the requested evidence, and return to the closing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25bb91728d4ef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03f6b0ba5034c06" /><Relationship Type="http://schemas.openxmlformats.org/officeDocument/2006/relationships/slideLayout" Target="/ppt/slideLayouts/slideLayout1.xml" Id="Rcb265c19386d4aa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265c19386d4aa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13aab8032544ce9" /><Relationship Type="http://schemas.openxmlformats.org/officeDocument/2006/relationships/image" Target="/ppt/media/image.png" Id="Rec206614bd154806" /><Relationship Type="http://schemas.openxmlformats.org/officeDocument/2006/relationships/notesSlide" Target="/ppt/notesSlides/notesSlide1.xml" Id="R8e261dea9c94432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de2431871434815" /><Relationship Type="http://schemas.openxmlformats.org/officeDocument/2006/relationships/notesSlide" Target="/ppt/notesSlides/notesSlide2.xml" Id="R7df064cd4f7243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3a5feee307543cb" /><Relationship Type="http://schemas.openxmlformats.org/officeDocument/2006/relationships/notesSlide" Target="/ppt/notesSlides/notesSlide3.xml" Id="Rbfc2fe8195994d8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3fc22337d064047" /><Relationship Type="http://schemas.openxmlformats.org/officeDocument/2006/relationships/notesSlide" Target="/ppt/notesSlides/notesSlide4.xml" Id="R1132f662e2464a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1f9fe70262948e8" /><Relationship Type="http://schemas.openxmlformats.org/officeDocument/2006/relationships/notesSlide" Target="/ppt/notesSlides/notesSlide5.xml" Id="R5fd46cf6b7ae484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fd85727b4794455" /><Relationship Type="http://schemas.openxmlformats.org/officeDocument/2006/relationships/notesSlide" Target="/ppt/notesSlides/notesSlide6.xml" Id="R18a8e9c6c98a44c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3bdcf26909d401f" /><Relationship Type="http://schemas.openxmlformats.org/officeDocument/2006/relationships/notesSlide" Target="/ppt/notesSlides/notesSlide7.xml" Id="Rde332780bc074fd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1f7b0baffb44237" /><Relationship Type="http://schemas.openxmlformats.org/officeDocument/2006/relationships/notesSlide" Target="/ppt/notesSlides/notesSlide8.xml" Id="R65828b059e9c44b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aebfbbf92df4a30" /><Relationship Type="http://schemas.openxmlformats.org/officeDocument/2006/relationships/notesSlide" Target="/ppt/notesSlides/notesSlide9.xml" Id="R3a7f115211484dc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ce2ac91dbd743e1" /><Relationship Type="http://schemas.openxmlformats.org/officeDocument/2006/relationships/notesSlide" Target="/ppt/notesSlides/notesSlide10.xml" Id="Re1db06d6d192442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a4d27e119dd4b1f" /><Relationship Type="http://schemas.openxmlformats.org/officeDocument/2006/relationships/notesSlide" Target="/ppt/notesSlides/notesSlide11.xml" Id="R84fb014561f84c6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c6a94c9242248e3" /><Relationship Type="http://schemas.openxmlformats.org/officeDocument/2006/relationships/notesSlide" Target="/ppt/notesSlides/notesSlide12.xml" Id="R96387074df274f0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5e5bf66b1574d44" /><Relationship Type="http://schemas.openxmlformats.org/officeDocument/2006/relationships/notesSlide" Target="/ppt/notesSlides/notesSlide13.xml" Id="R200a6a3b697f4c4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e5ec37fd23c4c07" /><Relationship Type="http://schemas.openxmlformats.org/officeDocument/2006/relationships/notesSlide" Target="/ppt/notesSlides/notesSlide14.xml" Id="R03a3eae215304514" /></Relationships>
</file>

<file path=ppt/slides/slide1.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c206614bd15480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F238D9D-5851-4ACC-BDC0-4692ED97C945}"/>
              </a:ext>
            </a:extLst>
          </p:cNvPr>
          <p:cNvSpPr>
            <a:spLocks xmlns:a="http://schemas.openxmlformats.org/drawingml/2006/main" noGrp="1"/>
          </p:cNvSpPr>
          <p:nvPr/>
        </p:nvSpPr>
        <p:spPr>
          <a:xfrm xmlns:a="http://schemas.openxmlformats.org/drawingml/2006/main">
            <a:off x="647700" y="590550"/>
            <a:ext cx="895350" cy="57150"/>
          </a:xfrm>
          <a:prstGeom xmlns:a="http://schemas.openxmlformats.org/drawingml/2006/main" prst="rect">
            <a:avLst/>
          </a:prstGeom>
          <a:solidFill xmlns:a="http://schemas.openxmlformats.org/drawingml/2006/main">
            <a:srgbClr val="F28C4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02E8870-C872-47B8-B191-C1813E463CE0}"/>
              </a:ext>
            </a:extLst>
          </p:cNvPr>
          <p:cNvSpPr>
            <a:spLocks xmlns:a="http://schemas.openxmlformats.org/drawingml/2006/main" noGrp="1"/>
          </p:cNvSpPr>
          <p:nvPr/>
        </p:nvSpPr>
        <p:spPr>
          <a:xfrm xmlns:a="http://schemas.openxmlformats.org/drawingml/2006/main" rot="0">
            <a:off x="647700" y="8001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DDF3F1"/>
                </a:solidFill>
                <a:latin typeface="Aptos"/>
                <a:ea typeface="Aptos"/>
                <a:cs typeface="Aptos"/>
              </a:defRPr>
            </a:pPr>
            <a:r>
              <a:rPr sz="1275" b="1" i="0">
                <a:solidFill>
                  <a:srgbClr val="DDF3F1"/>
                </a:solidFill>
                <a:latin typeface="Aptos"/>
                <a:ea typeface="Aptos"/>
                <a:cs typeface="Aptos"/>
              </a:rPr>
              <a:t>SMART VISIT</a:t>
            </a:r>
          </a:p>
        </p:txBody>
      </p:sp>
      <p:sp>
        <p:nvSpPr>
          <p:cNvPr id="4" name="cover-title">
            <a:extLst xmlns:a="http://schemas.openxmlformats.org/drawingml/2006/main">
              <a:ext uri="{FF2B5EF4-FFF2-40B4-BE49-F238E27FC236}">
                <a16:creationId xmlns:a16="http://schemas.microsoft.com/office/drawing/2014/main" id="{EA6616E1-D94E-42B8-8564-D95170B8B677}"/>
              </a:ext>
            </a:extLst>
          </p:cNvPr>
          <p:cNvSpPr>
            <a:spLocks xmlns:a="http://schemas.openxmlformats.org/drawingml/2006/main" noGrp="1"/>
          </p:cNvSpPr>
          <p:nvPr/>
        </p:nvSpPr>
        <p:spPr>
          <a:xfrm xmlns:a="http://schemas.openxmlformats.org/drawingml/2006/main" rot="0">
            <a:off x="647700" y="1428750"/>
            <a:ext cx="581025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125" b="1" i="0">
                <a:solidFill>
                  <a:srgbClr val="FFFFFF"/>
                </a:solidFill>
                <a:latin typeface="Aptos"/>
                <a:ea typeface="Aptos"/>
                <a:cs typeface="Aptos"/>
              </a:defRPr>
            </a:pPr>
            <a:r>
              <a:rPr sz="4125" b="1" i="0">
                <a:solidFill>
                  <a:srgbClr val="FFFFFF"/>
                </a:solidFill>
                <a:latin typeface="Aptos"/>
                <a:ea typeface="Aptos"/>
                <a:cs typeface="Aptos"/>
              </a:rPr>
              <a:t>From 5,100 places</a:t>
            </a:r>
          </a:p>
          <a:p xmlns:a="http://schemas.openxmlformats.org/drawingml/2006/main">
            <a:pPr algn="l">
              <a:lnSpc>
                <a:spcPct val="92000"/>
              </a:lnSpc>
              <a:buNone/>
              <a:defRPr sz="4125" b="1" i="0">
                <a:solidFill>
                  <a:srgbClr val="FFFFFF"/>
                </a:solidFill>
                <a:latin typeface="Aptos"/>
                <a:ea typeface="Aptos"/>
                <a:cs typeface="Aptos"/>
              </a:defRPr>
            </a:pPr>
            <a:r>
              <a:rPr sz="4125" b="1" i="0">
                <a:solidFill>
                  <a:srgbClr val="FFFFFF"/>
                </a:solidFill>
                <a:latin typeface="Aptos"/>
                <a:ea typeface="Aptos"/>
                <a:cs typeface="Aptos"/>
              </a:rPr>
              <a:t>to one coherent itinerary</a:t>
            </a:r>
          </a:p>
        </p:txBody>
      </p:sp>
      <p:sp>
        <p:nvSpPr>
          <p:cNvPr id="5" name="">
            <a:extLst xmlns:a="http://schemas.openxmlformats.org/drawingml/2006/main">
              <a:ext uri="{FF2B5EF4-FFF2-40B4-BE49-F238E27FC236}">
                <a16:creationId xmlns:a16="http://schemas.microsoft.com/office/drawing/2014/main" id="{708A63C4-F681-4524-8558-B4D99AFCC37F}"/>
              </a:ext>
            </a:extLst>
          </p:cNvPr>
          <p:cNvSpPr>
            <a:spLocks xmlns:a="http://schemas.openxmlformats.org/drawingml/2006/main" noGrp="1"/>
          </p:cNvSpPr>
          <p:nvPr/>
        </p:nvSpPr>
        <p:spPr>
          <a:xfrm xmlns:a="http://schemas.openxmlformats.org/drawingml/2006/main" rot="0">
            <a:off x="685800" y="3476625"/>
            <a:ext cx="5095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0" i="0">
                <a:solidFill>
                  <a:srgbClr val="D6E4EE"/>
                </a:solidFill>
                <a:latin typeface="Aptos"/>
                <a:ea typeface="Aptos"/>
                <a:cs typeface="Aptos"/>
              </a:defRPr>
            </a:pPr>
            <a:r>
              <a:rPr sz="1725" b="0" i="0">
                <a:solidFill>
                  <a:srgbClr val="D6E4EE"/>
                </a:solidFill>
                <a:latin typeface="Aptos"/>
                <a:ea typeface="Aptos"/>
                <a:cs typeface="Aptos"/>
              </a:rPr>
              <a:t>Personalized tourist itinerary recommendation</a:t>
            </a:r>
          </a:p>
          <a:p xmlns:a="http://schemas.openxmlformats.org/drawingml/2006/main">
            <a:pPr algn="l">
              <a:lnSpc>
                <a:spcPct val="100000"/>
              </a:lnSpc>
              <a:buNone/>
              <a:defRPr sz="1725" b="0" i="0">
                <a:solidFill>
                  <a:srgbClr val="D6E4EE"/>
                </a:solidFill>
                <a:latin typeface="Aptos"/>
                <a:ea typeface="Aptos"/>
                <a:cs typeface="Aptos"/>
              </a:defRPr>
            </a:pPr>
            <a:r>
              <a:rPr sz="1725" b="0" i="0">
                <a:solidFill>
                  <a:srgbClr val="D6E4EE"/>
                </a:solidFill>
                <a:latin typeface="Aptos"/>
                <a:ea typeface="Aptos"/>
                <a:cs typeface="Aptos"/>
              </a:rPr>
              <a:t>based on user preferences and contextual data</a:t>
            </a:r>
          </a:p>
        </p:txBody>
      </p:sp>
      <p:sp>
        <p:nvSpPr>
          <p:cNvPr id="6" name="">
            <a:extLst xmlns:a="http://schemas.openxmlformats.org/drawingml/2006/main">
              <a:ext uri="{FF2B5EF4-FFF2-40B4-BE49-F238E27FC236}">
                <a16:creationId xmlns:a16="http://schemas.microsoft.com/office/drawing/2014/main" id="{C944ACEA-FB53-4148-8DCF-A0560088422B}"/>
              </a:ext>
            </a:extLst>
          </p:cNvPr>
          <p:cNvSpPr>
            <a:spLocks xmlns:a="http://schemas.openxmlformats.org/drawingml/2006/main" noGrp="1"/>
          </p:cNvSpPr>
          <p:nvPr/>
        </p:nvSpPr>
        <p:spPr>
          <a:xfrm xmlns:a="http://schemas.openxmlformats.org/drawingml/2006/main" rot="0">
            <a:off x="685800" y="52197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725" b="1" i="0">
                <a:solidFill>
                  <a:srgbClr val="FFFFFF"/>
                </a:solidFill>
                <a:latin typeface="Aptos"/>
                <a:ea typeface="Aptos"/>
                <a:cs typeface="Aptos"/>
              </a:defRPr>
            </a:pPr>
            <a:r>
              <a:rPr sz="1725" b="1" i="0">
                <a:solidFill>
                  <a:srgbClr val="FFFFFF"/>
                </a:solidFill>
                <a:latin typeface="Aptos"/>
                <a:ea typeface="Aptos"/>
                <a:cs typeface="Aptos"/>
              </a:rPr>
              <a:t>Ayman Naaimi</a:t>
            </a:r>
          </a:p>
        </p:txBody>
      </p:sp>
      <p:sp>
        <p:nvSpPr>
          <p:cNvPr id="7" name="">
            <a:extLst xmlns:a="http://schemas.openxmlformats.org/drawingml/2006/main">
              <a:ext uri="{FF2B5EF4-FFF2-40B4-BE49-F238E27FC236}">
                <a16:creationId xmlns:a16="http://schemas.microsoft.com/office/drawing/2014/main" id="{B2CABF12-4E91-4C24-9594-34FD33189A9A}"/>
              </a:ext>
            </a:extLst>
          </p:cNvPr>
          <p:cNvSpPr>
            <a:spLocks xmlns:a="http://schemas.openxmlformats.org/drawingml/2006/main" noGrp="1"/>
          </p:cNvSpPr>
          <p:nvPr/>
        </p:nvSpPr>
        <p:spPr>
          <a:xfrm xmlns:a="http://schemas.openxmlformats.org/drawingml/2006/main" rot="0">
            <a:off x="685800" y="5619750"/>
            <a:ext cx="476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B8C8D5"/>
                </a:solidFill>
                <a:latin typeface="Aptos"/>
                <a:ea typeface="Aptos"/>
                <a:cs typeface="Aptos"/>
              </a:defRPr>
            </a:pPr>
            <a:r>
              <a:rPr sz="1200" b="0" i="0">
                <a:solidFill>
                  <a:srgbClr val="B8C8D5"/>
                </a:solidFill>
                <a:latin typeface="Aptos"/>
                <a:ea typeface="Aptos"/>
                <a:cs typeface="Aptos"/>
              </a:rPr>
              <a:t>Supervisor: Imadeddine Mountasser</a:t>
            </a:r>
          </a:p>
          <a:p xmlns:a="http://schemas.openxmlformats.org/drawingml/2006/main">
            <a:pPr algn="l">
              <a:lnSpc>
                <a:spcPct val="100000"/>
              </a:lnSpc>
              <a:buNone/>
              <a:defRPr sz="1200" b="0" i="0">
                <a:solidFill>
                  <a:srgbClr val="B8C8D5"/>
                </a:solidFill>
                <a:latin typeface="Aptos"/>
                <a:ea typeface="Aptos"/>
                <a:cs typeface="Aptos"/>
              </a:defRPr>
            </a:pPr>
            <a:r>
              <a:rPr sz="1200" b="0" i="0">
                <a:solidFill>
                  <a:srgbClr val="B8C8D5"/>
                </a:solidFill>
                <a:latin typeface="Aptos"/>
                <a:ea typeface="Aptos"/>
                <a:cs typeface="Aptos"/>
              </a:rPr>
              <a:t>Master D2SM · ENSAM Meknes · 2025-2026</a:t>
            </a:r>
          </a:p>
        </p:txBody>
      </p:sp>
    </p:spTree>
    <p:extLst>
      <p:ext uri="{BB962C8B-B14F-4D97-AF65-F5344CB8AC3E}">
        <p14:creationId xmlns:p14="http://schemas.microsoft.com/office/powerpoint/2010/main" val="1987125187"/>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48" name="eyebrow">
            <a:extLst xmlns:a="http://schemas.openxmlformats.org/drawingml/2006/main">
              <a:ext uri="{FF2B5EF4-FFF2-40B4-BE49-F238E27FC236}">
                <a16:creationId xmlns:a16="http://schemas.microsoft.com/office/drawing/2014/main" id="{835E413A-61E0-40C3-8E88-EDEF98A520FB}"/>
              </a:ext>
            </a:extLst>
          </p:cNvPr>
          <p:cNvSpPr>
            <a:spLocks xmlns:a="http://schemas.openxmlformats.org/drawingml/2006/main" noGrp="1"/>
          </p:cNvSpPr>
          <p:nvPr/>
        </p:nvSpPr>
        <p:spPr>
          <a:xfrm xmlns:a="http://schemas.openxmlformats.org/drawingml/2006/main" rot="0">
            <a:off x="6096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i="0">
                <a:solidFill>
                  <a:srgbClr val="137B77"/>
                </a:solidFill>
                <a:latin typeface="Aptos"/>
                <a:ea typeface="Aptos"/>
                <a:cs typeface="Aptos"/>
              </a:defRPr>
            </a:pPr>
            <a:r>
              <a:rPr sz="975" b="1" i="0">
                <a:solidFill>
                  <a:srgbClr val="137B77"/>
                </a:solidFill>
                <a:latin typeface="Aptos"/>
                <a:ea typeface="Aptos"/>
                <a:cs typeface="Aptos"/>
              </a:rPr>
              <a:t>1 · PROBLEM</a:t>
            </a:r>
          </a:p>
        </p:txBody>
      </p:sp>
      <p:sp>
        <p:nvSpPr>
          <p:cNvPr id="2" name="slide-title">
            <a:extLst xmlns:a="http://schemas.openxmlformats.org/drawingml/2006/main">
              <a:ext uri="{FF2B5EF4-FFF2-40B4-BE49-F238E27FC236}">
                <a16:creationId xmlns:a16="http://schemas.microsoft.com/office/drawing/2014/main" id="{87F2E390-EDF0-4F92-AB42-B0AAA85EC6CF}"/>
              </a:ext>
            </a:extLst>
          </p:cNvPr>
          <p:cNvSpPr>
            <a:spLocks xmlns:a="http://schemas.openxmlformats.org/drawingml/2006/main" noGrp="1"/>
          </p:cNvSpPr>
          <p:nvPr/>
        </p:nvSpPr>
        <p:spPr>
          <a:xfrm xmlns:a="http://schemas.openxmlformats.org/drawingml/2006/main" rot="0">
            <a:off x="609600" y="5905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625" b="1" i="0">
                <a:solidFill>
                  <a:srgbClr val="0B1F33"/>
                </a:solidFill>
                <a:latin typeface="Aptos"/>
                <a:ea typeface="Aptos"/>
                <a:cs typeface="Aptos"/>
              </a:defRPr>
            </a:pPr>
            <a:r>
              <a:rPr sz="2625" b="1" i="0">
                <a:solidFill>
                  <a:srgbClr val="0B1F33"/>
                </a:solidFill>
                <a:latin typeface="Aptos"/>
                <a:ea typeface="Aptos"/>
                <a:cs typeface="Aptos"/>
              </a:rPr>
              <a:t>A good trip answers two questions: what to visit, and in what order?</a:t>
            </a:r>
          </a:p>
        </p:txBody>
      </p:sp>
      <p:sp>
        <p:nvSpPr>
          <p:cNvPr id="3" name="title-accent">
            <a:extLst xmlns:a="http://schemas.openxmlformats.org/drawingml/2006/main">
              <a:ext uri="{FF2B5EF4-FFF2-40B4-BE49-F238E27FC236}">
                <a16:creationId xmlns:a16="http://schemas.microsoft.com/office/drawing/2014/main" id="{2F4DF0C6-A092-43F2-A5D7-02FAD4FFBFC2}"/>
              </a:ext>
            </a:extLst>
          </p:cNvPr>
          <p:cNvSpPr>
            <a:spLocks xmlns:a="http://schemas.openxmlformats.org/drawingml/2006/main" noGrp="1"/>
          </p:cNvSpPr>
          <p:nvPr/>
        </p:nvSpPr>
        <p:spPr>
          <a:xfrm xmlns:a="http://schemas.openxmlformats.org/drawingml/2006/main">
            <a:off x="609600" y="1219200"/>
            <a:ext cx="876300" cy="47625"/>
          </a:xfrm>
          <a:prstGeom xmlns:a="http://schemas.openxmlformats.org/drawingml/2006/main" prst="rect">
            <a:avLst/>
          </a:prstGeom>
          <a:solidFill xmlns:a="http://schemas.openxmlformats.org/drawingml/2006/main">
            <a:srgbClr val="1FA6A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821DE6D-4D6A-4D04-9FA3-D3A820088EEA}"/>
              </a:ext>
            </a:extLst>
          </p:cNvPr>
          <p:cNvSpPr>
            <a:spLocks xmlns:a="http://schemas.openxmlformats.org/drawingml/2006/main" noGrp="1"/>
          </p:cNvSpPr>
          <p:nvPr/>
        </p:nvSpPr>
        <p:spPr>
          <a:xfrm xmlns:a="http://schemas.openxmlformats.org/drawingml/2006/main" flipV="0">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4E9"/>
            </a:solidFill>
            <a:prstDash val="solid"/>
          </a:ln>
        </p:spPr>
      </p:sp>
      <p:sp>
        <p:nvSpPr>
          <p:cNvPr id="5" name="">
            <a:extLst xmlns:a="http://schemas.openxmlformats.org/drawingml/2006/main">
              <a:ext uri="{FF2B5EF4-FFF2-40B4-BE49-F238E27FC236}">
                <a16:creationId xmlns:a16="http://schemas.microsoft.com/office/drawing/2014/main" id="{2FBBEA55-3CAB-4C54-80C6-DAD838DF59E6}"/>
              </a:ext>
            </a:extLst>
          </p:cNvPr>
          <p:cNvSpPr>
            <a:spLocks xmlns:a="http://schemas.openxmlformats.org/drawingml/2006/main" noGrp="1"/>
          </p:cNvSpPr>
          <p:nvPr/>
        </p:nvSpPr>
        <p:spPr>
          <a:xfrm xmlns:a="http://schemas.openxmlformats.org/drawingml/2006/main" rot="0">
            <a:off x="609600" y="655320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Ayman Naaimi · ENSAM Meknes</a:t>
            </a:r>
          </a:p>
        </p:txBody>
      </p:sp>
      <p:sp>
        <p:nvSpPr>
          <p:cNvPr id="6" name="">
            <a:extLst xmlns:a="http://schemas.openxmlformats.org/drawingml/2006/main">
              <a:ext uri="{FF2B5EF4-FFF2-40B4-BE49-F238E27FC236}">
                <a16:creationId xmlns:a16="http://schemas.microsoft.com/office/drawing/2014/main" id="{976F5346-62D1-453E-81F0-3C89CD365393}"/>
              </a:ext>
            </a:extLst>
          </p:cNvPr>
          <p:cNvSpPr>
            <a:spLocks xmlns:a="http://schemas.openxmlformats.org/drawingml/2006/main" noGrp="1"/>
          </p:cNvSpPr>
          <p:nvPr/>
        </p:nvSpPr>
        <p:spPr>
          <a:xfrm xmlns:a="http://schemas.openxmlformats.org/drawingml/2006/main" rot="0">
            <a:off x="10572750" y="6553200"/>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2 / 10</a:t>
            </a:r>
          </a:p>
        </p:txBody>
      </p:sp>
      <p:sp>
        <p:nvSpPr>
          <p:cNvPr id="7" name="">
            <a:extLst xmlns:a="http://schemas.openxmlformats.org/drawingml/2006/main">
              <a:ext uri="{FF2B5EF4-FFF2-40B4-BE49-F238E27FC236}">
                <a16:creationId xmlns:a16="http://schemas.microsoft.com/office/drawing/2014/main" id="{9C51F0AC-84D7-4721-99B2-68E3CDB16AC6}"/>
              </a:ext>
            </a:extLst>
          </p:cNvPr>
          <p:cNvSpPr>
            <a:spLocks xmlns:a="http://schemas.openxmlformats.org/drawingml/2006/main" noGrp="1"/>
          </p:cNvSpPr>
          <p:nvPr/>
        </p:nvSpPr>
        <p:spPr>
          <a:xfrm xmlns:a="http://schemas.openxmlformats.org/drawingml/2006/main" rot="0">
            <a:off x="914400" y="1619250"/>
            <a:ext cx="342900" cy="342900"/>
          </a:xfrm>
          <a:prstGeom xmlns:a="http://schemas.openxmlformats.org/drawingml/2006/main" prst="roundRect">
            <a:avLst>
              <a:gd name="adj" fmla="val 50000"/>
            </a:avLst>
          </a:prstGeom>
          <a:solidFill xmlns:a="http://schemas.openxmlformats.org/drawingml/2006/main">
            <a:srgbClr val="0B1F33"/>
          </a:solidFill>
          <a:ln xmlns:a="http://schemas.openxmlformats.org/drawingml/2006/main" w="0">
            <a:noFill/>
            <a:prstDash val="solid"/>
          </a:ln>
        </p:spPr>
        <p:txBody>
          <a:bodyPr xmlns:a="http://schemas.openxmlformats.org/drawingml/2006/main" wrap="square" lIns="0" tIns="0" rIns="0" bIns="0" anchor="ctr">
            <a:normAutofit fontScale="88389"/>
          </a:bodyPr>
          <a:lstStyle xmlns:a="http://schemas.openxmlformats.org/drawingml/2006/main"/>
          <a:p xmlns:a="http://schemas.openxmlformats.org/drawingml/2006/main">
            <a:pPr algn="ctr">
              <a:lnSpc>
                <a:spcPct val="100000"/>
              </a:lnSpc>
              <a:buNone/>
              <a:defRPr sz="1800" b="1" i="0">
                <a:solidFill>
                  <a:srgbClr val="FFFFFF"/>
                </a:solidFill>
                <a:latin typeface="Aptos"/>
                <a:ea typeface="Aptos"/>
                <a:cs typeface="Aptos"/>
              </a:defRPr>
            </a:pPr>
            <a:r>
              <a:rPr sz="1800" b="1" i="0">
                <a:solidFill>
                  <a:srgbClr val="FFFFFF"/>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1BFE0DAA-EF98-4A98-9ED8-A959E5DF2AD1}"/>
              </a:ext>
            </a:extLst>
          </p:cNvPr>
          <p:cNvSpPr>
            <a:spLocks xmlns:a="http://schemas.openxmlformats.org/drawingml/2006/main" noGrp="1"/>
          </p:cNvSpPr>
          <p:nvPr/>
        </p:nvSpPr>
        <p:spPr>
          <a:xfrm xmlns:a="http://schemas.openxmlformats.org/drawingml/2006/main" rot="0">
            <a:off x="1381125" y="161925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425" b="1" i="0">
                <a:solidFill>
                  <a:srgbClr val="0B1F33"/>
                </a:solidFill>
                <a:latin typeface="Aptos"/>
                <a:ea typeface="Aptos"/>
                <a:cs typeface="Aptos"/>
              </a:defRPr>
            </a:pPr>
            <a:r>
              <a:rPr sz="1425" b="1" i="0">
                <a:solidFill>
                  <a:srgbClr val="0B1F33"/>
                </a:solidFill>
                <a:latin typeface="Aptos"/>
                <a:ea typeface="Aptos"/>
                <a:cs typeface="Aptos"/>
              </a:rPr>
              <a:t>WHAT TO VISIT</a:t>
            </a:r>
          </a:p>
        </p:txBody>
      </p:sp>
      <p:sp>
        <p:nvSpPr>
          <p:cNvPr id="9" name="">
            <a:extLst xmlns:a="http://schemas.openxmlformats.org/drawingml/2006/main">
              <a:ext uri="{FF2B5EF4-FFF2-40B4-BE49-F238E27FC236}">
                <a16:creationId xmlns:a16="http://schemas.microsoft.com/office/drawing/2014/main" id="{FCF45E3F-1CC5-44F4-AB87-2B89BA9AB338}"/>
              </a:ext>
            </a:extLst>
          </p:cNvPr>
          <p:cNvSpPr>
            <a:spLocks xmlns:a="http://schemas.openxmlformats.org/drawingml/2006/main" noGrp="1"/>
          </p:cNvSpPr>
          <p:nvPr/>
        </p:nvSpPr>
        <p:spPr>
          <a:xfrm xmlns:a="http://schemas.openxmlformats.org/drawingml/2006/main">
            <a:off x="723900" y="2095500"/>
            <a:ext cx="4095750" cy="3257550"/>
          </a:xfrm>
          <a:prstGeom xmlns:a="http://schemas.openxmlformats.org/drawingml/2006/main" prst="roundRect">
            <a:avLst>
              <a:gd name="adj" fmla="val 7018"/>
            </a:avLst>
          </a:prstGeom>
          <a:solidFill xmlns:a="http://schemas.openxmlformats.org/drawingml/2006/main">
            <a:srgbClr val="EDF2F5"/>
          </a:solidFill>
          <a:ln xmlns:a="http://schemas.openxmlformats.org/drawingml/2006/main" w="9525">
            <a:solidFill>
              <a:srgbClr val="DCE4E9"/>
            </a:solidFill>
            <a:prstDash val="solid"/>
          </a:ln>
        </p:spPr>
      </p:sp>
      <p:sp>
        <p:nvSpPr>
          <p:cNvPr id="10" name="">
            <a:extLst xmlns:a="http://schemas.openxmlformats.org/drawingml/2006/main">
              <a:ext uri="{FF2B5EF4-FFF2-40B4-BE49-F238E27FC236}">
                <a16:creationId xmlns:a16="http://schemas.microsoft.com/office/drawing/2014/main" id="{5FBEDA1E-CA76-4872-B19C-C8CCE54CE9E8}"/>
              </a:ext>
            </a:extLst>
          </p:cNvPr>
          <p:cNvSpPr>
            <a:spLocks xmlns:a="http://schemas.openxmlformats.org/drawingml/2006/main" noGrp="1"/>
          </p:cNvSpPr>
          <p:nvPr/>
        </p:nvSpPr>
        <p:spPr>
          <a:xfrm xmlns:a="http://schemas.openxmlformats.org/drawingml/2006/main">
            <a:off x="1123950" y="2466975"/>
            <a:ext cx="133350" cy="133350"/>
          </a:xfrm>
          <a:prstGeom xmlns:a="http://schemas.openxmlformats.org/drawingml/2006/main" prst="ellipse">
            <a:avLst/>
          </a:prstGeom>
          <a:solidFill xmlns:a="http://schemas.openxmlformats.org/drawingml/2006/main">
            <a:srgbClr val="153B5B"/>
          </a:solidFill>
          <a:ln xmlns:a="http://schemas.openxmlformats.org/drawingml/2006/main" w="28575">
            <a:solidFill>
              <a:srgbClr val="153B5B"/>
            </a:solidFill>
            <a:prstDash val="solid"/>
          </a:ln>
        </p:spPr>
      </p:sp>
      <p:sp>
        <p:nvSpPr>
          <p:cNvPr id="11" name="">
            <a:extLst xmlns:a="http://schemas.openxmlformats.org/drawingml/2006/main">
              <a:ext uri="{FF2B5EF4-FFF2-40B4-BE49-F238E27FC236}">
                <a16:creationId xmlns:a16="http://schemas.microsoft.com/office/drawing/2014/main" id="{A93088B6-CD3E-4C1F-B255-83232D75592E}"/>
              </a:ext>
            </a:extLst>
          </p:cNvPr>
          <p:cNvSpPr>
            <a:spLocks xmlns:a="http://schemas.openxmlformats.org/drawingml/2006/main" noGrp="1"/>
          </p:cNvSpPr>
          <p:nvPr/>
        </p:nvSpPr>
        <p:spPr>
          <a:xfrm xmlns:a="http://schemas.openxmlformats.org/drawingml/2006/main">
            <a:off x="1647825" y="2314575"/>
            <a:ext cx="133350" cy="133350"/>
          </a:xfrm>
          <a:prstGeom xmlns:a="http://schemas.openxmlformats.org/drawingml/2006/main" prst="ellipse">
            <a:avLst/>
          </a:prstGeom>
          <a:solidFill xmlns:a="http://schemas.openxmlformats.org/drawingml/2006/main">
            <a:srgbClr val="1FA6A0"/>
          </a:solidFill>
          <a:ln xmlns:a="http://schemas.openxmlformats.org/drawingml/2006/main" w="28575">
            <a:solidFill>
              <a:srgbClr val="1FA6A0"/>
            </a:solidFill>
            <a:prstDash val="solid"/>
          </a:ln>
        </p:spPr>
      </p:sp>
      <p:sp>
        <p:nvSpPr>
          <p:cNvPr id="12" name="">
            <a:extLst xmlns:a="http://schemas.openxmlformats.org/drawingml/2006/main">
              <a:ext uri="{FF2B5EF4-FFF2-40B4-BE49-F238E27FC236}">
                <a16:creationId xmlns:a16="http://schemas.microsoft.com/office/drawing/2014/main" id="{7914005B-0DAA-4863-A311-69EF5252ADA1}"/>
              </a:ext>
            </a:extLst>
          </p:cNvPr>
          <p:cNvSpPr>
            <a:spLocks xmlns:a="http://schemas.openxmlformats.org/drawingml/2006/main" noGrp="1"/>
          </p:cNvSpPr>
          <p:nvPr/>
        </p:nvSpPr>
        <p:spPr>
          <a:xfrm xmlns:a="http://schemas.openxmlformats.org/drawingml/2006/main">
            <a:off x="2219325" y="2638425"/>
            <a:ext cx="133350" cy="133350"/>
          </a:xfrm>
          <a:prstGeom xmlns:a="http://schemas.openxmlformats.org/drawingml/2006/main" prst="ellipse">
            <a:avLst/>
          </a:prstGeom>
          <a:solidFill xmlns:a="http://schemas.openxmlformats.org/drawingml/2006/main">
            <a:srgbClr val="5A6C79"/>
          </a:solidFill>
          <a:ln xmlns:a="http://schemas.openxmlformats.org/drawingml/2006/main" w="28575">
            <a:solidFill>
              <a:srgbClr val="5A6C79"/>
            </a:solidFill>
            <a:prstDash val="solid"/>
          </a:ln>
        </p:spPr>
      </p:sp>
      <p:sp>
        <p:nvSpPr>
          <p:cNvPr id="13" name="">
            <a:extLst xmlns:a="http://schemas.openxmlformats.org/drawingml/2006/main">
              <a:ext uri="{FF2B5EF4-FFF2-40B4-BE49-F238E27FC236}">
                <a16:creationId xmlns:a16="http://schemas.microsoft.com/office/drawing/2014/main" id="{94BEC2D2-1A09-4EE3-9613-C65F13B80224}"/>
              </a:ext>
            </a:extLst>
          </p:cNvPr>
          <p:cNvSpPr>
            <a:spLocks xmlns:a="http://schemas.openxmlformats.org/drawingml/2006/main" noGrp="1"/>
          </p:cNvSpPr>
          <p:nvPr/>
        </p:nvSpPr>
        <p:spPr>
          <a:xfrm xmlns:a="http://schemas.openxmlformats.org/drawingml/2006/main">
            <a:off x="2838450" y="2333625"/>
            <a:ext cx="133350" cy="133350"/>
          </a:xfrm>
          <a:prstGeom xmlns:a="http://schemas.openxmlformats.org/drawingml/2006/main" prst="ellipse">
            <a:avLst/>
          </a:prstGeom>
          <a:solidFill xmlns:a="http://schemas.openxmlformats.org/drawingml/2006/main">
            <a:srgbClr val="153B5B"/>
          </a:solidFill>
          <a:ln xmlns:a="http://schemas.openxmlformats.org/drawingml/2006/main" w="28575">
            <a:solidFill>
              <a:srgbClr val="153B5B"/>
            </a:solidFill>
            <a:prstDash val="solid"/>
          </a:ln>
        </p:spPr>
      </p:sp>
      <p:sp>
        <p:nvSpPr>
          <p:cNvPr id="14" name="">
            <a:extLst xmlns:a="http://schemas.openxmlformats.org/drawingml/2006/main">
              <a:ext uri="{FF2B5EF4-FFF2-40B4-BE49-F238E27FC236}">
                <a16:creationId xmlns:a16="http://schemas.microsoft.com/office/drawing/2014/main" id="{D3D5A263-38C7-4C39-9D56-9C7D006D8EBE}"/>
              </a:ext>
            </a:extLst>
          </p:cNvPr>
          <p:cNvSpPr>
            <a:spLocks xmlns:a="http://schemas.openxmlformats.org/drawingml/2006/main" noGrp="1"/>
          </p:cNvSpPr>
          <p:nvPr/>
        </p:nvSpPr>
        <p:spPr>
          <a:xfrm xmlns:a="http://schemas.openxmlformats.org/drawingml/2006/main">
            <a:off x="3552825" y="2543175"/>
            <a:ext cx="133350" cy="133350"/>
          </a:xfrm>
          <a:prstGeom xmlns:a="http://schemas.openxmlformats.org/drawingml/2006/main" prst="ellipse">
            <a:avLst/>
          </a:prstGeom>
          <a:solidFill xmlns:a="http://schemas.openxmlformats.org/drawingml/2006/main">
            <a:srgbClr val="1FA6A0"/>
          </a:solidFill>
          <a:ln xmlns:a="http://schemas.openxmlformats.org/drawingml/2006/main" w="28575">
            <a:solidFill>
              <a:srgbClr val="1FA6A0"/>
            </a:solidFill>
            <a:prstDash val="solid"/>
          </a:ln>
        </p:spPr>
      </p:sp>
      <p:sp>
        <p:nvSpPr>
          <p:cNvPr id="15" name="">
            <a:extLst xmlns:a="http://schemas.openxmlformats.org/drawingml/2006/main">
              <a:ext uri="{FF2B5EF4-FFF2-40B4-BE49-F238E27FC236}">
                <a16:creationId xmlns:a16="http://schemas.microsoft.com/office/drawing/2014/main" id="{0709A855-1270-4EDB-B137-CC461D1EDCA2}"/>
              </a:ext>
            </a:extLst>
          </p:cNvPr>
          <p:cNvSpPr>
            <a:spLocks xmlns:a="http://schemas.openxmlformats.org/drawingml/2006/main" noGrp="1"/>
          </p:cNvSpPr>
          <p:nvPr/>
        </p:nvSpPr>
        <p:spPr>
          <a:xfrm xmlns:a="http://schemas.openxmlformats.org/drawingml/2006/main">
            <a:off x="4257675" y="2276475"/>
            <a:ext cx="133350" cy="133350"/>
          </a:xfrm>
          <a:prstGeom xmlns:a="http://schemas.openxmlformats.org/drawingml/2006/main" prst="ellipse">
            <a:avLst/>
          </a:prstGeom>
          <a:solidFill xmlns:a="http://schemas.openxmlformats.org/drawingml/2006/main">
            <a:srgbClr val="5A6C79"/>
          </a:solidFill>
          <a:ln xmlns:a="http://schemas.openxmlformats.org/drawingml/2006/main" w="28575">
            <a:solidFill>
              <a:srgbClr val="5A6C79"/>
            </a:solidFill>
            <a:prstDash val="solid"/>
          </a:ln>
        </p:spPr>
      </p:sp>
      <p:sp>
        <p:nvSpPr>
          <p:cNvPr id="16" name="">
            <a:extLst xmlns:a="http://schemas.openxmlformats.org/drawingml/2006/main">
              <a:ext uri="{FF2B5EF4-FFF2-40B4-BE49-F238E27FC236}">
                <a16:creationId xmlns:a16="http://schemas.microsoft.com/office/drawing/2014/main" id="{9648CC8B-CB67-4453-A87A-A05D46BC44BC}"/>
              </a:ext>
            </a:extLst>
          </p:cNvPr>
          <p:cNvSpPr>
            <a:spLocks xmlns:a="http://schemas.openxmlformats.org/drawingml/2006/main" noGrp="1"/>
          </p:cNvSpPr>
          <p:nvPr/>
        </p:nvSpPr>
        <p:spPr>
          <a:xfrm xmlns:a="http://schemas.openxmlformats.org/drawingml/2006/main">
            <a:off x="1314450" y="3076575"/>
            <a:ext cx="133350" cy="133350"/>
          </a:xfrm>
          <a:prstGeom xmlns:a="http://schemas.openxmlformats.org/drawingml/2006/main" prst="ellipse">
            <a:avLst/>
          </a:prstGeom>
          <a:solidFill xmlns:a="http://schemas.openxmlformats.org/drawingml/2006/main">
            <a:srgbClr val="1FA6A0"/>
          </a:solidFill>
          <a:ln xmlns:a="http://schemas.openxmlformats.org/drawingml/2006/main" w="28575">
            <a:solidFill>
              <a:srgbClr val="1FA6A0"/>
            </a:solidFill>
            <a:prstDash val="solid"/>
          </a:ln>
        </p:spPr>
      </p:sp>
      <p:sp>
        <p:nvSpPr>
          <p:cNvPr id="17" name="">
            <a:extLst xmlns:a="http://schemas.openxmlformats.org/drawingml/2006/main">
              <a:ext uri="{FF2B5EF4-FFF2-40B4-BE49-F238E27FC236}">
                <a16:creationId xmlns:a16="http://schemas.microsoft.com/office/drawing/2014/main" id="{6B893F1A-4C8B-4347-BAD3-7B4A6F3FCE0B}"/>
              </a:ext>
            </a:extLst>
          </p:cNvPr>
          <p:cNvSpPr>
            <a:spLocks xmlns:a="http://schemas.openxmlformats.org/drawingml/2006/main" noGrp="1"/>
          </p:cNvSpPr>
          <p:nvPr/>
        </p:nvSpPr>
        <p:spPr>
          <a:xfrm xmlns:a="http://schemas.openxmlformats.org/drawingml/2006/main">
            <a:off x="1981200" y="3190875"/>
            <a:ext cx="133350" cy="133350"/>
          </a:xfrm>
          <a:prstGeom xmlns:a="http://schemas.openxmlformats.org/drawingml/2006/main" prst="ellipse">
            <a:avLst/>
          </a:prstGeom>
          <a:solidFill xmlns:a="http://schemas.openxmlformats.org/drawingml/2006/main">
            <a:srgbClr val="153B5B"/>
          </a:solidFill>
          <a:ln xmlns:a="http://schemas.openxmlformats.org/drawingml/2006/main" w="28575">
            <a:solidFill>
              <a:srgbClr val="153B5B"/>
            </a:solidFill>
            <a:prstDash val="solid"/>
          </a:ln>
        </p:spPr>
      </p:sp>
      <p:sp>
        <p:nvSpPr>
          <p:cNvPr id="18" name="">
            <a:extLst xmlns:a="http://schemas.openxmlformats.org/drawingml/2006/main">
              <a:ext uri="{FF2B5EF4-FFF2-40B4-BE49-F238E27FC236}">
                <a16:creationId xmlns:a16="http://schemas.microsoft.com/office/drawing/2014/main" id="{D07C25E4-6BFA-4ED7-B23D-0312DB37EF8E}"/>
              </a:ext>
            </a:extLst>
          </p:cNvPr>
          <p:cNvSpPr>
            <a:spLocks xmlns:a="http://schemas.openxmlformats.org/drawingml/2006/main" noGrp="1"/>
          </p:cNvSpPr>
          <p:nvPr/>
        </p:nvSpPr>
        <p:spPr>
          <a:xfrm xmlns:a="http://schemas.openxmlformats.org/drawingml/2006/main">
            <a:off x="2647950" y="2962275"/>
            <a:ext cx="133350" cy="133350"/>
          </a:xfrm>
          <a:prstGeom xmlns:a="http://schemas.openxmlformats.org/drawingml/2006/main" prst="ellipse">
            <a:avLst/>
          </a:prstGeom>
          <a:solidFill xmlns:a="http://schemas.openxmlformats.org/drawingml/2006/main">
            <a:srgbClr val="5A6C79"/>
          </a:solidFill>
          <a:ln xmlns:a="http://schemas.openxmlformats.org/drawingml/2006/main" w="28575">
            <a:solidFill>
              <a:srgbClr val="5A6C79"/>
            </a:solidFill>
            <a:prstDash val="solid"/>
          </a:ln>
        </p:spPr>
      </p:sp>
      <p:sp>
        <p:nvSpPr>
          <p:cNvPr id="19" name="">
            <a:extLst xmlns:a="http://schemas.openxmlformats.org/drawingml/2006/main">
              <a:ext uri="{FF2B5EF4-FFF2-40B4-BE49-F238E27FC236}">
                <a16:creationId xmlns:a16="http://schemas.microsoft.com/office/drawing/2014/main" id="{F7D47C9F-1694-4E39-B24D-42DE42EC7601}"/>
              </a:ext>
            </a:extLst>
          </p:cNvPr>
          <p:cNvSpPr>
            <a:spLocks xmlns:a="http://schemas.openxmlformats.org/drawingml/2006/main" noGrp="1"/>
          </p:cNvSpPr>
          <p:nvPr/>
        </p:nvSpPr>
        <p:spPr>
          <a:xfrm xmlns:a="http://schemas.openxmlformats.org/drawingml/2006/main">
            <a:off x="3248025" y="3286125"/>
            <a:ext cx="133350" cy="133350"/>
          </a:xfrm>
          <a:prstGeom xmlns:a="http://schemas.openxmlformats.org/drawingml/2006/main" prst="ellipse">
            <a:avLst/>
          </a:prstGeom>
          <a:solidFill xmlns:a="http://schemas.openxmlformats.org/drawingml/2006/main">
            <a:srgbClr val="1FA6A0"/>
          </a:solidFill>
          <a:ln xmlns:a="http://schemas.openxmlformats.org/drawingml/2006/main" w="28575">
            <a:solidFill>
              <a:srgbClr val="1FA6A0"/>
            </a:solidFill>
            <a:prstDash val="solid"/>
          </a:ln>
        </p:spPr>
      </p:sp>
      <p:sp>
        <p:nvSpPr>
          <p:cNvPr id="20" name="">
            <a:extLst xmlns:a="http://schemas.openxmlformats.org/drawingml/2006/main">
              <a:ext uri="{FF2B5EF4-FFF2-40B4-BE49-F238E27FC236}">
                <a16:creationId xmlns:a16="http://schemas.microsoft.com/office/drawing/2014/main" id="{3E0C5191-A2A2-4082-AE1E-311D0164074B}"/>
              </a:ext>
            </a:extLst>
          </p:cNvPr>
          <p:cNvSpPr>
            <a:spLocks xmlns:a="http://schemas.openxmlformats.org/drawingml/2006/main" noGrp="1"/>
          </p:cNvSpPr>
          <p:nvPr/>
        </p:nvSpPr>
        <p:spPr>
          <a:xfrm xmlns:a="http://schemas.openxmlformats.org/drawingml/2006/main">
            <a:off x="4029075" y="3114675"/>
            <a:ext cx="133350" cy="133350"/>
          </a:xfrm>
          <a:prstGeom xmlns:a="http://schemas.openxmlformats.org/drawingml/2006/main" prst="ellipse">
            <a:avLst/>
          </a:prstGeom>
          <a:solidFill xmlns:a="http://schemas.openxmlformats.org/drawingml/2006/main">
            <a:srgbClr val="153B5B"/>
          </a:solidFill>
          <a:ln xmlns:a="http://schemas.openxmlformats.org/drawingml/2006/main" w="28575">
            <a:solidFill>
              <a:srgbClr val="153B5B"/>
            </a:solidFill>
            <a:prstDash val="solid"/>
          </a:ln>
        </p:spPr>
      </p:sp>
      <p:sp>
        <p:nvSpPr>
          <p:cNvPr id="21" name="">
            <a:extLst xmlns:a="http://schemas.openxmlformats.org/drawingml/2006/main">
              <a:ext uri="{FF2B5EF4-FFF2-40B4-BE49-F238E27FC236}">
                <a16:creationId xmlns:a16="http://schemas.microsoft.com/office/drawing/2014/main" id="{0ABAD8D1-00BD-45F2-ABE5-899F5F819DCB}"/>
              </a:ext>
            </a:extLst>
          </p:cNvPr>
          <p:cNvSpPr>
            <a:spLocks xmlns:a="http://schemas.openxmlformats.org/drawingml/2006/main" noGrp="1"/>
          </p:cNvSpPr>
          <p:nvPr/>
        </p:nvSpPr>
        <p:spPr>
          <a:xfrm xmlns:a="http://schemas.openxmlformats.org/drawingml/2006/main">
            <a:off x="1038225" y="3810000"/>
            <a:ext cx="133350" cy="133350"/>
          </a:xfrm>
          <a:prstGeom xmlns:a="http://schemas.openxmlformats.org/drawingml/2006/main" prst="ellipse">
            <a:avLst/>
          </a:prstGeom>
          <a:solidFill xmlns:a="http://schemas.openxmlformats.org/drawingml/2006/main">
            <a:srgbClr val="5A6C79"/>
          </a:solidFill>
          <a:ln xmlns:a="http://schemas.openxmlformats.org/drawingml/2006/main" w="28575">
            <a:solidFill>
              <a:srgbClr val="5A6C79"/>
            </a:solidFill>
            <a:prstDash val="solid"/>
          </a:ln>
        </p:spPr>
      </p:sp>
      <p:sp>
        <p:nvSpPr>
          <p:cNvPr id="22" name="">
            <a:extLst xmlns:a="http://schemas.openxmlformats.org/drawingml/2006/main">
              <a:ext uri="{FF2B5EF4-FFF2-40B4-BE49-F238E27FC236}">
                <a16:creationId xmlns:a16="http://schemas.microsoft.com/office/drawing/2014/main" id="{303EFDE9-71B6-4F1E-BD04-99F4084D956D}"/>
              </a:ext>
            </a:extLst>
          </p:cNvPr>
          <p:cNvSpPr>
            <a:spLocks xmlns:a="http://schemas.openxmlformats.org/drawingml/2006/main" noGrp="1"/>
          </p:cNvSpPr>
          <p:nvPr/>
        </p:nvSpPr>
        <p:spPr>
          <a:xfrm xmlns:a="http://schemas.openxmlformats.org/drawingml/2006/main">
            <a:off x="1628775" y="4048125"/>
            <a:ext cx="133350" cy="133350"/>
          </a:xfrm>
          <a:prstGeom xmlns:a="http://schemas.openxmlformats.org/drawingml/2006/main" prst="ellipse">
            <a:avLst/>
          </a:prstGeom>
          <a:solidFill xmlns:a="http://schemas.openxmlformats.org/drawingml/2006/main">
            <a:srgbClr val="153B5B"/>
          </a:solidFill>
          <a:ln xmlns:a="http://schemas.openxmlformats.org/drawingml/2006/main" w="28575">
            <a:solidFill>
              <a:srgbClr val="153B5B"/>
            </a:solidFill>
            <a:prstDash val="solid"/>
          </a:ln>
        </p:spPr>
      </p:sp>
      <p:sp>
        <p:nvSpPr>
          <p:cNvPr id="23" name="">
            <a:extLst xmlns:a="http://schemas.openxmlformats.org/drawingml/2006/main">
              <a:ext uri="{FF2B5EF4-FFF2-40B4-BE49-F238E27FC236}">
                <a16:creationId xmlns:a16="http://schemas.microsoft.com/office/drawing/2014/main" id="{259E85EB-7E71-4473-911A-42E9632F8BE3}"/>
              </a:ext>
            </a:extLst>
          </p:cNvPr>
          <p:cNvSpPr>
            <a:spLocks xmlns:a="http://schemas.openxmlformats.org/drawingml/2006/main" noGrp="1"/>
          </p:cNvSpPr>
          <p:nvPr/>
        </p:nvSpPr>
        <p:spPr>
          <a:xfrm xmlns:a="http://schemas.openxmlformats.org/drawingml/2006/main">
            <a:off x="2276475" y="3724275"/>
            <a:ext cx="133350" cy="133350"/>
          </a:xfrm>
          <a:prstGeom xmlns:a="http://schemas.openxmlformats.org/drawingml/2006/main" prst="ellipse">
            <a:avLst/>
          </a:prstGeom>
          <a:solidFill xmlns:a="http://schemas.openxmlformats.org/drawingml/2006/main">
            <a:srgbClr val="1FA6A0"/>
          </a:solidFill>
          <a:ln xmlns:a="http://schemas.openxmlformats.org/drawingml/2006/main" w="28575">
            <a:solidFill>
              <a:srgbClr val="1FA6A0"/>
            </a:solidFill>
            <a:prstDash val="solid"/>
          </a:ln>
        </p:spPr>
      </p:sp>
      <p:sp>
        <p:nvSpPr>
          <p:cNvPr id="24" name="">
            <a:extLst xmlns:a="http://schemas.openxmlformats.org/drawingml/2006/main">
              <a:ext uri="{FF2B5EF4-FFF2-40B4-BE49-F238E27FC236}">
                <a16:creationId xmlns:a16="http://schemas.microsoft.com/office/drawing/2014/main" id="{90C5B199-BDFA-4F60-9F92-3382E4E35026}"/>
              </a:ext>
            </a:extLst>
          </p:cNvPr>
          <p:cNvSpPr>
            <a:spLocks xmlns:a="http://schemas.openxmlformats.org/drawingml/2006/main" noGrp="1"/>
          </p:cNvSpPr>
          <p:nvPr/>
        </p:nvSpPr>
        <p:spPr>
          <a:xfrm xmlns:a="http://schemas.openxmlformats.org/drawingml/2006/main">
            <a:off x="2962275" y="4029075"/>
            <a:ext cx="133350" cy="133350"/>
          </a:xfrm>
          <a:prstGeom xmlns:a="http://schemas.openxmlformats.org/drawingml/2006/main" prst="ellipse">
            <a:avLst/>
          </a:prstGeom>
          <a:solidFill xmlns:a="http://schemas.openxmlformats.org/drawingml/2006/main">
            <a:srgbClr val="5A6C79"/>
          </a:solidFill>
          <a:ln xmlns:a="http://schemas.openxmlformats.org/drawingml/2006/main" w="28575">
            <a:solidFill>
              <a:srgbClr val="5A6C79"/>
            </a:solidFill>
            <a:prstDash val="solid"/>
          </a:ln>
        </p:spPr>
      </p:sp>
      <p:sp>
        <p:nvSpPr>
          <p:cNvPr id="25" name="">
            <a:extLst xmlns:a="http://schemas.openxmlformats.org/drawingml/2006/main">
              <a:ext uri="{FF2B5EF4-FFF2-40B4-BE49-F238E27FC236}">
                <a16:creationId xmlns:a16="http://schemas.microsoft.com/office/drawing/2014/main" id="{D351C0AC-98D7-499F-9D39-2D51CBE56998}"/>
              </a:ext>
            </a:extLst>
          </p:cNvPr>
          <p:cNvSpPr>
            <a:spLocks xmlns:a="http://schemas.openxmlformats.org/drawingml/2006/main" noGrp="1"/>
          </p:cNvSpPr>
          <p:nvPr/>
        </p:nvSpPr>
        <p:spPr>
          <a:xfrm xmlns:a="http://schemas.openxmlformats.org/drawingml/2006/main">
            <a:off x="3648075" y="3800475"/>
            <a:ext cx="133350" cy="133350"/>
          </a:xfrm>
          <a:prstGeom xmlns:a="http://schemas.openxmlformats.org/drawingml/2006/main" prst="ellipse">
            <a:avLst/>
          </a:prstGeom>
          <a:solidFill xmlns:a="http://schemas.openxmlformats.org/drawingml/2006/main">
            <a:srgbClr val="1FA6A0"/>
          </a:solidFill>
          <a:ln xmlns:a="http://schemas.openxmlformats.org/drawingml/2006/main" w="28575">
            <a:solidFill>
              <a:srgbClr val="1FA6A0"/>
            </a:solidFill>
            <a:prstDash val="solid"/>
          </a:ln>
        </p:spPr>
      </p:sp>
      <p:sp>
        <p:nvSpPr>
          <p:cNvPr id="26" name="">
            <a:extLst xmlns:a="http://schemas.openxmlformats.org/drawingml/2006/main">
              <a:ext uri="{FF2B5EF4-FFF2-40B4-BE49-F238E27FC236}">
                <a16:creationId xmlns:a16="http://schemas.microsoft.com/office/drawing/2014/main" id="{CB22C094-05AC-47FD-B48A-B5E1B91562B3}"/>
              </a:ext>
            </a:extLst>
          </p:cNvPr>
          <p:cNvSpPr>
            <a:spLocks xmlns:a="http://schemas.openxmlformats.org/drawingml/2006/main" noGrp="1"/>
          </p:cNvSpPr>
          <p:nvPr/>
        </p:nvSpPr>
        <p:spPr>
          <a:xfrm xmlns:a="http://schemas.openxmlformats.org/drawingml/2006/main">
            <a:off x="4286250" y="4105275"/>
            <a:ext cx="133350" cy="133350"/>
          </a:xfrm>
          <a:prstGeom xmlns:a="http://schemas.openxmlformats.org/drawingml/2006/main" prst="ellipse">
            <a:avLst/>
          </a:prstGeom>
          <a:solidFill xmlns:a="http://schemas.openxmlformats.org/drawingml/2006/main">
            <a:srgbClr val="153B5B"/>
          </a:solidFill>
          <a:ln xmlns:a="http://schemas.openxmlformats.org/drawingml/2006/main" w="28575">
            <a:solidFill>
              <a:srgbClr val="153B5B"/>
            </a:solidFill>
            <a:prstDash val="solid"/>
          </a:ln>
        </p:spPr>
      </p:sp>
      <p:sp>
        <p:nvSpPr>
          <p:cNvPr id="27" name="">
            <a:extLst xmlns:a="http://schemas.openxmlformats.org/drawingml/2006/main">
              <a:ext uri="{FF2B5EF4-FFF2-40B4-BE49-F238E27FC236}">
                <a16:creationId xmlns:a16="http://schemas.microsoft.com/office/drawing/2014/main" id="{B5E5DDDB-D326-4AAD-940F-D72AC2AA55DC}"/>
              </a:ext>
            </a:extLst>
          </p:cNvPr>
          <p:cNvSpPr>
            <a:spLocks xmlns:a="http://schemas.openxmlformats.org/drawingml/2006/main" noGrp="1"/>
          </p:cNvSpPr>
          <p:nvPr/>
        </p:nvSpPr>
        <p:spPr>
          <a:xfrm xmlns:a="http://schemas.openxmlformats.org/drawingml/2006/main">
            <a:off x="1304925" y="4676775"/>
            <a:ext cx="133350" cy="133350"/>
          </a:xfrm>
          <a:prstGeom xmlns:a="http://schemas.openxmlformats.org/drawingml/2006/main" prst="ellipse">
            <a:avLst/>
          </a:prstGeom>
          <a:solidFill xmlns:a="http://schemas.openxmlformats.org/drawingml/2006/main">
            <a:srgbClr val="153B5B"/>
          </a:solidFill>
          <a:ln xmlns:a="http://schemas.openxmlformats.org/drawingml/2006/main" w="28575">
            <a:solidFill>
              <a:srgbClr val="153B5B"/>
            </a:solidFill>
            <a:prstDash val="solid"/>
          </a:ln>
        </p:spPr>
      </p:sp>
      <p:sp>
        <p:nvSpPr>
          <p:cNvPr id="28" name="">
            <a:extLst xmlns:a="http://schemas.openxmlformats.org/drawingml/2006/main">
              <a:ext uri="{FF2B5EF4-FFF2-40B4-BE49-F238E27FC236}">
                <a16:creationId xmlns:a16="http://schemas.microsoft.com/office/drawing/2014/main" id="{085B3E5A-B18A-492D-94AA-8CFC4CBA215E}"/>
              </a:ext>
            </a:extLst>
          </p:cNvPr>
          <p:cNvSpPr>
            <a:spLocks xmlns:a="http://schemas.openxmlformats.org/drawingml/2006/main" noGrp="1"/>
          </p:cNvSpPr>
          <p:nvPr/>
        </p:nvSpPr>
        <p:spPr>
          <a:xfrm xmlns:a="http://schemas.openxmlformats.org/drawingml/2006/main">
            <a:off x="2085975" y="4562475"/>
            <a:ext cx="133350" cy="133350"/>
          </a:xfrm>
          <a:prstGeom xmlns:a="http://schemas.openxmlformats.org/drawingml/2006/main" prst="ellipse">
            <a:avLst/>
          </a:prstGeom>
          <a:solidFill xmlns:a="http://schemas.openxmlformats.org/drawingml/2006/main">
            <a:srgbClr val="5A6C79"/>
          </a:solidFill>
          <a:ln xmlns:a="http://schemas.openxmlformats.org/drawingml/2006/main" w="28575">
            <a:solidFill>
              <a:srgbClr val="5A6C79"/>
            </a:solidFill>
            <a:prstDash val="solid"/>
          </a:ln>
        </p:spPr>
      </p:sp>
      <p:sp>
        <p:nvSpPr>
          <p:cNvPr id="29" name="">
            <a:extLst xmlns:a="http://schemas.openxmlformats.org/drawingml/2006/main">
              <a:ext uri="{FF2B5EF4-FFF2-40B4-BE49-F238E27FC236}">
                <a16:creationId xmlns:a16="http://schemas.microsoft.com/office/drawing/2014/main" id="{A97983B3-35A6-418A-AEB0-F65F1985891F}"/>
              </a:ext>
            </a:extLst>
          </p:cNvPr>
          <p:cNvSpPr>
            <a:spLocks xmlns:a="http://schemas.openxmlformats.org/drawingml/2006/main" noGrp="1"/>
          </p:cNvSpPr>
          <p:nvPr/>
        </p:nvSpPr>
        <p:spPr>
          <a:xfrm xmlns:a="http://schemas.openxmlformats.org/drawingml/2006/main">
            <a:off x="2809875" y="4810125"/>
            <a:ext cx="133350" cy="133350"/>
          </a:xfrm>
          <a:prstGeom xmlns:a="http://schemas.openxmlformats.org/drawingml/2006/main" prst="ellipse">
            <a:avLst/>
          </a:prstGeom>
          <a:solidFill xmlns:a="http://schemas.openxmlformats.org/drawingml/2006/main">
            <a:srgbClr val="1FA6A0"/>
          </a:solidFill>
          <a:ln xmlns:a="http://schemas.openxmlformats.org/drawingml/2006/main" w="28575">
            <a:solidFill>
              <a:srgbClr val="1FA6A0"/>
            </a:solidFill>
            <a:prstDash val="solid"/>
          </a:ln>
        </p:spPr>
      </p:sp>
      <p:sp>
        <p:nvSpPr>
          <p:cNvPr id="30" name="">
            <a:extLst xmlns:a="http://schemas.openxmlformats.org/drawingml/2006/main">
              <a:ext uri="{FF2B5EF4-FFF2-40B4-BE49-F238E27FC236}">
                <a16:creationId xmlns:a16="http://schemas.microsoft.com/office/drawing/2014/main" id="{5C87F935-8732-48DD-B01D-46D53AA636B8}"/>
              </a:ext>
            </a:extLst>
          </p:cNvPr>
          <p:cNvSpPr>
            <a:spLocks xmlns:a="http://schemas.openxmlformats.org/drawingml/2006/main" noGrp="1"/>
          </p:cNvSpPr>
          <p:nvPr/>
        </p:nvSpPr>
        <p:spPr>
          <a:xfrm xmlns:a="http://schemas.openxmlformats.org/drawingml/2006/main">
            <a:off x="3495675" y="4562475"/>
            <a:ext cx="133350" cy="133350"/>
          </a:xfrm>
          <a:prstGeom xmlns:a="http://schemas.openxmlformats.org/drawingml/2006/main" prst="ellipse">
            <a:avLst/>
          </a:prstGeom>
          <a:solidFill xmlns:a="http://schemas.openxmlformats.org/drawingml/2006/main">
            <a:srgbClr val="153B5B"/>
          </a:solidFill>
          <a:ln xmlns:a="http://schemas.openxmlformats.org/drawingml/2006/main" w="28575">
            <a:solidFill>
              <a:srgbClr val="153B5B"/>
            </a:solidFill>
            <a:prstDash val="solid"/>
          </a:ln>
        </p:spPr>
      </p:sp>
      <p:sp>
        <p:nvSpPr>
          <p:cNvPr id="31" name="">
            <a:extLst xmlns:a="http://schemas.openxmlformats.org/drawingml/2006/main">
              <a:ext uri="{FF2B5EF4-FFF2-40B4-BE49-F238E27FC236}">
                <a16:creationId xmlns:a16="http://schemas.microsoft.com/office/drawing/2014/main" id="{1D01611B-9989-4987-BB63-43D063177319}"/>
              </a:ext>
            </a:extLst>
          </p:cNvPr>
          <p:cNvSpPr>
            <a:spLocks xmlns:a="http://schemas.openxmlformats.org/drawingml/2006/main" noGrp="1"/>
          </p:cNvSpPr>
          <p:nvPr/>
        </p:nvSpPr>
        <p:spPr>
          <a:xfrm xmlns:a="http://schemas.openxmlformats.org/drawingml/2006/main">
            <a:off x="4181475" y="4791075"/>
            <a:ext cx="133350" cy="133350"/>
          </a:xfrm>
          <a:prstGeom xmlns:a="http://schemas.openxmlformats.org/drawingml/2006/main" prst="ellipse">
            <a:avLst/>
          </a:prstGeom>
          <a:solidFill xmlns:a="http://schemas.openxmlformats.org/drawingml/2006/main">
            <a:srgbClr val="5A6C79"/>
          </a:solidFill>
          <a:ln xmlns:a="http://schemas.openxmlformats.org/drawingml/2006/main" w="28575">
            <a:solidFill>
              <a:srgbClr val="5A6C79"/>
            </a:solidFill>
            <a:prstDash val="solid"/>
          </a:ln>
        </p:spPr>
      </p:sp>
      <p:sp>
        <p:nvSpPr>
          <p:cNvPr id="32" name="">
            <a:extLst xmlns:a="http://schemas.openxmlformats.org/drawingml/2006/main">
              <a:ext uri="{FF2B5EF4-FFF2-40B4-BE49-F238E27FC236}">
                <a16:creationId xmlns:a16="http://schemas.microsoft.com/office/drawing/2014/main" id="{FEDC09DB-6623-4F54-AE77-13272BBD897C}"/>
              </a:ext>
            </a:extLst>
          </p:cNvPr>
          <p:cNvSpPr>
            <a:spLocks xmlns:a="http://schemas.openxmlformats.org/drawingml/2006/main" noGrp="1"/>
          </p:cNvSpPr>
          <p:nvPr/>
        </p:nvSpPr>
        <p:spPr>
          <a:xfrm xmlns:a="http://schemas.openxmlformats.org/drawingml/2006/main" rot="0">
            <a:off x="1143000" y="4991100"/>
            <a:ext cx="323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5A6C79"/>
                </a:solidFill>
                <a:latin typeface="Aptos"/>
                <a:ea typeface="Aptos"/>
                <a:cs typeface="Aptos"/>
              </a:defRPr>
            </a:pPr>
            <a:r>
              <a:rPr sz="1350" b="0" i="0">
                <a:solidFill>
                  <a:srgbClr val="5A6C79"/>
                </a:solidFill>
                <a:latin typeface="Aptos"/>
                <a:ea typeface="Aptos"/>
                <a:cs typeface="Aptos"/>
              </a:rPr>
              <a:t>Rank thousands of candidates</a:t>
            </a:r>
          </a:p>
        </p:txBody>
      </p:sp>
      <p:sp>
        <p:nvSpPr>
          <p:cNvPr id="33" name="">
            <a:extLst xmlns:a="http://schemas.openxmlformats.org/drawingml/2006/main">
              <a:ext uri="{FF2B5EF4-FFF2-40B4-BE49-F238E27FC236}">
                <a16:creationId xmlns:a16="http://schemas.microsoft.com/office/drawing/2014/main" id="{B9AA22E4-FCA6-4C3D-A9C2-DB8D7BF5CC2F}"/>
              </a:ext>
            </a:extLst>
          </p:cNvPr>
          <p:cNvSpPr>
            <a:spLocks xmlns:a="http://schemas.openxmlformats.org/drawingml/2006/main" noGrp="1"/>
          </p:cNvSpPr>
          <p:nvPr/>
        </p:nvSpPr>
        <p:spPr>
          <a:xfrm xmlns:a="http://schemas.openxmlformats.org/drawingml/2006/main">
            <a:off x="5048250" y="3333750"/>
            <a:ext cx="1143000" cy="666750"/>
          </a:xfrm>
          <a:prstGeom xmlns:a="http://schemas.openxmlformats.org/drawingml/2006/main" prst="rightArrow">
            <a:avLst/>
          </a:prstGeom>
          <a:solidFill xmlns:a="http://schemas.openxmlformats.org/drawingml/2006/main">
            <a:srgbClr val="F28C45"/>
          </a:solidFill>
          <a:ln xmlns:a="http://schemas.openxmlformats.org/drawingml/2006/main" w="0">
            <a:solidFill>
              <a:srgbClr val="F28C45"/>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choose</a:t>
            </a:r>
          </a:p>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 order</a:t>
            </a:r>
          </a:p>
        </p:txBody>
      </p:sp>
      <p:sp>
        <p:nvSpPr>
          <p:cNvPr id="34" name="">
            <a:extLst xmlns:a="http://schemas.openxmlformats.org/drawingml/2006/main">
              <a:ext uri="{FF2B5EF4-FFF2-40B4-BE49-F238E27FC236}">
                <a16:creationId xmlns:a16="http://schemas.microsoft.com/office/drawing/2014/main" id="{2A633F71-3F2D-40B9-A1A4-65237445AA02}"/>
              </a:ext>
            </a:extLst>
          </p:cNvPr>
          <p:cNvSpPr>
            <a:spLocks xmlns:a="http://schemas.openxmlformats.org/drawingml/2006/main" noGrp="1"/>
          </p:cNvSpPr>
          <p:nvPr/>
        </p:nvSpPr>
        <p:spPr>
          <a:xfrm xmlns:a="http://schemas.openxmlformats.org/drawingml/2006/main" rot="0">
            <a:off x="6667500" y="1619250"/>
            <a:ext cx="342900" cy="342900"/>
          </a:xfrm>
          <a:prstGeom xmlns:a="http://schemas.openxmlformats.org/drawingml/2006/main" prst="roundRect">
            <a:avLst>
              <a:gd name="adj" fmla="val 50000"/>
            </a:avLst>
          </a:prstGeom>
          <a:solidFill xmlns:a="http://schemas.openxmlformats.org/drawingml/2006/main">
            <a:srgbClr val="137B77"/>
          </a:solidFill>
          <a:ln xmlns:a="http://schemas.openxmlformats.org/drawingml/2006/main" w="0">
            <a:noFill/>
            <a:prstDash val="solid"/>
          </a:ln>
        </p:spPr>
        <p:txBody>
          <a:bodyPr xmlns:a="http://schemas.openxmlformats.org/drawingml/2006/main" wrap="square" lIns="0" tIns="0" rIns="0" bIns="0" anchor="ctr">
            <a:normAutofit fontScale="88389"/>
          </a:bodyPr>
          <a:lstStyle xmlns:a="http://schemas.openxmlformats.org/drawingml/2006/main"/>
          <a:p xmlns:a="http://schemas.openxmlformats.org/drawingml/2006/main">
            <a:pPr algn="ctr">
              <a:lnSpc>
                <a:spcPct val="100000"/>
              </a:lnSpc>
              <a:buNone/>
              <a:defRPr sz="1800" b="1" i="0">
                <a:solidFill>
                  <a:srgbClr val="FFFFFF"/>
                </a:solidFill>
                <a:latin typeface="Aptos"/>
                <a:ea typeface="Aptos"/>
                <a:cs typeface="Aptos"/>
              </a:defRPr>
            </a:pPr>
            <a:r>
              <a:rPr sz="1800" b="1" i="0">
                <a:solidFill>
                  <a:srgbClr val="FFFFFF"/>
                </a:solidFill>
                <a:latin typeface="Aptos"/>
                <a:ea typeface="Aptos"/>
                <a:cs typeface="Aptos"/>
              </a:rPr>
              <a:t>2</a:t>
            </a:r>
          </a:p>
        </p:txBody>
      </p:sp>
      <p:sp>
        <p:nvSpPr>
          <p:cNvPr id="35" name="">
            <a:extLst xmlns:a="http://schemas.openxmlformats.org/drawingml/2006/main">
              <a:ext uri="{FF2B5EF4-FFF2-40B4-BE49-F238E27FC236}">
                <a16:creationId xmlns:a16="http://schemas.microsoft.com/office/drawing/2014/main" id="{4F5788DD-B23B-4685-B31A-0BD4588BAB88}"/>
              </a:ext>
            </a:extLst>
          </p:cNvPr>
          <p:cNvSpPr>
            <a:spLocks xmlns:a="http://schemas.openxmlformats.org/drawingml/2006/main" noGrp="1"/>
          </p:cNvSpPr>
          <p:nvPr/>
        </p:nvSpPr>
        <p:spPr>
          <a:xfrm xmlns:a="http://schemas.openxmlformats.org/drawingml/2006/main" rot="0">
            <a:off x="7134225" y="161925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425" b="1" i="0">
                <a:solidFill>
                  <a:srgbClr val="0B1F33"/>
                </a:solidFill>
                <a:latin typeface="Aptos"/>
                <a:ea typeface="Aptos"/>
                <a:cs typeface="Aptos"/>
              </a:defRPr>
            </a:pPr>
            <a:r>
              <a:rPr sz="1425" b="1" i="0">
                <a:solidFill>
                  <a:srgbClr val="0B1F33"/>
                </a:solidFill>
                <a:latin typeface="Aptos"/>
                <a:ea typeface="Aptos"/>
                <a:cs typeface="Aptos"/>
              </a:rPr>
              <a:t>IN WHAT ORDER</a:t>
            </a:r>
          </a:p>
        </p:txBody>
      </p:sp>
      <p:sp>
        <p:nvSpPr>
          <p:cNvPr id="36" name="">
            <a:extLst xmlns:a="http://schemas.openxmlformats.org/drawingml/2006/main">
              <a:ext uri="{FF2B5EF4-FFF2-40B4-BE49-F238E27FC236}">
                <a16:creationId xmlns:a16="http://schemas.microsoft.com/office/drawing/2014/main" id="{DA7E806A-978D-4761-A8C9-D939F9A61955}"/>
              </a:ext>
            </a:extLst>
          </p:cNvPr>
          <p:cNvSpPr>
            <a:spLocks xmlns:a="http://schemas.openxmlformats.org/drawingml/2006/main" noGrp="1"/>
          </p:cNvSpPr>
          <p:nvPr/>
        </p:nvSpPr>
        <p:spPr>
          <a:xfrm xmlns:a="http://schemas.openxmlformats.org/drawingml/2006/main">
            <a:off x="6477000" y="2095500"/>
            <a:ext cx="4991100" cy="3257550"/>
          </a:xfrm>
          <a:prstGeom xmlns:a="http://schemas.openxmlformats.org/drawingml/2006/main" prst="roundRect">
            <a:avLst>
              <a:gd name="adj" fmla="val 7018"/>
            </a:avLst>
          </a:prstGeom>
          <a:solidFill xmlns:a="http://schemas.openxmlformats.org/drawingml/2006/main">
            <a:srgbClr val="DDF3F1"/>
          </a:solidFill>
          <a:ln xmlns:a="http://schemas.openxmlformats.org/drawingml/2006/main" w="9525">
            <a:solidFill>
              <a:srgbClr val="B8DEDA"/>
            </a:solidFill>
            <a:prstDash val="solid"/>
          </a:ln>
        </p:spPr>
      </p:sp>
      <p:sp>
        <p:nvSpPr>
          <p:cNvPr id="37" name="">
            <a:extLst xmlns:a="http://schemas.openxmlformats.org/drawingml/2006/main">
              <a:ext uri="{FF2B5EF4-FFF2-40B4-BE49-F238E27FC236}">
                <a16:creationId xmlns:a16="http://schemas.microsoft.com/office/drawing/2014/main" id="{14522E94-245B-40CF-9A0A-ACEEC5E677F3}"/>
              </a:ext>
            </a:extLst>
          </p:cNvPr>
          <p:cNvSpPr>
            <a:spLocks xmlns:a="http://schemas.openxmlformats.org/drawingml/2006/main" noGrp="1"/>
          </p:cNvSpPr>
          <p:nvPr/>
        </p:nvSpPr>
        <p:spPr>
          <a:xfrm xmlns:a="http://schemas.openxmlformats.org/drawingml/2006/main">
            <a:off x="6881813" y="4262438"/>
            <a:ext cx="428625" cy="428625"/>
          </a:xfrm>
          <a:prstGeom xmlns:a="http://schemas.openxmlformats.org/drawingml/2006/main" prst="ellipse">
            <a:avLst/>
          </a:prstGeom>
          <a:solidFill xmlns:a="http://schemas.openxmlformats.org/drawingml/2006/main">
            <a:srgbClr val="137B77"/>
          </a:solidFill>
          <a:ln xmlns:a="http://schemas.openxmlformats.org/drawingml/2006/main" w="28575">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S</a:t>
            </a:r>
          </a:p>
        </p:txBody>
      </p:sp>
      <p:sp>
        <p:nvSpPr>
          <p:cNvPr id="38" name="">
            <a:extLst xmlns:a="http://schemas.openxmlformats.org/drawingml/2006/main">
              <a:ext uri="{FF2B5EF4-FFF2-40B4-BE49-F238E27FC236}">
                <a16:creationId xmlns:a16="http://schemas.microsoft.com/office/drawing/2014/main" id="{08E0557E-EEBE-4F7E-92B9-4906E18552F1}"/>
              </a:ext>
            </a:extLst>
          </p:cNvPr>
          <p:cNvSpPr>
            <a:spLocks xmlns:a="http://schemas.openxmlformats.org/drawingml/2006/main" noGrp="1"/>
          </p:cNvSpPr>
          <p:nvPr/>
        </p:nvSpPr>
        <p:spPr>
          <a:xfrm xmlns:a="http://schemas.openxmlformats.org/drawingml/2006/main">
            <a:off x="7596188" y="3500438"/>
            <a:ext cx="428625" cy="428625"/>
          </a:xfrm>
          <a:prstGeom xmlns:a="http://schemas.openxmlformats.org/drawingml/2006/main" prst="ellipse">
            <a:avLst/>
          </a:prstGeom>
          <a:solidFill xmlns:a="http://schemas.openxmlformats.org/drawingml/2006/main">
            <a:srgbClr val="1FA6A0"/>
          </a:solidFill>
          <a:ln xmlns:a="http://schemas.openxmlformats.org/drawingml/2006/main" w="28575">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1</a:t>
            </a:r>
          </a:p>
        </p:txBody>
      </p:sp>
      <p:sp>
        <p:nvSpPr>
          <p:cNvPr id="39" name="">
            <a:extLst xmlns:a="http://schemas.openxmlformats.org/drawingml/2006/main">
              <a:ext uri="{FF2B5EF4-FFF2-40B4-BE49-F238E27FC236}">
                <a16:creationId xmlns:a16="http://schemas.microsoft.com/office/drawing/2014/main" id="{AF2FA2E0-CF54-49EE-BC81-96D0ED4DD640}"/>
              </a:ext>
            </a:extLst>
          </p:cNvPr>
          <p:cNvSpPr>
            <a:spLocks xmlns:a="http://schemas.openxmlformats.org/drawingml/2006/main" noGrp="1"/>
          </p:cNvSpPr>
          <p:nvPr/>
        </p:nvSpPr>
        <p:spPr>
          <a:xfrm xmlns:a="http://schemas.openxmlformats.org/drawingml/2006/main">
            <a:off x="8501063" y="3881438"/>
            <a:ext cx="428625" cy="428625"/>
          </a:xfrm>
          <a:prstGeom xmlns:a="http://schemas.openxmlformats.org/drawingml/2006/main" prst="ellipse">
            <a:avLst/>
          </a:prstGeom>
          <a:solidFill xmlns:a="http://schemas.openxmlformats.org/drawingml/2006/main">
            <a:srgbClr val="1FA6A0"/>
          </a:solidFill>
          <a:ln xmlns:a="http://schemas.openxmlformats.org/drawingml/2006/main" w="28575">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2</a:t>
            </a:r>
          </a:p>
        </p:txBody>
      </p:sp>
      <p:sp>
        <p:nvSpPr>
          <p:cNvPr id="40" name="">
            <a:extLst xmlns:a="http://schemas.openxmlformats.org/drawingml/2006/main">
              <a:ext uri="{FF2B5EF4-FFF2-40B4-BE49-F238E27FC236}">
                <a16:creationId xmlns:a16="http://schemas.microsoft.com/office/drawing/2014/main" id="{C32CFDD9-A9D6-4C53-AE36-6B5FB9925CC6}"/>
              </a:ext>
            </a:extLst>
          </p:cNvPr>
          <p:cNvSpPr>
            <a:spLocks xmlns:a="http://schemas.openxmlformats.org/drawingml/2006/main" noGrp="1"/>
          </p:cNvSpPr>
          <p:nvPr/>
        </p:nvSpPr>
        <p:spPr>
          <a:xfrm xmlns:a="http://schemas.openxmlformats.org/drawingml/2006/main">
            <a:off x="9386888" y="2833688"/>
            <a:ext cx="428625" cy="428625"/>
          </a:xfrm>
          <a:prstGeom xmlns:a="http://schemas.openxmlformats.org/drawingml/2006/main" prst="ellipse">
            <a:avLst/>
          </a:prstGeom>
          <a:solidFill xmlns:a="http://schemas.openxmlformats.org/drawingml/2006/main">
            <a:srgbClr val="F28C45"/>
          </a:solidFill>
          <a:ln xmlns:a="http://schemas.openxmlformats.org/drawingml/2006/main" w="28575">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3</a:t>
            </a:r>
          </a:p>
        </p:txBody>
      </p:sp>
      <p:sp>
        <p:nvSpPr>
          <p:cNvPr id="41" name="">
            <a:extLst xmlns:a="http://schemas.openxmlformats.org/drawingml/2006/main">
              <a:ext uri="{FF2B5EF4-FFF2-40B4-BE49-F238E27FC236}">
                <a16:creationId xmlns:a16="http://schemas.microsoft.com/office/drawing/2014/main" id="{560E91C9-3F5B-4F16-9FC0-09E5D842263A}"/>
              </a:ext>
            </a:extLst>
          </p:cNvPr>
          <p:cNvSpPr>
            <a:spLocks xmlns:a="http://schemas.openxmlformats.org/drawingml/2006/main" noGrp="1"/>
          </p:cNvSpPr>
          <p:nvPr/>
        </p:nvSpPr>
        <p:spPr>
          <a:xfrm xmlns:a="http://schemas.openxmlformats.org/drawingml/2006/main">
            <a:off x="10529888" y="2452688"/>
            <a:ext cx="428625" cy="428625"/>
          </a:xfrm>
          <a:prstGeom xmlns:a="http://schemas.openxmlformats.org/drawingml/2006/main" prst="ellipse">
            <a:avLst/>
          </a:prstGeom>
          <a:solidFill xmlns:a="http://schemas.openxmlformats.org/drawingml/2006/main">
            <a:srgbClr val="137B77"/>
          </a:solidFill>
          <a:ln xmlns:a="http://schemas.openxmlformats.org/drawingml/2006/main" w="28575">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E</a:t>
            </a:r>
          </a:p>
        </p:txBody>
      </p:sp>
      <p:cxnSp>
        <p:nvCxnSpPr>
          <p:cNvPr id="89" name=""/>
          <p:cNvCxnSpPr>
            <a:stCxn xmlns:a="http://schemas.openxmlformats.org/drawingml/2006/main" id="37" idx="7"/>
            <a:endCxn xmlns:a="http://schemas.openxmlformats.org/drawingml/2006/main" id="38" idx="3"/>
          </p:cNvCxnSpPr>
          <p:nvPr/>
        </p:nvCxnSpPr>
        <p:spPr>
          <a:xfrm xmlns:a="http://schemas.openxmlformats.org/drawingml/2006/main" flipV="1">
            <a:off x="7247667" y="3866292"/>
            <a:ext cx="411291" cy="458916"/>
          </a:xfrm>
          <a:prstGeom xmlns:a="http://schemas.openxmlformats.org/drawingml/2006/main" prst="straightConnector1">
            <a:avLst/>
          </a:prstGeom>
          <a:ln xmlns:a="http://schemas.openxmlformats.org/drawingml/2006/main" w="47625">
            <a:solidFill>
              <a:srgbClr val="137B77"/>
            </a:solidFill>
            <a:prstDash val="solid"/>
            <a:headEnd type="none" w="med" len="med"/>
            <a:tailEnd type="triangle" w="sm" len="sm"/>
          </a:ln>
        </p:spPr>
      </p:cxnSp>
      <p:cxnSp>
        <p:nvCxnSpPr>
          <p:cNvPr id="90" name=""/>
          <p:cNvCxnSpPr>
            <a:stCxn xmlns:a="http://schemas.openxmlformats.org/drawingml/2006/main" id="38" idx="5"/>
            <a:endCxn xmlns:a="http://schemas.openxmlformats.org/drawingml/2006/main" id="39" idx="2"/>
          </p:cNvCxnSpPr>
          <p:nvPr/>
        </p:nvCxnSpPr>
        <p:spPr>
          <a:xfrm xmlns:a="http://schemas.openxmlformats.org/drawingml/2006/main">
            <a:off x="7962042" y="3866292"/>
            <a:ext cx="539021" cy="229458"/>
          </a:xfrm>
          <a:prstGeom xmlns:a="http://schemas.openxmlformats.org/drawingml/2006/main" prst="straightConnector1">
            <a:avLst/>
          </a:prstGeom>
          <a:ln xmlns:a="http://schemas.openxmlformats.org/drawingml/2006/main" w="47625">
            <a:solidFill>
              <a:srgbClr val="137B77"/>
            </a:solidFill>
            <a:prstDash val="solid"/>
            <a:headEnd type="none" w="med" len="med"/>
            <a:tailEnd type="triangle" w="sm" len="sm"/>
          </a:ln>
        </p:spPr>
      </p:cxnSp>
      <p:cxnSp>
        <p:nvCxnSpPr>
          <p:cNvPr id="91" name=""/>
          <p:cNvCxnSpPr>
            <a:stCxn xmlns:a="http://schemas.openxmlformats.org/drawingml/2006/main" id="39" idx="7"/>
            <a:endCxn xmlns:a="http://schemas.openxmlformats.org/drawingml/2006/main" id="40" idx="3"/>
          </p:cNvCxnSpPr>
          <p:nvPr/>
        </p:nvCxnSpPr>
        <p:spPr>
          <a:xfrm xmlns:a="http://schemas.openxmlformats.org/drawingml/2006/main" flipV="1">
            <a:off x="8866917" y="3199542"/>
            <a:ext cx="582741" cy="744666"/>
          </a:xfrm>
          <a:prstGeom xmlns:a="http://schemas.openxmlformats.org/drawingml/2006/main" prst="straightConnector1">
            <a:avLst/>
          </a:prstGeom>
          <a:ln xmlns:a="http://schemas.openxmlformats.org/drawingml/2006/main" w="47625">
            <a:solidFill>
              <a:srgbClr val="137B77"/>
            </a:solidFill>
            <a:prstDash val="solid"/>
            <a:headEnd type="none" w="med" len="med"/>
            <a:tailEnd type="triangle" w="sm" len="sm"/>
          </a:ln>
        </p:spPr>
      </p:cxnSp>
      <p:cxnSp>
        <p:nvCxnSpPr>
          <p:cNvPr id="92" name=""/>
          <p:cNvCxnSpPr>
            <a:stCxn xmlns:a="http://schemas.openxmlformats.org/drawingml/2006/main" id="40" idx="6"/>
            <a:endCxn xmlns:a="http://schemas.openxmlformats.org/drawingml/2006/main" id="41" idx="2"/>
          </p:cNvCxnSpPr>
          <p:nvPr/>
        </p:nvCxnSpPr>
        <p:spPr>
          <a:xfrm xmlns:a="http://schemas.openxmlformats.org/drawingml/2006/main" flipV="1">
            <a:off x="9815513" y="2667001"/>
            <a:ext cx="714375" cy="381000"/>
          </a:xfrm>
          <a:prstGeom xmlns:a="http://schemas.openxmlformats.org/drawingml/2006/main" prst="straightConnector1">
            <a:avLst/>
          </a:prstGeom>
          <a:ln xmlns:a="http://schemas.openxmlformats.org/drawingml/2006/main" w="47625">
            <a:solidFill>
              <a:srgbClr val="137B77"/>
            </a:solidFill>
            <a:prstDash val="solid"/>
            <a:headEnd type="none" w="med" len="med"/>
            <a:tailEnd type="triangle" w="sm" len="sm"/>
          </a:ln>
        </p:spPr>
      </p:cxnSp>
      <p:sp>
        <p:nvSpPr>
          <p:cNvPr id="46" name="">
            <a:extLst xmlns:a="http://schemas.openxmlformats.org/drawingml/2006/main">
              <a:ext uri="{FF2B5EF4-FFF2-40B4-BE49-F238E27FC236}">
                <a16:creationId xmlns:a16="http://schemas.microsoft.com/office/drawing/2014/main" id="{46F4B71A-6555-4FF2-A6EE-798DD17E7EA9}"/>
              </a:ext>
            </a:extLst>
          </p:cNvPr>
          <p:cNvSpPr>
            <a:spLocks xmlns:a="http://schemas.openxmlformats.org/drawingml/2006/main" noGrp="1"/>
          </p:cNvSpPr>
          <p:nvPr/>
        </p:nvSpPr>
        <p:spPr>
          <a:xfrm xmlns:a="http://schemas.openxmlformats.org/drawingml/2006/main" rot="0">
            <a:off x="7124700" y="495300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37B77"/>
                </a:solidFill>
                <a:latin typeface="Aptos"/>
                <a:ea typeface="Aptos"/>
                <a:cs typeface="Aptos"/>
              </a:defRPr>
            </a:pPr>
            <a:r>
              <a:rPr sz="1350" b="1" i="0">
                <a:solidFill>
                  <a:srgbClr val="137B77"/>
                </a:solidFill>
                <a:latin typeface="Aptos"/>
                <a:ea typeface="Aptos"/>
                <a:cs typeface="Aptos"/>
              </a:rPr>
              <a:t>One ordered, loop-free route</a:t>
            </a:r>
          </a:p>
        </p:txBody>
      </p:sp>
      <p:sp>
        <p:nvSpPr>
          <p:cNvPr id="47" name="">
            <a:extLst xmlns:a="http://schemas.openxmlformats.org/drawingml/2006/main">
              <a:ext uri="{FF2B5EF4-FFF2-40B4-BE49-F238E27FC236}">
                <a16:creationId xmlns:a16="http://schemas.microsoft.com/office/drawing/2014/main" id="{5011864B-7772-4E46-AE00-453C22597933}"/>
              </a:ext>
            </a:extLst>
          </p:cNvPr>
          <p:cNvSpPr>
            <a:spLocks xmlns:a="http://schemas.openxmlformats.org/drawingml/2006/main" noGrp="1"/>
          </p:cNvSpPr>
          <p:nvPr/>
        </p:nvSpPr>
        <p:spPr>
          <a:xfrm xmlns:a="http://schemas.openxmlformats.org/drawingml/2006/main" rot="0">
            <a:off x="609600" y="6210300"/>
            <a:ext cx="10668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50" b="0" i="1">
                <a:solidFill>
                  <a:srgbClr val="5A6C79"/>
                </a:solidFill>
                <a:latin typeface="Aptos"/>
                <a:ea typeface="Aptos"/>
                <a:cs typeface="Aptos"/>
              </a:defRPr>
            </a:pPr>
            <a:r>
              <a:rPr sz="750" b="0" i="1">
                <a:solidFill>
                  <a:srgbClr val="5A6C79"/>
                </a:solidFill>
                <a:latin typeface="Aptos"/>
                <a:ea typeface="Aptos"/>
                <a:cs typeface="Aptos"/>
              </a:rPr>
              <a:t>Conceptual illustration based on the thesis problem definition.</a:t>
            </a:r>
          </a:p>
        </p:txBody>
      </p:sp>
    </p:spTree>
    <p:extLst>
      <p:ext uri="{BB962C8B-B14F-4D97-AF65-F5344CB8AC3E}">
        <p14:creationId xmlns:p14="http://schemas.microsoft.com/office/powerpoint/2010/main" val="496068498"/>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6" name="eyebrow">
            <a:extLst xmlns:a="http://schemas.openxmlformats.org/drawingml/2006/main">
              <a:ext uri="{FF2B5EF4-FFF2-40B4-BE49-F238E27FC236}">
                <a16:creationId xmlns:a16="http://schemas.microsoft.com/office/drawing/2014/main" id="{38DCF378-53BD-4795-A70B-8D5AE661CCE9}"/>
              </a:ext>
            </a:extLst>
          </p:cNvPr>
          <p:cNvSpPr>
            <a:spLocks xmlns:a="http://schemas.openxmlformats.org/drawingml/2006/main" noGrp="1"/>
          </p:cNvSpPr>
          <p:nvPr/>
        </p:nvSpPr>
        <p:spPr>
          <a:xfrm xmlns:a="http://schemas.openxmlformats.org/drawingml/2006/main" rot="0">
            <a:off x="6096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i="0">
                <a:solidFill>
                  <a:srgbClr val="137B77"/>
                </a:solidFill>
                <a:latin typeface="Aptos"/>
                <a:ea typeface="Aptos"/>
                <a:cs typeface="Aptos"/>
              </a:defRPr>
            </a:pPr>
            <a:r>
              <a:rPr sz="975" b="1" i="0">
                <a:solidFill>
                  <a:srgbClr val="137B77"/>
                </a:solidFill>
                <a:latin typeface="Aptos"/>
                <a:ea typeface="Aptos"/>
                <a:cs typeface="Aptos"/>
              </a:rPr>
              <a:t>2 · STATE OF THE ART</a:t>
            </a:r>
          </a:p>
        </p:txBody>
      </p:sp>
      <p:sp>
        <p:nvSpPr>
          <p:cNvPr id="2" name="slide-title">
            <a:extLst xmlns:a="http://schemas.openxmlformats.org/drawingml/2006/main">
              <a:ext uri="{FF2B5EF4-FFF2-40B4-BE49-F238E27FC236}">
                <a16:creationId xmlns:a16="http://schemas.microsoft.com/office/drawing/2014/main" id="{27B3FACA-29C3-4DF7-915D-1DFD53276EDA}"/>
              </a:ext>
            </a:extLst>
          </p:cNvPr>
          <p:cNvSpPr>
            <a:spLocks xmlns:a="http://schemas.openxmlformats.org/drawingml/2006/main" noGrp="1"/>
          </p:cNvSpPr>
          <p:nvPr/>
        </p:nvSpPr>
        <p:spPr>
          <a:xfrm xmlns:a="http://schemas.openxmlformats.org/drawingml/2006/main" rot="0">
            <a:off x="609600" y="5905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850" b="1" i="0">
                <a:solidFill>
                  <a:srgbClr val="0B1F33"/>
                </a:solidFill>
                <a:latin typeface="Aptos"/>
                <a:ea typeface="Aptos"/>
                <a:cs typeface="Aptos"/>
              </a:defRPr>
            </a:pPr>
            <a:r>
              <a:rPr sz="2850" b="1" i="0">
                <a:solidFill>
                  <a:srgbClr val="0B1F33"/>
                </a:solidFill>
                <a:latin typeface="Aptos"/>
                <a:ea typeface="Aptos"/>
                <a:cs typeface="Aptos"/>
              </a:rPr>
              <a:t>Existing methods trade off personalization and feasibility</a:t>
            </a:r>
          </a:p>
        </p:txBody>
      </p:sp>
      <p:sp>
        <p:nvSpPr>
          <p:cNvPr id="3" name="title-accent">
            <a:extLst xmlns:a="http://schemas.openxmlformats.org/drawingml/2006/main">
              <a:ext uri="{FF2B5EF4-FFF2-40B4-BE49-F238E27FC236}">
                <a16:creationId xmlns:a16="http://schemas.microsoft.com/office/drawing/2014/main" id="{8DA4B5FC-0D1D-4C51-A577-416057392F91}"/>
              </a:ext>
            </a:extLst>
          </p:cNvPr>
          <p:cNvSpPr>
            <a:spLocks xmlns:a="http://schemas.openxmlformats.org/drawingml/2006/main" noGrp="1"/>
          </p:cNvSpPr>
          <p:nvPr/>
        </p:nvSpPr>
        <p:spPr>
          <a:xfrm xmlns:a="http://schemas.openxmlformats.org/drawingml/2006/main">
            <a:off x="609600" y="1219200"/>
            <a:ext cx="876300" cy="47625"/>
          </a:xfrm>
          <a:prstGeom xmlns:a="http://schemas.openxmlformats.org/drawingml/2006/main" prst="rect">
            <a:avLst/>
          </a:prstGeom>
          <a:solidFill xmlns:a="http://schemas.openxmlformats.org/drawingml/2006/main">
            <a:srgbClr val="1FA6A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09C9987-76D2-4C9C-BA5D-D3CFAE42903C}"/>
              </a:ext>
            </a:extLst>
          </p:cNvPr>
          <p:cNvSpPr>
            <a:spLocks xmlns:a="http://schemas.openxmlformats.org/drawingml/2006/main" noGrp="1"/>
          </p:cNvSpPr>
          <p:nvPr/>
        </p:nvSpPr>
        <p:spPr>
          <a:xfrm xmlns:a="http://schemas.openxmlformats.org/drawingml/2006/main" flipV="0">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4E9"/>
            </a:solidFill>
            <a:prstDash val="solid"/>
          </a:ln>
        </p:spPr>
      </p:sp>
      <p:sp>
        <p:nvSpPr>
          <p:cNvPr id="5" name="">
            <a:extLst xmlns:a="http://schemas.openxmlformats.org/drawingml/2006/main">
              <a:ext uri="{FF2B5EF4-FFF2-40B4-BE49-F238E27FC236}">
                <a16:creationId xmlns:a16="http://schemas.microsoft.com/office/drawing/2014/main" id="{155ED126-8BAD-43AB-A061-72E4FBB3D434}"/>
              </a:ext>
            </a:extLst>
          </p:cNvPr>
          <p:cNvSpPr>
            <a:spLocks xmlns:a="http://schemas.openxmlformats.org/drawingml/2006/main" noGrp="1"/>
          </p:cNvSpPr>
          <p:nvPr/>
        </p:nvSpPr>
        <p:spPr>
          <a:xfrm xmlns:a="http://schemas.openxmlformats.org/drawingml/2006/main" rot="0">
            <a:off x="609600" y="655320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Ayman Naaimi · ENSAM Meknes</a:t>
            </a:r>
          </a:p>
        </p:txBody>
      </p:sp>
      <p:sp>
        <p:nvSpPr>
          <p:cNvPr id="6" name="">
            <a:extLst xmlns:a="http://schemas.openxmlformats.org/drawingml/2006/main">
              <a:ext uri="{FF2B5EF4-FFF2-40B4-BE49-F238E27FC236}">
                <a16:creationId xmlns:a16="http://schemas.microsoft.com/office/drawing/2014/main" id="{F3BFB79C-61A2-463D-9C0F-EFAC6A470975}"/>
              </a:ext>
            </a:extLst>
          </p:cNvPr>
          <p:cNvSpPr>
            <a:spLocks xmlns:a="http://schemas.openxmlformats.org/drawingml/2006/main" noGrp="1"/>
          </p:cNvSpPr>
          <p:nvPr/>
        </p:nvSpPr>
        <p:spPr>
          <a:xfrm xmlns:a="http://schemas.openxmlformats.org/drawingml/2006/main" rot="0">
            <a:off x="10572750" y="6553200"/>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3 / 10</a:t>
            </a:r>
          </a:p>
        </p:txBody>
      </p:sp>
      <p:sp>
        <p:nvSpPr>
          <p:cNvPr id="7" name="">
            <a:extLst xmlns:a="http://schemas.openxmlformats.org/drawingml/2006/main">
              <a:ext uri="{FF2B5EF4-FFF2-40B4-BE49-F238E27FC236}">
                <a16:creationId xmlns:a16="http://schemas.microsoft.com/office/drawing/2014/main" id="{500887F1-90FC-477E-A785-75B8DA8A6974}"/>
              </a:ext>
            </a:extLst>
          </p:cNvPr>
          <p:cNvSpPr>
            <a:spLocks xmlns:a="http://schemas.openxmlformats.org/drawingml/2006/main" noGrp="1"/>
          </p:cNvSpPr>
          <p:nvPr/>
        </p:nvSpPr>
        <p:spPr>
          <a:xfrm xmlns:a="http://schemas.openxmlformats.org/drawingml/2006/main">
            <a:off x="666750" y="1809750"/>
            <a:ext cx="3238500" cy="2857500"/>
          </a:xfrm>
          <a:prstGeom xmlns:a="http://schemas.openxmlformats.org/drawingml/2006/main" prst="roundRect">
            <a:avLst>
              <a:gd name="adj" fmla="val 7333"/>
            </a:avLst>
          </a:prstGeom>
          <a:solidFill xmlns:a="http://schemas.openxmlformats.org/drawingml/2006/main">
            <a:srgbClr val="FCE8D9"/>
          </a:solidFill>
          <a:ln xmlns:a="http://schemas.openxmlformats.org/drawingml/2006/main" w="9525">
            <a:solidFill>
              <a:srgbClr val="F3C49D"/>
            </a:solidFill>
            <a:prstDash val="solid"/>
          </a:ln>
        </p:spPr>
      </p:sp>
      <p:sp>
        <p:nvSpPr>
          <p:cNvPr id="8" name="">
            <a:extLst xmlns:a="http://schemas.openxmlformats.org/drawingml/2006/main">
              <a:ext uri="{FF2B5EF4-FFF2-40B4-BE49-F238E27FC236}">
                <a16:creationId xmlns:a16="http://schemas.microsoft.com/office/drawing/2014/main" id="{17C615FA-3FCE-453D-B3F2-025AB4025C62}"/>
              </a:ext>
            </a:extLst>
          </p:cNvPr>
          <p:cNvSpPr>
            <a:spLocks xmlns:a="http://schemas.openxmlformats.org/drawingml/2006/main" noGrp="1"/>
          </p:cNvSpPr>
          <p:nvPr/>
        </p:nvSpPr>
        <p:spPr>
          <a:xfrm xmlns:a="http://schemas.openxmlformats.org/drawingml/2006/main">
            <a:off x="876300" y="1962150"/>
            <a:ext cx="381000" cy="381000"/>
          </a:xfrm>
          <a:prstGeom xmlns:a="http://schemas.openxmlformats.org/drawingml/2006/main" prst="ellipse">
            <a:avLst/>
          </a:prstGeom>
          <a:solidFill xmlns:a="http://schemas.openxmlformats.org/drawingml/2006/main">
            <a:srgbClr val="F28C45"/>
          </a:solidFill>
          <a:ln xmlns:a="http://schemas.openxmlformats.org/drawingml/2006/main" w="19050">
            <a:solidFill>
              <a:srgbClr val="FFFFFF"/>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FFFFFF"/>
                </a:solidFill>
                <a:latin typeface="Aptos"/>
                <a:ea typeface="Aptos"/>
                <a:cs typeface="Aptos"/>
              </a:defRPr>
            </a:pPr>
            <a:r>
              <a:rPr sz="1425" b="1">
                <a:solidFill>
                  <a:srgbClr val="FFFFFF"/>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68027825-CF27-41D5-B233-96FD9FD2BAEB}"/>
              </a:ext>
            </a:extLst>
          </p:cNvPr>
          <p:cNvSpPr>
            <a:spLocks xmlns:a="http://schemas.openxmlformats.org/drawingml/2006/main" noGrp="1"/>
          </p:cNvSpPr>
          <p:nvPr/>
        </p:nvSpPr>
        <p:spPr>
          <a:xfrm xmlns:a="http://schemas.openxmlformats.org/drawingml/2006/main" rot="0">
            <a:off x="1352550" y="1971675"/>
            <a:ext cx="2305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i="0">
                <a:solidFill>
                  <a:srgbClr val="F28C45"/>
                </a:solidFill>
                <a:latin typeface="Aptos"/>
                <a:ea typeface="Aptos"/>
                <a:cs typeface="Aptos"/>
              </a:defRPr>
            </a:pPr>
            <a:r>
              <a:rPr sz="1350" b="1" i="0">
                <a:solidFill>
                  <a:srgbClr val="F28C45"/>
                </a:solidFill>
                <a:latin typeface="Aptos"/>
                <a:ea typeface="Aptos"/>
                <a:cs typeface="Aptos"/>
              </a:rPr>
              <a:t>ROUTE OPTIMIZATION</a:t>
            </a:r>
          </a:p>
        </p:txBody>
      </p:sp>
      <p:sp>
        <p:nvSpPr>
          <p:cNvPr id="10" name="">
            <a:extLst xmlns:a="http://schemas.openxmlformats.org/drawingml/2006/main">
              <a:ext uri="{FF2B5EF4-FFF2-40B4-BE49-F238E27FC236}">
                <a16:creationId xmlns:a16="http://schemas.microsoft.com/office/drawing/2014/main" id="{4C5B3A8D-ED1A-488F-96D7-AAF0D48F6932}"/>
              </a:ext>
            </a:extLst>
          </p:cNvPr>
          <p:cNvSpPr>
            <a:spLocks xmlns:a="http://schemas.openxmlformats.org/drawingml/2006/main" noGrp="1"/>
          </p:cNvSpPr>
          <p:nvPr/>
        </p:nvSpPr>
        <p:spPr>
          <a:xfrm xmlns:a="http://schemas.openxmlformats.org/drawingml/2006/main" rot="0">
            <a:off x="933450" y="2571750"/>
            <a:ext cx="2705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950" b="1" i="0">
                <a:solidFill>
                  <a:srgbClr val="0B1F33"/>
                </a:solidFill>
                <a:latin typeface="Aptos"/>
                <a:ea typeface="Aptos"/>
                <a:cs typeface="Aptos"/>
              </a:defRPr>
            </a:pPr>
            <a:r>
              <a:rPr sz="1950" b="1" i="0">
                <a:solidFill>
                  <a:srgbClr val="0B1F33"/>
                </a:solidFill>
                <a:latin typeface="Aptos"/>
                <a:ea typeface="Aptos"/>
                <a:cs typeface="Aptos"/>
              </a:rPr>
              <a:t>OP · TTDP</a:t>
            </a:r>
          </a:p>
        </p:txBody>
      </p:sp>
      <p:sp>
        <p:nvSpPr>
          <p:cNvPr id="11" name="">
            <a:extLst xmlns:a="http://schemas.openxmlformats.org/drawingml/2006/main">
              <a:ext uri="{FF2B5EF4-FFF2-40B4-BE49-F238E27FC236}">
                <a16:creationId xmlns:a16="http://schemas.microsoft.com/office/drawing/2014/main" id="{50B1FAC8-F228-480E-BE06-AFAB8CCA9113}"/>
              </a:ext>
            </a:extLst>
          </p:cNvPr>
          <p:cNvSpPr>
            <a:spLocks xmlns:a="http://schemas.openxmlformats.org/drawingml/2006/main" noGrp="1"/>
          </p:cNvSpPr>
          <p:nvPr/>
        </p:nvSpPr>
        <p:spPr>
          <a:xfrm xmlns:a="http://schemas.openxmlformats.org/drawingml/2006/main" rot="0">
            <a:off x="933450" y="3200400"/>
            <a:ext cx="2705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75" b="1" i="0">
                <a:solidFill>
                  <a:srgbClr val="137B77"/>
                </a:solidFill>
                <a:latin typeface="Aptos"/>
                <a:ea typeface="Aptos"/>
                <a:cs typeface="Aptos"/>
              </a:defRPr>
            </a:pPr>
            <a:r>
              <a:rPr sz="975" b="1" i="0">
                <a:solidFill>
                  <a:srgbClr val="137B77"/>
                </a:solidFill>
                <a:latin typeface="Aptos"/>
                <a:ea typeface="Aptos"/>
                <a:cs typeface="Aptos"/>
              </a:rPr>
              <a:t>STRENGTH</a:t>
            </a:r>
          </a:p>
        </p:txBody>
      </p:sp>
      <p:sp>
        <p:nvSpPr>
          <p:cNvPr id="12" name="">
            <a:extLst xmlns:a="http://schemas.openxmlformats.org/drawingml/2006/main">
              <a:ext uri="{FF2B5EF4-FFF2-40B4-BE49-F238E27FC236}">
                <a16:creationId xmlns:a16="http://schemas.microsoft.com/office/drawing/2014/main" id="{9CB9AD05-0EAF-4C13-B857-25C92456687E}"/>
              </a:ext>
            </a:extLst>
          </p:cNvPr>
          <p:cNvSpPr>
            <a:spLocks xmlns:a="http://schemas.openxmlformats.org/drawingml/2006/main" noGrp="1"/>
          </p:cNvSpPr>
          <p:nvPr/>
        </p:nvSpPr>
        <p:spPr>
          <a:xfrm xmlns:a="http://schemas.openxmlformats.org/drawingml/2006/main" rot="0">
            <a:off x="952500" y="3457575"/>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42632"/>
                </a:solidFill>
                <a:latin typeface="Aptos"/>
                <a:ea typeface="Aptos"/>
                <a:cs typeface="Aptos"/>
              </a:defRPr>
            </a:pPr>
            <a:r>
              <a:rPr sz="1350" b="1" i="0">
                <a:solidFill>
                  <a:srgbClr val="142632"/>
                </a:solidFill>
                <a:latin typeface="Aptos"/>
                <a:ea typeface="Aptos"/>
                <a:cs typeface="Aptos"/>
              </a:rPr>
              <a:t>Constraints by construction</a:t>
            </a:r>
          </a:p>
        </p:txBody>
      </p:sp>
      <p:sp>
        <p:nvSpPr>
          <p:cNvPr id="13" name="">
            <a:extLst xmlns:a="http://schemas.openxmlformats.org/drawingml/2006/main">
              <a:ext uri="{FF2B5EF4-FFF2-40B4-BE49-F238E27FC236}">
                <a16:creationId xmlns:a16="http://schemas.microsoft.com/office/drawing/2014/main" id="{EE7357CA-14CA-42B5-A610-F73098FADB37}"/>
              </a:ext>
            </a:extLst>
          </p:cNvPr>
          <p:cNvSpPr>
            <a:spLocks xmlns:a="http://schemas.openxmlformats.org/drawingml/2006/main" noGrp="1"/>
          </p:cNvSpPr>
          <p:nvPr/>
        </p:nvSpPr>
        <p:spPr>
          <a:xfrm xmlns:a="http://schemas.openxmlformats.org/drawingml/2006/main" rot="0">
            <a:off x="933450" y="4048125"/>
            <a:ext cx="2705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75" b="1" i="0">
                <a:solidFill>
                  <a:srgbClr val="F28C45"/>
                </a:solidFill>
                <a:latin typeface="Aptos"/>
                <a:ea typeface="Aptos"/>
                <a:cs typeface="Aptos"/>
              </a:defRPr>
            </a:pPr>
            <a:r>
              <a:rPr sz="975" b="1" i="0">
                <a:solidFill>
                  <a:srgbClr val="F28C45"/>
                </a:solidFill>
                <a:latin typeface="Aptos"/>
                <a:ea typeface="Aptos"/>
                <a:cs typeface="Aptos"/>
              </a:rPr>
              <a:t>LIMIT</a:t>
            </a:r>
          </a:p>
        </p:txBody>
      </p:sp>
      <p:sp>
        <p:nvSpPr>
          <p:cNvPr id="14" name="">
            <a:extLst xmlns:a="http://schemas.openxmlformats.org/drawingml/2006/main">
              <a:ext uri="{FF2B5EF4-FFF2-40B4-BE49-F238E27FC236}">
                <a16:creationId xmlns:a16="http://schemas.microsoft.com/office/drawing/2014/main" id="{53EC7172-BD6C-47C8-948A-7FB229CC9D27}"/>
              </a:ext>
            </a:extLst>
          </p:cNvPr>
          <p:cNvSpPr>
            <a:spLocks xmlns:a="http://schemas.openxmlformats.org/drawingml/2006/main" noGrp="1"/>
          </p:cNvSpPr>
          <p:nvPr/>
        </p:nvSpPr>
        <p:spPr>
          <a:xfrm xmlns:a="http://schemas.openxmlformats.org/drawingml/2006/main" rot="0">
            <a:off x="952500" y="428625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Simple utility; weak personalization</a:t>
            </a:r>
          </a:p>
        </p:txBody>
      </p:sp>
      <p:sp>
        <p:nvSpPr>
          <p:cNvPr id="15" name="">
            <a:extLst xmlns:a="http://schemas.openxmlformats.org/drawingml/2006/main">
              <a:ext uri="{FF2B5EF4-FFF2-40B4-BE49-F238E27FC236}">
                <a16:creationId xmlns:a16="http://schemas.microsoft.com/office/drawing/2014/main" id="{E3DCBF09-5560-42F3-86E9-6AA11A372DE3}"/>
              </a:ext>
            </a:extLst>
          </p:cNvPr>
          <p:cNvSpPr>
            <a:spLocks xmlns:a="http://schemas.openxmlformats.org/drawingml/2006/main" noGrp="1"/>
          </p:cNvSpPr>
          <p:nvPr/>
        </p:nvSpPr>
        <p:spPr>
          <a:xfrm xmlns:a="http://schemas.openxmlformats.org/drawingml/2006/main">
            <a:off x="4381500" y="1809750"/>
            <a:ext cx="3238500" cy="2857500"/>
          </a:xfrm>
          <a:prstGeom xmlns:a="http://schemas.openxmlformats.org/drawingml/2006/main" prst="roundRect">
            <a:avLst>
              <a:gd name="adj" fmla="val 7333"/>
            </a:avLst>
          </a:prstGeom>
          <a:solidFill xmlns:a="http://schemas.openxmlformats.org/drawingml/2006/main">
            <a:srgbClr val="EDF2F5"/>
          </a:solidFill>
          <a:ln xmlns:a="http://schemas.openxmlformats.org/drawingml/2006/main" w="9525">
            <a:solidFill>
              <a:srgbClr val="DCE4E9"/>
            </a:solidFill>
            <a:prstDash val="solid"/>
          </a:ln>
        </p:spPr>
      </p:sp>
      <p:sp>
        <p:nvSpPr>
          <p:cNvPr id="16" name="">
            <a:extLst xmlns:a="http://schemas.openxmlformats.org/drawingml/2006/main">
              <a:ext uri="{FF2B5EF4-FFF2-40B4-BE49-F238E27FC236}">
                <a16:creationId xmlns:a16="http://schemas.microsoft.com/office/drawing/2014/main" id="{6F7E132C-79F4-4CAE-BA69-3E48E6A24633}"/>
              </a:ext>
            </a:extLst>
          </p:cNvPr>
          <p:cNvSpPr>
            <a:spLocks xmlns:a="http://schemas.openxmlformats.org/drawingml/2006/main" noGrp="1"/>
          </p:cNvSpPr>
          <p:nvPr/>
        </p:nvSpPr>
        <p:spPr>
          <a:xfrm xmlns:a="http://schemas.openxmlformats.org/drawingml/2006/main">
            <a:off x="4591050" y="1962150"/>
            <a:ext cx="381000" cy="381000"/>
          </a:xfrm>
          <a:prstGeom xmlns:a="http://schemas.openxmlformats.org/drawingml/2006/main" prst="ellipse">
            <a:avLst/>
          </a:prstGeom>
          <a:solidFill xmlns:a="http://schemas.openxmlformats.org/drawingml/2006/main">
            <a:srgbClr val="153B5B"/>
          </a:solidFill>
          <a:ln xmlns:a="http://schemas.openxmlformats.org/drawingml/2006/main" w="19050">
            <a:solidFill>
              <a:srgbClr val="FFFFFF"/>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FFFFFF"/>
                </a:solidFill>
                <a:latin typeface="Aptos"/>
                <a:ea typeface="Aptos"/>
                <a:cs typeface="Aptos"/>
              </a:defRPr>
            </a:pPr>
            <a:r>
              <a:rPr sz="1425" b="1">
                <a:solidFill>
                  <a:srgbClr val="FFFFFF"/>
                </a:solidFill>
                <a:latin typeface="Aptos"/>
                <a:ea typeface="Aptos"/>
                <a:cs typeface="Aptos"/>
              </a:rPr>
              <a:t>2</a:t>
            </a:r>
          </a:p>
        </p:txBody>
      </p:sp>
      <p:sp>
        <p:nvSpPr>
          <p:cNvPr id="17" name="">
            <a:extLst xmlns:a="http://schemas.openxmlformats.org/drawingml/2006/main">
              <a:ext uri="{FF2B5EF4-FFF2-40B4-BE49-F238E27FC236}">
                <a16:creationId xmlns:a16="http://schemas.microsoft.com/office/drawing/2014/main" id="{BBD5D7F6-0F3D-4B27-B895-9320B863DCFD}"/>
              </a:ext>
            </a:extLst>
          </p:cNvPr>
          <p:cNvSpPr>
            <a:spLocks xmlns:a="http://schemas.openxmlformats.org/drawingml/2006/main" noGrp="1"/>
          </p:cNvSpPr>
          <p:nvPr/>
        </p:nvSpPr>
        <p:spPr>
          <a:xfrm xmlns:a="http://schemas.openxmlformats.org/drawingml/2006/main" rot="0">
            <a:off x="5067300" y="1971675"/>
            <a:ext cx="2305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i="0">
                <a:solidFill>
                  <a:srgbClr val="153B5B"/>
                </a:solidFill>
                <a:latin typeface="Aptos"/>
                <a:ea typeface="Aptos"/>
                <a:cs typeface="Aptos"/>
              </a:defRPr>
            </a:pPr>
            <a:r>
              <a:rPr sz="1350" b="1" i="0">
                <a:solidFill>
                  <a:srgbClr val="153B5B"/>
                </a:solidFill>
                <a:latin typeface="Aptos"/>
                <a:ea typeface="Aptos"/>
                <a:cs typeface="Aptos"/>
              </a:rPr>
              <a:t>PERSONALIZED + CONTEXT</a:t>
            </a:r>
          </a:p>
        </p:txBody>
      </p:sp>
      <p:sp>
        <p:nvSpPr>
          <p:cNvPr id="18" name="">
            <a:extLst xmlns:a="http://schemas.openxmlformats.org/drawingml/2006/main">
              <a:ext uri="{FF2B5EF4-FFF2-40B4-BE49-F238E27FC236}">
                <a16:creationId xmlns:a16="http://schemas.microsoft.com/office/drawing/2014/main" id="{9FD28230-2786-4665-90CB-67E5E381EEE2}"/>
              </a:ext>
            </a:extLst>
          </p:cNvPr>
          <p:cNvSpPr>
            <a:spLocks xmlns:a="http://schemas.openxmlformats.org/drawingml/2006/main" noGrp="1"/>
          </p:cNvSpPr>
          <p:nvPr/>
        </p:nvSpPr>
        <p:spPr>
          <a:xfrm xmlns:a="http://schemas.openxmlformats.org/drawingml/2006/main" rot="0">
            <a:off x="4648200" y="2571750"/>
            <a:ext cx="2705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950" b="1" i="0">
                <a:solidFill>
                  <a:srgbClr val="0B1F33"/>
                </a:solidFill>
                <a:latin typeface="Aptos"/>
                <a:ea typeface="Aptos"/>
                <a:cs typeface="Aptos"/>
              </a:defRPr>
            </a:pPr>
            <a:r>
              <a:rPr sz="1950" b="1" i="0">
                <a:solidFill>
                  <a:srgbClr val="0B1F33"/>
                </a:solidFill>
                <a:latin typeface="Aptos"/>
                <a:ea typeface="Aptos"/>
                <a:cs typeface="Aptos"/>
              </a:rPr>
              <a:t>CF · hybrid · CARS</a:t>
            </a:r>
          </a:p>
        </p:txBody>
      </p:sp>
      <p:sp>
        <p:nvSpPr>
          <p:cNvPr id="19" name="">
            <a:extLst xmlns:a="http://schemas.openxmlformats.org/drawingml/2006/main">
              <a:ext uri="{FF2B5EF4-FFF2-40B4-BE49-F238E27FC236}">
                <a16:creationId xmlns:a16="http://schemas.microsoft.com/office/drawing/2014/main" id="{EDDD27B4-323C-452A-94DC-7B979FD1F924}"/>
              </a:ext>
            </a:extLst>
          </p:cNvPr>
          <p:cNvSpPr>
            <a:spLocks xmlns:a="http://schemas.openxmlformats.org/drawingml/2006/main" noGrp="1"/>
          </p:cNvSpPr>
          <p:nvPr/>
        </p:nvSpPr>
        <p:spPr>
          <a:xfrm xmlns:a="http://schemas.openxmlformats.org/drawingml/2006/main" rot="0">
            <a:off x="4648200" y="3200400"/>
            <a:ext cx="2705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75" b="1" i="0">
                <a:solidFill>
                  <a:srgbClr val="137B77"/>
                </a:solidFill>
                <a:latin typeface="Aptos"/>
                <a:ea typeface="Aptos"/>
                <a:cs typeface="Aptos"/>
              </a:defRPr>
            </a:pPr>
            <a:r>
              <a:rPr sz="975" b="1" i="0">
                <a:solidFill>
                  <a:srgbClr val="137B77"/>
                </a:solidFill>
                <a:latin typeface="Aptos"/>
                <a:ea typeface="Aptos"/>
                <a:cs typeface="Aptos"/>
              </a:rPr>
              <a:t>STRENGTH</a:t>
            </a:r>
          </a:p>
        </p:txBody>
      </p:sp>
      <p:sp>
        <p:nvSpPr>
          <p:cNvPr id="20" name="">
            <a:extLst xmlns:a="http://schemas.openxmlformats.org/drawingml/2006/main">
              <a:ext uri="{FF2B5EF4-FFF2-40B4-BE49-F238E27FC236}">
                <a16:creationId xmlns:a16="http://schemas.microsoft.com/office/drawing/2014/main" id="{EDFB054A-CFE1-4905-AFBB-E89D5B76913D}"/>
              </a:ext>
            </a:extLst>
          </p:cNvPr>
          <p:cNvSpPr>
            <a:spLocks xmlns:a="http://schemas.openxmlformats.org/drawingml/2006/main" noGrp="1"/>
          </p:cNvSpPr>
          <p:nvPr/>
        </p:nvSpPr>
        <p:spPr>
          <a:xfrm xmlns:a="http://schemas.openxmlformats.org/drawingml/2006/main" rot="0">
            <a:off x="4667250" y="3457575"/>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42632"/>
                </a:solidFill>
                <a:latin typeface="Aptos"/>
                <a:ea typeface="Aptos"/>
                <a:cs typeface="Aptos"/>
              </a:defRPr>
            </a:pPr>
            <a:r>
              <a:rPr sz="1350" b="1" i="0">
                <a:solidFill>
                  <a:srgbClr val="142632"/>
                </a:solidFill>
                <a:latin typeface="Aptos"/>
                <a:ea typeface="Aptos"/>
                <a:cs typeface="Aptos"/>
              </a:rPr>
              <a:t>Learns user and context relevance</a:t>
            </a:r>
          </a:p>
        </p:txBody>
      </p:sp>
      <p:sp>
        <p:nvSpPr>
          <p:cNvPr id="21" name="">
            <a:extLst xmlns:a="http://schemas.openxmlformats.org/drawingml/2006/main">
              <a:ext uri="{FF2B5EF4-FFF2-40B4-BE49-F238E27FC236}">
                <a16:creationId xmlns:a16="http://schemas.microsoft.com/office/drawing/2014/main" id="{4C05A9B2-E2FA-4FC9-AD95-963973512FE8}"/>
              </a:ext>
            </a:extLst>
          </p:cNvPr>
          <p:cNvSpPr>
            <a:spLocks xmlns:a="http://schemas.openxmlformats.org/drawingml/2006/main" noGrp="1"/>
          </p:cNvSpPr>
          <p:nvPr/>
        </p:nvSpPr>
        <p:spPr>
          <a:xfrm xmlns:a="http://schemas.openxmlformats.org/drawingml/2006/main" rot="0">
            <a:off x="4648200" y="4048125"/>
            <a:ext cx="2705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75" b="1" i="0">
                <a:solidFill>
                  <a:srgbClr val="F28C45"/>
                </a:solidFill>
                <a:latin typeface="Aptos"/>
                <a:ea typeface="Aptos"/>
                <a:cs typeface="Aptos"/>
              </a:defRPr>
            </a:pPr>
            <a:r>
              <a:rPr sz="975" b="1" i="0">
                <a:solidFill>
                  <a:srgbClr val="F28C45"/>
                </a:solidFill>
                <a:latin typeface="Aptos"/>
                <a:ea typeface="Aptos"/>
                <a:cs typeface="Aptos"/>
              </a:rPr>
              <a:t>LIMIT</a:t>
            </a:r>
          </a:p>
        </p:txBody>
      </p:sp>
      <p:sp>
        <p:nvSpPr>
          <p:cNvPr id="22" name="">
            <a:extLst xmlns:a="http://schemas.openxmlformats.org/drawingml/2006/main">
              <a:ext uri="{FF2B5EF4-FFF2-40B4-BE49-F238E27FC236}">
                <a16:creationId xmlns:a16="http://schemas.microsoft.com/office/drawing/2014/main" id="{B6C92177-9803-45AC-93FF-BAC7C16A1BFC}"/>
              </a:ext>
            </a:extLst>
          </p:cNvPr>
          <p:cNvSpPr>
            <a:spLocks xmlns:a="http://schemas.openxmlformats.org/drawingml/2006/main" noGrp="1"/>
          </p:cNvSpPr>
          <p:nvPr/>
        </p:nvSpPr>
        <p:spPr>
          <a:xfrm xmlns:a="http://schemas.openxmlformats.org/drawingml/2006/main" rot="0">
            <a:off x="4667250" y="428625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Usually ranks POIs, not routes</a:t>
            </a:r>
          </a:p>
        </p:txBody>
      </p:sp>
      <p:sp>
        <p:nvSpPr>
          <p:cNvPr id="23" name="">
            <a:extLst xmlns:a="http://schemas.openxmlformats.org/drawingml/2006/main">
              <a:ext uri="{FF2B5EF4-FFF2-40B4-BE49-F238E27FC236}">
                <a16:creationId xmlns:a16="http://schemas.microsoft.com/office/drawing/2014/main" id="{3CA5EE8A-ED01-450F-8273-240464A75D0B}"/>
              </a:ext>
            </a:extLst>
          </p:cNvPr>
          <p:cNvSpPr>
            <a:spLocks xmlns:a="http://schemas.openxmlformats.org/drawingml/2006/main" noGrp="1"/>
          </p:cNvSpPr>
          <p:nvPr/>
        </p:nvSpPr>
        <p:spPr>
          <a:xfrm xmlns:a="http://schemas.openxmlformats.org/drawingml/2006/main">
            <a:off x="8096250" y="1809750"/>
            <a:ext cx="3238500" cy="2857500"/>
          </a:xfrm>
          <a:prstGeom xmlns:a="http://schemas.openxmlformats.org/drawingml/2006/main" prst="roundRect">
            <a:avLst>
              <a:gd name="adj" fmla="val 7333"/>
            </a:avLst>
          </a:prstGeom>
          <a:solidFill xmlns:a="http://schemas.openxmlformats.org/drawingml/2006/main">
            <a:srgbClr val="DDF3F1"/>
          </a:solidFill>
          <a:ln xmlns:a="http://schemas.openxmlformats.org/drawingml/2006/main" w="9525">
            <a:solidFill>
              <a:srgbClr val="A8D7D2"/>
            </a:solidFill>
            <a:prstDash val="solid"/>
          </a:ln>
        </p:spPr>
      </p:sp>
      <p:sp>
        <p:nvSpPr>
          <p:cNvPr id="24" name="">
            <a:extLst xmlns:a="http://schemas.openxmlformats.org/drawingml/2006/main">
              <a:ext uri="{FF2B5EF4-FFF2-40B4-BE49-F238E27FC236}">
                <a16:creationId xmlns:a16="http://schemas.microsoft.com/office/drawing/2014/main" id="{43151979-6D12-4C2D-ACC9-A6C03C8E9C1B}"/>
              </a:ext>
            </a:extLst>
          </p:cNvPr>
          <p:cNvSpPr>
            <a:spLocks xmlns:a="http://schemas.openxmlformats.org/drawingml/2006/main" noGrp="1"/>
          </p:cNvSpPr>
          <p:nvPr/>
        </p:nvSpPr>
        <p:spPr>
          <a:xfrm xmlns:a="http://schemas.openxmlformats.org/drawingml/2006/main">
            <a:off x="8305800" y="1962150"/>
            <a:ext cx="381000" cy="381000"/>
          </a:xfrm>
          <a:prstGeom xmlns:a="http://schemas.openxmlformats.org/drawingml/2006/main" prst="ellipse">
            <a:avLst/>
          </a:prstGeom>
          <a:solidFill xmlns:a="http://schemas.openxmlformats.org/drawingml/2006/main">
            <a:srgbClr val="137B77"/>
          </a:solidFill>
          <a:ln xmlns:a="http://schemas.openxmlformats.org/drawingml/2006/main" w="19050">
            <a:solidFill>
              <a:srgbClr val="FFFFFF"/>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FFFFFF"/>
                </a:solidFill>
                <a:latin typeface="Aptos"/>
                <a:ea typeface="Aptos"/>
                <a:cs typeface="Aptos"/>
              </a:defRPr>
            </a:pPr>
            <a:r>
              <a:rPr sz="1425" b="1">
                <a:solidFill>
                  <a:srgbClr val="FFFFFF"/>
                </a:solidFill>
                <a:latin typeface="Aptos"/>
                <a:ea typeface="Aptos"/>
                <a:cs typeface="Aptos"/>
              </a:rPr>
              <a:t>3</a:t>
            </a:r>
          </a:p>
        </p:txBody>
      </p:sp>
      <p:sp>
        <p:nvSpPr>
          <p:cNvPr id="25" name="">
            <a:extLst xmlns:a="http://schemas.openxmlformats.org/drawingml/2006/main">
              <a:ext uri="{FF2B5EF4-FFF2-40B4-BE49-F238E27FC236}">
                <a16:creationId xmlns:a16="http://schemas.microsoft.com/office/drawing/2014/main" id="{AF914452-BEB6-4E84-A362-C8B1991A6462}"/>
              </a:ext>
            </a:extLst>
          </p:cNvPr>
          <p:cNvSpPr>
            <a:spLocks xmlns:a="http://schemas.openxmlformats.org/drawingml/2006/main" noGrp="1"/>
          </p:cNvSpPr>
          <p:nvPr/>
        </p:nvSpPr>
        <p:spPr>
          <a:xfrm xmlns:a="http://schemas.openxmlformats.org/drawingml/2006/main" rot="0">
            <a:off x="8782050" y="1971675"/>
            <a:ext cx="2305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i="0">
                <a:solidFill>
                  <a:srgbClr val="137B77"/>
                </a:solidFill>
                <a:latin typeface="Aptos"/>
                <a:ea typeface="Aptos"/>
                <a:cs typeface="Aptos"/>
              </a:defRPr>
            </a:pPr>
            <a:r>
              <a:rPr sz="1350" b="1" i="0">
                <a:solidFill>
                  <a:srgbClr val="137B77"/>
                </a:solidFill>
                <a:latin typeface="Aptos"/>
                <a:ea typeface="Aptos"/>
                <a:cs typeface="Aptos"/>
              </a:rPr>
              <a:t>DEEP SEQUENTIAL MODELS</a:t>
            </a:r>
          </a:p>
        </p:txBody>
      </p:sp>
      <p:sp>
        <p:nvSpPr>
          <p:cNvPr id="26" name="">
            <a:extLst xmlns:a="http://schemas.openxmlformats.org/drawingml/2006/main">
              <a:ext uri="{FF2B5EF4-FFF2-40B4-BE49-F238E27FC236}">
                <a16:creationId xmlns:a16="http://schemas.microsoft.com/office/drawing/2014/main" id="{2FCB596E-82D6-4A2F-A8B6-6B8381FA540F}"/>
              </a:ext>
            </a:extLst>
          </p:cNvPr>
          <p:cNvSpPr>
            <a:spLocks xmlns:a="http://schemas.openxmlformats.org/drawingml/2006/main" noGrp="1"/>
          </p:cNvSpPr>
          <p:nvPr/>
        </p:nvSpPr>
        <p:spPr>
          <a:xfrm xmlns:a="http://schemas.openxmlformats.org/drawingml/2006/main" rot="0">
            <a:off x="8362950" y="2571750"/>
            <a:ext cx="2705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702"/>
          </a:bodyPr>
          <a:lstStyle xmlns:a="http://schemas.openxmlformats.org/drawingml/2006/main"/>
          <a:p xmlns:a="http://schemas.openxmlformats.org/drawingml/2006/main">
            <a:pPr algn="ctr">
              <a:lnSpc>
                <a:spcPct val="100000"/>
              </a:lnSpc>
              <a:buNone/>
              <a:defRPr sz="1950" b="1" i="0">
                <a:solidFill>
                  <a:srgbClr val="0B1F33"/>
                </a:solidFill>
                <a:latin typeface="Aptos"/>
                <a:ea typeface="Aptos"/>
                <a:cs typeface="Aptos"/>
              </a:defRPr>
            </a:pPr>
            <a:r>
              <a:rPr sz="1950" b="1" i="0">
                <a:solidFill>
                  <a:srgbClr val="0B1F33"/>
                </a:solidFill>
                <a:latin typeface="Aptos"/>
                <a:ea typeface="Aptos"/>
                <a:cs typeface="Aptos"/>
              </a:rPr>
              <a:t>RNN · Transformer · GNN</a:t>
            </a:r>
          </a:p>
        </p:txBody>
      </p:sp>
      <p:sp>
        <p:nvSpPr>
          <p:cNvPr id="27" name="">
            <a:extLst xmlns:a="http://schemas.openxmlformats.org/drawingml/2006/main">
              <a:ext uri="{FF2B5EF4-FFF2-40B4-BE49-F238E27FC236}">
                <a16:creationId xmlns:a16="http://schemas.microsoft.com/office/drawing/2014/main" id="{6292E18F-29C4-42B2-8176-76127ECD0D61}"/>
              </a:ext>
            </a:extLst>
          </p:cNvPr>
          <p:cNvSpPr>
            <a:spLocks xmlns:a="http://schemas.openxmlformats.org/drawingml/2006/main" noGrp="1"/>
          </p:cNvSpPr>
          <p:nvPr/>
        </p:nvSpPr>
        <p:spPr>
          <a:xfrm xmlns:a="http://schemas.openxmlformats.org/drawingml/2006/main" rot="0">
            <a:off x="8362950" y="3200400"/>
            <a:ext cx="2705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75" b="1" i="0">
                <a:solidFill>
                  <a:srgbClr val="137B77"/>
                </a:solidFill>
                <a:latin typeface="Aptos"/>
                <a:ea typeface="Aptos"/>
                <a:cs typeface="Aptos"/>
              </a:defRPr>
            </a:pPr>
            <a:r>
              <a:rPr sz="975" b="1" i="0">
                <a:solidFill>
                  <a:srgbClr val="137B77"/>
                </a:solidFill>
                <a:latin typeface="Aptos"/>
                <a:ea typeface="Aptos"/>
                <a:cs typeface="Aptos"/>
              </a:rPr>
              <a:t>STRENGTH</a:t>
            </a:r>
          </a:p>
        </p:txBody>
      </p:sp>
      <p:sp>
        <p:nvSpPr>
          <p:cNvPr id="28" name="">
            <a:extLst xmlns:a="http://schemas.openxmlformats.org/drawingml/2006/main">
              <a:ext uri="{FF2B5EF4-FFF2-40B4-BE49-F238E27FC236}">
                <a16:creationId xmlns:a16="http://schemas.microsoft.com/office/drawing/2014/main" id="{3127AB12-0C18-4DEC-AB3F-E8C09F93C860}"/>
              </a:ext>
            </a:extLst>
          </p:cNvPr>
          <p:cNvSpPr>
            <a:spLocks xmlns:a="http://schemas.openxmlformats.org/drawingml/2006/main" noGrp="1"/>
          </p:cNvSpPr>
          <p:nvPr/>
        </p:nvSpPr>
        <p:spPr>
          <a:xfrm xmlns:a="http://schemas.openxmlformats.org/drawingml/2006/main" rot="0">
            <a:off x="8382000" y="3457575"/>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42632"/>
                </a:solidFill>
                <a:latin typeface="Aptos"/>
                <a:ea typeface="Aptos"/>
                <a:cs typeface="Aptos"/>
              </a:defRPr>
            </a:pPr>
            <a:r>
              <a:rPr sz="1350" b="1" i="0">
                <a:solidFill>
                  <a:srgbClr val="142632"/>
                </a:solidFill>
                <a:latin typeface="Aptos"/>
                <a:ea typeface="Aptos"/>
                <a:cs typeface="Aptos"/>
              </a:rPr>
              <a:t>Learns mobility transitions</a:t>
            </a:r>
          </a:p>
        </p:txBody>
      </p:sp>
      <p:sp>
        <p:nvSpPr>
          <p:cNvPr id="29" name="">
            <a:extLst xmlns:a="http://schemas.openxmlformats.org/drawingml/2006/main">
              <a:ext uri="{FF2B5EF4-FFF2-40B4-BE49-F238E27FC236}">
                <a16:creationId xmlns:a16="http://schemas.microsoft.com/office/drawing/2014/main" id="{38F654DA-9C10-47DA-822E-65981026D655}"/>
              </a:ext>
            </a:extLst>
          </p:cNvPr>
          <p:cNvSpPr>
            <a:spLocks xmlns:a="http://schemas.openxmlformats.org/drawingml/2006/main" noGrp="1"/>
          </p:cNvSpPr>
          <p:nvPr/>
        </p:nvSpPr>
        <p:spPr>
          <a:xfrm xmlns:a="http://schemas.openxmlformats.org/drawingml/2006/main" rot="0">
            <a:off x="8362950" y="4048125"/>
            <a:ext cx="2705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75" b="1" i="0">
                <a:solidFill>
                  <a:srgbClr val="F28C45"/>
                </a:solidFill>
                <a:latin typeface="Aptos"/>
                <a:ea typeface="Aptos"/>
                <a:cs typeface="Aptos"/>
              </a:defRPr>
            </a:pPr>
            <a:r>
              <a:rPr sz="975" b="1" i="0">
                <a:solidFill>
                  <a:srgbClr val="F28C45"/>
                </a:solidFill>
                <a:latin typeface="Aptos"/>
                <a:ea typeface="Aptos"/>
                <a:cs typeface="Aptos"/>
              </a:rPr>
              <a:t>LIMIT</a:t>
            </a:r>
          </a:p>
        </p:txBody>
      </p:sp>
      <p:sp>
        <p:nvSpPr>
          <p:cNvPr id="30" name="">
            <a:extLst xmlns:a="http://schemas.openxmlformats.org/drawingml/2006/main">
              <a:ext uri="{FF2B5EF4-FFF2-40B4-BE49-F238E27FC236}">
                <a16:creationId xmlns:a16="http://schemas.microsoft.com/office/drawing/2014/main" id="{4514747F-F1E8-4534-8534-60BB0CA85111}"/>
              </a:ext>
            </a:extLst>
          </p:cNvPr>
          <p:cNvSpPr>
            <a:spLocks xmlns:a="http://schemas.openxmlformats.org/drawingml/2006/main" noGrp="1"/>
          </p:cNvSpPr>
          <p:nvPr/>
        </p:nvSpPr>
        <p:spPr>
          <a:xfrm xmlns:a="http://schemas.openxmlformats.org/drawingml/2006/main" rot="0">
            <a:off x="8382000" y="428625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Local objective; greedy route</a:t>
            </a:r>
          </a:p>
        </p:txBody>
      </p:sp>
      <p:sp>
        <p:nvSpPr>
          <p:cNvPr id="31" name="">
            <a:extLst xmlns:a="http://schemas.openxmlformats.org/drawingml/2006/main">
              <a:ext uri="{FF2B5EF4-FFF2-40B4-BE49-F238E27FC236}">
                <a16:creationId xmlns:a16="http://schemas.microsoft.com/office/drawing/2014/main" id="{5E8282A0-6092-40C0-87C6-F9DF7390346F}"/>
              </a:ext>
            </a:extLst>
          </p:cNvPr>
          <p:cNvSpPr>
            <a:spLocks xmlns:a="http://schemas.openxmlformats.org/drawingml/2006/main" noGrp="1"/>
          </p:cNvSpPr>
          <p:nvPr/>
        </p:nvSpPr>
        <p:spPr>
          <a:xfrm xmlns:a="http://schemas.openxmlformats.org/drawingml/2006/main">
            <a:off x="666750" y="5000625"/>
            <a:ext cx="10668000" cy="971550"/>
          </a:xfrm>
          <a:prstGeom xmlns:a="http://schemas.openxmlformats.org/drawingml/2006/main" prst="roundRect">
            <a:avLst>
              <a:gd name="adj" fmla="val 19608"/>
            </a:avLst>
          </a:prstGeom>
          <a:solidFill xmlns:a="http://schemas.openxmlformats.org/drawingml/2006/main">
            <a:srgbClr val="0B1F33"/>
          </a:solidFill>
          <a:ln xmlns:a="http://schemas.openxmlformats.org/drawingml/2006/main" w="9525">
            <a:solidFill>
              <a:srgbClr val="0B1F33"/>
            </a:solidFill>
            <a:prstDash val="solid"/>
          </a:ln>
        </p:spPr>
      </p:sp>
      <p:sp>
        <p:nvSpPr>
          <p:cNvPr id="32" name="">
            <a:extLst xmlns:a="http://schemas.openxmlformats.org/drawingml/2006/main">
              <a:ext uri="{FF2B5EF4-FFF2-40B4-BE49-F238E27FC236}">
                <a16:creationId xmlns:a16="http://schemas.microsoft.com/office/drawing/2014/main" id="{0DAAF99A-F66D-4B4D-AAF2-50EACF1D2FED}"/>
              </a:ext>
            </a:extLst>
          </p:cNvPr>
          <p:cNvSpPr>
            <a:spLocks xmlns:a="http://schemas.openxmlformats.org/drawingml/2006/main" noGrp="1"/>
          </p:cNvSpPr>
          <p:nvPr/>
        </p:nvSpPr>
        <p:spPr>
          <a:xfrm xmlns:a="http://schemas.openxmlformats.org/drawingml/2006/main" rot="0">
            <a:off x="914400" y="5162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1" i="0">
                <a:solidFill>
                  <a:srgbClr val="F28C45"/>
                </a:solidFill>
                <a:latin typeface="Aptos"/>
                <a:ea typeface="Aptos"/>
                <a:cs typeface="Aptos"/>
              </a:defRPr>
            </a:pPr>
            <a:r>
              <a:rPr sz="1200" b="1" i="0">
                <a:solidFill>
                  <a:srgbClr val="F28C45"/>
                </a:solidFill>
                <a:latin typeface="Aptos"/>
                <a:ea typeface="Aptos"/>
                <a:cs typeface="Aptos"/>
              </a:rPr>
              <a:t>RESEARCH GAP</a:t>
            </a:r>
          </a:p>
        </p:txBody>
      </p:sp>
      <p:sp>
        <p:nvSpPr>
          <p:cNvPr id="33" name="">
            <a:extLst xmlns:a="http://schemas.openxmlformats.org/drawingml/2006/main">
              <a:ext uri="{FF2B5EF4-FFF2-40B4-BE49-F238E27FC236}">
                <a16:creationId xmlns:a16="http://schemas.microsoft.com/office/drawing/2014/main" id="{19A049A1-A090-4FB3-BA21-ADF5EC939286}"/>
              </a:ext>
            </a:extLst>
          </p:cNvPr>
          <p:cNvSpPr>
            <a:spLocks xmlns:a="http://schemas.openxmlformats.org/drawingml/2006/main" noGrp="1"/>
          </p:cNvSpPr>
          <p:nvPr/>
        </p:nvSpPr>
        <p:spPr>
          <a:xfrm xmlns:a="http://schemas.openxmlformats.org/drawingml/2006/main" rot="0">
            <a:off x="2714625" y="5143500"/>
            <a:ext cx="8334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00" b="1" i="0">
                <a:solidFill>
                  <a:srgbClr val="FFFFFF"/>
                </a:solidFill>
                <a:latin typeface="Aptos"/>
                <a:ea typeface="Aptos"/>
                <a:cs typeface="Aptos"/>
              </a:defRPr>
            </a:pPr>
            <a:r>
              <a:rPr sz="1800" b="1" i="0">
                <a:solidFill>
                  <a:srgbClr val="FFFFFF"/>
                </a:solidFill>
                <a:latin typeface="Aptos"/>
                <a:ea typeface="Aptos"/>
                <a:cs typeface="Aptos"/>
              </a:rPr>
              <a:t>Next-POI accuracy ≠ itinerary quality - and evaluation remains fragmented.</a:t>
            </a:r>
          </a:p>
        </p:txBody>
      </p:sp>
      <p:sp>
        <p:nvSpPr>
          <p:cNvPr id="34" name="">
            <a:extLst xmlns:a="http://schemas.openxmlformats.org/drawingml/2006/main">
              <a:ext uri="{FF2B5EF4-FFF2-40B4-BE49-F238E27FC236}">
                <a16:creationId xmlns:a16="http://schemas.microsoft.com/office/drawing/2014/main" id="{2DB1E4C6-A19D-43D5-8A13-E99FFF86E36C}"/>
              </a:ext>
            </a:extLst>
          </p:cNvPr>
          <p:cNvSpPr>
            <a:spLocks xmlns:a="http://schemas.openxmlformats.org/drawingml/2006/main" noGrp="1"/>
          </p:cNvSpPr>
          <p:nvPr/>
        </p:nvSpPr>
        <p:spPr>
          <a:xfrm xmlns:a="http://schemas.openxmlformats.org/drawingml/2006/main" rot="0">
            <a:off x="1104900" y="5562600"/>
            <a:ext cx="981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D6E4EE"/>
                </a:solidFill>
                <a:latin typeface="Aptos"/>
                <a:ea typeface="Aptos"/>
                <a:cs typeface="Aptos"/>
              </a:defRPr>
            </a:pPr>
            <a:r>
              <a:rPr sz="1350" b="0" i="0">
                <a:solidFill>
                  <a:srgbClr val="D6E4EE"/>
                </a:solidFill>
                <a:latin typeface="Aptos"/>
                <a:ea typeface="Aptos"/>
                <a:cs typeface="Aptos"/>
              </a:rPr>
              <a:t>This thesis connects learned relevance to constrained route generation, then evaluates each task separately.</a:t>
            </a:r>
          </a:p>
        </p:txBody>
      </p:sp>
      <p:sp>
        <p:nvSpPr>
          <p:cNvPr id="35" name="">
            <a:extLst xmlns:a="http://schemas.openxmlformats.org/drawingml/2006/main">
              <a:ext uri="{FF2B5EF4-FFF2-40B4-BE49-F238E27FC236}">
                <a16:creationId xmlns:a16="http://schemas.microsoft.com/office/drawing/2014/main" id="{52A7488A-E9D9-4D8A-A20E-902B386F2779}"/>
              </a:ext>
            </a:extLst>
          </p:cNvPr>
          <p:cNvSpPr>
            <a:spLocks xmlns:a="http://schemas.openxmlformats.org/drawingml/2006/main" noGrp="1"/>
          </p:cNvSpPr>
          <p:nvPr/>
        </p:nvSpPr>
        <p:spPr>
          <a:xfrm xmlns:a="http://schemas.openxmlformats.org/drawingml/2006/main" rot="0">
            <a:off x="609600" y="6210300"/>
            <a:ext cx="10668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50" b="0" i="1">
                <a:solidFill>
                  <a:srgbClr val="5A6C79"/>
                </a:solidFill>
                <a:latin typeface="Aptos"/>
                <a:ea typeface="Aptos"/>
                <a:cs typeface="Aptos"/>
              </a:defRPr>
            </a:pPr>
            <a:r>
              <a:rPr sz="750" b="0" i="1">
                <a:solidFill>
                  <a:srgbClr val="5A6C79"/>
                </a:solidFill>
                <a:latin typeface="Aptos"/>
                <a:ea typeface="Aptos"/>
                <a:cs typeface="Aptos"/>
              </a:rPr>
              <a:t>Source: Thesis Chapter 2, Sections 2.3-2.8; especially Table 2.3 and Research Gaps 3 and 5.</a:t>
            </a:r>
          </a:p>
        </p:txBody>
      </p:sp>
    </p:spTree>
    <p:extLst>
      <p:ext uri="{BB962C8B-B14F-4D97-AF65-F5344CB8AC3E}">
        <p14:creationId xmlns:p14="http://schemas.microsoft.com/office/powerpoint/2010/main" val="797885576"/>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4" name="eyebrow">
            <a:extLst xmlns:a="http://schemas.openxmlformats.org/drawingml/2006/main">
              <a:ext uri="{FF2B5EF4-FFF2-40B4-BE49-F238E27FC236}">
                <a16:creationId xmlns:a16="http://schemas.microsoft.com/office/drawing/2014/main" id="{34114CF6-43CE-4393-93FA-DB9861DF51DD}"/>
              </a:ext>
            </a:extLst>
          </p:cNvPr>
          <p:cNvSpPr>
            <a:spLocks xmlns:a="http://schemas.openxmlformats.org/drawingml/2006/main" noGrp="1"/>
          </p:cNvSpPr>
          <p:nvPr/>
        </p:nvSpPr>
        <p:spPr>
          <a:xfrm xmlns:a="http://schemas.openxmlformats.org/drawingml/2006/main" rot="0">
            <a:off x="6096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i="0">
                <a:solidFill>
                  <a:srgbClr val="137B77"/>
                </a:solidFill>
                <a:latin typeface="Aptos"/>
                <a:ea typeface="Aptos"/>
                <a:cs typeface="Aptos"/>
              </a:defRPr>
            </a:pPr>
            <a:r>
              <a:rPr sz="975" b="1" i="0">
                <a:solidFill>
                  <a:srgbClr val="137B77"/>
                </a:solidFill>
                <a:latin typeface="Aptos"/>
                <a:ea typeface="Aptos"/>
                <a:cs typeface="Aptos"/>
              </a:rPr>
              <a:t>3 · PROPOSED SOLUTION</a:t>
            </a:r>
          </a:p>
        </p:txBody>
      </p:sp>
      <p:sp>
        <p:nvSpPr>
          <p:cNvPr id="2" name="slide-title">
            <a:extLst xmlns:a="http://schemas.openxmlformats.org/drawingml/2006/main">
              <a:ext uri="{FF2B5EF4-FFF2-40B4-BE49-F238E27FC236}">
                <a16:creationId xmlns:a16="http://schemas.microsoft.com/office/drawing/2014/main" id="{D90C0149-6ECA-430E-ADF7-3C6AF0291229}"/>
              </a:ext>
            </a:extLst>
          </p:cNvPr>
          <p:cNvSpPr>
            <a:spLocks xmlns:a="http://schemas.openxmlformats.org/drawingml/2006/main" noGrp="1"/>
          </p:cNvSpPr>
          <p:nvPr/>
        </p:nvSpPr>
        <p:spPr>
          <a:xfrm xmlns:a="http://schemas.openxmlformats.org/drawingml/2006/main" rot="0">
            <a:off x="609600" y="5905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850" b="1" i="0">
                <a:solidFill>
                  <a:srgbClr val="0B1F33"/>
                </a:solidFill>
                <a:latin typeface="Aptos"/>
                <a:ea typeface="Aptos"/>
                <a:cs typeface="Aptos"/>
              </a:defRPr>
            </a:pPr>
            <a:r>
              <a:rPr sz="2850" b="1" i="0">
                <a:solidFill>
                  <a:srgbClr val="0B1F33"/>
                </a:solidFill>
                <a:latin typeface="Aptos"/>
                <a:ea typeface="Aptos"/>
                <a:cs typeface="Aptos"/>
              </a:rPr>
              <a:t>One engine, one decoder, and two fair evaluations</a:t>
            </a:r>
          </a:p>
        </p:txBody>
      </p:sp>
      <p:sp>
        <p:nvSpPr>
          <p:cNvPr id="3" name="title-accent">
            <a:extLst xmlns:a="http://schemas.openxmlformats.org/drawingml/2006/main">
              <a:ext uri="{FF2B5EF4-FFF2-40B4-BE49-F238E27FC236}">
                <a16:creationId xmlns:a16="http://schemas.microsoft.com/office/drawing/2014/main" id="{33914054-32C3-436D-A84B-AB7CE6A7317B}"/>
              </a:ext>
            </a:extLst>
          </p:cNvPr>
          <p:cNvSpPr>
            <a:spLocks xmlns:a="http://schemas.openxmlformats.org/drawingml/2006/main" noGrp="1"/>
          </p:cNvSpPr>
          <p:nvPr/>
        </p:nvSpPr>
        <p:spPr>
          <a:xfrm xmlns:a="http://schemas.openxmlformats.org/drawingml/2006/main">
            <a:off x="609600" y="1219200"/>
            <a:ext cx="876300" cy="47625"/>
          </a:xfrm>
          <a:prstGeom xmlns:a="http://schemas.openxmlformats.org/drawingml/2006/main" prst="rect">
            <a:avLst/>
          </a:prstGeom>
          <a:solidFill xmlns:a="http://schemas.openxmlformats.org/drawingml/2006/main">
            <a:srgbClr val="1FA6A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A28E062-A53E-457C-A79F-71F27C3BF502}"/>
              </a:ext>
            </a:extLst>
          </p:cNvPr>
          <p:cNvSpPr>
            <a:spLocks xmlns:a="http://schemas.openxmlformats.org/drawingml/2006/main" noGrp="1"/>
          </p:cNvSpPr>
          <p:nvPr/>
        </p:nvSpPr>
        <p:spPr>
          <a:xfrm xmlns:a="http://schemas.openxmlformats.org/drawingml/2006/main" flipV="0">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4E9"/>
            </a:solidFill>
            <a:prstDash val="solid"/>
          </a:ln>
        </p:spPr>
      </p:sp>
      <p:sp>
        <p:nvSpPr>
          <p:cNvPr id="5" name="">
            <a:extLst xmlns:a="http://schemas.openxmlformats.org/drawingml/2006/main">
              <a:ext uri="{FF2B5EF4-FFF2-40B4-BE49-F238E27FC236}">
                <a16:creationId xmlns:a16="http://schemas.microsoft.com/office/drawing/2014/main" id="{257B1C4F-1EAA-496C-9A35-0FD759A2D7FE}"/>
              </a:ext>
            </a:extLst>
          </p:cNvPr>
          <p:cNvSpPr>
            <a:spLocks xmlns:a="http://schemas.openxmlformats.org/drawingml/2006/main" noGrp="1"/>
          </p:cNvSpPr>
          <p:nvPr/>
        </p:nvSpPr>
        <p:spPr>
          <a:xfrm xmlns:a="http://schemas.openxmlformats.org/drawingml/2006/main" rot="0">
            <a:off x="609600" y="655320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Ayman Naaimi · ENSAM Meknes</a:t>
            </a:r>
          </a:p>
        </p:txBody>
      </p:sp>
      <p:sp>
        <p:nvSpPr>
          <p:cNvPr id="6" name="">
            <a:extLst xmlns:a="http://schemas.openxmlformats.org/drawingml/2006/main">
              <a:ext uri="{FF2B5EF4-FFF2-40B4-BE49-F238E27FC236}">
                <a16:creationId xmlns:a16="http://schemas.microsoft.com/office/drawing/2014/main" id="{DC580482-E332-4FBF-9F35-51776451A7C7}"/>
              </a:ext>
            </a:extLst>
          </p:cNvPr>
          <p:cNvSpPr>
            <a:spLocks xmlns:a="http://schemas.openxmlformats.org/drawingml/2006/main" noGrp="1"/>
          </p:cNvSpPr>
          <p:nvPr/>
        </p:nvSpPr>
        <p:spPr>
          <a:xfrm xmlns:a="http://schemas.openxmlformats.org/drawingml/2006/main" rot="0">
            <a:off x="10572750" y="6553200"/>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4 / 10</a:t>
            </a:r>
          </a:p>
        </p:txBody>
      </p:sp>
      <p:sp>
        <p:nvSpPr>
          <p:cNvPr id="7" name="">
            <a:extLst xmlns:a="http://schemas.openxmlformats.org/drawingml/2006/main">
              <a:ext uri="{FF2B5EF4-FFF2-40B4-BE49-F238E27FC236}">
                <a16:creationId xmlns:a16="http://schemas.microsoft.com/office/drawing/2014/main" id="{AA6DFBF7-4B79-4B10-B9DF-A02ED8C8825B}"/>
              </a:ext>
            </a:extLst>
          </p:cNvPr>
          <p:cNvSpPr>
            <a:spLocks xmlns:a="http://schemas.openxmlformats.org/drawingml/2006/main" noGrp="1"/>
          </p:cNvSpPr>
          <p:nvPr/>
        </p:nvSpPr>
        <p:spPr>
          <a:xfrm xmlns:a="http://schemas.openxmlformats.org/drawingml/2006/main" rot="0">
            <a:off x="742950" y="160020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0B1F33"/>
                </a:solidFill>
                <a:latin typeface="Aptos"/>
                <a:ea typeface="Aptos"/>
                <a:cs typeface="Aptos"/>
              </a:defRPr>
            </a:pPr>
            <a:r>
              <a:rPr sz="1275" b="1" i="0">
                <a:solidFill>
                  <a:srgbClr val="0B1F33"/>
                </a:solidFill>
                <a:latin typeface="Aptos"/>
                <a:ea typeface="Aptos"/>
                <a:cs typeface="Aptos"/>
              </a:rPr>
              <a:t>PHASE 1 · NEXT-POI</a:t>
            </a:r>
          </a:p>
        </p:txBody>
      </p:sp>
      <p:sp>
        <p:nvSpPr>
          <p:cNvPr id="8" name="">
            <a:extLst xmlns:a="http://schemas.openxmlformats.org/drawingml/2006/main">
              <a:ext uri="{FF2B5EF4-FFF2-40B4-BE49-F238E27FC236}">
                <a16:creationId xmlns:a16="http://schemas.microsoft.com/office/drawing/2014/main" id="{4D72E89A-F8B0-4430-B5B3-A2B0A2799BED}"/>
              </a:ext>
            </a:extLst>
          </p:cNvPr>
          <p:cNvSpPr>
            <a:spLocks xmlns:a="http://schemas.openxmlformats.org/drawingml/2006/main" noGrp="1"/>
          </p:cNvSpPr>
          <p:nvPr/>
        </p:nvSpPr>
        <p:spPr>
          <a:xfrm xmlns:a="http://schemas.openxmlformats.org/drawingml/2006/main">
            <a:off x="742950" y="2038350"/>
            <a:ext cx="2143125" cy="1095375"/>
          </a:xfrm>
          <a:prstGeom xmlns:a="http://schemas.openxmlformats.org/drawingml/2006/main" prst="roundRect">
            <a:avLst>
              <a:gd name="adj" fmla="val 15652"/>
            </a:avLst>
          </a:prstGeom>
          <a:solidFill xmlns:a="http://schemas.openxmlformats.org/drawingml/2006/main">
            <a:srgbClr val="EDF2F5"/>
          </a:solidFill>
          <a:ln xmlns:a="http://schemas.openxmlformats.org/drawingml/2006/main" w="9525">
            <a:solidFill>
              <a:srgbClr val="DCE4E9"/>
            </a:solidFill>
            <a:prstDash val="solid"/>
          </a:ln>
        </p:spPr>
      </p:sp>
      <p:sp>
        <p:nvSpPr>
          <p:cNvPr id="9" name="">
            <a:extLst xmlns:a="http://schemas.openxmlformats.org/drawingml/2006/main">
              <a:ext uri="{FF2B5EF4-FFF2-40B4-BE49-F238E27FC236}">
                <a16:creationId xmlns:a16="http://schemas.microsoft.com/office/drawing/2014/main" id="{75449B25-FE03-4400-8DA0-891937DCF034}"/>
              </a:ext>
            </a:extLst>
          </p:cNvPr>
          <p:cNvSpPr>
            <a:spLocks xmlns:a="http://schemas.openxmlformats.org/drawingml/2006/main" noGrp="1"/>
          </p:cNvSpPr>
          <p:nvPr/>
        </p:nvSpPr>
        <p:spPr>
          <a:xfrm xmlns:a="http://schemas.openxmlformats.org/drawingml/2006/main">
            <a:off x="3714750" y="2038350"/>
            <a:ext cx="2428875" cy="1095375"/>
          </a:xfrm>
          <a:prstGeom xmlns:a="http://schemas.openxmlformats.org/drawingml/2006/main" prst="roundRect">
            <a:avLst>
              <a:gd name="adj" fmla="val 15652"/>
            </a:avLst>
          </a:prstGeom>
          <a:solidFill xmlns:a="http://schemas.openxmlformats.org/drawingml/2006/main">
            <a:srgbClr val="0B1F33"/>
          </a:solidFill>
          <a:ln xmlns:a="http://schemas.openxmlformats.org/drawingml/2006/main" w="9525">
            <a:solidFill>
              <a:srgbClr val="0B1F33"/>
            </a:solidFill>
            <a:prstDash val="solid"/>
          </a:ln>
        </p:spPr>
      </p:sp>
      <p:sp>
        <p:nvSpPr>
          <p:cNvPr id="10" name="">
            <a:extLst xmlns:a="http://schemas.openxmlformats.org/drawingml/2006/main">
              <a:ext uri="{FF2B5EF4-FFF2-40B4-BE49-F238E27FC236}">
                <a16:creationId xmlns:a16="http://schemas.microsoft.com/office/drawing/2014/main" id="{ECFFC70C-0796-4BAD-AEF2-7479E5E99014}"/>
              </a:ext>
            </a:extLst>
          </p:cNvPr>
          <p:cNvSpPr>
            <a:spLocks xmlns:a="http://schemas.openxmlformats.org/drawingml/2006/main" noGrp="1"/>
          </p:cNvSpPr>
          <p:nvPr/>
        </p:nvSpPr>
        <p:spPr>
          <a:xfrm xmlns:a="http://schemas.openxmlformats.org/drawingml/2006/main">
            <a:off x="6953250" y="2038350"/>
            <a:ext cx="2143125" cy="1095375"/>
          </a:xfrm>
          <a:prstGeom xmlns:a="http://schemas.openxmlformats.org/drawingml/2006/main" prst="roundRect">
            <a:avLst>
              <a:gd name="adj" fmla="val 15652"/>
            </a:avLst>
          </a:prstGeom>
          <a:solidFill xmlns:a="http://schemas.openxmlformats.org/drawingml/2006/main">
            <a:srgbClr val="DDF3F1"/>
          </a:solidFill>
          <a:ln xmlns:a="http://schemas.openxmlformats.org/drawingml/2006/main" w="9525">
            <a:solidFill>
              <a:srgbClr val="A8D7D2"/>
            </a:solidFill>
            <a:prstDash val="solid"/>
          </a:ln>
        </p:spPr>
      </p:sp>
      <p:sp>
        <p:nvSpPr>
          <p:cNvPr id="11" name="">
            <a:extLst xmlns:a="http://schemas.openxmlformats.org/drawingml/2006/main">
              <a:ext uri="{FF2B5EF4-FFF2-40B4-BE49-F238E27FC236}">
                <a16:creationId xmlns:a16="http://schemas.microsoft.com/office/drawing/2014/main" id="{8FC2E0FC-BEEC-40E1-B7D0-A9ADB15FA77C}"/>
              </a:ext>
            </a:extLst>
          </p:cNvPr>
          <p:cNvSpPr>
            <a:spLocks xmlns:a="http://schemas.openxmlformats.org/drawingml/2006/main" noGrp="1"/>
          </p:cNvSpPr>
          <p:nvPr/>
        </p:nvSpPr>
        <p:spPr>
          <a:xfrm xmlns:a="http://schemas.openxmlformats.org/drawingml/2006/main" rot="0">
            <a:off x="952500" y="2247900"/>
            <a:ext cx="171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i="0">
                <a:solidFill>
                  <a:srgbClr val="0B1F33"/>
                </a:solidFill>
                <a:latin typeface="Aptos"/>
                <a:ea typeface="Aptos"/>
                <a:cs typeface="Aptos"/>
              </a:defRPr>
            </a:pPr>
            <a:r>
              <a:rPr sz="1650" b="1" i="0">
                <a:solidFill>
                  <a:srgbClr val="0B1F33"/>
                </a:solidFill>
                <a:latin typeface="Aptos"/>
                <a:ea typeface="Aptos"/>
                <a:cs typeface="Aptos"/>
              </a:rPr>
              <a:t>Foursquare NYC</a:t>
            </a:r>
          </a:p>
          <a:p xmlns:a="http://schemas.openxmlformats.org/drawingml/2006/main">
            <a:pPr algn="ctr">
              <a:lnSpc>
                <a:spcPct val="100000"/>
              </a:lnSpc>
              <a:buNone/>
              <a:defRPr sz="1650" b="1" i="0">
                <a:solidFill>
                  <a:srgbClr val="0B1F33"/>
                </a:solidFill>
                <a:latin typeface="Aptos"/>
                <a:ea typeface="Aptos"/>
                <a:cs typeface="Aptos"/>
              </a:defRPr>
            </a:pPr>
            <a:r>
              <a:rPr sz="1650" b="1" i="0">
                <a:solidFill>
                  <a:srgbClr val="0B1F33"/>
                </a:solidFill>
                <a:latin typeface="Aptos"/>
                <a:ea typeface="Aptos"/>
                <a:cs typeface="Aptos"/>
              </a:rPr>
              <a:t>~5,100 POIs</a:t>
            </a:r>
          </a:p>
        </p:txBody>
      </p:sp>
      <p:sp>
        <p:nvSpPr>
          <p:cNvPr id="12" name="">
            <a:extLst xmlns:a="http://schemas.openxmlformats.org/drawingml/2006/main">
              <a:ext uri="{FF2B5EF4-FFF2-40B4-BE49-F238E27FC236}">
                <a16:creationId xmlns:a16="http://schemas.microsoft.com/office/drawing/2014/main" id="{1287945B-C614-4FA5-9B3A-728CEEC914A9}"/>
              </a:ext>
            </a:extLst>
          </p:cNvPr>
          <p:cNvSpPr>
            <a:spLocks xmlns:a="http://schemas.openxmlformats.org/drawingml/2006/main" noGrp="1"/>
          </p:cNvSpPr>
          <p:nvPr/>
        </p:nvSpPr>
        <p:spPr>
          <a:xfrm xmlns:a="http://schemas.openxmlformats.org/drawingml/2006/main" rot="0">
            <a:off x="4000500" y="2247900"/>
            <a:ext cx="18573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i="0">
                <a:solidFill>
                  <a:srgbClr val="FFFFFF"/>
                </a:solidFill>
                <a:latin typeface="Aptos"/>
                <a:ea typeface="Aptos"/>
                <a:cs typeface="Aptos"/>
              </a:defRPr>
            </a:pPr>
            <a:r>
              <a:rPr sz="1725" b="1" i="0">
                <a:solidFill>
                  <a:srgbClr val="FFFFFF"/>
                </a:solidFill>
                <a:latin typeface="Aptos"/>
                <a:ea typeface="Aptos"/>
                <a:cs typeface="Aptos"/>
              </a:rPr>
              <a:t>Context-aware</a:t>
            </a:r>
          </a:p>
          <a:p xmlns:a="http://schemas.openxmlformats.org/drawingml/2006/main">
            <a:pPr algn="ctr">
              <a:lnSpc>
                <a:spcPct val="100000"/>
              </a:lnSpc>
              <a:buNone/>
              <a:defRPr sz="1725" b="1" i="0">
                <a:solidFill>
                  <a:srgbClr val="FFFFFF"/>
                </a:solidFill>
                <a:latin typeface="Aptos"/>
                <a:ea typeface="Aptos"/>
                <a:cs typeface="Aptos"/>
              </a:defRPr>
            </a:pPr>
            <a:r>
              <a:rPr sz="1725" b="1" i="0">
                <a:solidFill>
                  <a:srgbClr val="FFFFFF"/>
                </a:solidFill>
                <a:latin typeface="Aptos"/>
                <a:ea typeface="Aptos"/>
                <a:cs typeface="Aptos"/>
              </a:rPr>
              <a:t>next-POI engine</a:t>
            </a:r>
          </a:p>
        </p:txBody>
      </p:sp>
      <p:sp>
        <p:nvSpPr>
          <p:cNvPr id="13" name="">
            <a:extLst xmlns:a="http://schemas.openxmlformats.org/drawingml/2006/main">
              <a:ext uri="{FF2B5EF4-FFF2-40B4-BE49-F238E27FC236}">
                <a16:creationId xmlns:a16="http://schemas.microsoft.com/office/drawing/2014/main" id="{7FD9BD8B-4426-4377-9210-6D19C72DE6BD}"/>
              </a:ext>
            </a:extLst>
          </p:cNvPr>
          <p:cNvSpPr>
            <a:spLocks xmlns:a="http://schemas.openxmlformats.org/drawingml/2006/main" noGrp="1"/>
          </p:cNvSpPr>
          <p:nvPr/>
        </p:nvSpPr>
        <p:spPr>
          <a:xfrm xmlns:a="http://schemas.openxmlformats.org/drawingml/2006/main" rot="0">
            <a:off x="7200900" y="2247900"/>
            <a:ext cx="1666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i="0">
                <a:solidFill>
                  <a:srgbClr val="137B77"/>
                </a:solidFill>
                <a:latin typeface="Aptos"/>
                <a:ea typeface="Aptos"/>
                <a:cs typeface="Aptos"/>
              </a:defRPr>
            </a:pPr>
            <a:r>
              <a:rPr sz="1650" b="1" i="0">
                <a:solidFill>
                  <a:srgbClr val="137B77"/>
                </a:solidFill>
                <a:latin typeface="Aptos"/>
                <a:ea typeface="Aptos"/>
                <a:cs typeface="Aptos"/>
              </a:rPr>
              <a:t>Full-vocabulary</a:t>
            </a:r>
          </a:p>
          <a:p xmlns:a="http://schemas.openxmlformats.org/drawingml/2006/main">
            <a:pPr algn="ctr">
              <a:lnSpc>
                <a:spcPct val="100000"/>
              </a:lnSpc>
              <a:buNone/>
              <a:defRPr sz="1650" b="1" i="0">
                <a:solidFill>
                  <a:srgbClr val="137B77"/>
                </a:solidFill>
                <a:latin typeface="Aptos"/>
                <a:ea typeface="Aptos"/>
                <a:cs typeface="Aptos"/>
              </a:defRPr>
            </a:pPr>
            <a:r>
              <a:rPr sz="1650" b="1" i="0">
                <a:solidFill>
                  <a:srgbClr val="137B77"/>
                </a:solidFill>
                <a:latin typeface="Aptos"/>
                <a:ea typeface="Aptos"/>
                <a:cs typeface="Aptos"/>
              </a:rPr>
              <a:t>POI ranking</a:t>
            </a:r>
          </a:p>
        </p:txBody>
      </p:sp>
      <p:cxnSp>
        <p:nvCxnSpPr>
          <p:cNvPr id="47" name=""/>
          <p:cNvCxnSpPr>
            <a:stCxn xmlns:a="http://schemas.openxmlformats.org/drawingml/2006/main" id="8" idx="3"/>
            <a:endCxn xmlns:a="http://schemas.openxmlformats.org/drawingml/2006/main" id="9" idx="1"/>
          </p:cNvCxnSpPr>
          <p:nvPr/>
        </p:nvCxnSpPr>
        <p:spPr>
          <a:xfrm xmlns:a="http://schemas.openxmlformats.org/drawingml/2006/main">
            <a:off x="2886075" y="2586038"/>
            <a:ext cx="828675" cy="0"/>
          </a:xfrm>
          <a:prstGeom xmlns:a="http://schemas.openxmlformats.org/drawingml/2006/main" prst="straightConnector1">
            <a:avLst/>
          </a:prstGeom>
          <a:ln xmlns:a="http://schemas.openxmlformats.org/drawingml/2006/main" w="38100">
            <a:solidFill>
              <a:srgbClr val="153B5B"/>
            </a:solidFill>
            <a:prstDash val="solid"/>
            <a:headEnd type="none" w="med" len="med"/>
            <a:tailEnd type="triangle" w="sm" len="sm"/>
          </a:ln>
        </p:spPr>
      </p:cxnSp>
      <p:cxnSp>
        <p:nvCxnSpPr>
          <p:cNvPr id="48" name=""/>
          <p:cNvCxnSpPr>
            <a:stCxn xmlns:a="http://schemas.openxmlformats.org/drawingml/2006/main" id="9" idx="3"/>
            <a:endCxn xmlns:a="http://schemas.openxmlformats.org/drawingml/2006/main" id="10" idx="1"/>
          </p:cNvCxnSpPr>
          <p:nvPr/>
        </p:nvCxnSpPr>
        <p:spPr>
          <a:xfrm xmlns:a="http://schemas.openxmlformats.org/drawingml/2006/main">
            <a:off x="6143625" y="2586038"/>
            <a:ext cx="809625" cy="0"/>
          </a:xfrm>
          <a:prstGeom xmlns:a="http://schemas.openxmlformats.org/drawingml/2006/main" prst="straightConnector1">
            <a:avLst/>
          </a:prstGeom>
          <a:ln xmlns:a="http://schemas.openxmlformats.org/drawingml/2006/main" w="38100">
            <a:solidFill>
              <a:srgbClr val="1FA6A0"/>
            </a:solidFill>
            <a:prstDash val="solid"/>
            <a:headEnd type="none" w="med" len="med"/>
            <a:tailEnd type="triangle" w="sm" len="sm"/>
          </a:ln>
        </p:spPr>
      </p:cxnSp>
      <p:sp>
        <p:nvSpPr>
          <p:cNvPr id="16" name="">
            <a:extLst xmlns:a="http://schemas.openxmlformats.org/drawingml/2006/main">
              <a:ext uri="{FF2B5EF4-FFF2-40B4-BE49-F238E27FC236}">
                <a16:creationId xmlns:a16="http://schemas.microsoft.com/office/drawing/2014/main" id="{790A80B5-A87A-4567-AA4D-21FEDF25DE52}"/>
              </a:ext>
            </a:extLst>
          </p:cNvPr>
          <p:cNvSpPr>
            <a:spLocks xmlns:a="http://schemas.openxmlformats.org/drawingml/2006/main" noGrp="1"/>
          </p:cNvSpPr>
          <p:nvPr/>
        </p:nvSpPr>
        <p:spPr>
          <a:xfrm xmlns:a="http://schemas.openxmlformats.org/drawingml/2006/main">
            <a:off x="9410700" y="2095500"/>
            <a:ext cx="2076450" cy="97155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DCE4E9"/>
            </a:solidFill>
            <a:prstDash val="solid"/>
          </a:ln>
        </p:spPr>
      </p:sp>
      <p:sp>
        <p:nvSpPr>
          <p:cNvPr id="17" name="">
            <a:extLst xmlns:a="http://schemas.openxmlformats.org/drawingml/2006/main">
              <a:ext uri="{FF2B5EF4-FFF2-40B4-BE49-F238E27FC236}">
                <a16:creationId xmlns:a16="http://schemas.microsoft.com/office/drawing/2014/main" id="{0F491441-E475-42B8-BACA-FBD28B66033C}"/>
              </a:ext>
            </a:extLst>
          </p:cNvPr>
          <p:cNvSpPr>
            <a:spLocks xmlns:a="http://schemas.openxmlformats.org/drawingml/2006/main" noGrp="1"/>
          </p:cNvSpPr>
          <p:nvPr/>
        </p:nvSpPr>
        <p:spPr>
          <a:xfrm xmlns:a="http://schemas.openxmlformats.org/drawingml/2006/main" rot="0">
            <a:off x="9582150" y="2305050"/>
            <a:ext cx="1733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722"/>
          </a:bodyPr>
          <a:lstStyle xmlns:a="http://schemas.openxmlformats.org/drawingml/2006/main"/>
          <a:p xmlns:a="http://schemas.openxmlformats.org/drawingml/2006/main">
            <a:pPr algn="ctr">
              <a:lnSpc>
                <a:spcPct val="100000"/>
              </a:lnSpc>
              <a:buNone/>
              <a:defRPr sz="1500" b="1" i="0">
                <a:solidFill>
                  <a:srgbClr val="0B1F33"/>
                </a:solidFill>
                <a:latin typeface="Aptos"/>
                <a:ea typeface="Aptos"/>
                <a:cs typeface="Aptos"/>
              </a:defRPr>
            </a:pPr>
            <a:r>
              <a:rPr sz="1500" b="1" i="0">
                <a:solidFill>
                  <a:srgbClr val="0B1F33"/>
                </a:solidFill>
                <a:latin typeface="Aptos"/>
                <a:ea typeface="Aptos"/>
                <a:cs typeface="Aptos"/>
              </a:rPr>
              <a:t>Evaluate with</a:t>
            </a:r>
          </a:p>
          <a:p xmlns:a="http://schemas.openxmlformats.org/drawingml/2006/main">
            <a:pPr algn="ctr">
              <a:lnSpc>
                <a:spcPct val="100000"/>
              </a:lnSpc>
              <a:buNone/>
              <a:defRPr sz="1500" b="1" i="0">
                <a:solidFill>
                  <a:srgbClr val="0B1F33"/>
                </a:solidFill>
                <a:latin typeface="Aptos"/>
                <a:ea typeface="Aptos"/>
                <a:cs typeface="Aptos"/>
              </a:defRPr>
            </a:pPr>
            <a:r>
              <a:rPr sz="1500" b="1" i="0">
                <a:solidFill>
                  <a:srgbClr val="0B1F33"/>
                </a:solidFill>
                <a:latin typeface="Aptos"/>
                <a:ea typeface="Aptos"/>
                <a:cs typeface="Aptos"/>
              </a:rPr>
              <a:t>HR@k · NDCG · MRR</a:t>
            </a:r>
          </a:p>
        </p:txBody>
      </p:sp>
      <p:cxnSp>
        <p:nvCxnSpPr>
          <p:cNvPr id="51" name=""/>
          <p:cNvCxnSpPr>
            <a:stCxn xmlns:a="http://schemas.openxmlformats.org/drawingml/2006/main" id="10" idx="3"/>
            <a:endCxn xmlns:a="http://schemas.openxmlformats.org/drawingml/2006/main" id="16" idx="1"/>
          </p:cNvCxnSpPr>
          <p:nvPr/>
        </p:nvCxnSpPr>
        <p:spPr>
          <a:xfrm xmlns:a="http://schemas.openxmlformats.org/drawingml/2006/main" flipV="1">
            <a:off x="9096375" y="2581275"/>
            <a:ext cx="314325" cy="4763"/>
          </a:xfrm>
          <a:prstGeom xmlns:a="http://schemas.openxmlformats.org/drawingml/2006/main" prst="straightConnector1">
            <a:avLst/>
          </a:prstGeom>
          <a:ln xmlns:a="http://schemas.openxmlformats.org/drawingml/2006/main" w="38100">
            <a:solidFill>
              <a:srgbClr val="137B77"/>
            </a:solidFill>
            <a:prstDash val="solid"/>
            <a:headEnd type="none" w="med" len="med"/>
            <a:tailEnd type="triangle" w="sm" len="sm"/>
          </a:ln>
        </p:spPr>
      </p:cxnSp>
      <p:sp>
        <p:nvSpPr>
          <p:cNvPr id="19" name="">
            <a:extLst xmlns:a="http://schemas.openxmlformats.org/drawingml/2006/main">
              <a:ext uri="{FF2B5EF4-FFF2-40B4-BE49-F238E27FC236}">
                <a16:creationId xmlns:a16="http://schemas.microsoft.com/office/drawing/2014/main" id="{C5F94521-6D17-41F5-BC84-779265DACFA2}"/>
              </a:ext>
            </a:extLst>
          </p:cNvPr>
          <p:cNvSpPr>
            <a:spLocks xmlns:a="http://schemas.openxmlformats.org/drawingml/2006/main" noGrp="1"/>
          </p:cNvSpPr>
          <p:nvPr/>
        </p:nvSpPr>
        <p:spPr>
          <a:xfrm xmlns:a="http://schemas.openxmlformats.org/drawingml/2006/main" rot="0">
            <a:off x="742950" y="371475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F28C45"/>
                </a:solidFill>
                <a:latin typeface="Aptos"/>
                <a:ea typeface="Aptos"/>
                <a:cs typeface="Aptos"/>
              </a:defRPr>
            </a:pPr>
            <a:r>
              <a:rPr sz="1275" b="1" i="0">
                <a:solidFill>
                  <a:srgbClr val="F28C45"/>
                </a:solidFill>
                <a:latin typeface="Aptos"/>
                <a:ea typeface="Aptos"/>
                <a:cs typeface="Aptos"/>
              </a:rPr>
              <a:t>PHASE 2 · ITINERARY</a:t>
            </a:r>
          </a:p>
        </p:txBody>
      </p:sp>
      <p:sp>
        <p:nvSpPr>
          <p:cNvPr id="20" name="">
            <a:extLst xmlns:a="http://schemas.openxmlformats.org/drawingml/2006/main">
              <a:ext uri="{FF2B5EF4-FFF2-40B4-BE49-F238E27FC236}">
                <a16:creationId xmlns:a16="http://schemas.microsoft.com/office/drawing/2014/main" id="{5C57D683-75E1-4026-B13F-9C8A61ACE9D4}"/>
              </a:ext>
            </a:extLst>
          </p:cNvPr>
          <p:cNvSpPr>
            <a:spLocks xmlns:a="http://schemas.openxmlformats.org/drawingml/2006/main" noGrp="1"/>
          </p:cNvSpPr>
          <p:nvPr/>
        </p:nvSpPr>
        <p:spPr>
          <a:xfrm xmlns:a="http://schemas.openxmlformats.org/drawingml/2006/main">
            <a:off x="742950" y="4171950"/>
            <a:ext cx="2143125" cy="1095375"/>
          </a:xfrm>
          <a:prstGeom xmlns:a="http://schemas.openxmlformats.org/drawingml/2006/main" prst="roundRect">
            <a:avLst>
              <a:gd name="adj" fmla="val 15652"/>
            </a:avLst>
          </a:prstGeom>
          <a:solidFill xmlns:a="http://schemas.openxmlformats.org/drawingml/2006/main">
            <a:srgbClr val="FCE8D9"/>
          </a:solidFill>
          <a:ln xmlns:a="http://schemas.openxmlformats.org/drawingml/2006/main" w="9525">
            <a:solidFill>
              <a:srgbClr val="F3C49D"/>
            </a:solidFill>
            <a:prstDash val="solid"/>
          </a:ln>
        </p:spPr>
      </p:sp>
      <p:sp>
        <p:nvSpPr>
          <p:cNvPr id="21" name="">
            <a:extLst xmlns:a="http://schemas.openxmlformats.org/drawingml/2006/main">
              <a:ext uri="{FF2B5EF4-FFF2-40B4-BE49-F238E27FC236}">
                <a16:creationId xmlns:a16="http://schemas.microsoft.com/office/drawing/2014/main" id="{79BFF054-B5D4-41E9-B176-5AA404ABC8FD}"/>
              </a:ext>
            </a:extLst>
          </p:cNvPr>
          <p:cNvSpPr>
            <a:spLocks xmlns:a="http://schemas.openxmlformats.org/drawingml/2006/main" noGrp="1"/>
          </p:cNvSpPr>
          <p:nvPr/>
        </p:nvSpPr>
        <p:spPr>
          <a:xfrm xmlns:a="http://schemas.openxmlformats.org/drawingml/2006/main">
            <a:off x="3714750" y="4171950"/>
            <a:ext cx="2428875" cy="1095375"/>
          </a:xfrm>
          <a:prstGeom xmlns:a="http://schemas.openxmlformats.org/drawingml/2006/main" prst="roundRect">
            <a:avLst>
              <a:gd name="adj" fmla="val 15652"/>
            </a:avLst>
          </a:prstGeom>
          <a:solidFill xmlns:a="http://schemas.openxmlformats.org/drawingml/2006/main">
            <a:srgbClr val="F28C45"/>
          </a:solidFill>
          <a:ln xmlns:a="http://schemas.openxmlformats.org/drawingml/2006/main" w="9525">
            <a:solidFill>
              <a:srgbClr val="F28C45"/>
            </a:solidFill>
            <a:prstDash val="solid"/>
          </a:ln>
        </p:spPr>
      </p:sp>
      <p:sp>
        <p:nvSpPr>
          <p:cNvPr id="22" name="">
            <a:extLst xmlns:a="http://schemas.openxmlformats.org/drawingml/2006/main">
              <a:ext uri="{FF2B5EF4-FFF2-40B4-BE49-F238E27FC236}">
                <a16:creationId xmlns:a16="http://schemas.microsoft.com/office/drawing/2014/main" id="{2CBAB985-AA61-4A6F-B3DA-1007E7108C5E}"/>
              </a:ext>
            </a:extLst>
          </p:cNvPr>
          <p:cNvSpPr>
            <a:spLocks xmlns:a="http://schemas.openxmlformats.org/drawingml/2006/main" noGrp="1"/>
          </p:cNvSpPr>
          <p:nvPr/>
        </p:nvSpPr>
        <p:spPr>
          <a:xfrm xmlns:a="http://schemas.openxmlformats.org/drawingml/2006/main">
            <a:off x="6953250" y="4171950"/>
            <a:ext cx="2143125" cy="1095375"/>
          </a:xfrm>
          <a:prstGeom xmlns:a="http://schemas.openxmlformats.org/drawingml/2006/main" prst="roundRect">
            <a:avLst>
              <a:gd name="adj" fmla="val 15652"/>
            </a:avLst>
          </a:prstGeom>
          <a:solidFill xmlns:a="http://schemas.openxmlformats.org/drawingml/2006/main">
            <a:srgbClr val="DDF3F1"/>
          </a:solidFill>
          <a:ln xmlns:a="http://schemas.openxmlformats.org/drawingml/2006/main" w="9525">
            <a:solidFill>
              <a:srgbClr val="A8D7D2"/>
            </a:solidFill>
            <a:prstDash val="solid"/>
          </a:ln>
        </p:spPr>
      </p:sp>
      <p:sp>
        <p:nvSpPr>
          <p:cNvPr id="23" name="">
            <a:extLst xmlns:a="http://schemas.openxmlformats.org/drawingml/2006/main">
              <a:ext uri="{FF2B5EF4-FFF2-40B4-BE49-F238E27FC236}">
                <a16:creationId xmlns:a16="http://schemas.microsoft.com/office/drawing/2014/main" id="{411414ED-628F-4831-8DA0-28B26DCC73E5}"/>
              </a:ext>
            </a:extLst>
          </p:cNvPr>
          <p:cNvSpPr>
            <a:spLocks xmlns:a="http://schemas.openxmlformats.org/drawingml/2006/main" noGrp="1"/>
          </p:cNvSpPr>
          <p:nvPr/>
        </p:nvSpPr>
        <p:spPr>
          <a:xfrm xmlns:a="http://schemas.openxmlformats.org/drawingml/2006/main" rot="0">
            <a:off x="952500" y="4362450"/>
            <a:ext cx="171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42632"/>
                </a:solidFill>
                <a:latin typeface="Aptos"/>
                <a:ea typeface="Aptos"/>
                <a:cs typeface="Aptos"/>
              </a:defRPr>
            </a:pPr>
            <a:r>
              <a:rPr sz="1575" b="1" i="0">
                <a:solidFill>
                  <a:srgbClr val="142632"/>
                </a:solidFill>
                <a:latin typeface="Aptos"/>
                <a:ea typeface="Aptos"/>
                <a:cs typeface="Aptos"/>
              </a:rPr>
              <a:t>User · start · end</a:t>
            </a:r>
          </a:p>
          <a:p xmlns:a="http://schemas.openxmlformats.org/drawingml/2006/main">
            <a:pPr algn="ctr">
              <a:lnSpc>
                <a:spcPct val="100000"/>
              </a:lnSpc>
              <a:buNone/>
              <a:defRPr sz="1575" b="1" i="0">
                <a:solidFill>
                  <a:srgbClr val="142632"/>
                </a:solidFill>
                <a:latin typeface="Aptos"/>
                <a:ea typeface="Aptos"/>
                <a:cs typeface="Aptos"/>
              </a:defRPr>
            </a:pPr>
            <a:r>
              <a:rPr sz="1575" b="1" i="0">
                <a:solidFill>
                  <a:srgbClr val="142632"/>
                </a:solidFill>
                <a:latin typeface="Aptos"/>
                <a:ea typeface="Aptos"/>
                <a:cs typeface="Aptos"/>
              </a:rPr>
              <a:t>requested length</a:t>
            </a:r>
          </a:p>
        </p:txBody>
      </p:sp>
      <p:sp>
        <p:nvSpPr>
          <p:cNvPr id="24" name="">
            <a:extLst xmlns:a="http://schemas.openxmlformats.org/drawingml/2006/main">
              <a:ext uri="{FF2B5EF4-FFF2-40B4-BE49-F238E27FC236}">
                <a16:creationId xmlns:a16="http://schemas.microsoft.com/office/drawing/2014/main" id="{4390C045-6B02-49C8-A2E9-8362F1FCC264}"/>
              </a:ext>
            </a:extLst>
          </p:cNvPr>
          <p:cNvSpPr>
            <a:spLocks xmlns:a="http://schemas.openxmlformats.org/drawingml/2006/main" noGrp="1"/>
          </p:cNvSpPr>
          <p:nvPr/>
        </p:nvSpPr>
        <p:spPr>
          <a:xfrm xmlns:a="http://schemas.openxmlformats.org/drawingml/2006/main" rot="0">
            <a:off x="4000500" y="4362450"/>
            <a:ext cx="18573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i="0">
                <a:solidFill>
                  <a:srgbClr val="FFFFFF"/>
                </a:solidFill>
                <a:latin typeface="Aptos"/>
                <a:ea typeface="Aptos"/>
                <a:cs typeface="Aptos"/>
              </a:defRPr>
            </a:pPr>
            <a:r>
              <a:rPr sz="1725" b="1" i="0">
                <a:solidFill>
                  <a:srgbClr val="FFFFFF"/>
                </a:solidFill>
                <a:latin typeface="Aptos"/>
                <a:ea typeface="Aptos"/>
                <a:cs typeface="Aptos"/>
              </a:rPr>
              <a:t>Frozen Rollout</a:t>
            </a:r>
          </a:p>
          <a:p xmlns:a="http://schemas.openxmlformats.org/drawingml/2006/main">
            <a:pPr algn="ctr">
              <a:lnSpc>
                <a:spcPct val="100000"/>
              </a:lnSpc>
              <a:buNone/>
              <a:defRPr sz="1725" b="1" i="0">
                <a:solidFill>
                  <a:srgbClr val="FFFFFF"/>
                </a:solidFill>
                <a:latin typeface="Aptos"/>
                <a:ea typeface="Aptos"/>
                <a:cs typeface="Aptos"/>
              </a:defRPr>
            </a:pPr>
            <a:r>
              <a:rPr sz="1725" b="1" i="0">
                <a:solidFill>
                  <a:srgbClr val="FFFFFF"/>
                </a:solidFill>
                <a:latin typeface="Aptos"/>
                <a:ea typeface="Aptos"/>
                <a:cs typeface="Aptos"/>
              </a:rPr>
              <a:t>(no retraining)</a:t>
            </a:r>
          </a:p>
        </p:txBody>
      </p:sp>
      <p:sp>
        <p:nvSpPr>
          <p:cNvPr id="25" name="">
            <a:extLst xmlns:a="http://schemas.openxmlformats.org/drawingml/2006/main">
              <a:ext uri="{FF2B5EF4-FFF2-40B4-BE49-F238E27FC236}">
                <a16:creationId xmlns:a16="http://schemas.microsoft.com/office/drawing/2014/main" id="{5E1F9D05-929E-423A-93AE-6808F75E6DD0}"/>
              </a:ext>
            </a:extLst>
          </p:cNvPr>
          <p:cNvSpPr>
            <a:spLocks xmlns:a="http://schemas.openxmlformats.org/drawingml/2006/main" noGrp="1"/>
          </p:cNvSpPr>
          <p:nvPr/>
        </p:nvSpPr>
        <p:spPr>
          <a:xfrm xmlns:a="http://schemas.openxmlformats.org/drawingml/2006/main" rot="0">
            <a:off x="7200900" y="4362450"/>
            <a:ext cx="1666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57"/>
          </a:bodyPr>
          <a:lstStyle xmlns:a="http://schemas.openxmlformats.org/drawingml/2006/main"/>
          <a:p xmlns:a="http://schemas.openxmlformats.org/drawingml/2006/main">
            <a:pPr algn="ctr">
              <a:lnSpc>
                <a:spcPct val="100000"/>
              </a:lnSpc>
              <a:buNone/>
              <a:defRPr sz="1650" b="1" i="0">
                <a:solidFill>
                  <a:srgbClr val="137B77"/>
                </a:solidFill>
                <a:latin typeface="Aptos"/>
                <a:ea typeface="Aptos"/>
                <a:cs typeface="Aptos"/>
              </a:defRPr>
            </a:pPr>
            <a:r>
              <a:rPr sz="1650" b="1" i="0">
                <a:solidFill>
                  <a:srgbClr val="137B77"/>
                </a:solidFill>
                <a:latin typeface="Aptos"/>
                <a:ea typeface="Aptos"/>
                <a:cs typeface="Aptos"/>
              </a:rPr>
              <a:t>Ordered loop-free</a:t>
            </a:r>
          </a:p>
          <a:p xmlns:a="http://schemas.openxmlformats.org/drawingml/2006/main">
            <a:pPr algn="ctr">
              <a:lnSpc>
                <a:spcPct val="100000"/>
              </a:lnSpc>
              <a:buNone/>
              <a:defRPr sz="1650" b="1" i="0">
                <a:solidFill>
                  <a:srgbClr val="137B77"/>
                </a:solidFill>
                <a:latin typeface="Aptos"/>
                <a:ea typeface="Aptos"/>
                <a:cs typeface="Aptos"/>
              </a:defRPr>
            </a:pPr>
            <a:r>
              <a:rPr sz="1650" b="1" i="0">
                <a:solidFill>
                  <a:srgbClr val="137B77"/>
                </a:solidFill>
                <a:latin typeface="Aptos"/>
                <a:ea typeface="Aptos"/>
                <a:cs typeface="Aptos"/>
              </a:rPr>
              <a:t>itinerary</a:t>
            </a:r>
          </a:p>
        </p:txBody>
      </p:sp>
      <p:cxnSp>
        <p:nvCxnSpPr>
          <p:cNvPr id="59" name=""/>
          <p:cNvCxnSpPr>
            <a:stCxn xmlns:a="http://schemas.openxmlformats.org/drawingml/2006/main" id="20" idx="3"/>
            <a:endCxn xmlns:a="http://schemas.openxmlformats.org/drawingml/2006/main" id="21" idx="1"/>
          </p:cNvCxnSpPr>
          <p:nvPr/>
        </p:nvCxnSpPr>
        <p:spPr>
          <a:xfrm xmlns:a="http://schemas.openxmlformats.org/drawingml/2006/main">
            <a:off x="2886075" y="4719638"/>
            <a:ext cx="828675" cy="0"/>
          </a:xfrm>
          <a:prstGeom xmlns:a="http://schemas.openxmlformats.org/drawingml/2006/main" prst="straightConnector1">
            <a:avLst/>
          </a:prstGeom>
          <a:ln xmlns:a="http://schemas.openxmlformats.org/drawingml/2006/main" w="38100">
            <a:solidFill>
              <a:srgbClr val="F28C45"/>
            </a:solidFill>
            <a:prstDash val="solid"/>
            <a:headEnd type="none" w="med" len="med"/>
            <a:tailEnd type="triangle" w="sm" len="sm"/>
          </a:ln>
        </p:spPr>
      </p:cxnSp>
      <p:cxnSp>
        <p:nvCxnSpPr>
          <p:cNvPr id="60" name=""/>
          <p:cNvCxnSpPr>
            <a:stCxn xmlns:a="http://schemas.openxmlformats.org/drawingml/2006/main" id="21" idx="3"/>
            <a:endCxn xmlns:a="http://schemas.openxmlformats.org/drawingml/2006/main" id="22" idx="1"/>
          </p:cNvCxnSpPr>
          <p:nvPr/>
        </p:nvCxnSpPr>
        <p:spPr>
          <a:xfrm xmlns:a="http://schemas.openxmlformats.org/drawingml/2006/main">
            <a:off x="6143625" y="4719638"/>
            <a:ext cx="809625" cy="0"/>
          </a:xfrm>
          <a:prstGeom xmlns:a="http://schemas.openxmlformats.org/drawingml/2006/main" prst="straightConnector1">
            <a:avLst/>
          </a:prstGeom>
          <a:ln xmlns:a="http://schemas.openxmlformats.org/drawingml/2006/main" w="38100">
            <a:solidFill>
              <a:srgbClr val="1FA6A0"/>
            </a:solidFill>
            <a:prstDash val="solid"/>
            <a:headEnd type="none" w="med" len="med"/>
            <a:tailEnd type="triangle" w="sm" len="sm"/>
          </a:ln>
        </p:spPr>
      </p:cxnSp>
      <p:sp>
        <p:nvSpPr>
          <p:cNvPr id="28" name="">
            <a:extLst xmlns:a="http://schemas.openxmlformats.org/drawingml/2006/main">
              <a:ext uri="{FF2B5EF4-FFF2-40B4-BE49-F238E27FC236}">
                <a16:creationId xmlns:a16="http://schemas.microsoft.com/office/drawing/2014/main" id="{FF0098BA-1D0A-48A6-AECE-BB0DB2154C34}"/>
              </a:ext>
            </a:extLst>
          </p:cNvPr>
          <p:cNvSpPr>
            <a:spLocks xmlns:a="http://schemas.openxmlformats.org/drawingml/2006/main" noGrp="1"/>
          </p:cNvSpPr>
          <p:nvPr/>
        </p:nvSpPr>
        <p:spPr>
          <a:xfrm xmlns:a="http://schemas.openxmlformats.org/drawingml/2006/main">
            <a:off x="9410700" y="4038600"/>
            <a:ext cx="2076450" cy="1371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CE4E9"/>
            </a:solidFill>
            <a:prstDash val="solid"/>
          </a:ln>
        </p:spPr>
      </p:sp>
      <p:sp>
        <p:nvSpPr>
          <p:cNvPr id="29" name="">
            <a:extLst xmlns:a="http://schemas.openxmlformats.org/drawingml/2006/main">
              <a:ext uri="{FF2B5EF4-FFF2-40B4-BE49-F238E27FC236}">
                <a16:creationId xmlns:a16="http://schemas.microsoft.com/office/drawing/2014/main" id="{2660A232-B137-45A3-BEEC-A1D2C485B3CA}"/>
              </a:ext>
            </a:extLst>
          </p:cNvPr>
          <p:cNvSpPr>
            <a:spLocks xmlns:a="http://schemas.openxmlformats.org/drawingml/2006/main" noGrp="1"/>
          </p:cNvSpPr>
          <p:nvPr/>
        </p:nvSpPr>
        <p:spPr>
          <a:xfrm xmlns:a="http://schemas.openxmlformats.org/drawingml/2006/main" rot="0">
            <a:off x="9582150" y="4210050"/>
            <a:ext cx="17335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296"/>
          </a:bodyPr>
          <a:lstStyle xmlns:a="http://schemas.openxmlformats.org/drawingml/2006/main"/>
          <a:p xmlns:a="http://schemas.openxmlformats.org/drawingml/2006/main">
            <a:pPr algn="ctr">
              <a:lnSpc>
                <a:spcPct val="100000"/>
              </a:lnSpc>
              <a:buNone/>
              <a:defRPr sz="1350" b="1" i="0">
                <a:solidFill>
                  <a:srgbClr val="0B1F33"/>
                </a:solidFill>
                <a:latin typeface="Aptos"/>
                <a:ea typeface="Aptos"/>
                <a:cs typeface="Aptos"/>
              </a:defRPr>
            </a:pPr>
            <a:r>
              <a:rPr sz="1350" b="1" i="0">
                <a:solidFill>
                  <a:srgbClr val="0B1F33"/>
                </a:solidFill>
                <a:latin typeface="Aptos"/>
                <a:ea typeface="Aptos"/>
                <a:cs typeface="Aptos"/>
              </a:rPr>
              <a:t>NYC: internal comparison</a:t>
            </a:r>
          </a:p>
          <a:p xmlns:a="http://schemas.openxmlformats.org/drawingml/2006/main">
            <a:r>
              <a:t/>
            </a:r>
          </a:p>
          <a:p xmlns:a="http://schemas.openxmlformats.org/drawingml/2006/main">
            <a:pPr algn="ctr">
              <a:lnSpc>
                <a:spcPct val="100000"/>
              </a:lnSpc>
              <a:buNone/>
              <a:defRPr sz="1350" b="1" i="0">
                <a:solidFill>
                  <a:srgbClr val="0B1F33"/>
                </a:solidFill>
                <a:latin typeface="Aptos"/>
                <a:ea typeface="Aptos"/>
                <a:cs typeface="Aptos"/>
              </a:defRPr>
            </a:pPr>
            <a:r>
              <a:rPr sz="1350" b="1" i="0">
                <a:solidFill>
                  <a:srgbClr val="0B1F33"/>
                </a:solidFill>
                <a:latin typeface="Aptos"/>
                <a:ea typeface="Aptos"/>
                <a:cs typeface="Aptos"/>
              </a:rPr>
              <a:t>Flickr Benchmark: literature bridge</a:t>
            </a:r>
          </a:p>
        </p:txBody>
      </p:sp>
      <p:cxnSp>
        <p:nvCxnSpPr>
          <p:cNvPr id="63" name=""/>
          <p:cNvCxnSpPr>
            <a:stCxn xmlns:a="http://schemas.openxmlformats.org/drawingml/2006/main" id="22" idx="3"/>
            <a:endCxn xmlns:a="http://schemas.openxmlformats.org/drawingml/2006/main" id="28" idx="1"/>
          </p:cNvCxnSpPr>
          <p:nvPr/>
        </p:nvCxnSpPr>
        <p:spPr>
          <a:xfrm xmlns:a="http://schemas.openxmlformats.org/drawingml/2006/main">
            <a:off x="9096375" y="4719638"/>
            <a:ext cx="314325" cy="4763"/>
          </a:xfrm>
          <a:prstGeom xmlns:a="http://schemas.openxmlformats.org/drawingml/2006/main" prst="straightConnector1">
            <a:avLst/>
          </a:prstGeom>
          <a:ln xmlns:a="http://schemas.openxmlformats.org/drawingml/2006/main" w="38100">
            <a:solidFill>
              <a:srgbClr val="137B77"/>
            </a:solidFill>
            <a:prstDash val="solid"/>
            <a:headEnd type="none" w="med" len="med"/>
            <a:tailEnd type="triangle" w="sm" len="sm"/>
          </a:ln>
        </p:spPr>
      </p:cxnSp>
      <p:sp>
        <p:nvSpPr>
          <p:cNvPr id="31" name="">
            <a:extLst xmlns:a="http://schemas.openxmlformats.org/drawingml/2006/main">
              <a:ext uri="{FF2B5EF4-FFF2-40B4-BE49-F238E27FC236}">
                <a16:creationId xmlns:a16="http://schemas.microsoft.com/office/drawing/2014/main" id="{2E2C78B6-A3A8-4EC7-A025-4E6C0E2C681D}"/>
              </a:ext>
            </a:extLst>
          </p:cNvPr>
          <p:cNvSpPr>
            <a:spLocks xmlns:a="http://schemas.openxmlformats.org/drawingml/2006/main" noGrp="1"/>
          </p:cNvSpPr>
          <p:nvPr/>
        </p:nvSpPr>
        <p:spPr>
          <a:xfrm xmlns:a="http://schemas.openxmlformats.org/drawingml/2006/main">
            <a:off x="3429000" y="5619750"/>
            <a:ext cx="5334000" cy="400050"/>
          </a:xfrm>
          <a:prstGeom xmlns:a="http://schemas.openxmlformats.org/drawingml/2006/main" prst="roundRect">
            <a:avLst>
              <a:gd name="adj" fmla="val 38095"/>
            </a:avLst>
          </a:prstGeom>
          <a:solidFill xmlns:a="http://schemas.openxmlformats.org/drawingml/2006/main">
            <a:srgbClr val="0B1F33"/>
          </a:solidFill>
          <a:ln xmlns:a="http://schemas.openxmlformats.org/drawingml/2006/main" w="9525">
            <a:solidFill>
              <a:srgbClr val="0B1F33"/>
            </a:solidFill>
            <a:prstDash val="solid"/>
          </a:ln>
        </p:spPr>
      </p:sp>
      <p:sp>
        <p:nvSpPr>
          <p:cNvPr id="32" name="">
            <a:extLst xmlns:a="http://schemas.openxmlformats.org/drawingml/2006/main">
              <a:ext uri="{FF2B5EF4-FFF2-40B4-BE49-F238E27FC236}">
                <a16:creationId xmlns:a16="http://schemas.microsoft.com/office/drawing/2014/main" id="{80949A11-4366-42FD-A261-9E3F4C493975}"/>
              </a:ext>
            </a:extLst>
          </p:cNvPr>
          <p:cNvSpPr>
            <a:spLocks xmlns:a="http://schemas.openxmlformats.org/drawingml/2006/main" noGrp="1"/>
          </p:cNvSpPr>
          <p:nvPr/>
        </p:nvSpPr>
        <p:spPr>
          <a:xfrm xmlns:a="http://schemas.openxmlformats.org/drawingml/2006/main" rot="0">
            <a:off x="3638550" y="5686425"/>
            <a:ext cx="4914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FFFFFF"/>
                </a:solidFill>
                <a:latin typeface="Aptos"/>
                <a:ea typeface="Aptos"/>
                <a:cs typeface="Aptos"/>
              </a:defRPr>
            </a:pPr>
            <a:r>
              <a:rPr sz="1350" b="1" i="0">
                <a:solidFill>
                  <a:srgbClr val="FFFFFF"/>
                </a:solidFill>
                <a:latin typeface="Aptos"/>
                <a:ea typeface="Aptos"/>
                <a:cs typeface="Aptos"/>
              </a:rPr>
              <a:t>Never mix scores across tasks, datasets, protocols, or metrics</a:t>
            </a:r>
          </a:p>
        </p:txBody>
      </p:sp>
      <p:sp>
        <p:nvSpPr>
          <p:cNvPr id="33" name="">
            <a:extLst xmlns:a="http://schemas.openxmlformats.org/drawingml/2006/main">
              <a:ext uri="{FF2B5EF4-FFF2-40B4-BE49-F238E27FC236}">
                <a16:creationId xmlns:a16="http://schemas.microsoft.com/office/drawing/2014/main" id="{E9C74281-C10D-4F6A-9860-9BA02D771426}"/>
              </a:ext>
            </a:extLst>
          </p:cNvPr>
          <p:cNvSpPr>
            <a:spLocks xmlns:a="http://schemas.openxmlformats.org/drawingml/2006/main" noGrp="1"/>
          </p:cNvSpPr>
          <p:nvPr/>
        </p:nvSpPr>
        <p:spPr>
          <a:xfrm xmlns:a="http://schemas.openxmlformats.org/drawingml/2006/main" rot="0">
            <a:off x="609600" y="6210300"/>
            <a:ext cx="10668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50" b="0" i="1">
                <a:solidFill>
                  <a:srgbClr val="5A6C79"/>
                </a:solidFill>
                <a:latin typeface="Aptos"/>
                <a:ea typeface="Aptos"/>
                <a:cs typeface="Aptos"/>
              </a:defRPr>
            </a:pPr>
            <a:r>
              <a:rPr sz="750" b="0" i="1">
                <a:solidFill>
                  <a:srgbClr val="5A6C79"/>
                </a:solidFill>
                <a:latin typeface="Aptos"/>
                <a:ea typeface="Aptos"/>
                <a:cs typeface="Aptos"/>
              </a:rPr>
              <a:t>Source: Thesis Sections 3.2 and 3.6. Two tasks are evaluated separately.</a:t>
            </a:r>
          </a:p>
        </p:txBody>
      </p:sp>
    </p:spTree>
    <p:extLst>
      <p:ext uri="{BB962C8B-B14F-4D97-AF65-F5344CB8AC3E}">
        <p14:creationId xmlns:p14="http://schemas.microsoft.com/office/powerpoint/2010/main" val="195671667"/>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2" name="eyebrow">
            <a:extLst xmlns:a="http://schemas.openxmlformats.org/drawingml/2006/main">
              <a:ext uri="{FF2B5EF4-FFF2-40B4-BE49-F238E27FC236}">
                <a16:creationId xmlns:a16="http://schemas.microsoft.com/office/drawing/2014/main" id="{E50F5213-C886-4DD5-859F-082CA825AB3F}"/>
              </a:ext>
            </a:extLst>
          </p:cNvPr>
          <p:cNvSpPr>
            <a:spLocks xmlns:a="http://schemas.openxmlformats.org/drawingml/2006/main" noGrp="1"/>
          </p:cNvSpPr>
          <p:nvPr/>
        </p:nvSpPr>
        <p:spPr>
          <a:xfrm xmlns:a="http://schemas.openxmlformats.org/drawingml/2006/main" rot="0">
            <a:off x="6096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i="0">
                <a:solidFill>
                  <a:srgbClr val="137B77"/>
                </a:solidFill>
                <a:latin typeface="Aptos"/>
                <a:ea typeface="Aptos"/>
                <a:cs typeface="Aptos"/>
              </a:defRPr>
            </a:pPr>
            <a:r>
              <a:rPr sz="975" b="1" i="0">
                <a:solidFill>
                  <a:srgbClr val="137B77"/>
                </a:solidFill>
                <a:latin typeface="Aptos"/>
                <a:ea typeface="Aptos"/>
                <a:cs typeface="Aptos"/>
              </a:rPr>
              <a:t>4 · IMPLEMENTATION AND EVALUATION</a:t>
            </a:r>
          </a:p>
        </p:txBody>
      </p:sp>
      <p:sp>
        <p:nvSpPr>
          <p:cNvPr id="2" name="slide-title">
            <a:extLst xmlns:a="http://schemas.openxmlformats.org/drawingml/2006/main">
              <a:ext uri="{FF2B5EF4-FFF2-40B4-BE49-F238E27FC236}">
                <a16:creationId xmlns:a16="http://schemas.microsoft.com/office/drawing/2014/main" id="{380A4901-5482-4840-9313-6F9E22F12182}"/>
              </a:ext>
            </a:extLst>
          </p:cNvPr>
          <p:cNvSpPr>
            <a:spLocks xmlns:a="http://schemas.openxmlformats.org/drawingml/2006/main" noGrp="1"/>
          </p:cNvSpPr>
          <p:nvPr/>
        </p:nvSpPr>
        <p:spPr>
          <a:xfrm xmlns:a="http://schemas.openxmlformats.org/drawingml/2006/main" rot="0">
            <a:off x="609600" y="5905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850" b="1" i="0">
                <a:solidFill>
                  <a:srgbClr val="0B1F33"/>
                </a:solidFill>
                <a:latin typeface="Aptos"/>
                <a:ea typeface="Aptos"/>
                <a:cs typeface="Aptos"/>
              </a:defRPr>
            </a:pPr>
            <a:r>
              <a:rPr sz="2850" b="1" i="0">
                <a:solidFill>
                  <a:srgbClr val="0B1F33"/>
                </a:solidFill>
                <a:latin typeface="Aptos"/>
                <a:ea typeface="Aptos"/>
                <a:cs typeface="Aptos"/>
              </a:rPr>
              <a:t>The engine combines places, context, and user preferences</a:t>
            </a:r>
          </a:p>
        </p:txBody>
      </p:sp>
      <p:sp>
        <p:nvSpPr>
          <p:cNvPr id="3" name="title-accent">
            <a:extLst xmlns:a="http://schemas.openxmlformats.org/drawingml/2006/main">
              <a:ext uri="{FF2B5EF4-FFF2-40B4-BE49-F238E27FC236}">
                <a16:creationId xmlns:a16="http://schemas.microsoft.com/office/drawing/2014/main" id="{EB915824-6068-4CCD-B005-E3AAB765F72F}"/>
              </a:ext>
            </a:extLst>
          </p:cNvPr>
          <p:cNvSpPr>
            <a:spLocks xmlns:a="http://schemas.openxmlformats.org/drawingml/2006/main" noGrp="1"/>
          </p:cNvSpPr>
          <p:nvPr/>
        </p:nvSpPr>
        <p:spPr>
          <a:xfrm xmlns:a="http://schemas.openxmlformats.org/drawingml/2006/main">
            <a:off x="609600" y="1219200"/>
            <a:ext cx="876300" cy="47625"/>
          </a:xfrm>
          <a:prstGeom xmlns:a="http://schemas.openxmlformats.org/drawingml/2006/main" prst="rect">
            <a:avLst/>
          </a:prstGeom>
          <a:solidFill xmlns:a="http://schemas.openxmlformats.org/drawingml/2006/main">
            <a:srgbClr val="1FA6A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97F395A-1C9C-4628-B8C3-156F36374013}"/>
              </a:ext>
            </a:extLst>
          </p:cNvPr>
          <p:cNvSpPr>
            <a:spLocks xmlns:a="http://schemas.openxmlformats.org/drawingml/2006/main" noGrp="1"/>
          </p:cNvSpPr>
          <p:nvPr/>
        </p:nvSpPr>
        <p:spPr>
          <a:xfrm xmlns:a="http://schemas.openxmlformats.org/drawingml/2006/main" flipV="0">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4E9"/>
            </a:solidFill>
            <a:prstDash val="solid"/>
          </a:ln>
        </p:spPr>
      </p:sp>
      <p:sp>
        <p:nvSpPr>
          <p:cNvPr id="5" name="">
            <a:extLst xmlns:a="http://schemas.openxmlformats.org/drawingml/2006/main">
              <a:ext uri="{FF2B5EF4-FFF2-40B4-BE49-F238E27FC236}">
                <a16:creationId xmlns:a16="http://schemas.microsoft.com/office/drawing/2014/main" id="{1C84056F-4552-4F22-9563-5766B8EAE74D}"/>
              </a:ext>
            </a:extLst>
          </p:cNvPr>
          <p:cNvSpPr>
            <a:spLocks xmlns:a="http://schemas.openxmlformats.org/drawingml/2006/main" noGrp="1"/>
          </p:cNvSpPr>
          <p:nvPr/>
        </p:nvSpPr>
        <p:spPr>
          <a:xfrm xmlns:a="http://schemas.openxmlformats.org/drawingml/2006/main" rot="0">
            <a:off x="609600" y="655320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Ayman Naaimi · ENSAM Meknes</a:t>
            </a:r>
          </a:p>
        </p:txBody>
      </p:sp>
      <p:sp>
        <p:nvSpPr>
          <p:cNvPr id="6" name="">
            <a:extLst xmlns:a="http://schemas.openxmlformats.org/drawingml/2006/main">
              <a:ext uri="{FF2B5EF4-FFF2-40B4-BE49-F238E27FC236}">
                <a16:creationId xmlns:a16="http://schemas.microsoft.com/office/drawing/2014/main" id="{1D8ACA0B-A6A3-43CE-986D-2D565530C312}"/>
              </a:ext>
            </a:extLst>
          </p:cNvPr>
          <p:cNvSpPr>
            <a:spLocks xmlns:a="http://schemas.openxmlformats.org/drawingml/2006/main" noGrp="1"/>
          </p:cNvSpPr>
          <p:nvPr/>
        </p:nvSpPr>
        <p:spPr>
          <a:xfrm xmlns:a="http://schemas.openxmlformats.org/drawingml/2006/main" rot="0">
            <a:off x="10572750" y="6553200"/>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5 / 10</a:t>
            </a:r>
          </a:p>
        </p:txBody>
      </p:sp>
      <p:sp>
        <p:nvSpPr>
          <p:cNvPr id="7" name="">
            <a:extLst xmlns:a="http://schemas.openxmlformats.org/drawingml/2006/main">
              <a:ext uri="{FF2B5EF4-FFF2-40B4-BE49-F238E27FC236}">
                <a16:creationId xmlns:a16="http://schemas.microsoft.com/office/drawing/2014/main" id="{39411B30-A2FE-4F58-BC0F-C640D32167DC}"/>
              </a:ext>
            </a:extLst>
          </p:cNvPr>
          <p:cNvSpPr>
            <a:spLocks xmlns:a="http://schemas.openxmlformats.org/drawingml/2006/main" noGrp="1"/>
          </p:cNvSpPr>
          <p:nvPr/>
        </p:nvSpPr>
        <p:spPr>
          <a:xfrm xmlns:a="http://schemas.openxmlformats.org/drawingml/2006/main">
            <a:off x="666750" y="1981200"/>
            <a:ext cx="1619250" cy="952500"/>
          </a:xfrm>
          <a:prstGeom xmlns:a="http://schemas.openxmlformats.org/drawingml/2006/main" prst="roundRect">
            <a:avLst>
              <a:gd name="adj" fmla="val 18000"/>
            </a:avLst>
          </a:prstGeom>
          <a:solidFill xmlns:a="http://schemas.openxmlformats.org/drawingml/2006/main">
            <a:srgbClr val="EDF2F5"/>
          </a:solidFill>
          <a:ln xmlns:a="http://schemas.openxmlformats.org/drawingml/2006/main" w="9525">
            <a:solidFill>
              <a:srgbClr val="DCE4E9"/>
            </a:solidFill>
            <a:prstDash val="solid"/>
          </a:ln>
        </p:spPr>
      </p:sp>
      <p:sp>
        <p:nvSpPr>
          <p:cNvPr id="8" name="">
            <a:extLst xmlns:a="http://schemas.openxmlformats.org/drawingml/2006/main">
              <a:ext uri="{FF2B5EF4-FFF2-40B4-BE49-F238E27FC236}">
                <a16:creationId xmlns:a16="http://schemas.microsoft.com/office/drawing/2014/main" id="{6657B076-31F3-49DC-B120-08514079282B}"/>
              </a:ext>
            </a:extLst>
          </p:cNvPr>
          <p:cNvSpPr>
            <a:spLocks xmlns:a="http://schemas.openxmlformats.org/drawingml/2006/main" noGrp="1"/>
          </p:cNvSpPr>
          <p:nvPr/>
        </p:nvSpPr>
        <p:spPr>
          <a:xfrm xmlns:a="http://schemas.openxmlformats.org/drawingml/2006/main">
            <a:off x="2800350" y="1695450"/>
            <a:ext cx="2000250" cy="1066800"/>
          </a:xfrm>
          <a:prstGeom xmlns:a="http://schemas.openxmlformats.org/drawingml/2006/main" prst="roundRect">
            <a:avLst>
              <a:gd name="adj" fmla="val 16071"/>
            </a:avLst>
          </a:prstGeom>
          <a:solidFill xmlns:a="http://schemas.openxmlformats.org/drawingml/2006/main">
            <a:srgbClr val="DDF3F1"/>
          </a:solidFill>
          <a:ln xmlns:a="http://schemas.openxmlformats.org/drawingml/2006/main" w="9525">
            <a:solidFill>
              <a:srgbClr val="A8D7D2"/>
            </a:solidFill>
            <a:prstDash val="solid"/>
          </a:ln>
        </p:spPr>
      </p:sp>
      <p:sp>
        <p:nvSpPr>
          <p:cNvPr id="9" name="">
            <a:extLst xmlns:a="http://schemas.openxmlformats.org/drawingml/2006/main">
              <a:ext uri="{FF2B5EF4-FFF2-40B4-BE49-F238E27FC236}">
                <a16:creationId xmlns:a16="http://schemas.microsoft.com/office/drawing/2014/main" id="{BA7743E1-9B5C-4D69-9397-6F7F44F1F9E4}"/>
              </a:ext>
            </a:extLst>
          </p:cNvPr>
          <p:cNvSpPr>
            <a:spLocks xmlns:a="http://schemas.openxmlformats.org/drawingml/2006/main" noGrp="1"/>
          </p:cNvSpPr>
          <p:nvPr/>
        </p:nvSpPr>
        <p:spPr>
          <a:xfrm xmlns:a="http://schemas.openxmlformats.org/drawingml/2006/main">
            <a:off x="2800350" y="3143250"/>
            <a:ext cx="2000250" cy="952500"/>
          </a:xfrm>
          <a:prstGeom xmlns:a="http://schemas.openxmlformats.org/drawingml/2006/main" prst="roundRect">
            <a:avLst>
              <a:gd name="adj" fmla="val 18000"/>
            </a:avLst>
          </a:prstGeom>
          <a:solidFill xmlns:a="http://schemas.openxmlformats.org/drawingml/2006/main">
            <a:srgbClr val="FCE8D9"/>
          </a:solidFill>
          <a:ln xmlns:a="http://schemas.openxmlformats.org/drawingml/2006/main" w="9525">
            <a:solidFill>
              <a:srgbClr val="F3C49D"/>
            </a:solidFill>
            <a:prstDash val="solid"/>
          </a:ln>
        </p:spPr>
      </p:sp>
      <p:sp>
        <p:nvSpPr>
          <p:cNvPr id="10" name="">
            <a:extLst xmlns:a="http://schemas.openxmlformats.org/drawingml/2006/main">
              <a:ext uri="{FF2B5EF4-FFF2-40B4-BE49-F238E27FC236}">
                <a16:creationId xmlns:a16="http://schemas.microsoft.com/office/drawing/2014/main" id="{B3869FA9-6E9F-4506-B7EB-4FA1FAD3E280}"/>
              </a:ext>
            </a:extLst>
          </p:cNvPr>
          <p:cNvSpPr>
            <a:spLocks xmlns:a="http://schemas.openxmlformats.org/drawingml/2006/main" noGrp="1"/>
          </p:cNvSpPr>
          <p:nvPr/>
        </p:nvSpPr>
        <p:spPr>
          <a:xfrm xmlns:a="http://schemas.openxmlformats.org/drawingml/2006/main">
            <a:off x="8458200" y="4476750"/>
            <a:ext cx="1524000" cy="876300"/>
          </a:xfrm>
          <a:prstGeom xmlns:a="http://schemas.openxmlformats.org/drawingml/2006/main" prst="roundRect">
            <a:avLst>
              <a:gd name="adj" fmla="val 19565"/>
            </a:avLst>
          </a:prstGeom>
          <a:solidFill xmlns:a="http://schemas.openxmlformats.org/drawingml/2006/main">
            <a:srgbClr val="EDF2F5"/>
          </a:solidFill>
          <a:ln xmlns:a="http://schemas.openxmlformats.org/drawingml/2006/main" w="9525">
            <a:solidFill>
              <a:srgbClr val="DCE4E9"/>
            </a:solidFill>
            <a:prstDash val="solid"/>
          </a:ln>
        </p:spPr>
      </p:sp>
      <p:sp>
        <p:nvSpPr>
          <p:cNvPr id="11" name="">
            <a:extLst xmlns:a="http://schemas.openxmlformats.org/drawingml/2006/main">
              <a:ext uri="{FF2B5EF4-FFF2-40B4-BE49-F238E27FC236}">
                <a16:creationId xmlns:a16="http://schemas.microsoft.com/office/drawing/2014/main" id="{5ADCA460-68CF-4C09-B978-516DCD295ED2}"/>
              </a:ext>
            </a:extLst>
          </p:cNvPr>
          <p:cNvSpPr>
            <a:spLocks xmlns:a="http://schemas.openxmlformats.org/drawingml/2006/main" noGrp="1"/>
          </p:cNvSpPr>
          <p:nvPr/>
        </p:nvSpPr>
        <p:spPr>
          <a:xfrm xmlns:a="http://schemas.openxmlformats.org/drawingml/2006/main">
            <a:off x="5676900" y="2476500"/>
            <a:ext cx="2095500" cy="1428750"/>
          </a:xfrm>
          <a:prstGeom xmlns:a="http://schemas.openxmlformats.org/drawingml/2006/main" prst="roundRect">
            <a:avLst>
              <a:gd name="adj" fmla="val 14667"/>
            </a:avLst>
          </a:prstGeom>
          <a:solidFill xmlns:a="http://schemas.openxmlformats.org/drawingml/2006/main">
            <a:srgbClr val="0B1F33"/>
          </a:solidFill>
          <a:ln xmlns:a="http://schemas.openxmlformats.org/drawingml/2006/main" w="9525">
            <a:solidFill>
              <a:srgbClr val="0B1F33"/>
            </a:solidFill>
            <a:prstDash val="solid"/>
          </a:ln>
        </p:spPr>
      </p:sp>
      <p:sp>
        <p:nvSpPr>
          <p:cNvPr id="12" name="">
            <a:extLst xmlns:a="http://schemas.openxmlformats.org/drawingml/2006/main">
              <a:ext uri="{FF2B5EF4-FFF2-40B4-BE49-F238E27FC236}">
                <a16:creationId xmlns:a16="http://schemas.microsoft.com/office/drawing/2014/main" id="{3CCAF48E-5DB2-4E3F-8C5B-D629844B3907}"/>
              </a:ext>
            </a:extLst>
          </p:cNvPr>
          <p:cNvSpPr>
            <a:spLocks xmlns:a="http://schemas.openxmlformats.org/drawingml/2006/main" noGrp="1"/>
          </p:cNvSpPr>
          <p:nvPr/>
        </p:nvSpPr>
        <p:spPr>
          <a:xfrm xmlns:a="http://schemas.openxmlformats.org/drawingml/2006/main">
            <a:off x="8458200" y="2476500"/>
            <a:ext cx="1524000" cy="1428750"/>
          </a:xfrm>
          <a:prstGeom xmlns:a="http://schemas.openxmlformats.org/drawingml/2006/main" prst="roundRect">
            <a:avLst>
              <a:gd name="adj" fmla="val 14667"/>
            </a:avLst>
          </a:prstGeom>
          <a:solidFill xmlns:a="http://schemas.openxmlformats.org/drawingml/2006/main">
            <a:srgbClr val="137B77"/>
          </a:solidFill>
          <a:ln xmlns:a="http://schemas.openxmlformats.org/drawingml/2006/main" w="9525">
            <a:solidFill>
              <a:srgbClr val="137B77"/>
            </a:solidFill>
            <a:prstDash val="solid"/>
          </a:ln>
        </p:spPr>
      </p:sp>
      <p:sp>
        <p:nvSpPr>
          <p:cNvPr id="13" name="">
            <a:extLst xmlns:a="http://schemas.openxmlformats.org/drawingml/2006/main">
              <a:ext uri="{FF2B5EF4-FFF2-40B4-BE49-F238E27FC236}">
                <a16:creationId xmlns:a16="http://schemas.microsoft.com/office/drawing/2014/main" id="{D58C1B21-BC17-4905-83FE-745E526710D0}"/>
              </a:ext>
            </a:extLst>
          </p:cNvPr>
          <p:cNvSpPr>
            <a:spLocks xmlns:a="http://schemas.openxmlformats.org/drawingml/2006/main" noGrp="1"/>
          </p:cNvSpPr>
          <p:nvPr/>
        </p:nvSpPr>
        <p:spPr>
          <a:xfrm xmlns:a="http://schemas.openxmlformats.org/drawingml/2006/main">
            <a:off x="10382250" y="2476500"/>
            <a:ext cx="1333500" cy="1428750"/>
          </a:xfrm>
          <a:prstGeom xmlns:a="http://schemas.openxmlformats.org/drawingml/2006/main" prst="roundRect">
            <a:avLst>
              <a:gd name="adj" fmla="val 15714"/>
            </a:avLst>
          </a:prstGeom>
          <a:solidFill xmlns:a="http://schemas.openxmlformats.org/drawingml/2006/main">
            <a:srgbClr val="F28C45"/>
          </a:solidFill>
          <a:ln xmlns:a="http://schemas.openxmlformats.org/drawingml/2006/main" w="9525">
            <a:solidFill>
              <a:srgbClr val="F28C45"/>
            </a:solidFill>
            <a:prstDash val="solid"/>
          </a:ln>
        </p:spPr>
      </p:sp>
      <p:sp>
        <p:nvSpPr>
          <p:cNvPr id="14" name="">
            <a:extLst xmlns:a="http://schemas.openxmlformats.org/drawingml/2006/main">
              <a:ext uri="{FF2B5EF4-FFF2-40B4-BE49-F238E27FC236}">
                <a16:creationId xmlns:a16="http://schemas.microsoft.com/office/drawing/2014/main" id="{6B7EAACF-78BD-49B0-9BCC-F6ABD672A2CA}"/>
              </a:ext>
            </a:extLst>
          </p:cNvPr>
          <p:cNvSpPr>
            <a:spLocks xmlns:a="http://schemas.openxmlformats.org/drawingml/2006/main" noGrp="1"/>
          </p:cNvSpPr>
          <p:nvPr/>
        </p:nvSpPr>
        <p:spPr>
          <a:xfrm xmlns:a="http://schemas.openxmlformats.org/drawingml/2006/main" rot="0">
            <a:off x="876300" y="2181225"/>
            <a:ext cx="1200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i="0">
                <a:solidFill>
                  <a:srgbClr val="0B1F33"/>
                </a:solidFill>
                <a:latin typeface="Aptos"/>
                <a:ea typeface="Aptos"/>
                <a:cs typeface="Aptos"/>
              </a:defRPr>
            </a:pPr>
            <a:r>
              <a:rPr sz="1650" b="1" i="0">
                <a:solidFill>
                  <a:srgbClr val="0B1F33"/>
                </a:solidFill>
                <a:latin typeface="Aptos"/>
                <a:ea typeface="Aptos"/>
                <a:cs typeface="Aptos"/>
              </a:rPr>
              <a:t>Visited POI</a:t>
            </a:r>
          </a:p>
          <a:p xmlns:a="http://schemas.openxmlformats.org/drawingml/2006/main">
            <a:pPr algn="ctr">
              <a:lnSpc>
                <a:spcPct val="100000"/>
              </a:lnSpc>
              <a:buNone/>
              <a:defRPr sz="1650" b="1" i="0">
                <a:solidFill>
                  <a:srgbClr val="0B1F33"/>
                </a:solidFill>
                <a:latin typeface="Aptos"/>
                <a:ea typeface="Aptos"/>
                <a:cs typeface="Aptos"/>
              </a:defRPr>
            </a:pPr>
            <a:r>
              <a:rPr sz="1650" b="1" i="0">
                <a:solidFill>
                  <a:srgbClr val="0B1F33"/>
                </a:solidFill>
                <a:latin typeface="Aptos"/>
                <a:ea typeface="Aptos"/>
                <a:cs typeface="Aptos"/>
              </a:rPr>
              <a:t>sequence</a:t>
            </a:r>
          </a:p>
        </p:txBody>
      </p:sp>
      <p:sp>
        <p:nvSpPr>
          <p:cNvPr id="15" name="">
            <a:extLst xmlns:a="http://schemas.openxmlformats.org/drawingml/2006/main">
              <a:ext uri="{FF2B5EF4-FFF2-40B4-BE49-F238E27FC236}">
                <a16:creationId xmlns:a16="http://schemas.microsoft.com/office/drawing/2014/main" id="{40AAFE50-2193-4895-B797-7A9DB0F8E9D4}"/>
              </a:ext>
            </a:extLst>
          </p:cNvPr>
          <p:cNvSpPr>
            <a:spLocks xmlns:a="http://schemas.openxmlformats.org/drawingml/2006/main" noGrp="1"/>
          </p:cNvSpPr>
          <p:nvPr/>
        </p:nvSpPr>
        <p:spPr>
          <a:xfrm xmlns:a="http://schemas.openxmlformats.org/drawingml/2006/main" rot="0">
            <a:off x="3028950" y="1933575"/>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252"/>
          </a:bodyPr>
          <a:lstStyle xmlns:a="http://schemas.openxmlformats.org/drawingml/2006/main"/>
          <a:p xmlns:a="http://schemas.openxmlformats.org/drawingml/2006/main">
            <a:pPr algn="ctr">
              <a:lnSpc>
                <a:spcPct val="100000"/>
              </a:lnSpc>
              <a:buNone/>
              <a:defRPr sz="1650" b="1" i="0">
                <a:solidFill>
                  <a:srgbClr val="137B77"/>
                </a:solidFill>
                <a:latin typeface="Aptos"/>
                <a:ea typeface="Aptos"/>
                <a:cs typeface="Aptos"/>
              </a:defRPr>
            </a:pPr>
            <a:r>
              <a:rPr sz="1650" b="1" i="0">
                <a:solidFill>
                  <a:srgbClr val="137B77"/>
                </a:solidFill>
                <a:latin typeface="Aptos"/>
                <a:ea typeface="Aptos"/>
                <a:cs typeface="Aptos"/>
              </a:rPr>
              <a:t>Hybrid POI graph</a:t>
            </a:r>
          </a:p>
          <a:p xmlns:a="http://schemas.openxmlformats.org/drawingml/2006/main">
            <a:pPr algn="ctr">
              <a:lnSpc>
                <a:spcPct val="100000"/>
              </a:lnSpc>
              <a:buNone/>
              <a:defRPr sz="1650" b="1" i="0">
                <a:solidFill>
                  <a:srgbClr val="137B77"/>
                </a:solidFill>
                <a:latin typeface="Aptos"/>
                <a:ea typeface="Aptos"/>
                <a:cs typeface="Aptos"/>
              </a:defRPr>
            </a:pPr>
            <a:r>
              <a:rPr sz="1650" b="1" i="0">
                <a:solidFill>
                  <a:srgbClr val="137B77"/>
                </a:solidFill>
                <a:latin typeface="Aptos"/>
                <a:ea typeface="Aptos"/>
                <a:cs typeface="Aptos"/>
              </a:rPr>
              <a:t>2-layer GCN</a:t>
            </a:r>
          </a:p>
        </p:txBody>
      </p:sp>
      <p:sp>
        <p:nvSpPr>
          <p:cNvPr id="16" name="">
            <a:extLst xmlns:a="http://schemas.openxmlformats.org/drawingml/2006/main">
              <a:ext uri="{FF2B5EF4-FFF2-40B4-BE49-F238E27FC236}">
                <a16:creationId xmlns:a16="http://schemas.microsoft.com/office/drawing/2014/main" id="{1863295C-D704-46EB-AB54-2A2A9CEA4C78}"/>
              </a:ext>
            </a:extLst>
          </p:cNvPr>
          <p:cNvSpPr>
            <a:spLocks xmlns:a="http://schemas.openxmlformats.org/drawingml/2006/main" noGrp="1"/>
          </p:cNvSpPr>
          <p:nvPr/>
        </p:nvSpPr>
        <p:spPr>
          <a:xfrm xmlns:a="http://schemas.openxmlformats.org/drawingml/2006/main" rot="0">
            <a:off x="3200400" y="3314700"/>
            <a:ext cx="1200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i="0">
                <a:solidFill>
                  <a:srgbClr val="142632"/>
                </a:solidFill>
                <a:latin typeface="Aptos"/>
                <a:ea typeface="Aptos"/>
                <a:cs typeface="Aptos"/>
              </a:defRPr>
            </a:pPr>
            <a:r>
              <a:rPr sz="1650" b="1" i="0">
                <a:solidFill>
                  <a:srgbClr val="142632"/>
                </a:solidFill>
                <a:latin typeface="Aptos"/>
                <a:ea typeface="Aptos"/>
                <a:cs typeface="Aptos"/>
              </a:rPr>
              <a:t>Context</a:t>
            </a:r>
          </a:p>
          <a:p xmlns:a="http://schemas.openxmlformats.org/drawingml/2006/main">
            <a:pPr algn="ctr">
              <a:lnSpc>
                <a:spcPct val="100000"/>
              </a:lnSpc>
              <a:buNone/>
              <a:defRPr sz="1650" b="1" i="0">
                <a:solidFill>
                  <a:srgbClr val="142632"/>
                </a:solidFill>
                <a:latin typeface="Aptos"/>
                <a:ea typeface="Aptos"/>
                <a:cs typeface="Aptos"/>
              </a:defRPr>
            </a:pPr>
            <a:r>
              <a:rPr sz="1650" b="1" i="0">
                <a:solidFill>
                  <a:srgbClr val="142632"/>
                </a:solidFill>
                <a:latin typeface="Aptos"/>
                <a:ea typeface="Aptos"/>
                <a:cs typeface="Aptos"/>
              </a:rPr>
              <a:t>Δd · Δt</a:t>
            </a:r>
          </a:p>
        </p:txBody>
      </p:sp>
      <p:sp>
        <p:nvSpPr>
          <p:cNvPr id="17" name="">
            <a:extLst xmlns:a="http://schemas.openxmlformats.org/drawingml/2006/main">
              <a:ext uri="{FF2B5EF4-FFF2-40B4-BE49-F238E27FC236}">
                <a16:creationId xmlns:a16="http://schemas.microsoft.com/office/drawing/2014/main" id="{0E74BE9E-A401-4968-8F5F-2622C092DF26}"/>
              </a:ext>
            </a:extLst>
          </p:cNvPr>
          <p:cNvSpPr>
            <a:spLocks xmlns:a="http://schemas.openxmlformats.org/drawingml/2006/main" noGrp="1"/>
          </p:cNvSpPr>
          <p:nvPr/>
        </p:nvSpPr>
        <p:spPr>
          <a:xfrm xmlns:a="http://schemas.openxmlformats.org/drawingml/2006/main" rot="0">
            <a:off x="8591550" y="4600575"/>
            <a:ext cx="1257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630"/>
          </a:bodyPr>
          <a:lstStyle xmlns:a="http://schemas.openxmlformats.org/drawingml/2006/main"/>
          <a:p xmlns:a="http://schemas.openxmlformats.org/drawingml/2006/main">
            <a:pPr algn="ctr">
              <a:lnSpc>
                <a:spcPct val="100000"/>
              </a:lnSpc>
              <a:buNone/>
              <a:defRPr sz="1350" b="1" i="0">
                <a:solidFill>
                  <a:srgbClr val="0B1F33"/>
                </a:solidFill>
                <a:latin typeface="Aptos"/>
                <a:ea typeface="Aptos"/>
                <a:cs typeface="Aptos"/>
              </a:defRPr>
            </a:pPr>
            <a:r>
              <a:rPr sz="1350" b="1" i="0">
                <a:solidFill>
                  <a:srgbClr val="0B1F33"/>
                </a:solidFill>
                <a:latin typeface="Aptos"/>
                <a:ea typeface="Aptos"/>
                <a:cs typeface="Aptos"/>
              </a:rPr>
              <a:t>User embedding</a:t>
            </a:r>
          </a:p>
          <a:p xmlns:a="http://schemas.openxmlformats.org/drawingml/2006/main">
            <a:pPr algn="ctr">
              <a:lnSpc>
                <a:spcPct val="100000"/>
              </a:lnSpc>
              <a:buNone/>
              <a:defRPr sz="1350" b="1" i="0">
                <a:solidFill>
                  <a:srgbClr val="0B1F33"/>
                </a:solidFill>
                <a:latin typeface="Aptos"/>
                <a:ea typeface="Aptos"/>
                <a:cs typeface="Aptos"/>
              </a:defRPr>
            </a:pPr>
            <a:r>
              <a:rPr sz="1350" b="1" i="0">
                <a:solidFill>
                  <a:srgbClr val="0B1F33"/>
                </a:solidFill>
                <a:latin typeface="Aptos"/>
                <a:ea typeface="Aptos"/>
                <a:cs typeface="Aptos"/>
              </a:rPr>
              <a:t>64 dimensions</a:t>
            </a:r>
          </a:p>
        </p:txBody>
      </p:sp>
      <p:sp>
        <p:nvSpPr>
          <p:cNvPr id="18" name="">
            <a:extLst xmlns:a="http://schemas.openxmlformats.org/drawingml/2006/main">
              <a:ext uri="{FF2B5EF4-FFF2-40B4-BE49-F238E27FC236}">
                <a16:creationId xmlns:a16="http://schemas.microsoft.com/office/drawing/2014/main" id="{51151011-ACD9-47FB-B277-F8AFFDFF02CA}"/>
              </a:ext>
            </a:extLst>
          </p:cNvPr>
          <p:cNvSpPr>
            <a:spLocks xmlns:a="http://schemas.openxmlformats.org/drawingml/2006/main" noGrp="1"/>
          </p:cNvSpPr>
          <p:nvPr/>
        </p:nvSpPr>
        <p:spPr>
          <a:xfrm xmlns:a="http://schemas.openxmlformats.org/drawingml/2006/main" rot="0">
            <a:off x="5905500" y="2838450"/>
            <a:ext cx="1638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1128"/>
          </a:bodyPr>
          <a:lstStyle xmlns:a="http://schemas.openxmlformats.org/drawingml/2006/main"/>
          <a:p xmlns:a="http://schemas.openxmlformats.org/drawingml/2006/main">
            <a:pPr algn="ctr">
              <a:lnSpc>
                <a:spcPct val="100000"/>
              </a:lnSpc>
              <a:buNone/>
              <a:defRPr sz="2025" b="1" i="0">
                <a:solidFill>
                  <a:srgbClr val="FFFFFF"/>
                </a:solidFill>
                <a:latin typeface="Aptos"/>
                <a:ea typeface="Aptos"/>
                <a:cs typeface="Aptos"/>
              </a:defRPr>
            </a:pPr>
            <a:r>
              <a:rPr sz="2025" b="1" i="0">
                <a:solidFill>
                  <a:srgbClr val="FFFFFF"/>
                </a:solidFill>
                <a:latin typeface="Aptos"/>
                <a:ea typeface="Aptos"/>
                <a:cs typeface="Aptos"/>
              </a:rPr>
              <a:t>GRU</a:t>
            </a:r>
          </a:p>
          <a:p xmlns:a="http://schemas.openxmlformats.org/drawingml/2006/main">
            <a:pPr algn="ctr">
              <a:lnSpc>
                <a:spcPct val="100000"/>
              </a:lnSpc>
              <a:buNone/>
              <a:defRPr sz="2025" b="1" i="0">
                <a:solidFill>
                  <a:srgbClr val="FFFFFF"/>
                </a:solidFill>
                <a:latin typeface="Aptos"/>
                <a:ea typeface="Aptos"/>
                <a:cs typeface="Aptos"/>
              </a:defRPr>
            </a:pPr>
            <a:r>
              <a:rPr sz="2025" b="1" i="0">
                <a:solidFill>
                  <a:srgbClr val="FFFFFF"/>
                </a:solidFill>
                <a:latin typeface="Aptos"/>
                <a:ea typeface="Aptos"/>
                <a:cs typeface="Aptos"/>
              </a:rPr>
              <a:t>sequence state</a:t>
            </a:r>
          </a:p>
        </p:txBody>
      </p:sp>
      <p:sp>
        <p:nvSpPr>
          <p:cNvPr id="19" name="">
            <a:extLst xmlns:a="http://schemas.openxmlformats.org/drawingml/2006/main">
              <a:ext uri="{FF2B5EF4-FFF2-40B4-BE49-F238E27FC236}">
                <a16:creationId xmlns:a16="http://schemas.microsoft.com/office/drawing/2014/main" id="{A927C76D-22C6-42B7-B837-28922567E159}"/>
              </a:ext>
            </a:extLst>
          </p:cNvPr>
          <p:cNvSpPr>
            <a:spLocks xmlns:a="http://schemas.openxmlformats.org/drawingml/2006/main" noGrp="1"/>
          </p:cNvSpPr>
          <p:nvPr/>
        </p:nvSpPr>
        <p:spPr>
          <a:xfrm xmlns:a="http://schemas.openxmlformats.org/drawingml/2006/main" rot="0">
            <a:off x="8705850" y="2867025"/>
            <a:ext cx="1028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75" b="1" i="0">
                <a:solidFill>
                  <a:srgbClr val="FFFFFF"/>
                </a:solidFill>
                <a:latin typeface="Aptos"/>
                <a:ea typeface="Aptos"/>
                <a:cs typeface="Aptos"/>
              </a:defRPr>
            </a:pPr>
            <a:r>
              <a:rPr sz="1875" b="1" i="0">
                <a:solidFill>
                  <a:srgbClr val="FFFFFF"/>
                </a:solidFill>
                <a:latin typeface="Aptos"/>
                <a:ea typeface="Aptos"/>
                <a:cs typeface="Aptos"/>
              </a:rPr>
              <a:t>Fuse</a:t>
            </a:r>
          </a:p>
          <a:p xmlns:a="http://schemas.openxmlformats.org/drawingml/2006/main">
            <a:pPr algn="ctr">
              <a:lnSpc>
                <a:spcPct val="100000"/>
              </a:lnSpc>
              <a:buNone/>
              <a:defRPr sz="1875" b="1" i="0">
                <a:solidFill>
                  <a:srgbClr val="FFFFFF"/>
                </a:solidFill>
                <a:latin typeface="Aptos"/>
                <a:ea typeface="Aptos"/>
                <a:cs typeface="Aptos"/>
              </a:defRPr>
            </a:pPr>
            <a:r>
              <a:rPr sz="1875" b="1" i="0">
                <a:solidFill>
                  <a:srgbClr val="FFFFFF"/>
                </a:solidFill>
                <a:latin typeface="Aptos"/>
                <a:ea typeface="Aptos"/>
                <a:cs typeface="Aptos"/>
              </a:rPr>
              <a:t>user</a:t>
            </a:r>
          </a:p>
        </p:txBody>
      </p:sp>
      <p:sp>
        <p:nvSpPr>
          <p:cNvPr id="20" name="">
            <a:extLst xmlns:a="http://schemas.openxmlformats.org/drawingml/2006/main">
              <a:ext uri="{FF2B5EF4-FFF2-40B4-BE49-F238E27FC236}">
                <a16:creationId xmlns:a16="http://schemas.microsoft.com/office/drawing/2014/main" id="{6765C45F-F996-4916-8E2A-D8B52102CABD}"/>
              </a:ext>
            </a:extLst>
          </p:cNvPr>
          <p:cNvSpPr>
            <a:spLocks xmlns:a="http://schemas.openxmlformats.org/drawingml/2006/main" noGrp="1"/>
          </p:cNvSpPr>
          <p:nvPr/>
        </p:nvSpPr>
        <p:spPr>
          <a:xfrm xmlns:a="http://schemas.openxmlformats.org/drawingml/2006/main" rot="0">
            <a:off x="10553700" y="2857500"/>
            <a:ext cx="990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i="0">
                <a:solidFill>
                  <a:srgbClr val="FFFFFF"/>
                </a:solidFill>
                <a:latin typeface="Aptos"/>
                <a:ea typeface="Aptos"/>
                <a:cs typeface="Aptos"/>
              </a:defRPr>
            </a:pPr>
            <a:r>
              <a:rPr sz="1725" b="1" i="0">
                <a:solidFill>
                  <a:srgbClr val="FFFFFF"/>
                </a:solidFill>
                <a:latin typeface="Aptos"/>
                <a:ea typeface="Aptos"/>
                <a:cs typeface="Aptos"/>
              </a:rPr>
              <a:t>MLP +</a:t>
            </a:r>
          </a:p>
          <a:p xmlns:a="http://schemas.openxmlformats.org/drawingml/2006/main">
            <a:pPr algn="ctr">
              <a:lnSpc>
                <a:spcPct val="100000"/>
              </a:lnSpc>
              <a:buNone/>
              <a:defRPr sz="1725" b="1" i="0">
                <a:solidFill>
                  <a:srgbClr val="FFFFFF"/>
                </a:solidFill>
                <a:latin typeface="Aptos"/>
                <a:ea typeface="Aptos"/>
                <a:cs typeface="Aptos"/>
              </a:defRPr>
            </a:pPr>
            <a:r>
              <a:rPr sz="1725" b="1" i="0">
                <a:solidFill>
                  <a:srgbClr val="FFFFFF"/>
                </a:solidFill>
                <a:latin typeface="Aptos"/>
                <a:ea typeface="Aptos"/>
                <a:cs typeface="Aptos"/>
              </a:rPr>
              <a:t>softmax</a:t>
            </a:r>
          </a:p>
        </p:txBody>
      </p:sp>
      <p:cxnSp>
        <p:nvCxnSpPr>
          <p:cNvPr id="52" name=""/>
          <p:cNvCxnSpPr>
            <a:stCxn xmlns:a="http://schemas.openxmlformats.org/drawingml/2006/main" id="7" idx="3"/>
            <a:endCxn xmlns:a="http://schemas.openxmlformats.org/drawingml/2006/main" id="8" idx="1"/>
          </p:cNvCxnSpPr>
          <p:nvPr/>
        </p:nvCxnSpPr>
        <p:spPr>
          <a:xfrm xmlns:a="http://schemas.openxmlformats.org/drawingml/2006/main" flipV="1">
            <a:off x="2286000" y="2228850"/>
            <a:ext cx="514350" cy="228600"/>
          </a:xfrm>
          <a:prstGeom xmlns:a="http://schemas.openxmlformats.org/drawingml/2006/main" prst="straightConnector1">
            <a:avLst/>
          </a:prstGeom>
          <a:ln xmlns:a="http://schemas.openxmlformats.org/drawingml/2006/main" w="38100">
            <a:solidFill>
              <a:srgbClr val="137B77"/>
            </a:solidFill>
            <a:prstDash val="solid"/>
            <a:headEnd type="none" w="med" len="med"/>
            <a:tailEnd type="triangle" w="sm" len="sm"/>
          </a:ln>
        </p:spPr>
      </p:cxnSp>
      <p:cxnSp>
        <p:nvCxnSpPr>
          <p:cNvPr id="53" name=""/>
          <p:cNvCxnSpPr>
            <a:stCxn xmlns:a="http://schemas.openxmlformats.org/drawingml/2006/main" id="8" idx="3"/>
            <a:endCxn xmlns:a="http://schemas.openxmlformats.org/drawingml/2006/main" id="11" idx="1"/>
          </p:cNvCxnSpPr>
          <p:nvPr/>
        </p:nvCxnSpPr>
        <p:spPr>
          <a:xfrm xmlns:a="http://schemas.openxmlformats.org/drawingml/2006/main">
            <a:off x="4800600" y="2228850"/>
            <a:ext cx="876300" cy="962025"/>
          </a:xfrm>
          <a:prstGeom xmlns:a="http://schemas.openxmlformats.org/drawingml/2006/main" prst="straightConnector1">
            <a:avLst/>
          </a:prstGeom>
          <a:ln xmlns:a="http://schemas.openxmlformats.org/drawingml/2006/main" w="38100">
            <a:solidFill>
              <a:srgbClr val="137B77"/>
            </a:solidFill>
            <a:prstDash val="solid"/>
            <a:headEnd type="none" w="med" len="med"/>
            <a:tailEnd type="triangle" w="sm" len="sm"/>
          </a:ln>
        </p:spPr>
      </p:cxnSp>
      <p:cxnSp>
        <p:nvCxnSpPr>
          <p:cNvPr id="54" name=""/>
          <p:cNvCxnSpPr>
            <a:stCxn xmlns:a="http://schemas.openxmlformats.org/drawingml/2006/main" id="9" idx="3"/>
            <a:endCxn xmlns:a="http://schemas.openxmlformats.org/drawingml/2006/main" id="11" idx="1"/>
          </p:cNvCxnSpPr>
          <p:nvPr/>
        </p:nvCxnSpPr>
        <p:spPr>
          <a:xfrm xmlns:a="http://schemas.openxmlformats.org/drawingml/2006/main" flipV="1">
            <a:off x="4800600" y="3190875"/>
            <a:ext cx="876300" cy="428625"/>
          </a:xfrm>
          <a:prstGeom xmlns:a="http://schemas.openxmlformats.org/drawingml/2006/main" prst="straightConnector1">
            <a:avLst/>
          </a:prstGeom>
          <a:ln xmlns:a="http://schemas.openxmlformats.org/drawingml/2006/main" w="38100">
            <a:solidFill>
              <a:srgbClr val="F28C45"/>
            </a:solidFill>
            <a:prstDash val="solid"/>
            <a:headEnd type="none" w="med" len="med"/>
            <a:tailEnd type="triangle" w="sm" len="sm"/>
          </a:ln>
        </p:spPr>
      </p:cxnSp>
      <p:cxnSp>
        <p:nvCxnSpPr>
          <p:cNvPr id="55" name=""/>
          <p:cNvCxnSpPr>
            <a:stCxn xmlns:a="http://schemas.openxmlformats.org/drawingml/2006/main" id="11" idx="3"/>
            <a:endCxn xmlns:a="http://schemas.openxmlformats.org/drawingml/2006/main" id="12" idx="1"/>
          </p:cNvCxnSpPr>
          <p:nvPr/>
        </p:nvCxnSpPr>
        <p:spPr>
          <a:xfrm xmlns:a="http://schemas.openxmlformats.org/drawingml/2006/main">
            <a:off x="7772400" y="3190875"/>
            <a:ext cx="685800" cy="0"/>
          </a:xfrm>
          <a:prstGeom xmlns:a="http://schemas.openxmlformats.org/drawingml/2006/main" prst="straightConnector1">
            <a:avLst/>
          </a:prstGeom>
          <a:ln xmlns:a="http://schemas.openxmlformats.org/drawingml/2006/main" w="38100">
            <a:solidFill>
              <a:srgbClr val="153B5B"/>
            </a:solidFill>
            <a:prstDash val="solid"/>
            <a:headEnd type="none" w="med" len="med"/>
            <a:tailEnd type="triangle" w="sm" len="sm"/>
          </a:ln>
        </p:spPr>
      </p:cxnSp>
      <p:cxnSp>
        <p:nvCxnSpPr>
          <p:cNvPr id="56" name=""/>
          <p:cNvCxnSpPr>
            <a:stCxn xmlns:a="http://schemas.openxmlformats.org/drawingml/2006/main" id="10" idx="0"/>
            <a:endCxn xmlns:a="http://schemas.openxmlformats.org/drawingml/2006/main" id="12" idx="2"/>
          </p:cNvCxnSpPr>
          <p:nvPr/>
        </p:nvCxnSpPr>
        <p:spPr>
          <a:xfrm xmlns:a="http://schemas.openxmlformats.org/drawingml/2006/main" flipV="1">
            <a:off x="9220200" y="3905250"/>
            <a:ext cx="0" cy="571500"/>
          </a:xfrm>
          <a:prstGeom xmlns:a="http://schemas.openxmlformats.org/drawingml/2006/main" prst="straightConnector1">
            <a:avLst/>
          </a:prstGeom>
          <a:ln xmlns:a="http://schemas.openxmlformats.org/drawingml/2006/main" w="38100">
            <a:solidFill>
              <a:srgbClr val="5A6C79"/>
            </a:solidFill>
            <a:prstDash val="solid"/>
            <a:headEnd type="none" w="med" len="med"/>
            <a:tailEnd type="triangle" w="sm" len="sm"/>
          </a:ln>
        </p:spPr>
      </p:cxnSp>
      <p:cxnSp>
        <p:nvCxnSpPr>
          <p:cNvPr id="57" name=""/>
          <p:cNvCxnSpPr>
            <a:stCxn xmlns:a="http://schemas.openxmlformats.org/drawingml/2006/main" id="12" idx="3"/>
            <a:endCxn xmlns:a="http://schemas.openxmlformats.org/drawingml/2006/main" id="13" idx="1"/>
          </p:cNvCxnSpPr>
          <p:nvPr/>
        </p:nvCxnSpPr>
        <p:spPr>
          <a:xfrm xmlns:a="http://schemas.openxmlformats.org/drawingml/2006/main">
            <a:off x="9982200" y="3190875"/>
            <a:ext cx="400050" cy="0"/>
          </a:xfrm>
          <a:prstGeom xmlns:a="http://schemas.openxmlformats.org/drawingml/2006/main" prst="straightConnector1">
            <a:avLst/>
          </a:prstGeom>
          <a:ln xmlns:a="http://schemas.openxmlformats.org/drawingml/2006/main" w="38100">
            <a:solidFill>
              <a:srgbClr val="137B77"/>
            </a:solidFill>
            <a:prstDash val="solid"/>
            <a:headEnd type="none" w="med" len="med"/>
            <a:tailEnd type="triangle" w="sm" len="sm"/>
          </a:ln>
        </p:spPr>
      </p:cxnSp>
      <p:sp>
        <p:nvSpPr>
          <p:cNvPr id="27" name="">
            <a:extLst xmlns:a="http://schemas.openxmlformats.org/drawingml/2006/main">
              <a:ext uri="{FF2B5EF4-FFF2-40B4-BE49-F238E27FC236}">
                <a16:creationId xmlns:a16="http://schemas.microsoft.com/office/drawing/2014/main" id="{01862FB4-D3A8-4A25-A013-8F36BAAF67EB}"/>
              </a:ext>
            </a:extLst>
          </p:cNvPr>
          <p:cNvSpPr>
            <a:spLocks xmlns:a="http://schemas.openxmlformats.org/drawingml/2006/main" noGrp="1"/>
          </p:cNvSpPr>
          <p:nvPr/>
        </p:nvSpPr>
        <p:spPr>
          <a:xfrm xmlns:a="http://schemas.openxmlformats.org/drawingml/2006/main">
            <a:off x="5448300" y="4552950"/>
            <a:ext cx="2762250" cy="742950"/>
          </a:xfrm>
          <a:prstGeom xmlns:a="http://schemas.openxmlformats.org/drawingml/2006/main" prst="roundRect">
            <a:avLst>
              <a:gd name="adj" fmla="val 20513"/>
            </a:avLst>
          </a:prstGeom>
          <a:solidFill xmlns:a="http://schemas.openxmlformats.org/drawingml/2006/main">
            <a:srgbClr val="FFFFFF"/>
          </a:solidFill>
          <a:ln xmlns:a="http://schemas.openxmlformats.org/drawingml/2006/main" w="9525">
            <a:solidFill>
              <a:srgbClr val="DCE4E9"/>
            </a:solidFill>
            <a:prstDash val="solid"/>
          </a:ln>
        </p:spPr>
      </p:sp>
      <p:sp>
        <p:nvSpPr>
          <p:cNvPr id="28" name="">
            <a:extLst xmlns:a="http://schemas.openxmlformats.org/drawingml/2006/main">
              <a:ext uri="{FF2B5EF4-FFF2-40B4-BE49-F238E27FC236}">
                <a16:creationId xmlns:a16="http://schemas.microsoft.com/office/drawing/2014/main" id="{FC8300C0-5989-4F43-94FD-B3019AB986CD}"/>
              </a:ext>
            </a:extLst>
          </p:cNvPr>
          <p:cNvSpPr>
            <a:spLocks xmlns:a="http://schemas.openxmlformats.org/drawingml/2006/main" noGrp="1"/>
          </p:cNvSpPr>
          <p:nvPr/>
        </p:nvSpPr>
        <p:spPr>
          <a:xfrm xmlns:a="http://schemas.openxmlformats.org/drawingml/2006/main" rot="0">
            <a:off x="5657850" y="4686300"/>
            <a:ext cx="2343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0B1F33"/>
                </a:solidFill>
                <a:latin typeface="Aptos"/>
                <a:ea typeface="Aptos"/>
                <a:cs typeface="Aptos"/>
              </a:defRPr>
            </a:pPr>
            <a:r>
              <a:rPr sz="1500" b="1" i="0">
                <a:solidFill>
                  <a:srgbClr val="0B1F33"/>
                </a:solidFill>
                <a:latin typeface="Aptos"/>
                <a:ea typeface="Aptos"/>
                <a:cs typeface="Aptos"/>
              </a:rPr>
              <a:t>~10⁵ prefix → next-POI</a:t>
            </a:r>
          </a:p>
          <a:p xmlns:a="http://schemas.openxmlformats.org/drawingml/2006/main">
            <a:pPr algn="ctr">
              <a:lnSpc>
                <a:spcPct val="100000"/>
              </a:lnSpc>
              <a:buNone/>
              <a:defRPr sz="1500" b="1" i="0">
                <a:solidFill>
                  <a:srgbClr val="0B1F33"/>
                </a:solidFill>
                <a:latin typeface="Aptos"/>
                <a:ea typeface="Aptos"/>
                <a:cs typeface="Aptos"/>
              </a:defRPr>
            </a:pPr>
            <a:r>
              <a:rPr sz="1500" b="1" i="0">
                <a:solidFill>
                  <a:srgbClr val="0B1F33"/>
                </a:solidFill>
                <a:latin typeface="Aptos"/>
                <a:ea typeface="Aptos"/>
                <a:cs typeface="Aptos"/>
              </a:rPr>
              <a:t>training examples</a:t>
            </a:r>
          </a:p>
        </p:txBody>
      </p:sp>
      <p:sp>
        <p:nvSpPr>
          <p:cNvPr id="29" name="">
            <a:extLst xmlns:a="http://schemas.openxmlformats.org/drawingml/2006/main">
              <a:ext uri="{FF2B5EF4-FFF2-40B4-BE49-F238E27FC236}">
                <a16:creationId xmlns:a16="http://schemas.microsoft.com/office/drawing/2014/main" id="{AB068124-FFD5-4BE7-8EC5-0F8731A78361}"/>
              </a:ext>
            </a:extLst>
          </p:cNvPr>
          <p:cNvSpPr>
            <a:spLocks xmlns:a="http://schemas.openxmlformats.org/drawingml/2006/main" noGrp="1"/>
          </p:cNvSpPr>
          <p:nvPr/>
        </p:nvSpPr>
        <p:spPr>
          <a:xfrm xmlns:a="http://schemas.openxmlformats.org/drawingml/2006/main">
            <a:off x="10096500" y="4457700"/>
            <a:ext cx="1762125" cy="857250"/>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a:solidFill>
              <a:srgbClr val="DCE4E9"/>
            </a:solidFill>
            <a:prstDash val="solid"/>
          </a:ln>
        </p:spPr>
      </p:sp>
      <p:sp>
        <p:nvSpPr>
          <p:cNvPr id="30" name="">
            <a:extLst xmlns:a="http://schemas.openxmlformats.org/drawingml/2006/main">
              <a:ext uri="{FF2B5EF4-FFF2-40B4-BE49-F238E27FC236}">
                <a16:creationId xmlns:a16="http://schemas.microsoft.com/office/drawing/2014/main" id="{624F6D5A-E5EB-4B9C-A339-0A41AB51AC72}"/>
              </a:ext>
            </a:extLst>
          </p:cNvPr>
          <p:cNvSpPr>
            <a:spLocks xmlns:a="http://schemas.openxmlformats.org/drawingml/2006/main" noGrp="1"/>
          </p:cNvSpPr>
          <p:nvPr/>
        </p:nvSpPr>
        <p:spPr>
          <a:xfrm xmlns:a="http://schemas.openxmlformats.org/drawingml/2006/main" rot="0">
            <a:off x="10287000" y="4648200"/>
            <a:ext cx="1381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28C45"/>
                </a:solidFill>
                <a:latin typeface="Aptos"/>
                <a:ea typeface="Aptos"/>
                <a:cs typeface="Aptos"/>
              </a:defRPr>
            </a:pPr>
            <a:r>
              <a:rPr sz="1500" b="1" i="0">
                <a:solidFill>
                  <a:srgbClr val="F28C45"/>
                </a:solidFill>
                <a:latin typeface="Aptos"/>
                <a:ea typeface="Aptos"/>
                <a:cs typeface="Aptos"/>
              </a:rPr>
              <a:t>Scores all</a:t>
            </a:r>
          </a:p>
          <a:p xmlns:a="http://schemas.openxmlformats.org/drawingml/2006/main">
            <a:pPr algn="ctr">
              <a:lnSpc>
                <a:spcPct val="100000"/>
              </a:lnSpc>
              <a:buNone/>
              <a:defRPr sz="1500" b="1" i="0">
                <a:solidFill>
                  <a:srgbClr val="F28C45"/>
                </a:solidFill>
                <a:latin typeface="Aptos"/>
                <a:ea typeface="Aptos"/>
                <a:cs typeface="Aptos"/>
              </a:defRPr>
            </a:pPr>
            <a:r>
              <a:rPr sz="1500" b="1" i="0">
                <a:solidFill>
                  <a:srgbClr val="F28C45"/>
                </a:solidFill>
                <a:latin typeface="Aptos"/>
                <a:ea typeface="Aptos"/>
                <a:cs typeface="Aptos"/>
              </a:rPr>
              <a:t>~5,100 POIs</a:t>
            </a:r>
          </a:p>
        </p:txBody>
      </p:sp>
      <p:sp>
        <p:nvSpPr>
          <p:cNvPr id="31" name="">
            <a:extLst xmlns:a="http://schemas.openxmlformats.org/drawingml/2006/main">
              <a:ext uri="{FF2B5EF4-FFF2-40B4-BE49-F238E27FC236}">
                <a16:creationId xmlns:a16="http://schemas.microsoft.com/office/drawing/2014/main" id="{3C9CEA65-1458-4FD8-9965-7A3773D67074}"/>
              </a:ext>
            </a:extLst>
          </p:cNvPr>
          <p:cNvSpPr>
            <a:spLocks xmlns:a="http://schemas.openxmlformats.org/drawingml/2006/main" noGrp="1"/>
          </p:cNvSpPr>
          <p:nvPr/>
        </p:nvSpPr>
        <p:spPr>
          <a:xfrm xmlns:a="http://schemas.openxmlformats.org/drawingml/2006/main" rot="0">
            <a:off x="609600" y="6210300"/>
            <a:ext cx="10668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50" b="0" i="1">
                <a:solidFill>
                  <a:srgbClr val="5A6C79"/>
                </a:solidFill>
                <a:latin typeface="Aptos"/>
                <a:ea typeface="Aptos"/>
                <a:cs typeface="Aptos"/>
              </a:defRPr>
            </a:pPr>
            <a:r>
              <a:rPr sz="750" b="0" i="1">
                <a:solidFill>
                  <a:srgbClr val="5A6C79"/>
                </a:solidFill>
                <a:latin typeface="Aptos"/>
                <a:ea typeface="Aptos"/>
                <a:cs typeface="Aptos"/>
              </a:rPr>
              <a:t>Source: Thesis Sections 3.3-3.4. Implemented context is distance and elapsed time.</a:t>
            </a:r>
          </a:p>
        </p:txBody>
      </p:sp>
    </p:spTree>
    <p:extLst>
      <p:ext uri="{BB962C8B-B14F-4D97-AF65-F5344CB8AC3E}">
        <p14:creationId xmlns:p14="http://schemas.microsoft.com/office/powerpoint/2010/main" val="1230399962"/>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46" name="eyebrow">
            <a:extLst xmlns:a="http://schemas.openxmlformats.org/drawingml/2006/main">
              <a:ext uri="{FF2B5EF4-FFF2-40B4-BE49-F238E27FC236}">
                <a16:creationId xmlns:a16="http://schemas.microsoft.com/office/drawing/2014/main" id="{354BC689-E45E-46B1-8C88-426945E8EF9A}"/>
              </a:ext>
            </a:extLst>
          </p:cNvPr>
          <p:cNvSpPr>
            <a:spLocks xmlns:a="http://schemas.openxmlformats.org/drawingml/2006/main" noGrp="1"/>
          </p:cNvSpPr>
          <p:nvPr/>
        </p:nvSpPr>
        <p:spPr>
          <a:xfrm xmlns:a="http://schemas.openxmlformats.org/drawingml/2006/main" rot="0">
            <a:off x="6096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i="0">
                <a:solidFill>
                  <a:srgbClr val="137B77"/>
                </a:solidFill>
                <a:latin typeface="Aptos"/>
                <a:ea typeface="Aptos"/>
                <a:cs typeface="Aptos"/>
              </a:defRPr>
            </a:pPr>
            <a:r>
              <a:rPr sz="975" b="1" i="0">
                <a:solidFill>
                  <a:srgbClr val="137B77"/>
                </a:solidFill>
                <a:latin typeface="Aptos"/>
                <a:ea typeface="Aptos"/>
                <a:cs typeface="Aptos"/>
              </a:rPr>
              <a:t>4 · IMPLEMENTATION AND EVALUATION</a:t>
            </a:r>
          </a:p>
        </p:txBody>
      </p:sp>
      <p:sp>
        <p:nvSpPr>
          <p:cNvPr id="2" name="slide-title">
            <a:extLst xmlns:a="http://schemas.openxmlformats.org/drawingml/2006/main">
              <a:ext uri="{FF2B5EF4-FFF2-40B4-BE49-F238E27FC236}">
                <a16:creationId xmlns:a16="http://schemas.microsoft.com/office/drawing/2014/main" id="{B4F598E6-2E2E-4566-ADA2-8F7BBC9F279C}"/>
              </a:ext>
            </a:extLst>
          </p:cNvPr>
          <p:cNvSpPr>
            <a:spLocks xmlns:a="http://schemas.openxmlformats.org/drawingml/2006/main" noGrp="1"/>
          </p:cNvSpPr>
          <p:nvPr/>
        </p:nvSpPr>
        <p:spPr>
          <a:xfrm xmlns:a="http://schemas.openxmlformats.org/drawingml/2006/main" rot="0">
            <a:off x="609600" y="5905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850" b="1" i="0">
                <a:solidFill>
                  <a:srgbClr val="0B1F33"/>
                </a:solidFill>
                <a:latin typeface="Aptos"/>
                <a:ea typeface="Aptos"/>
                <a:cs typeface="Aptos"/>
              </a:defRPr>
            </a:pPr>
            <a:r>
              <a:rPr sz="2850" b="1" i="0">
                <a:solidFill>
                  <a:srgbClr val="0B1F33"/>
                </a:solidFill>
                <a:latin typeface="Aptos"/>
                <a:ea typeface="Aptos"/>
                <a:cs typeface="Aptos"/>
              </a:rPr>
              <a:t>Frozen Rollout turns next-POI scores into a loop-free route</a:t>
            </a:r>
          </a:p>
        </p:txBody>
      </p:sp>
      <p:sp>
        <p:nvSpPr>
          <p:cNvPr id="3" name="title-accent">
            <a:extLst xmlns:a="http://schemas.openxmlformats.org/drawingml/2006/main">
              <a:ext uri="{FF2B5EF4-FFF2-40B4-BE49-F238E27FC236}">
                <a16:creationId xmlns:a16="http://schemas.microsoft.com/office/drawing/2014/main" id="{50C1F76F-C9AD-46E6-86CB-F2CC368B758A}"/>
              </a:ext>
            </a:extLst>
          </p:cNvPr>
          <p:cNvSpPr>
            <a:spLocks xmlns:a="http://schemas.openxmlformats.org/drawingml/2006/main" noGrp="1"/>
          </p:cNvSpPr>
          <p:nvPr/>
        </p:nvSpPr>
        <p:spPr>
          <a:xfrm xmlns:a="http://schemas.openxmlformats.org/drawingml/2006/main">
            <a:off x="609600" y="1219200"/>
            <a:ext cx="876300" cy="47625"/>
          </a:xfrm>
          <a:prstGeom xmlns:a="http://schemas.openxmlformats.org/drawingml/2006/main" prst="rect">
            <a:avLst/>
          </a:prstGeom>
          <a:solidFill xmlns:a="http://schemas.openxmlformats.org/drawingml/2006/main">
            <a:srgbClr val="1FA6A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622E77A-7638-4FA8-A5D7-08CDDFD9DC11}"/>
              </a:ext>
            </a:extLst>
          </p:cNvPr>
          <p:cNvSpPr>
            <a:spLocks xmlns:a="http://schemas.openxmlformats.org/drawingml/2006/main" noGrp="1"/>
          </p:cNvSpPr>
          <p:nvPr/>
        </p:nvSpPr>
        <p:spPr>
          <a:xfrm xmlns:a="http://schemas.openxmlformats.org/drawingml/2006/main" flipV="0">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4E9"/>
            </a:solidFill>
            <a:prstDash val="solid"/>
          </a:ln>
        </p:spPr>
      </p:sp>
      <p:sp>
        <p:nvSpPr>
          <p:cNvPr id="5" name="">
            <a:extLst xmlns:a="http://schemas.openxmlformats.org/drawingml/2006/main">
              <a:ext uri="{FF2B5EF4-FFF2-40B4-BE49-F238E27FC236}">
                <a16:creationId xmlns:a16="http://schemas.microsoft.com/office/drawing/2014/main" id="{2A8A3781-AF49-4EC6-9EB4-16CF595F3C4C}"/>
              </a:ext>
            </a:extLst>
          </p:cNvPr>
          <p:cNvSpPr>
            <a:spLocks xmlns:a="http://schemas.openxmlformats.org/drawingml/2006/main" noGrp="1"/>
          </p:cNvSpPr>
          <p:nvPr/>
        </p:nvSpPr>
        <p:spPr>
          <a:xfrm xmlns:a="http://schemas.openxmlformats.org/drawingml/2006/main" rot="0">
            <a:off x="609600" y="655320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Ayman Naaimi · ENSAM Meknes</a:t>
            </a:r>
          </a:p>
        </p:txBody>
      </p:sp>
      <p:sp>
        <p:nvSpPr>
          <p:cNvPr id="6" name="">
            <a:extLst xmlns:a="http://schemas.openxmlformats.org/drawingml/2006/main">
              <a:ext uri="{FF2B5EF4-FFF2-40B4-BE49-F238E27FC236}">
                <a16:creationId xmlns:a16="http://schemas.microsoft.com/office/drawing/2014/main" id="{8F928108-4628-494F-9A01-B70BE101DB6D}"/>
              </a:ext>
            </a:extLst>
          </p:cNvPr>
          <p:cNvSpPr>
            <a:spLocks xmlns:a="http://schemas.openxmlformats.org/drawingml/2006/main" noGrp="1"/>
          </p:cNvSpPr>
          <p:nvPr/>
        </p:nvSpPr>
        <p:spPr>
          <a:xfrm xmlns:a="http://schemas.openxmlformats.org/drawingml/2006/main" rot="0">
            <a:off x="10572750" y="6553200"/>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6 / 10</a:t>
            </a:r>
          </a:p>
        </p:txBody>
      </p:sp>
      <p:sp>
        <p:nvSpPr>
          <p:cNvPr id="7" name="">
            <a:extLst xmlns:a="http://schemas.openxmlformats.org/drawingml/2006/main">
              <a:ext uri="{FF2B5EF4-FFF2-40B4-BE49-F238E27FC236}">
                <a16:creationId xmlns:a16="http://schemas.microsoft.com/office/drawing/2014/main" id="{D4779876-A817-4DF2-9608-E7638C404615}"/>
              </a:ext>
            </a:extLst>
          </p:cNvPr>
          <p:cNvSpPr>
            <a:spLocks xmlns:a="http://schemas.openxmlformats.org/drawingml/2006/main" noGrp="1"/>
          </p:cNvSpPr>
          <p:nvPr/>
        </p:nvSpPr>
        <p:spPr>
          <a:xfrm xmlns:a="http://schemas.openxmlformats.org/drawingml/2006/main">
            <a:off x="628650" y="1809750"/>
            <a:ext cx="1866900" cy="1390650"/>
          </a:xfrm>
          <a:prstGeom xmlns:a="http://schemas.openxmlformats.org/drawingml/2006/main" prst="roundRect">
            <a:avLst>
              <a:gd name="adj" fmla="val 13699"/>
            </a:avLst>
          </a:prstGeom>
          <a:solidFill xmlns:a="http://schemas.openxmlformats.org/drawingml/2006/main">
            <a:srgbClr val="FFFFFF"/>
          </a:solidFill>
          <a:ln xmlns:a="http://schemas.openxmlformats.org/drawingml/2006/main" w="9525">
            <a:solidFill>
              <a:srgbClr val="DCE4E9"/>
            </a:solidFill>
            <a:prstDash val="solid"/>
          </a:ln>
        </p:spPr>
      </p:sp>
      <p:sp>
        <p:nvSpPr>
          <p:cNvPr id="8" name="">
            <a:extLst xmlns:a="http://schemas.openxmlformats.org/drawingml/2006/main">
              <a:ext uri="{FF2B5EF4-FFF2-40B4-BE49-F238E27FC236}">
                <a16:creationId xmlns:a16="http://schemas.microsoft.com/office/drawing/2014/main" id="{D09E7D0F-4CD3-4F77-B29C-0683CD0153FA}"/>
              </a:ext>
            </a:extLst>
          </p:cNvPr>
          <p:cNvSpPr>
            <a:spLocks xmlns:a="http://schemas.openxmlformats.org/drawingml/2006/main" noGrp="1"/>
          </p:cNvSpPr>
          <p:nvPr/>
        </p:nvSpPr>
        <p:spPr>
          <a:xfrm xmlns:a="http://schemas.openxmlformats.org/drawingml/2006/main">
            <a:off x="752475" y="1933575"/>
            <a:ext cx="323850" cy="323850"/>
          </a:xfrm>
          <a:prstGeom xmlns:a="http://schemas.openxmlformats.org/drawingml/2006/main" prst="ellipse">
            <a:avLst/>
          </a:prstGeom>
          <a:solidFill xmlns:a="http://schemas.openxmlformats.org/drawingml/2006/main">
            <a:srgbClr val="0B1F33"/>
          </a:solidFill>
          <a:ln xmlns:a="http://schemas.openxmlformats.org/drawingml/2006/main" w="28575">
            <a:solidFill>
              <a:srgbClr val="0B1F33"/>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D5B3FA08-F582-496D-88A8-C43CD3F08689}"/>
              </a:ext>
            </a:extLst>
          </p:cNvPr>
          <p:cNvSpPr>
            <a:spLocks xmlns:a="http://schemas.openxmlformats.org/drawingml/2006/main" noGrp="1"/>
          </p:cNvSpPr>
          <p:nvPr/>
        </p:nvSpPr>
        <p:spPr>
          <a:xfrm xmlns:a="http://schemas.openxmlformats.org/drawingml/2006/main" rot="0">
            <a:off x="1181100" y="1924050"/>
            <a:ext cx="1123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i="0">
                <a:solidFill>
                  <a:srgbClr val="0B1F33"/>
                </a:solidFill>
                <a:latin typeface="Aptos"/>
                <a:ea typeface="Aptos"/>
                <a:cs typeface="Aptos"/>
              </a:defRPr>
            </a:pPr>
            <a:r>
              <a:rPr sz="1500" b="1" i="0">
                <a:solidFill>
                  <a:srgbClr val="0B1F33"/>
                </a:solidFill>
                <a:latin typeface="Aptos"/>
                <a:ea typeface="Aptos"/>
                <a:cs typeface="Aptos"/>
              </a:rPr>
              <a:t>QUERY</a:t>
            </a:r>
          </a:p>
        </p:txBody>
      </p:sp>
      <p:sp>
        <p:nvSpPr>
          <p:cNvPr id="10" name="">
            <a:extLst xmlns:a="http://schemas.openxmlformats.org/drawingml/2006/main">
              <a:ext uri="{FF2B5EF4-FFF2-40B4-BE49-F238E27FC236}">
                <a16:creationId xmlns:a16="http://schemas.microsoft.com/office/drawing/2014/main" id="{1252B720-C9D7-4683-B8C8-9582EB129707}"/>
              </a:ext>
            </a:extLst>
          </p:cNvPr>
          <p:cNvSpPr>
            <a:spLocks xmlns:a="http://schemas.openxmlformats.org/drawingml/2006/main" noGrp="1"/>
          </p:cNvSpPr>
          <p:nvPr/>
        </p:nvSpPr>
        <p:spPr>
          <a:xfrm xmlns:a="http://schemas.openxmlformats.org/drawingml/2006/main" rot="0">
            <a:off x="819150" y="2400300"/>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user · start · end · K</a:t>
            </a:r>
          </a:p>
        </p:txBody>
      </p:sp>
      <p:sp>
        <p:nvSpPr>
          <p:cNvPr id="11" name="">
            <a:extLst xmlns:a="http://schemas.openxmlformats.org/drawingml/2006/main">
              <a:ext uri="{FF2B5EF4-FFF2-40B4-BE49-F238E27FC236}">
                <a16:creationId xmlns:a16="http://schemas.microsoft.com/office/drawing/2014/main" id="{636D1430-98E7-445E-A097-7F0AA8EDE40B}"/>
              </a:ext>
            </a:extLst>
          </p:cNvPr>
          <p:cNvSpPr>
            <a:spLocks xmlns:a="http://schemas.openxmlformats.org/drawingml/2006/main" noGrp="1"/>
          </p:cNvSpPr>
          <p:nvPr/>
        </p:nvSpPr>
        <p:spPr>
          <a:xfrm xmlns:a="http://schemas.openxmlformats.org/drawingml/2006/main">
            <a:off x="2895600" y="1809750"/>
            <a:ext cx="1866900" cy="1390650"/>
          </a:xfrm>
          <a:prstGeom xmlns:a="http://schemas.openxmlformats.org/drawingml/2006/main" prst="roundRect">
            <a:avLst>
              <a:gd name="adj" fmla="val 13699"/>
            </a:avLst>
          </a:prstGeom>
          <a:solidFill xmlns:a="http://schemas.openxmlformats.org/drawingml/2006/main">
            <a:srgbClr val="FFFFFF"/>
          </a:solidFill>
          <a:ln xmlns:a="http://schemas.openxmlformats.org/drawingml/2006/main" w="9525">
            <a:solidFill>
              <a:srgbClr val="DCE4E9"/>
            </a:solidFill>
            <a:prstDash val="solid"/>
          </a:ln>
        </p:spPr>
      </p:sp>
      <p:sp>
        <p:nvSpPr>
          <p:cNvPr id="12" name="">
            <a:extLst xmlns:a="http://schemas.openxmlformats.org/drawingml/2006/main">
              <a:ext uri="{FF2B5EF4-FFF2-40B4-BE49-F238E27FC236}">
                <a16:creationId xmlns:a16="http://schemas.microsoft.com/office/drawing/2014/main" id="{B167FED3-A8E0-4D84-9B47-3C5C0989715F}"/>
              </a:ext>
            </a:extLst>
          </p:cNvPr>
          <p:cNvSpPr>
            <a:spLocks xmlns:a="http://schemas.openxmlformats.org/drawingml/2006/main" noGrp="1"/>
          </p:cNvSpPr>
          <p:nvPr/>
        </p:nvSpPr>
        <p:spPr>
          <a:xfrm xmlns:a="http://schemas.openxmlformats.org/drawingml/2006/main">
            <a:off x="3019425" y="1933575"/>
            <a:ext cx="323850" cy="323850"/>
          </a:xfrm>
          <a:prstGeom xmlns:a="http://schemas.openxmlformats.org/drawingml/2006/main" prst="ellipse">
            <a:avLst/>
          </a:prstGeom>
          <a:solidFill xmlns:a="http://schemas.openxmlformats.org/drawingml/2006/main">
            <a:srgbClr val="137B77"/>
          </a:solidFill>
          <a:ln xmlns:a="http://schemas.openxmlformats.org/drawingml/2006/main" w="28575">
            <a:solidFill>
              <a:srgbClr val="137B77"/>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5BF0DCE0-2D3D-48E6-8FD0-763B850B1052}"/>
              </a:ext>
            </a:extLst>
          </p:cNvPr>
          <p:cNvSpPr>
            <a:spLocks xmlns:a="http://schemas.openxmlformats.org/drawingml/2006/main" noGrp="1"/>
          </p:cNvSpPr>
          <p:nvPr/>
        </p:nvSpPr>
        <p:spPr>
          <a:xfrm xmlns:a="http://schemas.openxmlformats.org/drawingml/2006/main" rot="0">
            <a:off x="3448050" y="1924050"/>
            <a:ext cx="1123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i="0">
                <a:solidFill>
                  <a:srgbClr val="137B77"/>
                </a:solidFill>
                <a:latin typeface="Aptos"/>
                <a:ea typeface="Aptos"/>
                <a:cs typeface="Aptos"/>
              </a:defRPr>
            </a:pPr>
            <a:r>
              <a:rPr sz="1500" b="1" i="0">
                <a:solidFill>
                  <a:srgbClr val="137B77"/>
                </a:solidFill>
                <a:latin typeface="Aptos"/>
                <a:ea typeface="Aptos"/>
                <a:cs typeface="Aptos"/>
              </a:rPr>
              <a:t>SCORE</a:t>
            </a:r>
          </a:p>
        </p:txBody>
      </p:sp>
      <p:sp>
        <p:nvSpPr>
          <p:cNvPr id="14" name="">
            <a:extLst xmlns:a="http://schemas.openxmlformats.org/drawingml/2006/main">
              <a:ext uri="{FF2B5EF4-FFF2-40B4-BE49-F238E27FC236}">
                <a16:creationId xmlns:a16="http://schemas.microsoft.com/office/drawing/2014/main" id="{272961C3-7A23-42E4-B76E-D27286AB5031}"/>
              </a:ext>
            </a:extLst>
          </p:cNvPr>
          <p:cNvSpPr>
            <a:spLocks xmlns:a="http://schemas.openxmlformats.org/drawingml/2006/main" noGrp="1"/>
          </p:cNvSpPr>
          <p:nvPr/>
        </p:nvSpPr>
        <p:spPr>
          <a:xfrm xmlns:a="http://schemas.openxmlformats.org/drawingml/2006/main" rot="0">
            <a:off x="3086100" y="2400300"/>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run frozen engine</a:t>
            </a:r>
          </a:p>
        </p:txBody>
      </p:sp>
      <p:sp>
        <p:nvSpPr>
          <p:cNvPr id="15" name="">
            <a:extLst xmlns:a="http://schemas.openxmlformats.org/drawingml/2006/main">
              <a:ext uri="{FF2B5EF4-FFF2-40B4-BE49-F238E27FC236}">
                <a16:creationId xmlns:a16="http://schemas.microsoft.com/office/drawing/2014/main" id="{4BDFB470-7DAC-4B07-BBF5-4EEF0549A94F}"/>
              </a:ext>
            </a:extLst>
          </p:cNvPr>
          <p:cNvSpPr>
            <a:spLocks xmlns:a="http://schemas.openxmlformats.org/drawingml/2006/main" noGrp="1"/>
          </p:cNvSpPr>
          <p:nvPr/>
        </p:nvSpPr>
        <p:spPr>
          <a:xfrm xmlns:a="http://schemas.openxmlformats.org/drawingml/2006/main">
            <a:off x="5162550" y="1809750"/>
            <a:ext cx="1866900" cy="1390650"/>
          </a:xfrm>
          <a:prstGeom xmlns:a="http://schemas.openxmlformats.org/drawingml/2006/main" prst="roundRect">
            <a:avLst>
              <a:gd name="adj" fmla="val 13699"/>
            </a:avLst>
          </a:prstGeom>
          <a:solidFill xmlns:a="http://schemas.openxmlformats.org/drawingml/2006/main">
            <a:srgbClr val="FCE8D9"/>
          </a:solidFill>
          <a:ln xmlns:a="http://schemas.openxmlformats.org/drawingml/2006/main" w="9525">
            <a:solidFill>
              <a:srgbClr val="F3C49D"/>
            </a:solidFill>
            <a:prstDash val="solid"/>
          </a:ln>
        </p:spPr>
      </p:sp>
      <p:sp>
        <p:nvSpPr>
          <p:cNvPr id="16" name="">
            <a:extLst xmlns:a="http://schemas.openxmlformats.org/drawingml/2006/main">
              <a:ext uri="{FF2B5EF4-FFF2-40B4-BE49-F238E27FC236}">
                <a16:creationId xmlns:a16="http://schemas.microsoft.com/office/drawing/2014/main" id="{6188757D-2B70-4365-ADB1-4EAD1727422A}"/>
              </a:ext>
            </a:extLst>
          </p:cNvPr>
          <p:cNvSpPr>
            <a:spLocks xmlns:a="http://schemas.openxmlformats.org/drawingml/2006/main" noGrp="1"/>
          </p:cNvSpPr>
          <p:nvPr/>
        </p:nvSpPr>
        <p:spPr>
          <a:xfrm xmlns:a="http://schemas.openxmlformats.org/drawingml/2006/main">
            <a:off x="5286375" y="1933575"/>
            <a:ext cx="323850" cy="323850"/>
          </a:xfrm>
          <a:prstGeom xmlns:a="http://schemas.openxmlformats.org/drawingml/2006/main" prst="ellipse">
            <a:avLst/>
          </a:prstGeom>
          <a:solidFill xmlns:a="http://schemas.openxmlformats.org/drawingml/2006/main">
            <a:srgbClr val="F28C45"/>
          </a:solidFill>
          <a:ln xmlns:a="http://schemas.openxmlformats.org/drawingml/2006/main" w="28575">
            <a:solidFill>
              <a:srgbClr val="F28C45"/>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3</a:t>
            </a:r>
          </a:p>
        </p:txBody>
      </p:sp>
      <p:sp>
        <p:nvSpPr>
          <p:cNvPr id="17" name="">
            <a:extLst xmlns:a="http://schemas.openxmlformats.org/drawingml/2006/main">
              <a:ext uri="{FF2B5EF4-FFF2-40B4-BE49-F238E27FC236}">
                <a16:creationId xmlns:a16="http://schemas.microsoft.com/office/drawing/2014/main" id="{78409530-E433-44A8-A6C1-69FD49CAFA77}"/>
              </a:ext>
            </a:extLst>
          </p:cNvPr>
          <p:cNvSpPr>
            <a:spLocks xmlns:a="http://schemas.openxmlformats.org/drawingml/2006/main" noGrp="1"/>
          </p:cNvSpPr>
          <p:nvPr/>
        </p:nvSpPr>
        <p:spPr>
          <a:xfrm xmlns:a="http://schemas.openxmlformats.org/drawingml/2006/main" rot="0">
            <a:off x="5715000" y="1924050"/>
            <a:ext cx="1123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i="0">
                <a:solidFill>
                  <a:srgbClr val="F28C45"/>
                </a:solidFill>
                <a:latin typeface="Aptos"/>
                <a:ea typeface="Aptos"/>
                <a:cs typeface="Aptos"/>
              </a:defRPr>
            </a:pPr>
            <a:r>
              <a:rPr sz="1500" b="1" i="0">
                <a:solidFill>
                  <a:srgbClr val="F28C45"/>
                </a:solidFill>
                <a:latin typeface="Aptos"/>
                <a:ea typeface="Aptos"/>
                <a:cs typeface="Aptos"/>
              </a:rPr>
              <a:t>MASK</a:t>
            </a:r>
          </a:p>
        </p:txBody>
      </p:sp>
      <p:sp>
        <p:nvSpPr>
          <p:cNvPr id="18" name="">
            <a:extLst xmlns:a="http://schemas.openxmlformats.org/drawingml/2006/main">
              <a:ext uri="{FF2B5EF4-FFF2-40B4-BE49-F238E27FC236}">
                <a16:creationId xmlns:a16="http://schemas.microsoft.com/office/drawing/2014/main" id="{80B953C5-A3BD-40DA-9BBD-A8ECACD4537B}"/>
              </a:ext>
            </a:extLst>
          </p:cNvPr>
          <p:cNvSpPr>
            <a:spLocks xmlns:a="http://schemas.openxmlformats.org/drawingml/2006/main" noGrp="1"/>
          </p:cNvSpPr>
          <p:nvPr/>
        </p:nvSpPr>
        <p:spPr>
          <a:xfrm xmlns:a="http://schemas.openxmlformats.org/drawingml/2006/main" rot="0">
            <a:off x="5353050" y="2400300"/>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visited + early end</a:t>
            </a:r>
          </a:p>
        </p:txBody>
      </p:sp>
      <p:sp>
        <p:nvSpPr>
          <p:cNvPr id="19" name="">
            <a:extLst xmlns:a="http://schemas.openxmlformats.org/drawingml/2006/main">
              <a:ext uri="{FF2B5EF4-FFF2-40B4-BE49-F238E27FC236}">
                <a16:creationId xmlns:a16="http://schemas.microsoft.com/office/drawing/2014/main" id="{23C404E9-FCD4-407A-A78B-39F4A812ADA1}"/>
              </a:ext>
            </a:extLst>
          </p:cNvPr>
          <p:cNvSpPr>
            <a:spLocks xmlns:a="http://schemas.openxmlformats.org/drawingml/2006/main" noGrp="1"/>
          </p:cNvSpPr>
          <p:nvPr/>
        </p:nvSpPr>
        <p:spPr>
          <a:xfrm xmlns:a="http://schemas.openxmlformats.org/drawingml/2006/main">
            <a:off x="7429500" y="1809750"/>
            <a:ext cx="1866900" cy="1390650"/>
          </a:xfrm>
          <a:prstGeom xmlns:a="http://schemas.openxmlformats.org/drawingml/2006/main" prst="roundRect">
            <a:avLst>
              <a:gd name="adj" fmla="val 13699"/>
            </a:avLst>
          </a:prstGeom>
          <a:solidFill xmlns:a="http://schemas.openxmlformats.org/drawingml/2006/main">
            <a:srgbClr val="FFFFFF"/>
          </a:solidFill>
          <a:ln xmlns:a="http://schemas.openxmlformats.org/drawingml/2006/main" w="9525">
            <a:solidFill>
              <a:srgbClr val="DCE4E9"/>
            </a:solidFill>
            <a:prstDash val="solid"/>
          </a:ln>
        </p:spPr>
      </p:sp>
      <p:sp>
        <p:nvSpPr>
          <p:cNvPr id="20" name="">
            <a:extLst xmlns:a="http://schemas.openxmlformats.org/drawingml/2006/main">
              <a:ext uri="{FF2B5EF4-FFF2-40B4-BE49-F238E27FC236}">
                <a16:creationId xmlns:a16="http://schemas.microsoft.com/office/drawing/2014/main" id="{9E09E908-7C32-4B36-9DE6-90C2DE16DCEE}"/>
              </a:ext>
            </a:extLst>
          </p:cNvPr>
          <p:cNvSpPr>
            <a:spLocks xmlns:a="http://schemas.openxmlformats.org/drawingml/2006/main" noGrp="1"/>
          </p:cNvSpPr>
          <p:nvPr/>
        </p:nvSpPr>
        <p:spPr>
          <a:xfrm xmlns:a="http://schemas.openxmlformats.org/drawingml/2006/main">
            <a:off x="7553325" y="1933575"/>
            <a:ext cx="323850" cy="323850"/>
          </a:xfrm>
          <a:prstGeom xmlns:a="http://schemas.openxmlformats.org/drawingml/2006/main" prst="ellipse">
            <a:avLst/>
          </a:prstGeom>
          <a:solidFill xmlns:a="http://schemas.openxmlformats.org/drawingml/2006/main">
            <a:srgbClr val="137B77"/>
          </a:solidFill>
          <a:ln xmlns:a="http://schemas.openxmlformats.org/drawingml/2006/main" w="28575">
            <a:solidFill>
              <a:srgbClr val="137B77"/>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4</a:t>
            </a:r>
          </a:p>
        </p:txBody>
      </p:sp>
      <p:sp>
        <p:nvSpPr>
          <p:cNvPr id="21" name="">
            <a:extLst xmlns:a="http://schemas.openxmlformats.org/drawingml/2006/main">
              <a:ext uri="{FF2B5EF4-FFF2-40B4-BE49-F238E27FC236}">
                <a16:creationId xmlns:a16="http://schemas.microsoft.com/office/drawing/2014/main" id="{8206CF53-095E-4651-8BF9-BFF377C0F3B0}"/>
              </a:ext>
            </a:extLst>
          </p:cNvPr>
          <p:cNvSpPr>
            <a:spLocks xmlns:a="http://schemas.openxmlformats.org/drawingml/2006/main" noGrp="1"/>
          </p:cNvSpPr>
          <p:nvPr/>
        </p:nvSpPr>
        <p:spPr>
          <a:xfrm xmlns:a="http://schemas.openxmlformats.org/drawingml/2006/main" rot="0">
            <a:off x="7981950" y="1924050"/>
            <a:ext cx="1123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i="0">
                <a:solidFill>
                  <a:srgbClr val="137B77"/>
                </a:solidFill>
                <a:latin typeface="Aptos"/>
                <a:ea typeface="Aptos"/>
                <a:cs typeface="Aptos"/>
              </a:defRPr>
            </a:pPr>
            <a:r>
              <a:rPr sz="1500" b="1" i="0">
                <a:solidFill>
                  <a:srgbClr val="137B77"/>
                </a:solidFill>
                <a:latin typeface="Aptos"/>
                <a:ea typeface="Aptos"/>
                <a:cs typeface="Aptos"/>
              </a:rPr>
              <a:t>SELECT</a:t>
            </a:r>
          </a:p>
        </p:txBody>
      </p:sp>
      <p:sp>
        <p:nvSpPr>
          <p:cNvPr id="22" name="">
            <a:extLst xmlns:a="http://schemas.openxmlformats.org/drawingml/2006/main">
              <a:ext uri="{FF2B5EF4-FFF2-40B4-BE49-F238E27FC236}">
                <a16:creationId xmlns:a16="http://schemas.microsoft.com/office/drawing/2014/main" id="{57B37430-7469-4E14-A610-C7B0B36D6522}"/>
              </a:ext>
            </a:extLst>
          </p:cNvPr>
          <p:cNvSpPr>
            <a:spLocks xmlns:a="http://schemas.openxmlformats.org/drawingml/2006/main" noGrp="1"/>
          </p:cNvSpPr>
          <p:nvPr/>
        </p:nvSpPr>
        <p:spPr>
          <a:xfrm xmlns:a="http://schemas.openxmlformats.org/drawingml/2006/main" rot="0">
            <a:off x="7620000" y="2400300"/>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best valid candidate</a:t>
            </a:r>
          </a:p>
        </p:txBody>
      </p:sp>
      <p:sp>
        <p:nvSpPr>
          <p:cNvPr id="23" name="">
            <a:extLst xmlns:a="http://schemas.openxmlformats.org/drawingml/2006/main">
              <a:ext uri="{FF2B5EF4-FFF2-40B4-BE49-F238E27FC236}">
                <a16:creationId xmlns:a16="http://schemas.microsoft.com/office/drawing/2014/main" id="{6663C062-69F2-483C-860D-2F34198DCA4B}"/>
              </a:ext>
            </a:extLst>
          </p:cNvPr>
          <p:cNvSpPr>
            <a:spLocks xmlns:a="http://schemas.openxmlformats.org/drawingml/2006/main" noGrp="1"/>
          </p:cNvSpPr>
          <p:nvPr/>
        </p:nvSpPr>
        <p:spPr>
          <a:xfrm xmlns:a="http://schemas.openxmlformats.org/drawingml/2006/main">
            <a:off x="9696450" y="1809750"/>
            <a:ext cx="1866900" cy="1390650"/>
          </a:xfrm>
          <a:prstGeom xmlns:a="http://schemas.openxmlformats.org/drawingml/2006/main" prst="roundRect">
            <a:avLst>
              <a:gd name="adj" fmla="val 13699"/>
            </a:avLst>
          </a:prstGeom>
          <a:solidFill xmlns:a="http://schemas.openxmlformats.org/drawingml/2006/main">
            <a:srgbClr val="FFFFFF"/>
          </a:solidFill>
          <a:ln xmlns:a="http://schemas.openxmlformats.org/drawingml/2006/main" w="9525">
            <a:solidFill>
              <a:srgbClr val="DCE4E9"/>
            </a:solidFill>
            <a:prstDash val="solid"/>
          </a:ln>
        </p:spPr>
      </p:sp>
      <p:sp>
        <p:nvSpPr>
          <p:cNvPr id="24" name="">
            <a:extLst xmlns:a="http://schemas.openxmlformats.org/drawingml/2006/main">
              <a:ext uri="{FF2B5EF4-FFF2-40B4-BE49-F238E27FC236}">
                <a16:creationId xmlns:a16="http://schemas.microsoft.com/office/drawing/2014/main" id="{F809154F-4A3D-4655-820D-74B492B3901D}"/>
              </a:ext>
            </a:extLst>
          </p:cNvPr>
          <p:cNvSpPr>
            <a:spLocks xmlns:a="http://schemas.openxmlformats.org/drawingml/2006/main" noGrp="1"/>
          </p:cNvSpPr>
          <p:nvPr/>
        </p:nvSpPr>
        <p:spPr>
          <a:xfrm xmlns:a="http://schemas.openxmlformats.org/drawingml/2006/main">
            <a:off x="9820275" y="1933575"/>
            <a:ext cx="323850" cy="323850"/>
          </a:xfrm>
          <a:prstGeom xmlns:a="http://schemas.openxmlformats.org/drawingml/2006/main" prst="ellipse">
            <a:avLst/>
          </a:prstGeom>
          <a:solidFill xmlns:a="http://schemas.openxmlformats.org/drawingml/2006/main">
            <a:srgbClr val="0B1F33"/>
          </a:solidFill>
          <a:ln xmlns:a="http://schemas.openxmlformats.org/drawingml/2006/main" w="28575">
            <a:solidFill>
              <a:srgbClr val="0B1F33"/>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84B16060-AE17-4A1A-B83C-B239348F3C34}"/>
              </a:ext>
            </a:extLst>
          </p:cNvPr>
          <p:cNvSpPr>
            <a:spLocks xmlns:a="http://schemas.openxmlformats.org/drawingml/2006/main" noGrp="1"/>
          </p:cNvSpPr>
          <p:nvPr/>
        </p:nvSpPr>
        <p:spPr>
          <a:xfrm xmlns:a="http://schemas.openxmlformats.org/drawingml/2006/main" rot="0">
            <a:off x="10248900" y="1924050"/>
            <a:ext cx="1123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i="0">
                <a:solidFill>
                  <a:srgbClr val="0B1F33"/>
                </a:solidFill>
                <a:latin typeface="Aptos"/>
                <a:ea typeface="Aptos"/>
                <a:cs typeface="Aptos"/>
              </a:defRPr>
            </a:pPr>
            <a:r>
              <a:rPr sz="1500" b="1" i="0">
                <a:solidFill>
                  <a:srgbClr val="0B1F33"/>
                </a:solidFill>
                <a:latin typeface="Aptos"/>
                <a:ea typeface="Aptos"/>
                <a:cs typeface="Aptos"/>
              </a:rPr>
              <a:t>REPEAT</a:t>
            </a:r>
          </a:p>
        </p:txBody>
      </p:sp>
      <p:sp>
        <p:nvSpPr>
          <p:cNvPr id="26" name="">
            <a:extLst xmlns:a="http://schemas.openxmlformats.org/drawingml/2006/main">
              <a:ext uri="{FF2B5EF4-FFF2-40B4-BE49-F238E27FC236}">
                <a16:creationId xmlns:a16="http://schemas.microsoft.com/office/drawing/2014/main" id="{73EA1DD2-2BDD-4C38-839D-2EBE05068EDD}"/>
              </a:ext>
            </a:extLst>
          </p:cNvPr>
          <p:cNvSpPr>
            <a:spLocks xmlns:a="http://schemas.openxmlformats.org/drawingml/2006/main" noGrp="1"/>
          </p:cNvSpPr>
          <p:nvPr/>
        </p:nvSpPr>
        <p:spPr>
          <a:xfrm xmlns:a="http://schemas.openxmlformats.org/drawingml/2006/main" rot="0">
            <a:off x="9886950" y="2400300"/>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until length K</a:t>
            </a:r>
          </a:p>
        </p:txBody>
      </p:sp>
      <p:cxnSp>
        <p:nvCxnSpPr>
          <p:cNvPr id="72" name=""/>
          <p:cNvCxnSpPr>
            <a:stCxn xmlns:a="http://schemas.openxmlformats.org/drawingml/2006/main" id="7" idx="3"/>
            <a:endCxn xmlns:a="http://schemas.openxmlformats.org/drawingml/2006/main" id="11" idx="1"/>
          </p:cNvCxnSpPr>
          <p:nvPr/>
        </p:nvCxnSpPr>
        <p:spPr>
          <a:xfrm xmlns:a="http://schemas.openxmlformats.org/drawingml/2006/main">
            <a:off x="2495550" y="2505075"/>
            <a:ext cx="400050" cy="0"/>
          </a:xfrm>
          <a:prstGeom xmlns:a="http://schemas.openxmlformats.org/drawingml/2006/main" prst="straightConnector1">
            <a:avLst/>
          </a:prstGeom>
          <a:ln xmlns:a="http://schemas.openxmlformats.org/drawingml/2006/main" w="28575">
            <a:solidFill>
              <a:srgbClr val="5A6C79"/>
            </a:solidFill>
            <a:prstDash val="solid"/>
            <a:headEnd type="none" w="med" len="med"/>
            <a:tailEnd type="triangle" w="sm" len="sm"/>
          </a:ln>
        </p:spPr>
      </p:cxnSp>
      <p:cxnSp>
        <p:nvCxnSpPr>
          <p:cNvPr id="73" name=""/>
          <p:cNvCxnSpPr>
            <a:stCxn xmlns:a="http://schemas.openxmlformats.org/drawingml/2006/main" id="11" idx="3"/>
            <a:endCxn xmlns:a="http://schemas.openxmlformats.org/drawingml/2006/main" id="15" idx="1"/>
          </p:cNvCxnSpPr>
          <p:nvPr/>
        </p:nvCxnSpPr>
        <p:spPr>
          <a:xfrm xmlns:a="http://schemas.openxmlformats.org/drawingml/2006/main">
            <a:off x="4762500" y="2505075"/>
            <a:ext cx="400050" cy="0"/>
          </a:xfrm>
          <a:prstGeom xmlns:a="http://schemas.openxmlformats.org/drawingml/2006/main" prst="straightConnector1">
            <a:avLst/>
          </a:prstGeom>
          <a:ln xmlns:a="http://schemas.openxmlformats.org/drawingml/2006/main" w="28575">
            <a:solidFill>
              <a:srgbClr val="5A6C79"/>
            </a:solidFill>
            <a:prstDash val="solid"/>
            <a:headEnd type="none" w="med" len="med"/>
            <a:tailEnd type="triangle" w="sm" len="sm"/>
          </a:ln>
        </p:spPr>
      </p:cxnSp>
      <p:cxnSp>
        <p:nvCxnSpPr>
          <p:cNvPr id="74" name=""/>
          <p:cNvCxnSpPr>
            <a:stCxn xmlns:a="http://schemas.openxmlformats.org/drawingml/2006/main" id="15" idx="3"/>
            <a:endCxn xmlns:a="http://schemas.openxmlformats.org/drawingml/2006/main" id="19" idx="1"/>
          </p:cNvCxnSpPr>
          <p:nvPr/>
        </p:nvCxnSpPr>
        <p:spPr>
          <a:xfrm xmlns:a="http://schemas.openxmlformats.org/drawingml/2006/main">
            <a:off x="7029450" y="2505075"/>
            <a:ext cx="400050" cy="0"/>
          </a:xfrm>
          <a:prstGeom xmlns:a="http://schemas.openxmlformats.org/drawingml/2006/main" prst="straightConnector1">
            <a:avLst/>
          </a:prstGeom>
          <a:ln xmlns:a="http://schemas.openxmlformats.org/drawingml/2006/main" w="28575">
            <a:solidFill>
              <a:srgbClr val="5A6C79"/>
            </a:solidFill>
            <a:prstDash val="solid"/>
            <a:headEnd type="none" w="med" len="med"/>
            <a:tailEnd type="triangle" w="sm" len="sm"/>
          </a:ln>
        </p:spPr>
      </p:cxnSp>
      <p:cxnSp>
        <p:nvCxnSpPr>
          <p:cNvPr id="75" name=""/>
          <p:cNvCxnSpPr>
            <a:stCxn xmlns:a="http://schemas.openxmlformats.org/drawingml/2006/main" id="19" idx="3"/>
            <a:endCxn xmlns:a="http://schemas.openxmlformats.org/drawingml/2006/main" id="23" idx="1"/>
          </p:cNvCxnSpPr>
          <p:nvPr/>
        </p:nvCxnSpPr>
        <p:spPr>
          <a:xfrm xmlns:a="http://schemas.openxmlformats.org/drawingml/2006/main">
            <a:off x="9296400" y="2505075"/>
            <a:ext cx="400050" cy="0"/>
          </a:xfrm>
          <a:prstGeom xmlns:a="http://schemas.openxmlformats.org/drawingml/2006/main" prst="straightConnector1">
            <a:avLst/>
          </a:prstGeom>
          <a:ln xmlns:a="http://schemas.openxmlformats.org/drawingml/2006/main" w="28575">
            <a:solidFill>
              <a:srgbClr val="5A6C79"/>
            </a:solidFill>
            <a:prstDash val="solid"/>
            <a:headEnd type="none" w="med" len="med"/>
            <a:tailEnd type="triangle" w="sm" len="sm"/>
          </a:ln>
        </p:spPr>
      </p:cxnSp>
      <p:sp>
        <p:nvSpPr>
          <p:cNvPr id="31" name="">
            <a:extLst xmlns:a="http://schemas.openxmlformats.org/drawingml/2006/main">
              <a:ext uri="{FF2B5EF4-FFF2-40B4-BE49-F238E27FC236}">
                <a16:creationId xmlns:a16="http://schemas.microsoft.com/office/drawing/2014/main" id="{E7991462-6476-4FFC-B6CC-7C900BE8F55B}"/>
              </a:ext>
            </a:extLst>
          </p:cNvPr>
          <p:cNvSpPr>
            <a:spLocks xmlns:a="http://schemas.openxmlformats.org/drawingml/2006/main" noGrp="1"/>
          </p:cNvSpPr>
          <p:nvPr/>
        </p:nvSpPr>
        <p:spPr>
          <a:xfrm xmlns:a="http://schemas.openxmlformats.org/drawingml/2006/main" rot="0">
            <a:off x="647700" y="363855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800" b="1" i="0">
                <a:solidFill>
                  <a:srgbClr val="0B1F33"/>
                </a:solidFill>
                <a:latin typeface="Aptos"/>
                <a:ea typeface="Aptos"/>
                <a:cs typeface="Aptos"/>
              </a:defRPr>
            </a:pPr>
            <a:r>
              <a:rPr sz="1800" b="1" i="0">
                <a:solidFill>
                  <a:srgbClr val="0B1F33"/>
                </a:solidFill>
                <a:latin typeface="Aptos"/>
                <a:ea typeface="Aptos"/>
                <a:cs typeface="Aptos"/>
              </a:rPr>
              <a:t>The route grows one valid stop at a time</a:t>
            </a:r>
          </a:p>
        </p:txBody>
      </p:sp>
      <p:sp>
        <p:nvSpPr>
          <p:cNvPr id="32" name="">
            <a:extLst xmlns:a="http://schemas.openxmlformats.org/drawingml/2006/main">
              <a:ext uri="{FF2B5EF4-FFF2-40B4-BE49-F238E27FC236}">
                <a16:creationId xmlns:a16="http://schemas.microsoft.com/office/drawing/2014/main" id="{C753783C-657D-4C8A-A297-6F178BD7FC64}"/>
              </a:ext>
            </a:extLst>
          </p:cNvPr>
          <p:cNvSpPr>
            <a:spLocks xmlns:a="http://schemas.openxmlformats.org/drawingml/2006/main" noGrp="1"/>
          </p:cNvSpPr>
          <p:nvPr/>
        </p:nvSpPr>
        <p:spPr>
          <a:xfrm xmlns:a="http://schemas.openxmlformats.org/drawingml/2006/main">
            <a:off x="1362075" y="4695825"/>
            <a:ext cx="514350" cy="514350"/>
          </a:xfrm>
          <a:prstGeom xmlns:a="http://schemas.openxmlformats.org/drawingml/2006/main" prst="ellipse">
            <a:avLst/>
          </a:prstGeom>
          <a:solidFill xmlns:a="http://schemas.openxmlformats.org/drawingml/2006/main">
            <a:srgbClr val="0B1F33"/>
          </a:solidFill>
          <a:ln xmlns:a="http://schemas.openxmlformats.org/drawingml/2006/main" w="28575">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S</a:t>
            </a:r>
          </a:p>
        </p:txBody>
      </p:sp>
      <p:sp>
        <p:nvSpPr>
          <p:cNvPr id="33" name="">
            <a:extLst xmlns:a="http://schemas.openxmlformats.org/drawingml/2006/main">
              <a:ext uri="{FF2B5EF4-FFF2-40B4-BE49-F238E27FC236}">
                <a16:creationId xmlns:a16="http://schemas.microsoft.com/office/drawing/2014/main" id="{C973E1D0-28E3-40DD-9C22-B2622BED6D5D}"/>
              </a:ext>
            </a:extLst>
          </p:cNvPr>
          <p:cNvSpPr>
            <a:spLocks xmlns:a="http://schemas.openxmlformats.org/drawingml/2006/main" noGrp="1"/>
          </p:cNvSpPr>
          <p:nvPr/>
        </p:nvSpPr>
        <p:spPr>
          <a:xfrm xmlns:a="http://schemas.openxmlformats.org/drawingml/2006/main">
            <a:off x="3124200" y="4200525"/>
            <a:ext cx="514350" cy="514350"/>
          </a:xfrm>
          <a:prstGeom xmlns:a="http://schemas.openxmlformats.org/drawingml/2006/main" prst="ellipse">
            <a:avLst/>
          </a:prstGeom>
          <a:solidFill xmlns:a="http://schemas.openxmlformats.org/drawingml/2006/main">
            <a:srgbClr val="1FA6A0"/>
          </a:solidFill>
          <a:ln xmlns:a="http://schemas.openxmlformats.org/drawingml/2006/main" w="28575">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1</a:t>
            </a:r>
          </a:p>
        </p:txBody>
      </p:sp>
      <p:sp>
        <p:nvSpPr>
          <p:cNvPr id="34" name="">
            <a:extLst xmlns:a="http://schemas.openxmlformats.org/drawingml/2006/main">
              <a:ext uri="{FF2B5EF4-FFF2-40B4-BE49-F238E27FC236}">
                <a16:creationId xmlns:a16="http://schemas.microsoft.com/office/drawing/2014/main" id="{015292CD-8466-4A17-B731-313152BE2EAD}"/>
              </a:ext>
            </a:extLst>
          </p:cNvPr>
          <p:cNvSpPr>
            <a:spLocks xmlns:a="http://schemas.openxmlformats.org/drawingml/2006/main" noGrp="1"/>
          </p:cNvSpPr>
          <p:nvPr/>
        </p:nvSpPr>
        <p:spPr>
          <a:xfrm xmlns:a="http://schemas.openxmlformats.org/drawingml/2006/main">
            <a:off x="5124450" y="4772025"/>
            <a:ext cx="514350" cy="514350"/>
          </a:xfrm>
          <a:prstGeom xmlns:a="http://schemas.openxmlformats.org/drawingml/2006/main" prst="ellipse">
            <a:avLst/>
          </a:prstGeom>
          <a:solidFill xmlns:a="http://schemas.openxmlformats.org/drawingml/2006/main">
            <a:srgbClr val="1FA6A0"/>
          </a:solidFill>
          <a:ln xmlns:a="http://schemas.openxmlformats.org/drawingml/2006/main" w="28575">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2</a:t>
            </a:r>
          </a:p>
        </p:txBody>
      </p:sp>
      <p:sp>
        <p:nvSpPr>
          <p:cNvPr id="35" name="">
            <a:extLst xmlns:a="http://schemas.openxmlformats.org/drawingml/2006/main">
              <a:ext uri="{FF2B5EF4-FFF2-40B4-BE49-F238E27FC236}">
                <a16:creationId xmlns:a16="http://schemas.microsoft.com/office/drawing/2014/main" id="{7324897C-EF05-4426-8421-07DD93524ED9}"/>
              </a:ext>
            </a:extLst>
          </p:cNvPr>
          <p:cNvSpPr>
            <a:spLocks xmlns:a="http://schemas.openxmlformats.org/drawingml/2006/main" noGrp="1"/>
          </p:cNvSpPr>
          <p:nvPr/>
        </p:nvSpPr>
        <p:spPr>
          <a:xfrm xmlns:a="http://schemas.openxmlformats.org/drawingml/2006/main">
            <a:off x="7267575" y="4076700"/>
            <a:ext cx="514350" cy="514350"/>
          </a:xfrm>
          <a:prstGeom xmlns:a="http://schemas.openxmlformats.org/drawingml/2006/main" prst="ellipse">
            <a:avLst/>
          </a:prstGeom>
          <a:solidFill xmlns:a="http://schemas.openxmlformats.org/drawingml/2006/main">
            <a:srgbClr val="F28C45"/>
          </a:solidFill>
          <a:ln xmlns:a="http://schemas.openxmlformats.org/drawingml/2006/main" w="28575">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3</a:t>
            </a:r>
          </a:p>
        </p:txBody>
      </p:sp>
      <p:sp>
        <p:nvSpPr>
          <p:cNvPr id="36" name="">
            <a:extLst xmlns:a="http://schemas.openxmlformats.org/drawingml/2006/main">
              <a:ext uri="{FF2B5EF4-FFF2-40B4-BE49-F238E27FC236}">
                <a16:creationId xmlns:a16="http://schemas.microsoft.com/office/drawing/2014/main" id="{5F02BE7E-102C-473A-B5E1-44FB783E3C3B}"/>
              </a:ext>
            </a:extLst>
          </p:cNvPr>
          <p:cNvSpPr>
            <a:spLocks xmlns:a="http://schemas.openxmlformats.org/drawingml/2006/main" noGrp="1"/>
          </p:cNvSpPr>
          <p:nvPr/>
        </p:nvSpPr>
        <p:spPr>
          <a:xfrm xmlns:a="http://schemas.openxmlformats.org/drawingml/2006/main">
            <a:off x="9791700" y="4695825"/>
            <a:ext cx="514350" cy="514350"/>
          </a:xfrm>
          <a:prstGeom xmlns:a="http://schemas.openxmlformats.org/drawingml/2006/main" prst="ellipse">
            <a:avLst/>
          </a:prstGeom>
          <a:solidFill xmlns:a="http://schemas.openxmlformats.org/drawingml/2006/main">
            <a:srgbClr val="0B1F33"/>
          </a:solidFill>
          <a:ln xmlns:a="http://schemas.openxmlformats.org/drawingml/2006/main" w="28575">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E</a:t>
            </a:r>
          </a:p>
        </p:txBody>
      </p:sp>
      <p:cxnSp>
        <p:nvCxnSpPr>
          <p:cNvPr id="82" name=""/>
          <p:cNvCxnSpPr>
            <a:stCxn xmlns:a="http://schemas.openxmlformats.org/drawingml/2006/main" id="32" idx="6"/>
            <a:endCxn xmlns:a="http://schemas.openxmlformats.org/drawingml/2006/main" id="33" idx="2"/>
          </p:cNvCxnSpPr>
          <p:nvPr/>
        </p:nvCxnSpPr>
        <p:spPr>
          <a:xfrm xmlns:a="http://schemas.openxmlformats.org/drawingml/2006/main" flipV="1">
            <a:off x="1876425" y="4457700"/>
            <a:ext cx="1247775" cy="495300"/>
          </a:xfrm>
          <a:prstGeom xmlns:a="http://schemas.openxmlformats.org/drawingml/2006/main" prst="straightConnector1">
            <a:avLst/>
          </a:prstGeom>
          <a:ln xmlns:a="http://schemas.openxmlformats.org/drawingml/2006/main" w="47625">
            <a:solidFill>
              <a:srgbClr val="137B77"/>
            </a:solidFill>
            <a:prstDash val="solid"/>
            <a:headEnd type="none" w="med" len="med"/>
            <a:tailEnd type="triangle" w="sm" len="sm"/>
          </a:ln>
        </p:spPr>
      </p:cxnSp>
      <p:cxnSp>
        <p:nvCxnSpPr>
          <p:cNvPr id="83" name=""/>
          <p:cNvCxnSpPr>
            <a:stCxn xmlns:a="http://schemas.openxmlformats.org/drawingml/2006/main" id="33" idx="6"/>
            <a:endCxn xmlns:a="http://schemas.openxmlformats.org/drawingml/2006/main" id="34" idx="2"/>
          </p:cNvCxnSpPr>
          <p:nvPr/>
        </p:nvCxnSpPr>
        <p:spPr>
          <a:xfrm xmlns:a="http://schemas.openxmlformats.org/drawingml/2006/main">
            <a:off x="3638550" y="4457700"/>
            <a:ext cx="1485900" cy="571500"/>
          </a:xfrm>
          <a:prstGeom xmlns:a="http://schemas.openxmlformats.org/drawingml/2006/main" prst="straightConnector1">
            <a:avLst/>
          </a:prstGeom>
          <a:ln xmlns:a="http://schemas.openxmlformats.org/drawingml/2006/main" w="47625">
            <a:solidFill>
              <a:srgbClr val="137B77"/>
            </a:solidFill>
            <a:prstDash val="solid"/>
            <a:headEnd type="none" w="med" len="med"/>
            <a:tailEnd type="triangle" w="sm" len="sm"/>
          </a:ln>
        </p:spPr>
      </p:cxnSp>
      <p:cxnSp>
        <p:nvCxnSpPr>
          <p:cNvPr id="84" name=""/>
          <p:cNvCxnSpPr>
            <a:stCxn xmlns:a="http://schemas.openxmlformats.org/drawingml/2006/main" id="34" idx="6"/>
            <a:endCxn xmlns:a="http://schemas.openxmlformats.org/drawingml/2006/main" id="35" idx="2"/>
          </p:cNvCxnSpPr>
          <p:nvPr/>
        </p:nvCxnSpPr>
        <p:spPr>
          <a:xfrm xmlns:a="http://schemas.openxmlformats.org/drawingml/2006/main" flipV="1">
            <a:off x="5638800" y="4333875"/>
            <a:ext cx="1628775" cy="695325"/>
          </a:xfrm>
          <a:prstGeom xmlns:a="http://schemas.openxmlformats.org/drawingml/2006/main" prst="straightConnector1">
            <a:avLst/>
          </a:prstGeom>
          <a:ln xmlns:a="http://schemas.openxmlformats.org/drawingml/2006/main" w="47625">
            <a:solidFill>
              <a:srgbClr val="137B77"/>
            </a:solidFill>
            <a:prstDash val="solid"/>
            <a:headEnd type="none" w="med" len="med"/>
            <a:tailEnd type="triangle" w="sm" len="sm"/>
          </a:ln>
        </p:spPr>
      </p:cxnSp>
      <p:cxnSp>
        <p:nvCxnSpPr>
          <p:cNvPr id="85" name=""/>
          <p:cNvCxnSpPr>
            <a:stCxn xmlns:a="http://schemas.openxmlformats.org/drawingml/2006/main" id="35" idx="6"/>
            <a:endCxn xmlns:a="http://schemas.openxmlformats.org/drawingml/2006/main" id="36" idx="2"/>
          </p:cNvCxnSpPr>
          <p:nvPr/>
        </p:nvCxnSpPr>
        <p:spPr>
          <a:xfrm xmlns:a="http://schemas.openxmlformats.org/drawingml/2006/main">
            <a:off x="7781925" y="4333875"/>
            <a:ext cx="2009775" cy="619125"/>
          </a:xfrm>
          <a:prstGeom xmlns:a="http://schemas.openxmlformats.org/drawingml/2006/main" prst="straightConnector1">
            <a:avLst/>
          </a:prstGeom>
          <a:ln xmlns:a="http://schemas.openxmlformats.org/drawingml/2006/main" w="47625">
            <a:solidFill>
              <a:srgbClr val="137B77"/>
            </a:solidFill>
            <a:prstDash val="solid"/>
            <a:headEnd type="none" w="med" len="med"/>
            <a:tailEnd type="triangle" w="sm" len="sm"/>
          </a:ln>
        </p:spPr>
      </p:cxnSp>
      <p:sp>
        <p:nvSpPr>
          <p:cNvPr id="41" name="">
            <a:extLst xmlns:a="http://schemas.openxmlformats.org/drawingml/2006/main">
              <a:ext uri="{FF2B5EF4-FFF2-40B4-BE49-F238E27FC236}">
                <a16:creationId xmlns:a16="http://schemas.microsoft.com/office/drawing/2014/main" id="{287143F0-7822-49D4-AFAB-028238371E9A}"/>
              </a:ext>
            </a:extLst>
          </p:cNvPr>
          <p:cNvSpPr>
            <a:spLocks xmlns:a="http://schemas.openxmlformats.org/drawingml/2006/main" noGrp="1"/>
          </p:cNvSpPr>
          <p:nvPr/>
        </p:nvSpPr>
        <p:spPr>
          <a:xfrm xmlns:a="http://schemas.openxmlformats.org/drawingml/2006/main" rot="0">
            <a:off x="1000125" y="54483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37B77"/>
                </a:solidFill>
                <a:latin typeface="Aptos"/>
                <a:ea typeface="Aptos"/>
                <a:cs typeface="Aptos"/>
              </a:defRPr>
            </a:pPr>
            <a:r>
              <a:rPr sz="1350" b="1" i="0">
                <a:solidFill>
                  <a:srgbClr val="137B77"/>
                </a:solidFill>
                <a:latin typeface="Aptos"/>
                <a:ea typeface="Aptos"/>
                <a:cs typeface="Aptos"/>
              </a:rPr>
              <a:t>No revisits</a:t>
            </a:r>
          </a:p>
        </p:txBody>
      </p:sp>
      <p:sp>
        <p:nvSpPr>
          <p:cNvPr id="42" name="">
            <a:extLst xmlns:a="http://schemas.openxmlformats.org/drawingml/2006/main">
              <a:ext uri="{FF2B5EF4-FFF2-40B4-BE49-F238E27FC236}">
                <a16:creationId xmlns:a16="http://schemas.microsoft.com/office/drawing/2014/main" id="{D529BF4C-FC82-472A-B182-F87A0009612D}"/>
              </a:ext>
            </a:extLst>
          </p:cNvPr>
          <p:cNvSpPr>
            <a:spLocks xmlns:a="http://schemas.openxmlformats.org/drawingml/2006/main" noGrp="1"/>
          </p:cNvSpPr>
          <p:nvPr/>
        </p:nvSpPr>
        <p:spPr>
          <a:xfrm xmlns:a="http://schemas.openxmlformats.org/drawingml/2006/main" rot="0">
            <a:off x="8382000" y="54483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F28C45"/>
                </a:solidFill>
                <a:latin typeface="Aptos"/>
                <a:ea typeface="Aptos"/>
                <a:cs typeface="Aptos"/>
              </a:defRPr>
            </a:pPr>
            <a:r>
              <a:rPr sz="1350" b="1" i="0">
                <a:solidFill>
                  <a:srgbClr val="F28C45"/>
                </a:solidFill>
                <a:latin typeface="Aptos"/>
                <a:ea typeface="Aptos"/>
                <a:cs typeface="Aptos"/>
              </a:rPr>
              <a:t>Destination reserved for the last step</a:t>
            </a:r>
          </a:p>
        </p:txBody>
      </p:sp>
      <p:sp>
        <p:nvSpPr>
          <p:cNvPr id="43" name="">
            <a:extLst xmlns:a="http://schemas.openxmlformats.org/drawingml/2006/main">
              <a:ext uri="{FF2B5EF4-FFF2-40B4-BE49-F238E27FC236}">
                <a16:creationId xmlns:a16="http://schemas.microsoft.com/office/drawing/2014/main" id="{597C69EC-3546-4669-BB22-0AD81F8F434D}"/>
              </a:ext>
            </a:extLst>
          </p:cNvPr>
          <p:cNvSpPr>
            <a:spLocks xmlns:a="http://schemas.openxmlformats.org/drawingml/2006/main" noGrp="1"/>
          </p:cNvSpPr>
          <p:nvPr/>
        </p:nvSpPr>
        <p:spPr>
          <a:xfrm xmlns:a="http://schemas.openxmlformats.org/drawingml/2006/main">
            <a:off x="4381500" y="5638800"/>
            <a:ext cx="3333750" cy="400050"/>
          </a:xfrm>
          <a:prstGeom xmlns:a="http://schemas.openxmlformats.org/drawingml/2006/main" prst="roundRect">
            <a:avLst>
              <a:gd name="adj" fmla="val 38095"/>
            </a:avLst>
          </a:prstGeom>
          <a:solidFill xmlns:a="http://schemas.openxmlformats.org/drawingml/2006/main">
            <a:srgbClr val="0B1F33"/>
          </a:solidFill>
          <a:ln xmlns:a="http://schemas.openxmlformats.org/drawingml/2006/main" w="9525">
            <a:solidFill>
              <a:srgbClr val="0B1F33"/>
            </a:solidFill>
            <a:prstDash val="solid"/>
          </a:ln>
        </p:spPr>
      </p:sp>
      <p:sp>
        <p:nvSpPr>
          <p:cNvPr id="44" name="">
            <a:extLst xmlns:a="http://schemas.openxmlformats.org/drawingml/2006/main">
              <a:ext uri="{FF2B5EF4-FFF2-40B4-BE49-F238E27FC236}">
                <a16:creationId xmlns:a16="http://schemas.microsoft.com/office/drawing/2014/main" id="{031D67BF-499A-4339-9FF9-3BD5B1F32BC1}"/>
              </a:ext>
            </a:extLst>
          </p:cNvPr>
          <p:cNvSpPr>
            <a:spLocks xmlns:a="http://schemas.openxmlformats.org/drawingml/2006/main" noGrp="1"/>
          </p:cNvSpPr>
          <p:nvPr/>
        </p:nvSpPr>
        <p:spPr>
          <a:xfrm xmlns:a="http://schemas.openxmlformats.org/drawingml/2006/main" rot="0">
            <a:off x="4591050" y="5705475"/>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FFFFFF"/>
                </a:solidFill>
                <a:latin typeface="Aptos"/>
                <a:ea typeface="Aptos"/>
                <a:cs typeface="Aptos"/>
              </a:defRPr>
            </a:pPr>
            <a:r>
              <a:rPr sz="1350" b="1" i="0">
                <a:solidFill>
                  <a:srgbClr val="FFFFFF"/>
                </a:solidFill>
                <a:latin typeface="Aptos"/>
                <a:ea typeface="Aptos"/>
                <a:cs typeface="Aptos"/>
              </a:rPr>
              <a:t>Same checkpoint · zero extra training</a:t>
            </a:r>
          </a:p>
        </p:txBody>
      </p:sp>
      <p:sp>
        <p:nvSpPr>
          <p:cNvPr id="45" name="">
            <a:extLst xmlns:a="http://schemas.openxmlformats.org/drawingml/2006/main">
              <a:ext uri="{FF2B5EF4-FFF2-40B4-BE49-F238E27FC236}">
                <a16:creationId xmlns:a16="http://schemas.microsoft.com/office/drawing/2014/main" id="{6544BB01-E732-40D8-B7EA-6B2C87B95F33}"/>
              </a:ext>
            </a:extLst>
          </p:cNvPr>
          <p:cNvSpPr>
            <a:spLocks xmlns:a="http://schemas.openxmlformats.org/drawingml/2006/main" noGrp="1"/>
          </p:cNvSpPr>
          <p:nvPr/>
        </p:nvSpPr>
        <p:spPr>
          <a:xfrm xmlns:a="http://schemas.openxmlformats.org/drawingml/2006/main" rot="0">
            <a:off x="609600" y="6210300"/>
            <a:ext cx="10668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50" b="0" i="1">
                <a:solidFill>
                  <a:srgbClr val="5A6C79"/>
                </a:solidFill>
                <a:latin typeface="Aptos"/>
                <a:ea typeface="Aptos"/>
                <a:cs typeface="Aptos"/>
              </a:defRPr>
            </a:pPr>
            <a:r>
              <a:rPr sz="750" b="0" i="1">
                <a:solidFill>
                  <a:srgbClr val="5A6C79"/>
                </a:solidFill>
                <a:latin typeface="Aptos"/>
                <a:ea typeface="Aptos"/>
                <a:cs typeface="Aptos"/>
              </a:rPr>
              <a:t>Source: Thesis Section 3.5. Decode-time constraints: loop-free, fixed endpoints, requested length.</a:t>
            </a:r>
          </a:p>
        </p:txBody>
      </p:sp>
    </p:spTree>
    <p:extLst>
      <p:ext uri="{BB962C8B-B14F-4D97-AF65-F5344CB8AC3E}">
        <p14:creationId xmlns:p14="http://schemas.microsoft.com/office/powerpoint/2010/main" val="392202155"/>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43" name="eyebrow">
            <a:extLst xmlns:a="http://schemas.openxmlformats.org/drawingml/2006/main">
              <a:ext uri="{FF2B5EF4-FFF2-40B4-BE49-F238E27FC236}">
                <a16:creationId xmlns:a16="http://schemas.microsoft.com/office/drawing/2014/main" id="{5F96EE75-F7AB-47B8-8A36-D65FBF92E8CD}"/>
              </a:ext>
            </a:extLst>
          </p:cNvPr>
          <p:cNvSpPr>
            <a:spLocks xmlns:a="http://schemas.openxmlformats.org/drawingml/2006/main" noGrp="1"/>
          </p:cNvSpPr>
          <p:nvPr/>
        </p:nvSpPr>
        <p:spPr>
          <a:xfrm xmlns:a="http://schemas.openxmlformats.org/drawingml/2006/main" rot="0">
            <a:off x="6096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i="0">
                <a:solidFill>
                  <a:srgbClr val="137B77"/>
                </a:solidFill>
                <a:latin typeface="Aptos"/>
                <a:ea typeface="Aptos"/>
                <a:cs typeface="Aptos"/>
              </a:defRPr>
            </a:pPr>
            <a:r>
              <a:rPr sz="975" b="1" i="0">
                <a:solidFill>
                  <a:srgbClr val="137B77"/>
                </a:solidFill>
                <a:latin typeface="Aptos"/>
                <a:ea typeface="Aptos"/>
                <a:cs typeface="Aptos"/>
              </a:rPr>
              <a:t>4 · IMPLEMENTATION AND EVALUATION</a:t>
            </a:r>
          </a:p>
        </p:txBody>
      </p:sp>
      <p:sp>
        <p:nvSpPr>
          <p:cNvPr id="2" name="slide-title">
            <a:extLst xmlns:a="http://schemas.openxmlformats.org/drawingml/2006/main">
              <a:ext uri="{FF2B5EF4-FFF2-40B4-BE49-F238E27FC236}">
                <a16:creationId xmlns:a16="http://schemas.microsoft.com/office/drawing/2014/main" id="{06614388-C356-48EA-936B-4920945FDF3D}"/>
              </a:ext>
            </a:extLst>
          </p:cNvPr>
          <p:cNvSpPr>
            <a:spLocks xmlns:a="http://schemas.openxmlformats.org/drawingml/2006/main" noGrp="1"/>
          </p:cNvSpPr>
          <p:nvPr/>
        </p:nvSpPr>
        <p:spPr>
          <a:xfrm xmlns:a="http://schemas.openxmlformats.org/drawingml/2006/main" rot="0">
            <a:off x="609600" y="5905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850" b="1" i="0">
                <a:solidFill>
                  <a:srgbClr val="0B1F33"/>
                </a:solidFill>
                <a:latin typeface="Aptos"/>
                <a:ea typeface="Aptos"/>
                <a:cs typeface="Aptos"/>
              </a:defRPr>
            </a:pPr>
            <a:r>
              <a:rPr sz="2850" b="1" i="0">
                <a:solidFill>
                  <a:srgbClr val="0B1F33"/>
                </a:solidFill>
                <a:latin typeface="Aptos"/>
                <a:ea typeface="Aptos"/>
                <a:cs typeface="Aptos"/>
              </a:rPr>
              <a:t>The engine is competitive, but not state of the art</a:t>
            </a:r>
          </a:p>
        </p:txBody>
      </p:sp>
      <p:sp>
        <p:nvSpPr>
          <p:cNvPr id="3" name="title-accent">
            <a:extLst xmlns:a="http://schemas.openxmlformats.org/drawingml/2006/main">
              <a:ext uri="{FF2B5EF4-FFF2-40B4-BE49-F238E27FC236}">
                <a16:creationId xmlns:a16="http://schemas.microsoft.com/office/drawing/2014/main" id="{116D6D38-E50F-4BFB-9813-5453DA7C7975}"/>
              </a:ext>
            </a:extLst>
          </p:cNvPr>
          <p:cNvSpPr>
            <a:spLocks xmlns:a="http://schemas.openxmlformats.org/drawingml/2006/main" noGrp="1"/>
          </p:cNvSpPr>
          <p:nvPr/>
        </p:nvSpPr>
        <p:spPr>
          <a:xfrm xmlns:a="http://schemas.openxmlformats.org/drawingml/2006/main">
            <a:off x="609600" y="1219200"/>
            <a:ext cx="876300" cy="47625"/>
          </a:xfrm>
          <a:prstGeom xmlns:a="http://schemas.openxmlformats.org/drawingml/2006/main" prst="rect">
            <a:avLst/>
          </a:prstGeom>
          <a:solidFill xmlns:a="http://schemas.openxmlformats.org/drawingml/2006/main">
            <a:srgbClr val="1FA6A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2E54F66-4EFC-4DE6-8128-A362A53E3467}"/>
              </a:ext>
            </a:extLst>
          </p:cNvPr>
          <p:cNvSpPr>
            <a:spLocks xmlns:a="http://schemas.openxmlformats.org/drawingml/2006/main" noGrp="1"/>
          </p:cNvSpPr>
          <p:nvPr/>
        </p:nvSpPr>
        <p:spPr>
          <a:xfrm xmlns:a="http://schemas.openxmlformats.org/drawingml/2006/main" flipV="0">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4E9"/>
            </a:solidFill>
            <a:prstDash val="solid"/>
          </a:ln>
        </p:spPr>
      </p:sp>
      <p:sp>
        <p:nvSpPr>
          <p:cNvPr id="5" name="">
            <a:extLst xmlns:a="http://schemas.openxmlformats.org/drawingml/2006/main">
              <a:ext uri="{FF2B5EF4-FFF2-40B4-BE49-F238E27FC236}">
                <a16:creationId xmlns:a16="http://schemas.microsoft.com/office/drawing/2014/main" id="{E5B616A4-0F51-4290-A64A-716FD93BF91D}"/>
              </a:ext>
            </a:extLst>
          </p:cNvPr>
          <p:cNvSpPr>
            <a:spLocks xmlns:a="http://schemas.openxmlformats.org/drawingml/2006/main" noGrp="1"/>
          </p:cNvSpPr>
          <p:nvPr/>
        </p:nvSpPr>
        <p:spPr>
          <a:xfrm xmlns:a="http://schemas.openxmlformats.org/drawingml/2006/main" rot="0">
            <a:off x="609600" y="655320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Ayman Naaimi · ENSAM Meknes</a:t>
            </a:r>
          </a:p>
        </p:txBody>
      </p:sp>
      <p:sp>
        <p:nvSpPr>
          <p:cNvPr id="6" name="">
            <a:extLst xmlns:a="http://schemas.openxmlformats.org/drawingml/2006/main">
              <a:ext uri="{FF2B5EF4-FFF2-40B4-BE49-F238E27FC236}">
                <a16:creationId xmlns:a16="http://schemas.microsoft.com/office/drawing/2014/main" id="{C8EAEF0D-2A0D-4BC7-88C6-85B15D13BAF0}"/>
              </a:ext>
            </a:extLst>
          </p:cNvPr>
          <p:cNvSpPr>
            <a:spLocks xmlns:a="http://schemas.openxmlformats.org/drawingml/2006/main" noGrp="1"/>
          </p:cNvSpPr>
          <p:nvPr/>
        </p:nvSpPr>
        <p:spPr>
          <a:xfrm xmlns:a="http://schemas.openxmlformats.org/drawingml/2006/main" rot="0">
            <a:off x="10572750" y="6553200"/>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7 / 10</a:t>
            </a:r>
          </a:p>
        </p:txBody>
      </p:sp>
      <p:sp>
        <p:nvSpPr>
          <p:cNvPr id="7" name="">
            <a:extLst xmlns:a="http://schemas.openxmlformats.org/drawingml/2006/main">
              <a:ext uri="{FF2B5EF4-FFF2-40B4-BE49-F238E27FC236}">
                <a16:creationId xmlns:a16="http://schemas.microsoft.com/office/drawing/2014/main" id="{8792B659-1E64-42BA-B7F2-1BB8AB7077D5}"/>
              </a:ext>
            </a:extLst>
          </p:cNvPr>
          <p:cNvSpPr>
            <a:spLocks xmlns:a="http://schemas.openxmlformats.org/drawingml/2006/main" noGrp="1"/>
          </p:cNvSpPr>
          <p:nvPr/>
        </p:nvSpPr>
        <p:spPr>
          <a:xfrm xmlns:a="http://schemas.openxmlformats.org/drawingml/2006/main">
            <a:off x="666750" y="1657350"/>
            <a:ext cx="2333625" cy="4000500"/>
          </a:xfrm>
          <a:prstGeom xmlns:a="http://schemas.openxmlformats.org/drawingml/2006/main" prst="roundRect">
            <a:avLst>
              <a:gd name="adj" fmla="val 9796"/>
            </a:avLst>
          </a:prstGeom>
          <a:solidFill xmlns:a="http://schemas.openxmlformats.org/drawingml/2006/main">
            <a:srgbClr val="0B1F33"/>
          </a:solidFill>
          <a:ln xmlns:a="http://schemas.openxmlformats.org/drawingml/2006/main" w="9525">
            <a:solidFill>
              <a:srgbClr val="0B1F33"/>
            </a:solidFill>
            <a:prstDash val="solid"/>
          </a:ln>
        </p:spPr>
      </p:sp>
      <p:sp>
        <p:nvSpPr>
          <p:cNvPr id="8" name="">
            <a:extLst xmlns:a="http://schemas.openxmlformats.org/drawingml/2006/main">
              <a:ext uri="{FF2B5EF4-FFF2-40B4-BE49-F238E27FC236}">
                <a16:creationId xmlns:a16="http://schemas.microsoft.com/office/drawing/2014/main" id="{A5FCB274-F7C8-4347-9AC4-006F657DDF7C}"/>
              </a:ext>
            </a:extLst>
          </p:cNvPr>
          <p:cNvSpPr>
            <a:spLocks xmlns:a="http://schemas.openxmlformats.org/drawingml/2006/main" noGrp="1"/>
          </p:cNvSpPr>
          <p:nvPr/>
        </p:nvSpPr>
        <p:spPr>
          <a:xfrm xmlns:a="http://schemas.openxmlformats.org/drawingml/2006/main" rot="0">
            <a:off x="876300" y="2114550"/>
            <a:ext cx="190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4800" b="1" i="0">
                <a:solidFill>
                  <a:srgbClr val="FFFFFF"/>
                </a:solidFill>
                <a:latin typeface="Aptos"/>
                <a:ea typeface="Aptos"/>
                <a:cs typeface="Aptos"/>
              </a:defRPr>
            </a:pPr>
            <a:r>
              <a:rPr sz="4800" b="1" i="0">
                <a:solidFill>
                  <a:srgbClr val="FFFFFF"/>
                </a:solidFill>
                <a:latin typeface="Aptos"/>
                <a:ea typeface="Aptos"/>
                <a:cs typeface="Aptos"/>
              </a:rPr>
              <a:t>0.187</a:t>
            </a:r>
          </a:p>
        </p:txBody>
      </p:sp>
      <p:sp>
        <p:nvSpPr>
          <p:cNvPr id="9" name="">
            <a:extLst xmlns:a="http://schemas.openxmlformats.org/drawingml/2006/main">
              <a:ext uri="{FF2B5EF4-FFF2-40B4-BE49-F238E27FC236}">
                <a16:creationId xmlns:a16="http://schemas.microsoft.com/office/drawing/2014/main" id="{F67517A9-CA8C-4BF7-ACEE-2A08E04A4EC7}"/>
              </a:ext>
            </a:extLst>
          </p:cNvPr>
          <p:cNvSpPr>
            <a:spLocks xmlns:a="http://schemas.openxmlformats.org/drawingml/2006/main" noGrp="1"/>
          </p:cNvSpPr>
          <p:nvPr/>
        </p:nvSpPr>
        <p:spPr>
          <a:xfrm xmlns:a="http://schemas.openxmlformats.org/drawingml/2006/main" rot="0">
            <a:off x="876300" y="3009900"/>
            <a:ext cx="190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025" b="1" i="0">
                <a:solidFill>
                  <a:srgbClr val="DDF3F1"/>
                </a:solidFill>
                <a:latin typeface="Aptos"/>
                <a:ea typeface="Aptos"/>
                <a:cs typeface="Aptos"/>
              </a:defRPr>
            </a:pPr>
            <a:r>
              <a:rPr sz="2025" b="1" i="0">
                <a:solidFill>
                  <a:srgbClr val="DDF3F1"/>
                </a:solidFill>
                <a:latin typeface="Aptos"/>
                <a:ea typeface="Aptos"/>
                <a:cs typeface="Aptos"/>
              </a:rPr>
              <a:t>HR@1</a:t>
            </a:r>
          </a:p>
        </p:txBody>
      </p:sp>
      <p:sp>
        <p:nvSpPr>
          <p:cNvPr id="10" name="">
            <a:extLst xmlns:a="http://schemas.openxmlformats.org/drawingml/2006/main">
              <a:ext uri="{FF2B5EF4-FFF2-40B4-BE49-F238E27FC236}">
                <a16:creationId xmlns:a16="http://schemas.microsoft.com/office/drawing/2014/main" id="{42AA003D-4C70-436D-9B80-5C9F3D425BB6}"/>
              </a:ext>
            </a:extLst>
          </p:cNvPr>
          <p:cNvSpPr>
            <a:spLocks xmlns:a="http://schemas.openxmlformats.org/drawingml/2006/main" noGrp="1"/>
          </p:cNvSpPr>
          <p:nvPr/>
        </p:nvSpPr>
        <p:spPr>
          <a:xfrm xmlns:a="http://schemas.openxmlformats.org/drawingml/2006/main" rot="0">
            <a:off x="904875" y="3619500"/>
            <a:ext cx="18478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298"/>
          </a:bodyPr>
          <a:lstStyle xmlns:a="http://schemas.openxmlformats.org/drawingml/2006/main"/>
          <a:p xmlns:a="http://schemas.openxmlformats.org/drawingml/2006/main">
            <a:pPr algn="ctr">
              <a:lnSpc>
                <a:spcPct val="100000"/>
              </a:lnSpc>
              <a:buNone/>
              <a:defRPr sz="1425" b="0" i="0">
                <a:solidFill>
                  <a:srgbClr val="D9E6EF"/>
                </a:solidFill>
                <a:latin typeface="Aptos"/>
                <a:ea typeface="Aptos"/>
                <a:cs typeface="Aptos"/>
              </a:defRPr>
            </a:pPr>
            <a:r>
              <a:rPr sz="1425" b="0" i="0">
                <a:solidFill>
                  <a:srgbClr val="D9E6EF"/>
                </a:solidFill>
                <a:latin typeface="Aptos"/>
                <a:ea typeface="Aptos"/>
                <a:cs typeface="Aptos"/>
              </a:rPr>
              <a:t>Exact next POI ranked first</a:t>
            </a:r>
          </a:p>
          <a:p xmlns:a="http://schemas.openxmlformats.org/drawingml/2006/main">
            <a:pPr algn="ctr">
              <a:lnSpc>
                <a:spcPct val="100000"/>
              </a:lnSpc>
              <a:buNone/>
              <a:defRPr sz="1425" b="0" i="0">
                <a:solidFill>
                  <a:srgbClr val="D9E6EF"/>
                </a:solidFill>
                <a:latin typeface="Aptos"/>
                <a:ea typeface="Aptos"/>
                <a:cs typeface="Aptos"/>
              </a:defRPr>
            </a:pPr>
            <a:r>
              <a:rPr sz="1425" b="0" i="0">
                <a:solidFill>
                  <a:srgbClr val="D9E6EF"/>
                </a:solidFill>
                <a:latin typeface="Aptos"/>
                <a:ea typeface="Aptos"/>
                <a:cs typeface="Aptos"/>
              </a:rPr>
              <a:t>~1 time in 5 among ~5,100</a:t>
            </a:r>
          </a:p>
        </p:txBody>
      </p:sp>
      <p:sp>
        <p:nvSpPr>
          <p:cNvPr id="11" name="">
            <a:extLst xmlns:a="http://schemas.openxmlformats.org/drawingml/2006/main">
              <a:ext uri="{FF2B5EF4-FFF2-40B4-BE49-F238E27FC236}">
                <a16:creationId xmlns:a16="http://schemas.microsoft.com/office/drawing/2014/main" id="{08F9C2CE-647B-4564-AC88-222E6410264F}"/>
              </a:ext>
            </a:extLst>
          </p:cNvPr>
          <p:cNvSpPr>
            <a:spLocks xmlns:a="http://schemas.openxmlformats.org/drawingml/2006/main" noGrp="1"/>
          </p:cNvSpPr>
          <p:nvPr/>
        </p:nvSpPr>
        <p:spPr>
          <a:xfrm xmlns:a="http://schemas.openxmlformats.org/drawingml/2006/main">
            <a:off x="1028700" y="4762500"/>
            <a:ext cx="1600200" cy="38100"/>
          </a:xfrm>
          <a:prstGeom xmlns:a="http://schemas.openxmlformats.org/drawingml/2006/main" prst="rect">
            <a:avLst/>
          </a:prstGeom>
          <a:solidFill xmlns:a="http://schemas.openxmlformats.org/drawingml/2006/main">
            <a:srgbClr val="F28C4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3A8BE36-9298-4998-98FF-266559DCDA82}"/>
              </a:ext>
            </a:extLst>
          </p:cNvPr>
          <p:cNvSpPr>
            <a:spLocks xmlns:a="http://schemas.openxmlformats.org/drawingml/2006/main" noGrp="1"/>
          </p:cNvSpPr>
          <p:nvPr/>
        </p:nvSpPr>
        <p:spPr>
          <a:xfrm xmlns:a="http://schemas.openxmlformats.org/drawingml/2006/main" rot="0">
            <a:off x="914400" y="4953000"/>
            <a:ext cx="1828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ptos"/>
                <a:ea typeface="Aptos"/>
                <a:cs typeface="Aptos"/>
              </a:defRPr>
            </a:pPr>
            <a:r>
              <a:rPr sz="1500" b="1" i="0">
                <a:solidFill>
                  <a:srgbClr val="FFFFFF"/>
                </a:solidFill>
                <a:latin typeface="Aptos"/>
                <a:ea typeface="Aptos"/>
                <a:cs typeface="Aptos"/>
              </a:rPr>
              <a:t>HR@10 = 0.588</a:t>
            </a:r>
          </a:p>
        </p:txBody>
      </p:sp>
      <p:sp>
        <p:nvSpPr>
          <p:cNvPr id="13" name="">
            <a:extLst xmlns:a="http://schemas.openxmlformats.org/drawingml/2006/main">
              <a:ext uri="{FF2B5EF4-FFF2-40B4-BE49-F238E27FC236}">
                <a16:creationId xmlns:a16="http://schemas.microsoft.com/office/drawing/2014/main" id="{FE45928A-4D66-47DE-AE58-5FA4D4126719}"/>
              </a:ext>
            </a:extLst>
          </p:cNvPr>
          <p:cNvSpPr>
            <a:spLocks xmlns:a="http://schemas.openxmlformats.org/drawingml/2006/main" noGrp="1"/>
          </p:cNvSpPr>
          <p:nvPr/>
        </p:nvSpPr>
        <p:spPr>
          <a:xfrm xmlns:a="http://schemas.openxmlformats.org/drawingml/2006/main" rot="0">
            <a:off x="3219450" y="1743075"/>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LLM4POI</a:t>
            </a:r>
          </a:p>
        </p:txBody>
      </p:sp>
      <p:sp>
        <p:nvSpPr>
          <p:cNvPr id="14" name="">
            <a:extLst xmlns:a="http://schemas.openxmlformats.org/drawingml/2006/main">
              <a:ext uri="{FF2B5EF4-FFF2-40B4-BE49-F238E27FC236}">
                <a16:creationId xmlns:a16="http://schemas.microsoft.com/office/drawing/2014/main" id="{B8E53AA4-006B-4BA4-88DF-4B88125DDD02}"/>
              </a:ext>
            </a:extLst>
          </p:cNvPr>
          <p:cNvSpPr>
            <a:spLocks xmlns:a="http://schemas.openxmlformats.org/drawingml/2006/main" noGrp="1"/>
          </p:cNvSpPr>
          <p:nvPr/>
        </p:nvSpPr>
        <p:spPr>
          <a:xfrm xmlns:a="http://schemas.openxmlformats.org/drawingml/2006/main">
            <a:off x="4667250" y="1695450"/>
            <a:ext cx="6191250" cy="323850"/>
          </a:xfrm>
          <a:prstGeom xmlns:a="http://schemas.openxmlformats.org/drawingml/2006/main" prst="rect">
            <a:avLst/>
          </a:prstGeom>
          <a:solidFill xmlns:a="http://schemas.openxmlformats.org/drawingml/2006/main">
            <a:srgbClr val="E7ECE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AA79E62-D532-4CD6-870E-EF4F1BE0A2E9}"/>
              </a:ext>
            </a:extLst>
          </p:cNvPr>
          <p:cNvSpPr>
            <a:spLocks xmlns:a="http://schemas.openxmlformats.org/drawingml/2006/main" noGrp="1"/>
          </p:cNvSpPr>
          <p:nvPr/>
        </p:nvSpPr>
        <p:spPr>
          <a:xfrm xmlns:a="http://schemas.openxmlformats.org/drawingml/2006/main">
            <a:off x="4667250" y="1695450"/>
            <a:ext cx="5847292" cy="323850"/>
          </a:xfrm>
          <a:prstGeom xmlns:a="http://schemas.openxmlformats.org/drawingml/2006/main" prst="rect">
            <a:avLst/>
          </a:prstGeom>
          <a:solidFill xmlns:a="http://schemas.openxmlformats.org/drawingml/2006/main">
            <a:srgbClr val="153B5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7AA5943-418A-4EB7-B354-68199B3F67C6}"/>
              </a:ext>
            </a:extLst>
          </p:cNvPr>
          <p:cNvSpPr>
            <a:spLocks xmlns:a="http://schemas.openxmlformats.org/drawingml/2006/main" noGrp="1"/>
          </p:cNvSpPr>
          <p:nvPr/>
        </p:nvSpPr>
        <p:spPr>
          <a:xfrm xmlns:a="http://schemas.openxmlformats.org/drawingml/2006/main" rot="0">
            <a:off x="10609792" y="17240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142632"/>
                </a:solidFill>
                <a:latin typeface="Aptos"/>
                <a:ea typeface="Aptos"/>
                <a:cs typeface="Aptos"/>
              </a:defRPr>
            </a:pPr>
            <a:r>
              <a:rPr sz="1275" b="1" i="0">
                <a:solidFill>
                  <a:srgbClr val="142632"/>
                </a:solidFill>
                <a:latin typeface="Aptos"/>
                <a:ea typeface="Aptos"/>
                <a:cs typeface="Aptos"/>
              </a:rPr>
              <a:t>0.340</a:t>
            </a:r>
          </a:p>
        </p:txBody>
      </p:sp>
      <p:sp>
        <p:nvSpPr>
          <p:cNvPr id="17" name="">
            <a:extLst xmlns:a="http://schemas.openxmlformats.org/drawingml/2006/main">
              <a:ext uri="{FF2B5EF4-FFF2-40B4-BE49-F238E27FC236}">
                <a16:creationId xmlns:a16="http://schemas.microsoft.com/office/drawing/2014/main" id="{04A10073-7A33-48CC-BC8A-780C69D15C65}"/>
              </a:ext>
            </a:extLst>
          </p:cNvPr>
          <p:cNvSpPr>
            <a:spLocks xmlns:a="http://schemas.openxmlformats.org/drawingml/2006/main" noGrp="1"/>
          </p:cNvSpPr>
          <p:nvPr/>
        </p:nvSpPr>
        <p:spPr>
          <a:xfrm xmlns:a="http://schemas.openxmlformats.org/drawingml/2006/main" rot="0">
            <a:off x="3219450" y="2305050"/>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STHGCN</a:t>
            </a:r>
          </a:p>
        </p:txBody>
      </p:sp>
      <p:sp>
        <p:nvSpPr>
          <p:cNvPr id="18" name="">
            <a:extLst xmlns:a="http://schemas.openxmlformats.org/drawingml/2006/main">
              <a:ext uri="{FF2B5EF4-FFF2-40B4-BE49-F238E27FC236}">
                <a16:creationId xmlns:a16="http://schemas.microsoft.com/office/drawing/2014/main" id="{36A24A77-B1DE-418E-AA9A-CA35CCF8A717}"/>
              </a:ext>
            </a:extLst>
          </p:cNvPr>
          <p:cNvSpPr>
            <a:spLocks xmlns:a="http://schemas.openxmlformats.org/drawingml/2006/main" noGrp="1"/>
          </p:cNvSpPr>
          <p:nvPr/>
        </p:nvSpPr>
        <p:spPr>
          <a:xfrm xmlns:a="http://schemas.openxmlformats.org/drawingml/2006/main">
            <a:off x="4667250" y="2257425"/>
            <a:ext cx="6191250" cy="323850"/>
          </a:xfrm>
          <a:prstGeom xmlns:a="http://schemas.openxmlformats.org/drawingml/2006/main" prst="rect">
            <a:avLst/>
          </a:prstGeom>
          <a:solidFill xmlns:a="http://schemas.openxmlformats.org/drawingml/2006/main">
            <a:srgbClr val="E7ECE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4527C77-E469-40DE-9CF1-8863672C3B45}"/>
              </a:ext>
            </a:extLst>
          </p:cNvPr>
          <p:cNvSpPr>
            <a:spLocks xmlns:a="http://schemas.openxmlformats.org/drawingml/2006/main" noGrp="1"/>
          </p:cNvSpPr>
          <p:nvPr/>
        </p:nvSpPr>
        <p:spPr>
          <a:xfrm xmlns:a="http://schemas.openxmlformats.org/drawingml/2006/main">
            <a:off x="4667250" y="2257425"/>
            <a:ext cx="4643438" cy="323850"/>
          </a:xfrm>
          <a:prstGeom xmlns:a="http://schemas.openxmlformats.org/drawingml/2006/main" prst="rect">
            <a:avLst/>
          </a:prstGeom>
          <a:solidFill xmlns:a="http://schemas.openxmlformats.org/drawingml/2006/main">
            <a:srgbClr val="153B5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ABA1CF3-73C1-4E82-8F66-2B7C54C3268D}"/>
              </a:ext>
            </a:extLst>
          </p:cNvPr>
          <p:cNvSpPr>
            <a:spLocks xmlns:a="http://schemas.openxmlformats.org/drawingml/2006/main" noGrp="1"/>
          </p:cNvSpPr>
          <p:nvPr/>
        </p:nvSpPr>
        <p:spPr>
          <a:xfrm xmlns:a="http://schemas.openxmlformats.org/drawingml/2006/main" rot="0">
            <a:off x="9405938" y="22860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142632"/>
                </a:solidFill>
                <a:latin typeface="Aptos"/>
                <a:ea typeface="Aptos"/>
                <a:cs typeface="Aptos"/>
              </a:defRPr>
            </a:pPr>
            <a:r>
              <a:rPr sz="1275" b="1" i="0">
                <a:solidFill>
                  <a:srgbClr val="142632"/>
                </a:solidFill>
                <a:latin typeface="Aptos"/>
                <a:ea typeface="Aptos"/>
                <a:cs typeface="Aptos"/>
              </a:rPr>
              <a:t>0.270</a:t>
            </a:r>
          </a:p>
        </p:txBody>
      </p:sp>
      <p:sp>
        <p:nvSpPr>
          <p:cNvPr id="21" name="">
            <a:extLst xmlns:a="http://schemas.openxmlformats.org/drawingml/2006/main">
              <a:ext uri="{FF2B5EF4-FFF2-40B4-BE49-F238E27FC236}">
                <a16:creationId xmlns:a16="http://schemas.microsoft.com/office/drawing/2014/main" id="{D289FC7D-1717-4236-B8BD-C9AC33E3EB58}"/>
              </a:ext>
            </a:extLst>
          </p:cNvPr>
          <p:cNvSpPr>
            <a:spLocks xmlns:a="http://schemas.openxmlformats.org/drawingml/2006/main" noGrp="1"/>
          </p:cNvSpPr>
          <p:nvPr/>
        </p:nvSpPr>
        <p:spPr>
          <a:xfrm xmlns:a="http://schemas.openxmlformats.org/drawingml/2006/main" rot="0">
            <a:off x="3219450" y="2867025"/>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GETNext</a:t>
            </a:r>
          </a:p>
        </p:txBody>
      </p:sp>
      <p:sp>
        <p:nvSpPr>
          <p:cNvPr id="22" name="">
            <a:extLst xmlns:a="http://schemas.openxmlformats.org/drawingml/2006/main">
              <a:ext uri="{FF2B5EF4-FFF2-40B4-BE49-F238E27FC236}">
                <a16:creationId xmlns:a16="http://schemas.microsoft.com/office/drawing/2014/main" id="{29F2DFCE-5CC5-42CE-9C5C-7717CC6566A0}"/>
              </a:ext>
            </a:extLst>
          </p:cNvPr>
          <p:cNvSpPr>
            <a:spLocks xmlns:a="http://schemas.openxmlformats.org/drawingml/2006/main" noGrp="1"/>
          </p:cNvSpPr>
          <p:nvPr/>
        </p:nvSpPr>
        <p:spPr>
          <a:xfrm xmlns:a="http://schemas.openxmlformats.org/drawingml/2006/main">
            <a:off x="4667250" y="2819400"/>
            <a:ext cx="6191250" cy="323850"/>
          </a:xfrm>
          <a:prstGeom xmlns:a="http://schemas.openxmlformats.org/drawingml/2006/main" prst="rect">
            <a:avLst/>
          </a:prstGeom>
          <a:solidFill xmlns:a="http://schemas.openxmlformats.org/drawingml/2006/main">
            <a:srgbClr val="E7ECE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4B835FC-69C1-4AE6-B81B-18D1DFBA9FA2}"/>
              </a:ext>
            </a:extLst>
          </p:cNvPr>
          <p:cNvSpPr>
            <a:spLocks xmlns:a="http://schemas.openxmlformats.org/drawingml/2006/main" noGrp="1"/>
          </p:cNvSpPr>
          <p:nvPr/>
        </p:nvSpPr>
        <p:spPr>
          <a:xfrm xmlns:a="http://schemas.openxmlformats.org/drawingml/2006/main">
            <a:off x="4667250" y="2819400"/>
            <a:ext cx="4127500" cy="323850"/>
          </a:xfrm>
          <a:prstGeom xmlns:a="http://schemas.openxmlformats.org/drawingml/2006/main" prst="rect">
            <a:avLst/>
          </a:prstGeom>
          <a:solidFill xmlns:a="http://schemas.openxmlformats.org/drawingml/2006/main">
            <a:srgbClr val="153B5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EA38941-44E2-4C74-809F-78C74AF6D38A}"/>
              </a:ext>
            </a:extLst>
          </p:cNvPr>
          <p:cNvSpPr>
            <a:spLocks xmlns:a="http://schemas.openxmlformats.org/drawingml/2006/main" noGrp="1"/>
          </p:cNvSpPr>
          <p:nvPr/>
        </p:nvSpPr>
        <p:spPr>
          <a:xfrm xmlns:a="http://schemas.openxmlformats.org/drawingml/2006/main" rot="0">
            <a:off x="8890000" y="284797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142632"/>
                </a:solidFill>
                <a:latin typeface="Aptos"/>
                <a:ea typeface="Aptos"/>
                <a:cs typeface="Aptos"/>
              </a:defRPr>
            </a:pPr>
            <a:r>
              <a:rPr sz="1275" b="1" i="0">
                <a:solidFill>
                  <a:srgbClr val="142632"/>
                </a:solidFill>
                <a:latin typeface="Aptos"/>
                <a:ea typeface="Aptos"/>
                <a:cs typeface="Aptos"/>
              </a:rPr>
              <a:t>0.240</a:t>
            </a:r>
          </a:p>
        </p:txBody>
      </p:sp>
      <p:sp>
        <p:nvSpPr>
          <p:cNvPr id="25" name="">
            <a:extLst xmlns:a="http://schemas.openxmlformats.org/drawingml/2006/main">
              <a:ext uri="{FF2B5EF4-FFF2-40B4-BE49-F238E27FC236}">
                <a16:creationId xmlns:a16="http://schemas.microsoft.com/office/drawing/2014/main" id="{49B6337C-DE7B-4F3A-963F-C9135366729E}"/>
              </a:ext>
            </a:extLst>
          </p:cNvPr>
          <p:cNvSpPr>
            <a:spLocks xmlns:a="http://schemas.openxmlformats.org/drawingml/2006/main" noGrp="1"/>
          </p:cNvSpPr>
          <p:nvPr/>
        </p:nvSpPr>
        <p:spPr>
          <a:xfrm xmlns:a="http://schemas.openxmlformats.org/drawingml/2006/main" rot="0">
            <a:off x="3219450" y="3429000"/>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STAN</a:t>
            </a:r>
          </a:p>
        </p:txBody>
      </p:sp>
      <p:sp>
        <p:nvSpPr>
          <p:cNvPr id="26" name="">
            <a:extLst xmlns:a="http://schemas.openxmlformats.org/drawingml/2006/main">
              <a:ext uri="{FF2B5EF4-FFF2-40B4-BE49-F238E27FC236}">
                <a16:creationId xmlns:a16="http://schemas.microsoft.com/office/drawing/2014/main" id="{E31199B9-B5E3-44F7-B62A-242F8F8595F0}"/>
              </a:ext>
            </a:extLst>
          </p:cNvPr>
          <p:cNvSpPr>
            <a:spLocks xmlns:a="http://schemas.openxmlformats.org/drawingml/2006/main" noGrp="1"/>
          </p:cNvSpPr>
          <p:nvPr/>
        </p:nvSpPr>
        <p:spPr>
          <a:xfrm xmlns:a="http://schemas.openxmlformats.org/drawingml/2006/main">
            <a:off x="4667250" y="3381375"/>
            <a:ext cx="6191250" cy="323850"/>
          </a:xfrm>
          <a:prstGeom xmlns:a="http://schemas.openxmlformats.org/drawingml/2006/main" prst="rect">
            <a:avLst/>
          </a:prstGeom>
          <a:solidFill xmlns:a="http://schemas.openxmlformats.org/drawingml/2006/main">
            <a:srgbClr val="E7ECE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A32E47E-E351-4423-B749-B2013A3ACEA7}"/>
              </a:ext>
            </a:extLst>
          </p:cNvPr>
          <p:cNvSpPr>
            <a:spLocks xmlns:a="http://schemas.openxmlformats.org/drawingml/2006/main" noGrp="1"/>
          </p:cNvSpPr>
          <p:nvPr/>
        </p:nvSpPr>
        <p:spPr>
          <a:xfrm xmlns:a="http://schemas.openxmlformats.org/drawingml/2006/main">
            <a:off x="4667250" y="3381375"/>
            <a:ext cx="3783542" cy="323850"/>
          </a:xfrm>
          <a:prstGeom xmlns:a="http://schemas.openxmlformats.org/drawingml/2006/main" prst="rect">
            <a:avLst/>
          </a:prstGeom>
          <a:solidFill xmlns:a="http://schemas.openxmlformats.org/drawingml/2006/main">
            <a:srgbClr val="153B5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7E4AEC0-644C-4EB0-AA9C-60CDEA774935}"/>
              </a:ext>
            </a:extLst>
          </p:cNvPr>
          <p:cNvSpPr>
            <a:spLocks xmlns:a="http://schemas.openxmlformats.org/drawingml/2006/main" noGrp="1"/>
          </p:cNvSpPr>
          <p:nvPr/>
        </p:nvSpPr>
        <p:spPr>
          <a:xfrm xmlns:a="http://schemas.openxmlformats.org/drawingml/2006/main" rot="0">
            <a:off x="8546042" y="34099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142632"/>
                </a:solidFill>
                <a:latin typeface="Aptos"/>
                <a:ea typeface="Aptos"/>
                <a:cs typeface="Aptos"/>
              </a:defRPr>
            </a:pPr>
            <a:r>
              <a:rPr sz="1275" b="1" i="0">
                <a:solidFill>
                  <a:srgbClr val="142632"/>
                </a:solidFill>
                <a:latin typeface="Aptos"/>
                <a:ea typeface="Aptos"/>
                <a:cs typeface="Aptos"/>
              </a:rPr>
              <a:t>0.220</a:t>
            </a:r>
          </a:p>
        </p:txBody>
      </p:sp>
      <p:sp>
        <p:nvSpPr>
          <p:cNvPr id="29" name="">
            <a:extLst xmlns:a="http://schemas.openxmlformats.org/drawingml/2006/main">
              <a:ext uri="{FF2B5EF4-FFF2-40B4-BE49-F238E27FC236}">
                <a16:creationId xmlns:a16="http://schemas.microsoft.com/office/drawing/2014/main" id="{878C3AAF-E364-47DE-872F-13D2D50D3772}"/>
              </a:ext>
            </a:extLst>
          </p:cNvPr>
          <p:cNvSpPr>
            <a:spLocks xmlns:a="http://schemas.openxmlformats.org/drawingml/2006/main" noGrp="1"/>
          </p:cNvSpPr>
          <p:nvPr/>
        </p:nvSpPr>
        <p:spPr>
          <a:xfrm xmlns:a="http://schemas.openxmlformats.org/drawingml/2006/main" rot="0">
            <a:off x="3219450" y="3990975"/>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500" b="1" i="0">
                <a:solidFill>
                  <a:srgbClr val="F28C45"/>
                </a:solidFill>
                <a:latin typeface="Aptos"/>
                <a:ea typeface="Aptos"/>
                <a:cs typeface="Aptos"/>
              </a:defRPr>
            </a:pPr>
            <a:r>
              <a:rPr sz="1500" b="1" i="0">
                <a:solidFill>
                  <a:srgbClr val="F28C45"/>
                </a:solidFill>
                <a:latin typeface="Aptos"/>
                <a:ea typeface="Aptos"/>
                <a:cs typeface="Aptos"/>
              </a:rPr>
              <a:t>OURS</a:t>
            </a:r>
          </a:p>
        </p:txBody>
      </p:sp>
      <p:sp>
        <p:nvSpPr>
          <p:cNvPr id="30" name="">
            <a:extLst xmlns:a="http://schemas.openxmlformats.org/drawingml/2006/main">
              <a:ext uri="{FF2B5EF4-FFF2-40B4-BE49-F238E27FC236}">
                <a16:creationId xmlns:a16="http://schemas.microsoft.com/office/drawing/2014/main" id="{7FD5227B-2EDE-4AFE-94DC-64E795C1395A}"/>
              </a:ext>
            </a:extLst>
          </p:cNvPr>
          <p:cNvSpPr>
            <a:spLocks xmlns:a="http://schemas.openxmlformats.org/drawingml/2006/main" noGrp="1"/>
          </p:cNvSpPr>
          <p:nvPr/>
        </p:nvSpPr>
        <p:spPr>
          <a:xfrm xmlns:a="http://schemas.openxmlformats.org/drawingml/2006/main">
            <a:off x="4667250" y="3943350"/>
            <a:ext cx="6191250" cy="323850"/>
          </a:xfrm>
          <a:prstGeom xmlns:a="http://schemas.openxmlformats.org/drawingml/2006/main" prst="rect">
            <a:avLst/>
          </a:prstGeom>
          <a:solidFill xmlns:a="http://schemas.openxmlformats.org/drawingml/2006/main">
            <a:srgbClr val="E7ECEF"/>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AB530404-BA35-4A72-826B-0A8D8E78FCD0}"/>
              </a:ext>
            </a:extLst>
          </p:cNvPr>
          <p:cNvSpPr>
            <a:spLocks xmlns:a="http://schemas.openxmlformats.org/drawingml/2006/main" noGrp="1"/>
          </p:cNvSpPr>
          <p:nvPr/>
        </p:nvSpPr>
        <p:spPr>
          <a:xfrm xmlns:a="http://schemas.openxmlformats.org/drawingml/2006/main">
            <a:off x="4667250" y="3943350"/>
            <a:ext cx="3216010" cy="323850"/>
          </a:xfrm>
          <a:prstGeom xmlns:a="http://schemas.openxmlformats.org/drawingml/2006/main" prst="rect">
            <a:avLst/>
          </a:prstGeom>
          <a:solidFill xmlns:a="http://schemas.openxmlformats.org/drawingml/2006/main">
            <a:srgbClr val="F28C4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8AC0D64-C4B4-4FFD-90B7-CEDC81623005}"/>
              </a:ext>
            </a:extLst>
          </p:cNvPr>
          <p:cNvSpPr>
            <a:spLocks xmlns:a="http://schemas.openxmlformats.org/drawingml/2006/main" noGrp="1"/>
          </p:cNvSpPr>
          <p:nvPr/>
        </p:nvSpPr>
        <p:spPr>
          <a:xfrm xmlns:a="http://schemas.openxmlformats.org/drawingml/2006/main" rot="0">
            <a:off x="7978510" y="39719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142632"/>
                </a:solidFill>
                <a:latin typeface="Aptos"/>
                <a:ea typeface="Aptos"/>
                <a:cs typeface="Aptos"/>
              </a:defRPr>
            </a:pPr>
            <a:r>
              <a:rPr sz="1275" b="1" i="0">
                <a:solidFill>
                  <a:srgbClr val="142632"/>
                </a:solidFill>
                <a:latin typeface="Aptos"/>
                <a:ea typeface="Aptos"/>
                <a:cs typeface="Aptos"/>
              </a:rPr>
              <a:t>0.187</a:t>
            </a:r>
          </a:p>
        </p:txBody>
      </p:sp>
      <p:sp>
        <p:nvSpPr>
          <p:cNvPr id="33" name="">
            <a:extLst xmlns:a="http://schemas.openxmlformats.org/drawingml/2006/main">
              <a:ext uri="{FF2B5EF4-FFF2-40B4-BE49-F238E27FC236}">
                <a16:creationId xmlns:a16="http://schemas.microsoft.com/office/drawing/2014/main" id="{901BDEDC-0AA1-43A2-8D57-CF86C598E967}"/>
              </a:ext>
            </a:extLst>
          </p:cNvPr>
          <p:cNvSpPr>
            <a:spLocks xmlns:a="http://schemas.openxmlformats.org/drawingml/2006/main" noGrp="1"/>
          </p:cNvSpPr>
          <p:nvPr/>
        </p:nvSpPr>
        <p:spPr>
          <a:xfrm xmlns:a="http://schemas.openxmlformats.org/drawingml/2006/main" rot="0">
            <a:off x="3219450" y="4552950"/>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STGCN</a:t>
            </a:r>
          </a:p>
        </p:txBody>
      </p:sp>
      <p:sp>
        <p:nvSpPr>
          <p:cNvPr id="34" name="">
            <a:extLst xmlns:a="http://schemas.openxmlformats.org/drawingml/2006/main">
              <a:ext uri="{FF2B5EF4-FFF2-40B4-BE49-F238E27FC236}">
                <a16:creationId xmlns:a16="http://schemas.microsoft.com/office/drawing/2014/main" id="{11D8B149-B21C-4BC8-B138-9345FB106F2F}"/>
              </a:ext>
            </a:extLst>
          </p:cNvPr>
          <p:cNvSpPr>
            <a:spLocks xmlns:a="http://schemas.openxmlformats.org/drawingml/2006/main" noGrp="1"/>
          </p:cNvSpPr>
          <p:nvPr/>
        </p:nvSpPr>
        <p:spPr>
          <a:xfrm xmlns:a="http://schemas.openxmlformats.org/drawingml/2006/main">
            <a:off x="4667250" y="4505325"/>
            <a:ext cx="6191250" cy="323850"/>
          </a:xfrm>
          <a:prstGeom xmlns:a="http://schemas.openxmlformats.org/drawingml/2006/main" prst="rect">
            <a:avLst/>
          </a:prstGeom>
          <a:solidFill xmlns:a="http://schemas.openxmlformats.org/drawingml/2006/main">
            <a:srgbClr val="E7ECEF"/>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80761045-AA9F-4010-B41E-D63838E4CA09}"/>
              </a:ext>
            </a:extLst>
          </p:cNvPr>
          <p:cNvSpPr>
            <a:spLocks xmlns:a="http://schemas.openxmlformats.org/drawingml/2006/main" noGrp="1"/>
          </p:cNvSpPr>
          <p:nvPr/>
        </p:nvSpPr>
        <p:spPr>
          <a:xfrm xmlns:a="http://schemas.openxmlformats.org/drawingml/2006/main">
            <a:off x="4667250" y="4505325"/>
            <a:ext cx="3095625" cy="323850"/>
          </a:xfrm>
          <a:prstGeom xmlns:a="http://schemas.openxmlformats.org/drawingml/2006/main" prst="rect">
            <a:avLst/>
          </a:prstGeom>
          <a:solidFill xmlns:a="http://schemas.openxmlformats.org/drawingml/2006/main">
            <a:srgbClr val="137B77"/>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C525D973-D10E-408B-80AE-419E667675BE}"/>
              </a:ext>
            </a:extLst>
          </p:cNvPr>
          <p:cNvSpPr>
            <a:spLocks xmlns:a="http://schemas.openxmlformats.org/drawingml/2006/main" noGrp="1"/>
          </p:cNvSpPr>
          <p:nvPr/>
        </p:nvSpPr>
        <p:spPr>
          <a:xfrm xmlns:a="http://schemas.openxmlformats.org/drawingml/2006/main" rot="0">
            <a:off x="7858125" y="4533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142632"/>
                </a:solidFill>
                <a:latin typeface="Aptos"/>
                <a:ea typeface="Aptos"/>
                <a:cs typeface="Aptos"/>
              </a:defRPr>
            </a:pPr>
            <a:r>
              <a:rPr sz="1275" b="1" i="0">
                <a:solidFill>
                  <a:srgbClr val="142632"/>
                </a:solidFill>
                <a:latin typeface="Aptos"/>
                <a:ea typeface="Aptos"/>
                <a:cs typeface="Aptos"/>
              </a:rPr>
              <a:t>0.180</a:t>
            </a:r>
          </a:p>
        </p:txBody>
      </p:sp>
      <p:sp>
        <p:nvSpPr>
          <p:cNvPr id="37" name="">
            <a:extLst xmlns:a="http://schemas.openxmlformats.org/drawingml/2006/main">
              <a:ext uri="{FF2B5EF4-FFF2-40B4-BE49-F238E27FC236}">
                <a16:creationId xmlns:a16="http://schemas.microsoft.com/office/drawing/2014/main" id="{7499F57C-1117-40A5-AF18-3367CF310ECF}"/>
              </a:ext>
            </a:extLst>
          </p:cNvPr>
          <p:cNvSpPr>
            <a:spLocks xmlns:a="http://schemas.openxmlformats.org/drawingml/2006/main" noGrp="1"/>
          </p:cNvSpPr>
          <p:nvPr/>
        </p:nvSpPr>
        <p:spPr>
          <a:xfrm xmlns:a="http://schemas.openxmlformats.org/drawingml/2006/main" rot="0">
            <a:off x="3219450" y="5114925"/>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LSTM</a:t>
            </a:r>
          </a:p>
        </p:txBody>
      </p:sp>
      <p:sp>
        <p:nvSpPr>
          <p:cNvPr id="38" name="">
            <a:extLst xmlns:a="http://schemas.openxmlformats.org/drawingml/2006/main">
              <a:ext uri="{FF2B5EF4-FFF2-40B4-BE49-F238E27FC236}">
                <a16:creationId xmlns:a16="http://schemas.microsoft.com/office/drawing/2014/main" id="{7CB7372A-5B8E-44BB-A260-9277C3BE2210}"/>
              </a:ext>
            </a:extLst>
          </p:cNvPr>
          <p:cNvSpPr>
            <a:spLocks xmlns:a="http://schemas.openxmlformats.org/drawingml/2006/main" noGrp="1"/>
          </p:cNvSpPr>
          <p:nvPr/>
        </p:nvSpPr>
        <p:spPr>
          <a:xfrm xmlns:a="http://schemas.openxmlformats.org/drawingml/2006/main">
            <a:off x="4667250" y="5067300"/>
            <a:ext cx="6191250" cy="323850"/>
          </a:xfrm>
          <a:prstGeom xmlns:a="http://schemas.openxmlformats.org/drawingml/2006/main" prst="rect">
            <a:avLst/>
          </a:prstGeom>
          <a:solidFill xmlns:a="http://schemas.openxmlformats.org/drawingml/2006/main">
            <a:srgbClr val="E7ECEF"/>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0B5FC3E6-2F43-46BF-A7CD-5D2F302B37A0}"/>
              </a:ext>
            </a:extLst>
          </p:cNvPr>
          <p:cNvSpPr>
            <a:spLocks xmlns:a="http://schemas.openxmlformats.org/drawingml/2006/main" noGrp="1"/>
          </p:cNvSpPr>
          <p:nvPr/>
        </p:nvSpPr>
        <p:spPr>
          <a:xfrm xmlns:a="http://schemas.openxmlformats.org/drawingml/2006/main">
            <a:off x="4667250" y="5067300"/>
            <a:ext cx="2235729" cy="323850"/>
          </a:xfrm>
          <a:prstGeom xmlns:a="http://schemas.openxmlformats.org/drawingml/2006/main" prst="rect">
            <a:avLst/>
          </a:prstGeom>
          <a:solidFill xmlns:a="http://schemas.openxmlformats.org/drawingml/2006/main">
            <a:srgbClr val="5A6C79"/>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945AE75E-C09C-497C-AFD6-2DF2942B5514}"/>
              </a:ext>
            </a:extLst>
          </p:cNvPr>
          <p:cNvSpPr>
            <a:spLocks xmlns:a="http://schemas.openxmlformats.org/drawingml/2006/main" noGrp="1"/>
          </p:cNvSpPr>
          <p:nvPr/>
        </p:nvSpPr>
        <p:spPr>
          <a:xfrm xmlns:a="http://schemas.openxmlformats.org/drawingml/2006/main" rot="0">
            <a:off x="6998229" y="509587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142632"/>
                </a:solidFill>
                <a:latin typeface="Aptos"/>
                <a:ea typeface="Aptos"/>
                <a:cs typeface="Aptos"/>
              </a:defRPr>
            </a:pPr>
            <a:r>
              <a:rPr sz="1275" b="1" i="0">
                <a:solidFill>
                  <a:srgbClr val="142632"/>
                </a:solidFill>
                <a:latin typeface="Aptos"/>
                <a:ea typeface="Aptos"/>
                <a:cs typeface="Aptos"/>
              </a:rPr>
              <a:t>0.130</a:t>
            </a:r>
          </a:p>
        </p:txBody>
      </p:sp>
      <p:sp>
        <p:nvSpPr>
          <p:cNvPr id="41" name="">
            <a:extLst xmlns:a="http://schemas.openxmlformats.org/drawingml/2006/main">
              <a:ext uri="{FF2B5EF4-FFF2-40B4-BE49-F238E27FC236}">
                <a16:creationId xmlns:a16="http://schemas.microsoft.com/office/drawing/2014/main" id="{CDE7DF19-6ADC-48CE-9535-15E9F7BB1C90}"/>
              </a:ext>
            </a:extLst>
          </p:cNvPr>
          <p:cNvSpPr>
            <a:spLocks xmlns:a="http://schemas.openxmlformats.org/drawingml/2006/main" noGrp="1"/>
          </p:cNvSpPr>
          <p:nvPr/>
        </p:nvSpPr>
        <p:spPr>
          <a:xfrm xmlns:a="http://schemas.openxmlformats.org/drawingml/2006/main" rot="0">
            <a:off x="4667250" y="57531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0" i="0">
                <a:solidFill>
                  <a:srgbClr val="5A6C79"/>
                </a:solidFill>
                <a:latin typeface="Aptos"/>
                <a:ea typeface="Aptos"/>
                <a:cs typeface="Aptos"/>
              </a:defRPr>
            </a:pPr>
            <a:r>
              <a:rPr sz="1200" b="0" i="0">
                <a:solidFill>
                  <a:srgbClr val="5A6C79"/>
                </a:solidFill>
                <a:latin typeface="Aptos"/>
                <a:ea typeface="Aptos"/>
                <a:cs typeface="Aptos"/>
              </a:rPr>
              <a:t>Higher is better · full vocabulary · Foursquare NYC</a:t>
            </a:r>
          </a:p>
        </p:txBody>
      </p:sp>
      <p:sp>
        <p:nvSpPr>
          <p:cNvPr id="42" name="">
            <a:extLst xmlns:a="http://schemas.openxmlformats.org/drawingml/2006/main">
              <a:ext uri="{FF2B5EF4-FFF2-40B4-BE49-F238E27FC236}">
                <a16:creationId xmlns:a16="http://schemas.microsoft.com/office/drawing/2014/main" id="{051B6797-C928-4096-B333-30605DFFE2B7}"/>
              </a:ext>
            </a:extLst>
          </p:cNvPr>
          <p:cNvSpPr>
            <a:spLocks xmlns:a="http://schemas.openxmlformats.org/drawingml/2006/main" noGrp="1"/>
          </p:cNvSpPr>
          <p:nvPr/>
        </p:nvSpPr>
        <p:spPr>
          <a:xfrm xmlns:a="http://schemas.openxmlformats.org/drawingml/2006/main" rot="0">
            <a:off x="609600" y="6210300"/>
            <a:ext cx="10668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50" b="0" i="1">
                <a:solidFill>
                  <a:srgbClr val="5A6C79"/>
                </a:solidFill>
                <a:latin typeface="Aptos"/>
                <a:ea typeface="Aptos"/>
                <a:cs typeface="Aptos"/>
              </a:defRPr>
            </a:pPr>
            <a:r>
              <a:rPr sz="750" b="0" i="1">
                <a:solidFill>
                  <a:srgbClr val="5A6C79"/>
                </a:solidFill>
                <a:latin typeface="Aptos"/>
                <a:ea typeface="Aptos"/>
                <a:cs typeface="Aptos"/>
              </a:rPr>
              <a:t>Source: Thesis Table 3.2 and Figure 3.2. Published comparison values use the same NYC full-vocabulary HR@1 protocol.</a:t>
            </a:r>
          </a:p>
        </p:txBody>
      </p:sp>
    </p:spTree>
    <p:extLst>
      <p:ext uri="{BB962C8B-B14F-4D97-AF65-F5344CB8AC3E}">
        <p14:creationId xmlns:p14="http://schemas.microsoft.com/office/powerpoint/2010/main" val="1345346075"/>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5" name="eyebrow">
            <a:extLst xmlns:a="http://schemas.openxmlformats.org/drawingml/2006/main">
              <a:ext uri="{FF2B5EF4-FFF2-40B4-BE49-F238E27FC236}">
                <a16:creationId xmlns:a16="http://schemas.microsoft.com/office/drawing/2014/main" id="{828C4B39-CCE4-4DEB-B41C-DC441675D7CE}"/>
              </a:ext>
            </a:extLst>
          </p:cNvPr>
          <p:cNvSpPr>
            <a:spLocks xmlns:a="http://schemas.openxmlformats.org/drawingml/2006/main" noGrp="1"/>
          </p:cNvSpPr>
          <p:nvPr/>
        </p:nvSpPr>
        <p:spPr>
          <a:xfrm xmlns:a="http://schemas.openxmlformats.org/drawingml/2006/main" rot="0">
            <a:off x="6096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i="0">
                <a:solidFill>
                  <a:srgbClr val="137B77"/>
                </a:solidFill>
                <a:latin typeface="Aptos"/>
                <a:ea typeface="Aptos"/>
                <a:cs typeface="Aptos"/>
              </a:defRPr>
            </a:pPr>
            <a:r>
              <a:rPr sz="975" b="1" i="0">
                <a:solidFill>
                  <a:srgbClr val="137B77"/>
                </a:solidFill>
                <a:latin typeface="Aptos"/>
                <a:ea typeface="Aptos"/>
                <a:cs typeface="Aptos"/>
              </a:rPr>
              <a:t>4 · IMPLEMENTATION AND EVALUATION</a:t>
            </a:r>
          </a:p>
        </p:txBody>
      </p:sp>
      <p:sp>
        <p:nvSpPr>
          <p:cNvPr id="2" name="slide-title">
            <a:extLst xmlns:a="http://schemas.openxmlformats.org/drawingml/2006/main">
              <a:ext uri="{FF2B5EF4-FFF2-40B4-BE49-F238E27FC236}">
                <a16:creationId xmlns:a16="http://schemas.microsoft.com/office/drawing/2014/main" id="{84488FAA-7C04-46C1-939E-63BAEB72B020}"/>
              </a:ext>
            </a:extLst>
          </p:cNvPr>
          <p:cNvSpPr>
            <a:spLocks xmlns:a="http://schemas.openxmlformats.org/drawingml/2006/main" noGrp="1"/>
          </p:cNvSpPr>
          <p:nvPr/>
        </p:nvSpPr>
        <p:spPr>
          <a:xfrm xmlns:a="http://schemas.openxmlformats.org/drawingml/2006/main" rot="0">
            <a:off x="609600" y="5905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850" b="1" i="0">
                <a:solidFill>
                  <a:srgbClr val="0B1F33"/>
                </a:solidFill>
                <a:latin typeface="Aptos"/>
                <a:ea typeface="Aptos"/>
                <a:cs typeface="Aptos"/>
              </a:defRPr>
            </a:pPr>
            <a:r>
              <a:rPr sz="2850" b="1" i="0">
                <a:solidFill>
                  <a:srgbClr val="0B1F33"/>
                </a:solidFill>
                <a:latin typeface="Aptos"/>
                <a:ea typeface="Aptos"/>
                <a:cs typeface="Aptos"/>
              </a:rPr>
              <a:t>Frozen Rollout wins; dense supervision helps explain why</a:t>
            </a:r>
          </a:p>
        </p:txBody>
      </p:sp>
      <p:sp>
        <p:nvSpPr>
          <p:cNvPr id="3" name="title-accent">
            <a:extLst xmlns:a="http://schemas.openxmlformats.org/drawingml/2006/main">
              <a:ext uri="{FF2B5EF4-FFF2-40B4-BE49-F238E27FC236}">
                <a16:creationId xmlns:a16="http://schemas.microsoft.com/office/drawing/2014/main" id="{18D173B3-8EC0-4AB8-91B9-6EAF7B564ADF}"/>
              </a:ext>
            </a:extLst>
          </p:cNvPr>
          <p:cNvSpPr>
            <a:spLocks xmlns:a="http://schemas.openxmlformats.org/drawingml/2006/main" noGrp="1"/>
          </p:cNvSpPr>
          <p:nvPr/>
        </p:nvSpPr>
        <p:spPr>
          <a:xfrm xmlns:a="http://schemas.openxmlformats.org/drawingml/2006/main">
            <a:off x="609600" y="1219200"/>
            <a:ext cx="876300" cy="47625"/>
          </a:xfrm>
          <a:prstGeom xmlns:a="http://schemas.openxmlformats.org/drawingml/2006/main" prst="rect">
            <a:avLst/>
          </a:prstGeom>
          <a:solidFill xmlns:a="http://schemas.openxmlformats.org/drawingml/2006/main">
            <a:srgbClr val="1FA6A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D43EB0F-4871-43F1-90E2-81F7007B72E2}"/>
              </a:ext>
            </a:extLst>
          </p:cNvPr>
          <p:cNvSpPr>
            <a:spLocks xmlns:a="http://schemas.openxmlformats.org/drawingml/2006/main" noGrp="1"/>
          </p:cNvSpPr>
          <p:nvPr/>
        </p:nvSpPr>
        <p:spPr>
          <a:xfrm xmlns:a="http://schemas.openxmlformats.org/drawingml/2006/main" flipV="0">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4E9"/>
            </a:solidFill>
            <a:prstDash val="solid"/>
          </a:ln>
        </p:spPr>
      </p:sp>
      <p:sp>
        <p:nvSpPr>
          <p:cNvPr id="5" name="">
            <a:extLst xmlns:a="http://schemas.openxmlformats.org/drawingml/2006/main">
              <a:ext uri="{FF2B5EF4-FFF2-40B4-BE49-F238E27FC236}">
                <a16:creationId xmlns:a16="http://schemas.microsoft.com/office/drawing/2014/main" id="{5CBB31E7-5DB4-4AE3-86C3-ED6220E48B09}"/>
              </a:ext>
            </a:extLst>
          </p:cNvPr>
          <p:cNvSpPr>
            <a:spLocks xmlns:a="http://schemas.openxmlformats.org/drawingml/2006/main" noGrp="1"/>
          </p:cNvSpPr>
          <p:nvPr/>
        </p:nvSpPr>
        <p:spPr>
          <a:xfrm xmlns:a="http://schemas.openxmlformats.org/drawingml/2006/main" rot="0">
            <a:off x="609600" y="655320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Ayman Naaimi · ENSAM Meknes</a:t>
            </a:r>
          </a:p>
        </p:txBody>
      </p:sp>
      <p:sp>
        <p:nvSpPr>
          <p:cNvPr id="6" name="">
            <a:extLst xmlns:a="http://schemas.openxmlformats.org/drawingml/2006/main">
              <a:ext uri="{FF2B5EF4-FFF2-40B4-BE49-F238E27FC236}">
                <a16:creationId xmlns:a16="http://schemas.microsoft.com/office/drawing/2014/main" id="{6321CBDC-DA4E-4877-BEB1-F38CB38893D7}"/>
              </a:ext>
            </a:extLst>
          </p:cNvPr>
          <p:cNvSpPr>
            <a:spLocks xmlns:a="http://schemas.openxmlformats.org/drawingml/2006/main" noGrp="1"/>
          </p:cNvSpPr>
          <p:nvPr/>
        </p:nvSpPr>
        <p:spPr>
          <a:xfrm xmlns:a="http://schemas.openxmlformats.org/drawingml/2006/main" rot="0">
            <a:off x="10572750" y="6553200"/>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8 / 10</a:t>
            </a:r>
          </a:p>
        </p:txBody>
      </p:sp>
      <p:sp>
        <p:nvSpPr>
          <p:cNvPr id="7" name="">
            <a:extLst xmlns:a="http://schemas.openxmlformats.org/drawingml/2006/main">
              <a:ext uri="{FF2B5EF4-FFF2-40B4-BE49-F238E27FC236}">
                <a16:creationId xmlns:a16="http://schemas.microsoft.com/office/drawing/2014/main" id="{5945702D-002F-4DA7-91D7-DC1606EBAE84}"/>
              </a:ext>
            </a:extLst>
          </p:cNvPr>
          <p:cNvSpPr>
            <a:spLocks xmlns:a="http://schemas.openxmlformats.org/drawingml/2006/main" noGrp="1"/>
          </p:cNvSpPr>
          <p:nvPr/>
        </p:nvSpPr>
        <p:spPr>
          <a:xfrm xmlns:a="http://schemas.openxmlformats.org/drawingml/2006/main">
            <a:off x="666750" y="1676400"/>
            <a:ext cx="4905375" cy="3762375"/>
          </a:xfrm>
          <a:prstGeom xmlns:a="http://schemas.openxmlformats.org/drawingml/2006/main" prst="roundRect">
            <a:avLst>
              <a:gd name="adj" fmla="val 6076"/>
            </a:avLst>
          </a:prstGeom>
          <a:solidFill xmlns:a="http://schemas.openxmlformats.org/drawingml/2006/main">
            <a:srgbClr val="DDF3F1"/>
          </a:solidFill>
          <a:ln xmlns:a="http://schemas.openxmlformats.org/drawingml/2006/main" w="9525">
            <a:solidFill>
              <a:srgbClr val="A8D7D2"/>
            </a:solidFill>
            <a:prstDash val="solid"/>
          </a:ln>
        </p:spPr>
      </p:sp>
      <p:sp>
        <p:nvSpPr>
          <p:cNvPr id="8" name="">
            <a:extLst xmlns:a="http://schemas.openxmlformats.org/drawingml/2006/main">
              <a:ext uri="{FF2B5EF4-FFF2-40B4-BE49-F238E27FC236}">
                <a16:creationId xmlns:a16="http://schemas.microsoft.com/office/drawing/2014/main" id="{F985F7C0-2B0E-4183-8C95-4A62A4F8C2FD}"/>
              </a:ext>
            </a:extLst>
          </p:cNvPr>
          <p:cNvSpPr>
            <a:spLocks xmlns:a="http://schemas.openxmlformats.org/drawingml/2006/main" noGrp="1"/>
          </p:cNvSpPr>
          <p:nvPr/>
        </p:nvSpPr>
        <p:spPr>
          <a:xfrm xmlns:a="http://schemas.openxmlformats.org/drawingml/2006/main">
            <a:off x="6619875" y="1676400"/>
            <a:ext cx="4905375" cy="3762375"/>
          </a:xfrm>
          <a:prstGeom xmlns:a="http://schemas.openxmlformats.org/drawingml/2006/main" prst="roundRect">
            <a:avLst>
              <a:gd name="adj" fmla="val 6076"/>
            </a:avLst>
          </a:prstGeom>
          <a:solidFill xmlns:a="http://schemas.openxmlformats.org/drawingml/2006/main">
            <a:srgbClr val="FCE8D9"/>
          </a:solidFill>
          <a:ln xmlns:a="http://schemas.openxmlformats.org/drawingml/2006/main" w="9525">
            <a:solidFill>
              <a:srgbClr val="F3C49D"/>
            </a:solidFill>
            <a:prstDash val="solid"/>
          </a:ln>
        </p:spPr>
      </p:sp>
      <p:sp>
        <p:nvSpPr>
          <p:cNvPr id="9" name="">
            <a:extLst xmlns:a="http://schemas.openxmlformats.org/drawingml/2006/main">
              <a:ext uri="{FF2B5EF4-FFF2-40B4-BE49-F238E27FC236}">
                <a16:creationId xmlns:a16="http://schemas.microsoft.com/office/drawing/2014/main" id="{D634B56E-62F2-4794-B0D0-33901CACD6B3}"/>
              </a:ext>
            </a:extLst>
          </p:cNvPr>
          <p:cNvSpPr>
            <a:spLocks xmlns:a="http://schemas.openxmlformats.org/drawingml/2006/main" noGrp="1"/>
          </p:cNvSpPr>
          <p:nvPr/>
        </p:nvSpPr>
        <p:spPr>
          <a:xfrm xmlns:a="http://schemas.openxmlformats.org/drawingml/2006/main" rot="0">
            <a:off x="1009650" y="1952625"/>
            <a:ext cx="419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i="0">
                <a:solidFill>
                  <a:srgbClr val="137B77"/>
                </a:solidFill>
                <a:latin typeface="Aptos"/>
                <a:ea typeface="Aptos"/>
                <a:cs typeface="Aptos"/>
              </a:defRPr>
            </a:pPr>
            <a:r>
              <a:rPr sz="1650" b="1" i="0">
                <a:solidFill>
                  <a:srgbClr val="137B77"/>
                </a:solidFill>
                <a:latin typeface="Aptos"/>
                <a:ea typeface="Aptos"/>
                <a:cs typeface="Aptos"/>
              </a:rPr>
              <a:t>FROZEN ROLLOUT</a:t>
            </a:r>
          </a:p>
        </p:txBody>
      </p:sp>
      <p:sp>
        <p:nvSpPr>
          <p:cNvPr id="10" name="">
            <a:extLst xmlns:a="http://schemas.openxmlformats.org/drawingml/2006/main">
              <a:ext uri="{FF2B5EF4-FFF2-40B4-BE49-F238E27FC236}">
                <a16:creationId xmlns:a16="http://schemas.microsoft.com/office/drawing/2014/main" id="{CA362030-2331-4EEA-859C-FD4B806F3D70}"/>
              </a:ext>
            </a:extLst>
          </p:cNvPr>
          <p:cNvSpPr>
            <a:spLocks xmlns:a="http://schemas.openxmlformats.org/drawingml/2006/main" noGrp="1"/>
          </p:cNvSpPr>
          <p:nvPr/>
        </p:nvSpPr>
        <p:spPr>
          <a:xfrm xmlns:a="http://schemas.openxmlformats.org/drawingml/2006/main" rot="0">
            <a:off x="6962775" y="1952625"/>
            <a:ext cx="419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i="0">
                <a:solidFill>
                  <a:srgbClr val="F28C45"/>
                </a:solidFill>
                <a:latin typeface="Aptos"/>
                <a:ea typeface="Aptos"/>
                <a:cs typeface="Aptos"/>
              </a:defRPr>
            </a:pPr>
            <a:r>
              <a:rPr sz="1650" b="1" i="0">
                <a:solidFill>
                  <a:srgbClr val="F28C45"/>
                </a:solidFill>
                <a:latin typeface="Aptos"/>
                <a:ea typeface="Aptos"/>
                <a:cs typeface="Aptos"/>
              </a:rPr>
              <a:t>TRAINED POINTER</a:t>
            </a:r>
          </a:p>
        </p:txBody>
      </p:sp>
      <p:sp>
        <p:nvSpPr>
          <p:cNvPr id="11" name="">
            <a:extLst xmlns:a="http://schemas.openxmlformats.org/drawingml/2006/main">
              <a:ext uri="{FF2B5EF4-FFF2-40B4-BE49-F238E27FC236}">
                <a16:creationId xmlns:a16="http://schemas.microsoft.com/office/drawing/2014/main" id="{29C85E6E-30F0-49C4-9E36-C3EE3BD9B51A}"/>
              </a:ext>
            </a:extLst>
          </p:cNvPr>
          <p:cNvSpPr>
            <a:spLocks xmlns:a="http://schemas.openxmlformats.org/drawingml/2006/main" noGrp="1"/>
          </p:cNvSpPr>
          <p:nvPr/>
        </p:nvSpPr>
        <p:spPr>
          <a:xfrm xmlns:a="http://schemas.openxmlformats.org/drawingml/2006/main" rot="0">
            <a:off x="1381125" y="2552700"/>
            <a:ext cx="209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4350" b="1" i="0">
                <a:solidFill>
                  <a:srgbClr val="137B77"/>
                </a:solidFill>
                <a:latin typeface="Aptos"/>
                <a:ea typeface="Aptos"/>
                <a:cs typeface="Aptos"/>
              </a:defRPr>
            </a:pPr>
            <a:r>
              <a:rPr sz="4350" b="1" i="0">
                <a:solidFill>
                  <a:srgbClr val="137B77"/>
                </a:solidFill>
                <a:latin typeface="Aptos"/>
                <a:ea typeface="Aptos"/>
                <a:cs typeface="Aptos"/>
              </a:rPr>
              <a:t>~10⁵</a:t>
            </a:r>
          </a:p>
        </p:txBody>
      </p:sp>
      <p:sp>
        <p:nvSpPr>
          <p:cNvPr id="12" name="">
            <a:extLst xmlns:a="http://schemas.openxmlformats.org/drawingml/2006/main">
              <a:ext uri="{FF2B5EF4-FFF2-40B4-BE49-F238E27FC236}">
                <a16:creationId xmlns:a16="http://schemas.microsoft.com/office/drawing/2014/main" id="{5A9C60F2-1B05-438E-B821-593D96D795EB}"/>
              </a:ext>
            </a:extLst>
          </p:cNvPr>
          <p:cNvSpPr>
            <a:spLocks xmlns:a="http://schemas.openxmlformats.org/drawingml/2006/main" noGrp="1"/>
          </p:cNvSpPr>
          <p:nvPr/>
        </p:nvSpPr>
        <p:spPr>
          <a:xfrm xmlns:a="http://schemas.openxmlformats.org/drawingml/2006/main" rot="0">
            <a:off x="1047750" y="32956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142632"/>
                </a:solidFill>
                <a:latin typeface="Aptos"/>
                <a:ea typeface="Aptos"/>
                <a:cs typeface="Aptos"/>
              </a:defRPr>
            </a:pPr>
            <a:r>
              <a:rPr sz="1500" b="1" i="0">
                <a:solidFill>
                  <a:srgbClr val="142632"/>
                </a:solidFill>
                <a:latin typeface="Aptos"/>
                <a:ea typeface="Aptos"/>
                <a:cs typeface="Aptos"/>
              </a:rPr>
              <a:t>prefix → next-POI examples</a:t>
            </a:r>
          </a:p>
        </p:txBody>
      </p:sp>
      <p:sp>
        <p:nvSpPr>
          <p:cNvPr id="13" name="">
            <a:extLst xmlns:a="http://schemas.openxmlformats.org/drawingml/2006/main">
              <a:ext uri="{FF2B5EF4-FFF2-40B4-BE49-F238E27FC236}">
                <a16:creationId xmlns:a16="http://schemas.microsoft.com/office/drawing/2014/main" id="{B819D44C-8C7D-4A21-93D4-124CA42DB540}"/>
              </a:ext>
            </a:extLst>
          </p:cNvPr>
          <p:cNvSpPr>
            <a:spLocks xmlns:a="http://schemas.openxmlformats.org/drawingml/2006/main" noGrp="1"/>
          </p:cNvSpPr>
          <p:nvPr/>
        </p:nvSpPr>
        <p:spPr>
          <a:xfrm xmlns:a="http://schemas.openxmlformats.org/drawingml/2006/main" rot="0">
            <a:off x="1047750" y="37909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5A6C79"/>
                </a:solidFill>
                <a:latin typeface="Aptos"/>
                <a:ea typeface="Aptos"/>
                <a:cs typeface="Aptos"/>
              </a:defRPr>
            </a:pPr>
            <a:r>
              <a:rPr sz="1350" b="0" i="0">
                <a:solidFill>
                  <a:srgbClr val="5A6C79"/>
                </a:solidFill>
                <a:latin typeface="Aptos"/>
                <a:ea typeface="Aptos"/>
                <a:cs typeface="Aptos"/>
              </a:rPr>
              <a:t>Reuses a converged engine</a:t>
            </a:r>
          </a:p>
        </p:txBody>
      </p:sp>
      <p:sp>
        <p:nvSpPr>
          <p:cNvPr id="14" name="">
            <a:extLst xmlns:a="http://schemas.openxmlformats.org/drawingml/2006/main">
              <a:ext uri="{FF2B5EF4-FFF2-40B4-BE49-F238E27FC236}">
                <a16:creationId xmlns:a16="http://schemas.microsoft.com/office/drawing/2014/main" id="{6F282846-AD50-4311-8D0C-A04B8EEC69E2}"/>
              </a:ext>
            </a:extLst>
          </p:cNvPr>
          <p:cNvSpPr>
            <a:spLocks xmlns:a="http://schemas.openxmlformats.org/drawingml/2006/main" noGrp="1"/>
          </p:cNvSpPr>
          <p:nvPr/>
        </p:nvSpPr>
        <p:spPr>
          <a:xfrm xmlns:a="http://schemas.openxmlformats.org/drawingml/2006/main" rot="0">
            <a:off x="1381125" y="4267200"/>
            <a:ext cx="209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3900" b="1" i="0">
                <a:solidFill>
                  <a:srgbClr val="0B1F33"/>
                </a:solidFill>
                <a:latin typeface="Aptos"/>
                <a:ea typeface="Aptos"/>
                <a:cs typeface="Aptos"/>
              </a:defRPr>
            </a:pPr>
            <a:r>
              <a:rPr sz="3900" b="1" i="0">
                <a:solidFill>
                  <a:srgbClr val="0B1F33"/>
                </a:solidFill>
                <a:latin typeface="Aptos"/>
                <a:ea typeface="Aptos"/>
                <a:cs typeface="Aptos"/>
              </a:rPr>
              <a:t>0.289</a:t>
            </a:r>
          </a:p>
        </p:txBody>
      </p:sp>
      <p:sp>
        <p:nvSpPr>
          <p:cNvPr id="15" name="">
            <a:extLst xmlns:a="http://schemas.openxmlformats.org/drawingml/2006/main">
              <a:ext uri="{FF2B5EF4-FFF2-40B4-BE49-F238E27FC236}">
                <a16:creationId xmlns:a16="http://schemas.microsoft.com/office/drawing/2014/main" id="{E843233C-87C1-49A7-B756-28716A4BB34F}"/>
              </a:ext>
            </a:extLst>
          </p:cNvPr>
          <p:cNvSpPr>
            <a:spLocks xmlns:a="http://schemas.openxmlformats.org/drawingml/2006/main" noGrp="1"/>
          </p:cNvSpPr>
          <p:nvPr/>
        </p:nvSpPr>
        <p:spPr>
          <a:xfrm xmlns:a="http://schemas.openxmlformats.org/drawingml/2006/main" rot="0">
            <a:off x="1695450" y="49339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i="0">
                <a:solidFill>
                  <a:srgbClr val="137B77"/>
                </a:solidFill>
                <a:latin typeface="Aptos"/>
                <a:ea typeface="Aptos"/>
                <a:cs typeface="Aptos"/>
              </a:defRPr>
            </a:pPr>
            <a:r>
              <a:rPr sz="1425" b="1" i="0">
                <a:solidFill>
                  <a:srgbClr val="137B77"/>
                </a:solidFill>
                <a:latin typeface="Aptos"/>
                <a:ea typeface="Aptos"/>
                <a:cs typeface="Aptos"/>
              </a:rPr>
              <a:t>pairs-F1</a:t>
            </a:r>
          </a:p>
        </p:txBody>
      </p:sp>
      <p:sp>
        <p:nvSpPr>
          <p:cNvPr id="16" name="">
            <a:extLst xmlns:a="http://schemas.openxmlformats.org/drawingml/2006/main">
              <a:ext uri="{FF2B5EF4-FFF2-40B4-BE49-F238E27FC236}">
                <a16:creationId xmlns:a16="http://schemas.microsoft.com/office/drawing/2014/main" id="{1FF101DE-4644-45C9-93BC-5F7AC6076A64}"/>
              </a:ext>
            </a:extLst>
          </p:cNvPr>
          <p:cNvSpPr>
            <a:spLocks xmlns:a="http://schemas.openxmlformats.org/drawingml/2006/main" noGrp="1"/>
          </p:cNvSpPr>
          <p:nvPr/>
        </p:nvSpPr>
        <p:spPr>
          <a:xfrm xmlns:a="http://schemas.openxmlformats.org/drawingml/2006/main" rot="0">
            <a:off x="7429500" y="2552700"/>
            <a:ext cx="209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4350" b="1" i="0">
                <a:solidFill>
                  <a:srgbClr val="F28C45"/>
                </a:solidFill>
                <a:latin typeface="Aptos"/>
                <a:ea typeface="Aptos"/>
                <a:cs typeface="Aptos"/>
              </a:defRPr>
            </a:pPr>
            <a:r>
              <a:rPr sz="4350" b="1" i="0">
                <a:solidFill>
                  <a:srgbClr val="F28C45"/>
                </a:solidFill>
                <a:latin typeface="Aptos"/>
                <a:ea typeface="Aptos"/>
                <a:cs typeface="Aptos"/>
              </a:rPr>
              <a:t>1</a:t>
            </a:r>
          </a:p>
        </p:txBody>
      </p:sp>
      <p:sp>
        <p:nvSpPr>
          <p:cNvPr id="17" name="">
            <a:extLst xmlns:a="http://schemas.openxmlformats.org/drawingml/2006/main">
              <a:ext uri="{FF2B5EF4-FFF2-40B4-BE49-F238E27FC236}">
                <a16:creationId xmlns:a16="http://schemas.microsoft.com/office/drawing/2014/main" id="{18687079-3D9A-4F3F-BA1C-2DE0D7079A2A}"/>
              </a:ext>
            </a:extLst>
          </p:cNvPr>
          <p:cNvSpPr>
            <a:spLocks xmlns:a="http://schemas.openxmlformats.org/drawingml/2006/main" noGrp="1"/>
          </p:cNvSpPr>
          <p:nvPr/>
        </p:nvSpPr>
        <p:spPr>
          <a:xfrm xmlns:a="http://schemas.openxmlformats.org/drawingml/2006/main" rot="0">
            <a:off x="7000875" y="32956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142632"/>
                </a:solidFill>
                <a:latin typeface="Aptos"/>
                <a:ea typeface="Aptos"/>
                <a:cs typeface="Aptos"/>
              </a:defRPr>
            </a:pPr>
            <a:r>
              <a:rPr sz="1500" b="1" i="0">
                <a:solidFill>
                  <a:srgbClr val="142632"/>
                </a:solidFill>
                <a:latin typeface="Aptos"/>
                <a:ea typeface="Aptos"/>
                <a:cs typeface="Aptos"/>
              </a:rPr>
              <a:t>whole trajectory per session</a:t>
            </a:r>
          </a:p>
        </p:txBody>
      </p:sp>
      <p:sp>
        <p:nvSpPr>
          <p:cNvPr id="18" name="">
            <a:extLst xmlns:a="http://schemas.openxmlformats.org/drawingml/2006/main">
              <a:ext uri="{FF2B5EF4-FFF2-40B4-BE49-F238E27FC236}">
                <a16:creationId xmlns:a16="http://schemas.microsoft.com/office/drawing/2014/main" id="{17584B9B-C56E-4F2B-8D9A-113C18D4118B}"/>
              </a:ext>
            </a:extLst>
          </p:cNvPr>
          <p:cNvSpPr>
            <a:spLocks xmlns:a="http://schemas.openxmlformats.org/drawingml/2006/main" noGrp="1"/>
          </p:cNvSpPr>
          <p:nvPr/>
        </p:nvSpPr>
        <p:spPr>
          <a:xfrm xmlns:a="http://schemas.openxmlformats.org/drawingml/2006/main" rot="0">
            <a:off x="7000875" y="37909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5A6C79"/>
                </a:solidFill>
                <a:latin typeface="Aptos"/>
                <a:ea typeface="Aptos"/>
                <a:cs typeface="Aptos"/>
              </a:defRPr>
            </a:pPr>
            <a:r>
              <a:rPr sz="1350" b="0" i="0">
                <a:solidFill>
                  <a:srgbClr val="5A6C79"/>
                </a:solidFill>
                <a:latin typeface="Aptos"/>
                <a:ea typeface="Aptos"/>
                <a:cs typeface="Aptos"/>
              </a:rPr>
              <a:t>Trains end-to-end from scratch</a:t>
            </a:r>
          </a:p>
        </p:txBody>
      </p:sp>
      <p:sp>
        <p:nvSpPr>
          <p:cNvPr id="19" name="">
            <a:extLst xmlns:a="http://schemas.openxmlformats.org/drawingml/2006/main">
              <a:ext uri="{FF2B5EF4-FFF2-40B4-BE49-F238E27FC236}">
                <a16:creationId xmlns:a16="http://schemas.microsoft.com/office/drawing/2014/main" id="{C01BCD61-0C31-48D6-9BEA-7D88E3CE5CC2}"/>
              </a:ext>
            </a:extLst>
          </p:cNvPr>
          <p:cNvSpPr>
            <a:spLocks xmlns:a="http://schemas.openxmlformats.org/drawingml/2006/main" noGrp="1"/>
          </p:cNvSpPr>
          <p:nvPr/>
        </p:nvSpPr>
        <p:spPr>
          <a:xfrm xmlns:a="http://schemas.openxmlformats.org/drawingml/2006/main" rot="0">
            <a:off x="7429500" y="4267200"/>
            <a:ext cx="209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3900" b="1" i="0">
                <a:solidFill>
                  <a:srgbClr val="0B1F33"/>
                </a:solidFill>
                <a:latin typeface="Aptos"/>
                <a:ea typeface="Aptos"/>
                <a:cs typeface="Aptos"/>
              </a:defRPr>
            </a:pPr>
            <a:r>
              <a:rPr sz="3900" b="1" i="0">
                <a:solidFill>
                  <a:srgbClr val="0B1F33"/>
                </a:solidFill>
                <a:latin typeface="Aptos"/>
                <a:ea typeface="Aptos"/>
                <a:cs typeface="Aptos"/>
              </a:rPr>
              <a:t>0.259</a:t>
            </a:r>
          </a:p>
        </p:txBody>
      </p:sp>
      <p:sp>
        <p:nvSpPr>
          <p:cNvPr id="20" name="">
            <a:extLst xmlns:a="http://schemas.openxmlformats.org/drawingml/2006/main">
              <a:ext uri="{FF2B5EF4-FFF2-40B4-BE49-F238E27FC236}">
                <a16:creationId xmlns:a16="http://schemas.microsoft.com/office/drawing/2014/main" id="{A3AD0868-5B02-4AA7-A887-849028754955}"/>
              </a:ext>
            </a:extLst>
          </p:cNvPr>
          <p:cNvSpPr>
            <a:spLocks xmlns:a="http://schemas.openxmlformats.org/drawingml/2006/main" noGrp="1"/>
          </p:cNvSpPr>
          <p:nvPr/>
        </p:nvSpPr>
        <p:spPr>
          <a:xfrm xmlns:a="http://schemas.openxmlformats.org/drawingml/2006/main" rot="0">
            <a:off x="7743825" y="49339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i="0">
                <a:solidFill>
                  <a:srgbClr val="F28C45"/>
                </a:solidFill>
                <a:latin typeface="Aptos"/>
                <a:ea typeface="Aptos"/>
                <a:cs typeface="Aptos"/>
              </a:defRPr>
            </a:pPr>
            <a:r>
              <a:rPr sz="1425" b="1" i="0">
                <a:solidFill>
                  <a:srgbClr val="F28C45"/>
                </a:solidFill>
                <a:latin typeface="Aptos"/>
                <a:ea typeface="Aptos"/>
                <a:cs typeface="Aptos"/>
              </a:rPr>
              <a:t>pairs-F1</a:t>
            </a:r>
          </a:p>
        </p:txBody>
      </p:sp>
      <p:sp>
        <p:nvSpPr>
          <p:cNvPr id="21" name="">
            <a:extLst xmlns:a="http://schemas.openxmlformats.org/drawingml/2006/main">
              <a:ext uri="{FF2B5EF4-FFF2-40B4-BE49-F238E27FC236}">
                <a16:creationId xmlns:a16="http://schemas.microsoft.com/office/drawing/2014/main" id="{5EA5EA5B-3A7E-464B-8360-62152BA7DFE7}"/>
              </a:ext>
            </a:extLst>
          </p:cNvPr>
          <p:cNvSpPr>
            <a:spLocks xmlns:a="http://schemas.openxmlformats.org/drawingml/2006/main" noGrp="1"/>
          </p:cNvSpPr>
          <p:nvPr/>
        </p:nvSpPr>
        <p:spPr>
          <a:xfrm xmlns:a="http://schemas.openxmlformats.org/drawingml/2006/main">
            <a:off x="5695950" y="3143250"/>
            <a:ext cx="800100" cy="800100"/>
          </a:xfrm>
          <a:prstGeom xmlns:a="http://schemas.openxmlformats.org/drawingml/2006/main" prst="ellipse">
            <a:avLst/>
          </a:prstGeom>
          <a:solidFill xmlns:a="http://schemas.openxmlformats.org/drawingml/2006/main">
            <a:srgbClr val="0B1F33"/>
          </a:solidFill>
          <a:ln xmlns:a="http://schemas.openxmlformats.org/drawingml/2006/main" w="38100">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3150" b="1">
                <a:solidFill>
                  <a:srgbClr val="FFFFFF"/>
                </a:solidFill>
                <a:latin typeface="Aptos"/>
                <a:ea typeface="Aptos"/>
                <a:cs typeface="Aptos"/>
              </a:defRPr>
            </a:pPr>
            <a:r>
              <a:rPr sz="3150" b="1">
                <a:solidFill>
                  <a:srgbClr val="FFFFFF"/>
                </a:solidFill>
                <a:latin typeface="Aptos"/>
                <a:ea typeface="Aptos"/>
                <a:cs typeface="Aptos"/>
              </a:rPr>
              <a:t>&gt;</a:t>
            </a:r>
          </a:p>
        </p:txBody>
      </p:sp>
      <p:sp>
        <p:nvSpPr>
          <p:cNvPr id="22" name="">
            <a:extLst xmlns:a="http://schemas.openxmlformats.org/drawingml/2006/main">
              <a:ext uri="{FF2B5EF4-FFF2-40B4-BE49-F238E27FC236}">
                <a16:creationId xmlns:a16="http://schemas.microsoft.com/office/drawing/2014/main" id="{88281EA8-1545-4FA0-9B27-51DB4119A412}"/>
              </a:ext>
            </a:extLst>
          </p:cNvPr>
          <p:cNvSpPr>
            <a:spLocks xmlns:a="http://schemas.openxmlformats.org/drawingml/2006/main" noGrp="1"/>
          </p:cNvSpPr>
          <p:nvPr/>
        </p:nvSpPr>
        <p:spPr>
          <a:xfrm xmlns:a="http://schemas.openxmlformats.org/drawingml/2006/main">
            <a:off x="3876675" y="5667375"/>
            <a:ext cx="4438650" cy="400050"/>
          </a:xfrm>
          <a:prstGeom xmlns:a="http://schemas.openxmlformats.org/drawingml/2006/main" prst="roundRect">
            <a:avLst>
              <a:gd name="adj" fmla="val 38095"/>
            </a:avLst>
          </a:prstGeom>
          <a:solidFill xmlns:a="http://schemas.openxmlformats.org/drawingml/2006/main">
            <a:srgbClr val="0B1F33"/>
          </a:solidFill>
          <a:ln xmlns:a="http://schemas.openxmlformats.org/drawingml/2006/main" w="9525">
            <a:solidFill>
              <a:srgbClr val="0B1F33"/>
            </a:solidFill>
            <a:prstDash val="solid"/>
          </a:ln>
        </p:spPr>
      </p:sp>
      <p:sp>
        <p:nvSpPr>
          <p:cNvPr id="23" name="">
            <a:extLst xmlns:a="http://schemas.openxmlformats.org/drawingml/2006/main">
              <a:ext uri="{FF2B5EF4-FFF2-40B4-BE49-F238E27FC236}">
                <a16:creationId xmlns:a16="http://schemas.microsoft.com/office/drawing/2014/main" id="{7C4487D1-3F49-40D2-80EF-3FE688DDFC3F}"/>
              </a:ext>
            </a:extLst>
          </p:cNvPr>
          <p:cNvSpPr>
            <a:spLocks xmlns:a="http://schemas.openxmlformats.org/drawingml/2006/main" noGrp="1"/>
          </p:cNvSpPr>
          <p:nvPr/>
        </p:nvSpPr>
        <p:spPr>
          <a:xfrm xmlns:a="http://schemas.openxmlformats.org/drawingml/2006/main" rot="0">
            <a:off x="4095750" y="5734050"/>
            <a:ext cx="4000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i="0">
                <a:solidFill>
                  <a:srgbClr val="FFFFFF"/>
                </a:solidFill>
                <a:latin typeface="Aptos"/>
                <a:ea typeface="Aptos"/>
                <a:cs typeface="Aptos"/>
              </a:defRPr>
            </a:pPr>
            <a:r>
              <a:rPr sz="1275" b="1" i="0">
                <a:solidFill>
                  <a:srgbClr val="FFFFFF"/>
                </a:solidFill>
                <a:latin typeface="Aptos"/>
                <a:ea typeface="Aptos"/>
                <a:cs typeface="Aptos"/>
              </a:rPr>
              <a:t>NYC · n = 2,880 · length &gt;= 3 · order-aware pairs-F1</a:t>
            </a:r>
          </a:p>
        </p:txBody>
      </p:sp>
      <p:sp>
        <p:nvSpPr>
          <p:cNvPr id="24" name="">
            <a:extLst xmlns:a="http://schemas.openxmlformats.org/drawingml/2006/main">
              <a:ext uri="{FF2B5EF4-FFF2-40B4-BE49-F238E27FC236}">
                <a16:creationId xmlns:a16="http://schemas.microsoft.com/office/drawing/2014/main" id="{5F657B14-77FC-4AB6-BDA1-08BEAF3C1A0F}"/>
              </a:ext>
            </a:extLst>
          </p:cNvPr>
          <p:cNvSpPr>
            <a:spLocks xmlns:a="http://schemas.openxmlformats.org/drawingml/2006/main" noGrp="1"/>
          </p:cNvSpPr>
          <p:nvPr/>
        </p:nvSpPr>
        <p:spPr>
          <a:xfrm xmlns:a="http://schemas.openxmlformats.org/drawingml/2006/main" rot="0">
            <a:off x="609600" y="6210300"/>
            <a:ext cx="10668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50" b="0" i="1">
                <a:solidFill>
                  <a:srgbClr val="5A6C79"/>
                </a:solidFill>
                <a:latin typeface="Aptos"/>
                <a:ea typeface="Aptos"/>
                <a:cs typeface="Aptos"/>
              </a:defRPr>
            </a:pPr>
            <a:r>
              <a:rPr sz="750" b="0" i="1">
                <a:solidFill>
                  <a:srgbClr val="5A6C79"/>
                </a:solidFill>
                <a:latin typeface="Aptos"/>
                <a:ea typeface="Aptos"/>
                <a:cs typeface="Aptos"/>
              </a:rPr>
              <a:t>Source: Thesis Table 3.3. Beam search changes Frozen Rollout only from 0.289 to 0.290.</a:t>
            </a:r>
          </a:p>
        </p:txBody>
      </p:sp>
    </p:spTree>
    <p:extLst>
      <p:ext uri="{BB962C8B-B14F-4D97-AF65-F5344CB8AC3E}">
        <p14:creationId xmlns:p14="http://schemas.microsoft.com/office/powerpoint/2010/main" val="85136772"/>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41" name="eyebrow">
            <a:extLst xmlns:a="http://schemas.openxmlformats.org/drawingml/2006/main">
              <a:ext uri="{FF2B5EF4-FFF2-40B4-BE49-F238E27FC236}">
                <a16:creationId xmlns:a16="http://schemas.microsoft.com/office/drawing/2014/main" id="{23CC34FD-3FDE-4592-8AFA-39A097623991}"/>
              </a:ext>
            </a:extLst>
          </p:cNvPr>
          <p:cNvSpPr>
            <a:spLocks xmlns:a="http://schemas.openxmlformats.org/drawingml/2006/main" noGrp="1"/>
          </p:cNvSpPr>
          <p:nvPr/>
        </p:nvSpPr>
        <p:spPr>
          <a:xfrm xmlns:a="http://schemas.openxmlformats.org/drawingml/2006/main" rot="0">
            <a:off x="6096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i="0">
                <a:solidFill>
                  <a:srgbClr val="137B77"/>
                </a:solidFill>
                <a:latin typeface="Aptos"/>
                <a:ea typeface="Aptos"/>
                <a:cs typeface="Aptos"/>
              </a:defRPr>
            </a:pPr>
            <a:r>
              <a:rPr sz="975" b="1" i="0">
                <a:solidFill>
                  <a:srgbClr val="137B77"/>
                </a:solidFill>
                <a:latin typeface="Aptos"/>
                <a:ea typeface="Aptos"/>
                <a:cs typeface="Aptos"/>
              </a:rPr>
              <a:t>4 · IMPLEMENTATION AND EVALUATION</a:t>
            </a:r>
          </a:p>
        </p:txBody>
      </p:sp>
      <p:sp>
        <p:nvSpPr>
          <p:cNvPr id="2" name="slide-title">
            <a:extLst xmlns:a="http://schemas.openxmlformats.org/drawingml/2006/main">
              <a:ext uri="{FF2B5EF4-FFF2-40B4-BE49-F238E27FC236}">
                <a16:creationId xmlns:a16="http://schemas.microsoft.com/office/drawing/2014/main" id="{9B7ECACD-C8FA-436D-9EBA-D35BACB14AFD}"/>
              </a:ext>
            </a:extLst>
          </p:cNvPr>
          <p:cNvSpPr>
            <a:spLocks xmlns:a="http://schemas.openxmlformats.org/drawingml/2006/main" noGrp="1"/>
          </p:cNvSpPr>
          <p:nvPr/>
        </p:nvSpPr>
        <p:spPr>
          <a:xfrm xmlns:a="http://schemas.openxmlformats.org/drawingml/2006/main" rot="0">
            <a:off x="609600" y="5905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850" b="1" i="0">
                <a:solidFill>
                  <a:srgbClr val="0B1F33"/>
                </a:solidFill>
                <a:latin typeface="Aptos"/>
                <a:ea typeface="Aptos"/>
                <a:cs typeface="Aptos"/>
              </a:defRPr>
            </a:pPr>
            <a:r>
              <a:rPr sz="2850" b="1" i="0">
                <a:solidFill>
                  <a:srgbClr val="0B1F33"/>
                </a:solidFill>
                <a:latin typeface="Aptos"/>
                <a:ea typeface="Aptos"/>
                <a:cs typeface="Aptos"/>
              </a:rPr>
              <a:t>Flickr validates the protocol - and shows the remaining gap</a:t>
            </a:r>
          </a:p>
        </p:txBody>
      </p:sp>
      <p:sp>
        <p:nvSpPr>
          <p:cNvPr id="3" name="title-accent">
            <a:extLst xmlns:a="http://schemas.openxmlformats.org/drawingml/2006/main">
              <a:ext uri="{FF2B5EF4-FFF2-40B4-BE49-F238E27FC236}">
                <a16:creationId xmlns:a16="http://schemas.microsoft.com/office/drawing/2014/main" id="{BA4CADC6-7044-4497-8012-DFADE90A4F84}"/>
              </a:ext>
            </a:extLst>
          </p:cNvPr>
          <p:cNvSpPr>
            <a:spLocks xmlns:a="http://schemas.openxmlformats.org/drawingml/2006/main" noGrp="1"/>
          </p:cNvSpPr>
          <p:nvPr/>
        </p:nvSpPr>
        <p:spPr>
          <a:xfrm xmlns:a="http://schemas.openxmlformats.org/drawingml/2006/main">
            <a:off x="609600" y="1219200"/>
            <a:ext cx="876300" cy="47625"/>
          </a:xfrm>
          <a:prstGeom xmlns:a="http://schemas.openxmlformats.org/drawingml/2006/main" prst="rect">
            <a:avLst/>
          </a:prstGeom>
          <a:solidFill xmlns:a="http://schemas.openxmlformats.org/drawingml/2006/main">
            <a:srgbClr val="1FA6A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A604030-EAC9-4569-AFAE-28CC6B51A461}"/>
              </a:ext>
            </a:extLst>
          </p:cNvPr>
          <p:cNvSpPr>
            <a:spLocks xmlns:a="http://schemas.openxmlformats.org/drawingml/2006/main" noGrp="1"/>
          </p:cNvSpPr>
          <p:nvPr/>
        </p:nvSpPr>
        <p:spPr>
          <a:xfrm xmlns:a="http://schemas.openxmlformats.org/drawingml/2006/main" flipV="0">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4E9"/>
            </a:solidFill>
            <a:prstDash val="solid"/>
          </a:ln>
        </p:spPr>
      </p:sp>
      <p:sp>
        <p:nvSpPr>
          <p:cNvPr id="5" name="">
            <a:extLst xmlns:a="http://schemas.openxmlformats.org/drawingml/2006/main">
              <a:ext uri="{FF2B5EF4-FFF2-40B4-BE49-F238E27FC236}">
                <a16:creationId xmlns:a16="http://schemas.microsoft.com/office/drawing/2014/main" id="{3AFD44BE-1F88-4A4A-A6AF-DE39509C5EDD}"/>
              </a:ext>
            </a:extLst>
          </p:cNvPr>
          <p:cNvSpPr>
            <a:spLocks xmlns:a="http://schemas.openxmlformats.org/drawingml/2006/main" noGrp="1"/>
          </p:cNvSpPr>
          <p:nvPr/>
        </p:nvSpPr>
        <p:spPr>
          <a:xfrm xmlns:a="http://schemas.openxmlformats.org/drawingml/2006/main" rot="0">
            <a:off x="609600" y="655320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Ayman Naaimi · ENSAM Meknes</a:t>
            </a:r>
          </a:p>
        </p:txBody>
      </p:sp>
      <p:sp>
        <p:nvSpPr>
          <p:cNvPr id="6" name="">
            <a:extLst xmlns:a="http://schemas.openxmlformats.org/drawingml/2006/main">
              <a:ext uri="{FF2B5EF4-FFF2-40B4-BE49-F238E27FC236}">
                <a16:creationId xmlns:a16="http://schemas.microsoft.com/office/drawing/2014/main" id="{5D088754-29A0-4C5A-A29B-C3150F10CC13}"/>
              </a:ext>
            </a:extLst>
          </p:cNvPr>
          <p:cNvSpPr>
            <a:spLocks xmlns:a="http://schemas.openxmlformats.org/drawingml/2006/main" noGrp="1"/>
          </p:cNvSpPr>
          <p:nvPr/>
        </p:nvSpPr>
        <p:spPr>
          <a:xfrm xmlns:a="http://schemas.openxmlformats.org/drawingml/2006/main" rot="0">
            <a:off x="10572750" y="6553200"/>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9 / 10</a:t>
            </a:r>
          </a:p>
        </p:txBody>
      </p:sp>
      <p:sp>
        <p:nvSpPr>
          <p:cNvPr id="7" name="">
            <a:extLst xmlns:a="http://schemas.openxmlformats.org/drawingml/2006/main">
              <a:ext uri="{FF2B5EF4-FFF2-40B4-BE49-F238E27FC236}">
                <a16:creationId xmlns:a16="http://schemas.microsoft.com/office/drawing/2014/main" id="{5317A240-9163-46D0-A51D-E742289B4638}"/>
              </a:ext>
            </a:extLst>
          </p:cNvPr>
          <p:cNvSpPr>
            <a:spLocks xmlns:a="http://schemas.openxmlformats.org/drawingml/2006/main" noGrp="1"/>
          </p:cNvSpPr>
          <p:nvPr/>
        </p:nvSpPr>
        <p:spPr>
          <a:xfrm xmlns:a="http://schemas.openxmlformats.org/drawingml/2006/main">
            <a:off x="666750" y="1714500"/>
            <a:ext cx="3143250" cy="4095750"/>
          </a:xfrm>
          <a:prstGeom xmlns:a="http://schemas.openxmlformats.org/drawingml/2006/main" prst="roundRect">
            <a:avLst>
              <a:gd name="adj" fmla="val 6667"/>
            </a:avLst>
          </a:prstGeom>
          <a:solidFill xmlns:a="http://schemas.openxmlformats.org/drawingml/2006/main">
            <a:srgbClr val="0B1F33"/>
          </a:solidFill>
          <a:ln xmlns:a="http://schemas.openxmlformats.org/drawingml/2006/main" w="9525">
            <a:solidFill>
              <a:srgbClr val="0B1F33"/>
            </a:solidFill>
            <a:prstDash val="solid"/>
          </a:ln>
        </p:spPr>
      </p:sp>
      <p:sp>
        <p:nvSpPr>
          <p:cNvPr id="8" name="">
            <a:extLst xmlns:a="http://schemas.openxmlformats.org/drawingml/2006/main">
              <a:ext uri="{FF2B5EF4-FFF2-40B4-BE49-F238E27FC236}">
                <a16:creationId xmlns:a16="http://schemas.microsoft.com/office/drawing/2014/main" id="{25D42985-2F5B-40A5-BB34-A6FA9CFDA329}"/>
              </a:ext>
            </a:extLst>
          </p:cNvPr>
          <p:cNvSpPr>
            <a:spLocks xmlns:a="http://schemas.openxmlformats.org/drawingml/2006/main" noGrp="1"/>
          </p:cNvSpPr>
          <p:nvPr/>
        </p:nvSpPr>
        <p:spPr>
          <a:xfrm xmlns:a="http://schemas.openxmlformats.org/drawingml/2006/main" rot="0">
            <a:off x="933450" y="1952625"/>
            <a:ext cx="2609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F28C45"/>
                </a:solidFill>
                <a:latin typeface="Aptos"/>
                <a:ea typeface="Aptos"/>
                <a:cs typeface="Aptos"/>
              </a:defRPr>
            </a:pPr>
            <a:r>
              <a:rPr sz="1350" b="1" i="0">
                <a:solidFill>
                  <a:srgbClr val="F28C45"/>
                </a:solidFill>
                <a:latin typeface="Aptos"/>
                <a:ea typeface="Aptos"/>
                <a:cs typeface="Aptos"/>
              </a:rPr>
              <a:t>FLICKR BENCHMARK</a:t>
            </a:r>
          </a:p>
        </p:txBody>
      </p:sp>
      <p:sp>
        <p:nvSpPr>
          <p:cNvPr id="9" name="">
            <a:extLst xmlns:a="http://schemas.openxmlformats.org/drawingml/2006/main">
              <a:ext uri="{FF2B5EF4-FFF2-40B4-BE49-F238E27FC236}">
                <a16:creationId xmlns:a16="http://schemas.microsoft.com/office/drawing/2014/main" id="{6B3ECD8B-1E2E-4F43-9CF1-AB8651E6354B}"/>
              </a:ext>
            </a:extLst>
          </p:cNvPr>
          <p:cNvSpPr>
            <a:spLocks xmlns:a="http://schemas.openxmlformats.org/drawingml/2006/main" noGrp="1"/>
          </p:cNvSpPr>
          <p:nvPr/>
        </p:nvSpPr>
        <p:spPr>
          <a:xfrm xmlns:a="http://schemas.openxmlformats.org/drawingml/2006/main" rot="0">
            <a:off x="933450" y="2343150"/>
            <a:ext cx="2609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i="0">
                <a:solidFill>
                  <a:srgbClr val="FFFFFF"/>
                </a:solidFill>
                <a:latin typeface="Aptos"/>
                <a:ea typeface="Aptos"/>
                <a:cs typeface="Aptos"/>
              </a:defRPr>
            </a:pPr>
            <a:r>
              <a:rPr sz="1725" b="1" i="0">
                <a:solidFill>
                  <a:srgbClr val="FFFFFF"/>
                </a:solidFill>
                <a:latin typeface="Aptos"/>
                <a:ea typeface="Aptos"/>
                <a:cs typeface="Aptos"/>
              </a:rPr>
              <a:t>27 - 88 POIs per city</a:t>
            </a:r>
          </a:p>
        </p:txBody>
      </p:sp>
      <p:sp>
        <p:nvSpPr>
          <p:cNvPr id="10" name="">
            <a:extLst xmlns:a="http://schemas.openxmlformats.org/drawingml/2006/main">
              <a:ext uri="{FF2B5EF4-FFF2-40B4-BE49-F238E27FC236}">
                <a16:creationId xmlns:a16="http://schemas.microsoft.com/office/drawing/2014/main" id="{225AEC7D-81C3-41D3-8E62-572A5493C6E9}"/>
              </a:ext>
            </a:extLst>
          </p:cNvPr>
          <p:cNvSpPr>
            <a:spLocks xmlns:a="http://schemas.openxmlformats.org/drawingml/2006/main" noGrp="1"/>
          </p:cNvSpPr>
          <p:nvPr/>
        </p:nvSpPr>
        <p:spPr>
          <a:xfrm xmlns:a="http://schemas.openxmlformats.org/drawingml/2006/main" rot="0">
            <a:off x="933450" y="2876550"/>
            <a:ext cx="260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i="0">
                <a:solidFill>
                  <a:srgbClr val="DDF3F1"/>
                </a:solidFill>
                <a:latin typeface="Aptos"/>
                <a:ea typeface="Aptos"/>
                <a:cs typeface="Aptos"/>
              </a:defRPr>
            </a:pPr>
            <a:r>
              <a:rPr sz="1050" b="1" i="0">
                <a:solidFill>
                  <a:srgbClr val="DDF3F1"/>
                </a:solidFill>
                <a:latin typeface="Aptos"/>
                <a:ea typeface="Aptos"/>
                <a:cs typeface="Aptos"/>
              </a:rPr>
              <a:t>PROTOCOL CHECK</a:t>
            </a:r>
          </a:p>
        </p:txBody>
      </p:sp>
      <p:sp>
        <p:nvSpPr>
          <p:cNvPr id="11" name="">
            <a:extLst xmlns:a="http://schemas.openxmlformats.org/drawingml/2006/main">
              <a:ext uri="{FF2B5EF4-FFF2-40B4-BE49-F238E27FC236}">
                <a16:creationId xmlns:a16="http://schemas.microsoft.com/office/drawing/2014/main" id="{A44FC3B6-7319-4CD1-B8B6-364123AEA8DE}"/>
              </a:ext>
            </a:extLst>
          </p:cNvPr>
          <p:cNvSpPr>
            <a:spLocks xmlns:a="http://schemas.openxmlformats.org/drawingml/2006/main" noGrp="1"/>
          </p:cNvSpPr>
          <p:nvPr/>
        </p:nvSpPr>
        <p:spPr>
          <a:xfrm xmlns:a="http://schemas.openxmlformats.org/drawingml/2006/main" rot="0">
            <a:off x="971550" y="3219450"/>
            <a:ext cx="25336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0" i="0">
                <a:solidFill>
                  <a:srgbClr val="D6E4EE"/>
                </a:solidFill>
                <a:latin typeface="Aptos"/>
                <a:ea typeface="Aptos"/>
                <a:cs typeface="Aptos"/>
              </a:defRPr>
            </a:pPr>
            <a:r>
              <a:rPr sz="1275" b="0" i="0">
                <a:solidFill>
                  <a:srgbClr val="D6E4EE"/>
                </a:solidFill>
                <a:latin typeface="Aptos"/>
                <a:ea typeface="Aptos"/>
                <a:cs typeface="Aptos"/>
              </a:rPr>
              <a:t>Leave one trajectory out</a:t>
            </a:r>
          </a:p>
          <a:p xmlns:a="http://schemas.openxmlformats.org/drawingml/2006/main">
            <a:pPr algn="ctr">
              <a:lnSpc>
                <a:spcPct val="100000"/>
              </a:lnSpc>
              <a:buNone/>
              <a:defRPr sz="1275" b="0" i="0">
                <a:solidFill>
                  <a:srgbClr val="D6E4EE"/>
                </a:solidFill>
                <a:latin typeface="Aptos"/>
                <a:ea typeface="Aptos"/>
                <a:cs typeface="Aptos"/>
              </a:defRPr>
            </a:pPr>
            <a:r>
              <a:rPr sz="1275" b="0" i="0">
                <a:solidFill>
                  <a:srgbClr val="D6E4EE"/>
                </a:solidFill>
                <a:latin typeface="Aptos"/>
                <a:ea typeface="Aptos"/>
                <a:cs typeface="Aptos"/>
              </a:rPr>
              <a:t>First + last POI + length</a:t>
            </a:r>
          </a:p>
          <a:p xmlns:a="http://schemas.openxmlformats.org/drawingml/2006/main">
            <a:pPr algn="ctr">
              <a:lnSpc>
                <a:spcPct val="100000"/>
              </a:lnSpc>
              <a:buNone/>
              <a:defRPr sz="1275" b="0" i="0">
                <a:solidFill>
                  <a:srgbClr val="D6E4EE"/>
                </a:solidFill>
                <a:latin typeface="Aptos"/>
                <a:ea typeface="Aptos"/>
                <a:cs typeface="Aptos"/>
              </a:defRPr>
            </a:pPr>
            <a:r>
              <a:rPr sz="1275" b="0" i="0">
                <a:solidFill>
                  <a:srgbClr val="D6E4EE"/>
                </a:solidFill>
                <a:latin typeface="Aptos"/>
                <a:ea typeface="Aptos"/>
                <a:cs typeface="Aptos"/>
              </a:rPr>
              <a:t>Length &gt;= 3 · loop-free · pairs-F1</a:t>
            </a:r>
          </a:p>
        </p:txBody>
      </p:sp>
      <p:sp>
        <p:nvSpPr>
          <p:cNvPr id="12" name="">
            <a:extLst xmlns:a="http://schemas.openxmlformats.org/drawingml/2006/main">
              <a:ext uri="{FF2B5EF4-FFF2-40B4-BE49-F238E27FC236}">
                <a16:creationId xmlns:a16="http://schemas.microsoft.com/office/drawing/2014/main" id="{CD104E8F-D10D-4051-ABD0-ACA4366945CE}"/>
              </a:ext>
            </a:extLst>
          </p:cNvPr>
          <p:cNvSpPr>
            <a:spLocks xmlns:a="http://schemas.openxmlformats.org/drawingml/2006/main" noGrp="1"/>
          </p:cNvSpPr>
          <p:nvPr/>
        </p:nvSpPr>
        <p:spPr>
          <a:xfrm xmlns:a="http://schemas.openxmlformats.org/drawingml/2006/main" rot="0">
            <a:off x="933450" y="4210050"/>
            <a:ext cx="2609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3900" b="1" i="0">
                <a:solidFill>
                  <a:srgbClr val="FFFFFF"/>
                </a:solidFill>
                <a:latin typeface="Aptos"/>
                <a:ea typeface="Aptos"/>
                <a:cs typeface="Aptos"/>
              </a:defRPr>
            </a:pPr>
            <a:r>
              <a:rPr sz="3900" b="1" i="0">
                <a:solidFill>
                  <a:srgbClr val="FFFFFF"/>
                </a:solidFill>
                <a:latin typeface="Aptos"/>
                <a:ea typeface="Aptos"/>
                <a:cs typeface="Aptos"/>
              </a:rPr>
              <a:t>0.021</a:t>
            </a:r>
          </a:p>
        </p:txBody>
      </p:sp>
      <p:sp>
        <p:nvSpPr>
          <p:cNvPr id="13" name="">
            <a:extLst xmlns:a="http://schemas.openxmlformats.org/drawingml/2006/main">
              <a:ext uri="{FF2B5EF4-FFF2-40B4-BE49-F238E27FC236}">
                <a16:creationId xmlns:a16="http://schemas.microsoft.com/office/drawing/2014/main" id="{639B3C7B-6A72-4300-93CB-D7AEFBD80E66}"/>
              </a:ext>
            </a:extLst>
          </p:cNvPr>
          <p:cNvSpPr>
            <a:spLocks xmlns:a="http://schemas.openxmlformats.org/drawingml/2006/main" noGrp="1"/>
          </p:cNvSpPr>
          <p:nvPr/>
        </p:nvSpPr>
        <p:spPr>
          <a:xfrm xmlns:a="http://schemas.openxmlformats.org/drawingml/2006/main" rot="0">
            <a:off x="952500" y="48577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0" i="0">
                <a:solidFill>
                  <a:srgbClr val="D6E4EE"/>
                </a:solidFill>
                <a:latin typeface="Aptos"/>
                <a:ea typeface="Aptos"/>
                <a:cs typeface="Aptos"/>
              </a:defRPr>
            </a:pPr>
            <a:r>
              <a:rPr sz="1200" b="0" i="0">
                <a:solidFill>
                  <a:srgbClr val="D6E4EE"/>
                </a:solidFill>
                <a:latin typeface="Aptos"/>
                <a:ea typeface="Aptos"/>
                <a:cs typeface="Aptos"/>
              </a:rPr>
              <a:t>maximum Random reproduction gap</a:t>
            </a:r>
          </a:p>
        </p:txBody>
      </p:sp>
      <p:sp>
        <p:nvSpPr>
          <p:cNvPr id="14" name="">
            <a:extLst xmlns:a="http://schemas.openxmlformats.org/drawingml/2006/main">
              <a:ext uri="{FF2B5EF4-FFF2-40B4-BE49-F238E27FC236}">
                <a16:creationId xmlns:a16="http://schemas.microsoft.com/office/drawing/2014/main" id="{DF75D612-80E6-4239-8FE5-DDD7AF2B283D}"/>
              </a:ext>
            </a:extLst>
          </p:cNvPr>
          <p:cNvSpPr>
            <a:spLocks xmlns:a="http://schemas.openxmlformats.org/drawingml/2006/main" noGrp="1"/>
          </p:cNvSpPr>
          <p:nvPr/>
        </p:nvSpPr>
        <p:spPr>
          <a:xfrm xmlns:a="http://schemas.openxmlformats.org/drawingml/2006/main">
            <a:off x="990600" y="5314950"/>
            <a:ext cx="2495550" cy="323850"/>
          </a:xfrm>
          <a:prstGeom xmlns:a="http://schemas.openxmlformats.org/drawingml/2006/main" prst="roundRect">
            <a:avLst>
              <a:gd name="adj" fmla="val 35294"/>
            </a:avLst>
          </a:prstGeom>
          <a:solidFill xmlns:a="http://schemas.openxmlformats.org/drawingml/2006/main">
            <a:srgbClr val="137B77"/>
          </a:solidFill>
          <a:ln xmlns:a="http://schemas.openxmlformats.org/drawingml/2006/main" w="9525">
            <a:solidFill>
              <a:srgbClr val="137B77"/>
            </a:solidFill>
            <a:prstDash val="solid"/>
          </a:ln>
        </p:spPr>
      </p:sp>
      <p:sp>
        <p:nvSpPr>
          <p:cNvPr id="15" name="">
            <a:extLst xmlns:a="http://schemas.openxmlformats.org/drawingml/2006/main">
              <a:ext uri="{FF2B5EF4-FFF2-40B4-BE49-F238E27FC236}">
                <a16:creationId xmlns:a16="http://schemas.microsoft.com/office/drawing/2014/main" id="{F1F78B44-6D4B-44EB-90BE-671618B6A089}"/>
              </a:ext>
            </a:extLst>
          </p:cNvPr>
          <p:cNvSpPr>
            <a:spLocks xmlns:a="http://schemas.openxmlformats.org/drawingml/2006/main" noGrp="1"/>
          </p:cNvSpPr>
          <p:nvPr/>
        </p:nvSpPr>
        <p:spPr>
          <a:xfrm xmlns:a="http://schemas.openxmlformats.org/drawingml/2006/main" rot="0">
            <a:off x="1104900" y="5362575"/>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i="0">
                <a:solidFill>
                  <a:srgbClr val="FFFFFF"/>
                </a:solidFill>
                <a:latin typeface="Aptos"/>
                <a:ea typeface="Aptos"/>
                <a:cs typeface="Aptos"/>
              </a:defRPr>
            </a:pPr>
            <a:r>
              <a:rPr sz="1200" b="1" i="0">
                <a:solidFill>
                  <a:srgbClr val="FFFFFF"/>
                </a:solidFill>
                <a:latin typeface="Aptos"/>
                <a:ea typeface="Aptos"/>
                <a:cs typeface="Aptos"/>
              </a:rPr>
              <a:t>Protocol faithfully reproduced</a:t>
            </a:r>
          </a:p>
        </p:txBody>
      </p:sp>
      <p:sp>
        <p:nvSpPr>
          <p:cNvPr id="16" name="">
            <a:extLst xmlns:a="http://schemas.openxmlformats.org/drawingml/2006/main">
              <a:ext uri="{FF2B5EF4-FFF2-40B4-BE49-F238E27FC236}">
                <a16:creationId xmlns:a16="http://schemas.microsoft.com/office/drawing/2014/main" id="{B82FD8C5-307A-4B33-884F-9F6FA41120E9}"/>
              </a:ext>
            </a:extLst>
          </p:cNvPr>
          <p:cNvSpPr>
            <a:spLocks xmlns:a="http://schemas.openxmlformats.org/drawingml/2006/main" noGrp="1"/>
          </p:cNvSpPr>
          <p:nvPr/>
        </p:nvSpPr>
        <p:spPr>
          <a:xfrm xmlns:a="http://schemas.openxmlformats.org/drawingml/2006/main">
            <a:off x="4143375" y="1714500"/>
            <a:ext cx="7381875" cy="2571750"/>
          </a:xfrm>
          <a:prstGeom xmlns:a="http://schemas.openxmlformats.org/drawingml/2006/main" prst="roundRect">
            <a:avLst>
              <a:gd name="adj" fmla="val 8148"/>
            </a:avLst>
          </a:prstGeom>
          <a:solidFill xmlns:a="http://schemas.openxmlformats.org/drawingml/2006/main">
            <a:srgbClr val="FFFFFF"/>
          </a:solidFill>
          <a:ln xmlns:a="http://schemas.openxmlformats.org/drawingml/2006/main" w="9525">
            <a:solidFill>
              <a:srgbClr val="DCE4E9"/>
            </a:solidFill>
            <a:prstDash val="solid"/>
          </a:ln>
        </p:spPr>
      </p:sp>
      <p:sp>
        <p:nvSpPr>
          <p:cNvPr id="17" name="">
            <a:extLst xmlns:a="http://schemas.openxmlformats.org/drawingml/2006/main">
              <a:ext uri="{FF2B5EF4-FFF2-40B4-BE49-F238E27FC236}">
                <a16:creationId xmlns:a16="http://schemas.microsoft.com/office/drawing/2014/main" id="{D8291AE8-4420-44ED-82B6-8CC646B603AA}"/>
              </a:ext>
            </a:extLst>
          </p:cNvPr>
          <p:cNvSpPr>
            <a:spLocks xmlns:a="http://schemas.openxmlformats.org/drawingml/2006/main" noGrp="1"/>
          </p:cNvSpPr>
          <p:nvPr/>
        </p:nvSpPr>
        <p:spPr>
          <a:xfrm xmlns:a="http://schemas.openxmlformats.org/drawingml/2006/main" rot="0">
            <a:off x="4476750" y="19431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i="0">
                <a:solidFill>
                  <a:srgbClr val="0B1F33"/>
                </a:solidFill>
                <a:latin typeface="Aptos"/>
                <a:ea typeface="Aptos"/>
                <a:cs typeface="Aptos"/>
              </a:defRPr>
            </a:pPr>
            <a:r>
              <a:rPr sz="1350" b="1" i="0">
                <a:solidFill>
                  <a:srgbClr val="0B1F33"/>
                </a:solidFill>
                <a:latin typeface="Aptos"/>
                <a:ea typeface="Aptos"/>
                <a:cs typeface="Aptos"/>
              </a:rPr>
              <a:t>PAIRS-F1 ON THE PUBLISHED SCALE</a:t>
            </a:r>
          </a:p>
        </p:txBody>
      </p:sp>
      <p:sp>
        <p:nvSpPr>
          <p:cNvPr id="18" name="">
            <a:extLst xmlns:a="http://schemas.openxmlformats.org/drawingml/2006/main">
              <a:ext uri="{FF2B5EF4-FFF2-40B4-BE49-F238E27FC236}">
                <a16:creationId xmlns:a16="http://schemas.microsoft.com/office/drawing/2014/main" id="{E3F8DECC-8816-4E90-9BCB-BB18B50D2155}"/>
              </a:ext>
            </a:extLst>
          </p:cNvPr>
          <p:cNvSpPr>
            <a:spLocks xmlns:a="http://schemas.openxmlformats.org/drawingml/2006/main" noGrp="1"/>
          </p:cNvSpPr>
          <p:nvPr/>
        </p:nvSpPr>
        <p:spPr>
          <a:xfrm xmlns:a="http://schemas.openxmlformats.org/drawingml/2006/main" rot="0">
            <a:off x="4476750" y="2438400"/>
            <a:ext cx="1762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350" b="1" i="0">
                <a:solidFill>
                  <a:srgbClr val="142632"/>
                </a:solidFill>
                <a:latin typeface="Aptos"/>
                <a:ea typeface="Aptos"/>
                <a:cs typeface="Aptos"/>
              </a:defRPr>
            </a:pPr>
            <a:r>
              <a:rPr sz="1350" b="1" i="0">
                <a:solidFill>
                  <a:srgbClr val="142632"/>
                </a:solidFill>
                <a:latin typeface="Aptos"/>
                <a:ea typeface="Aptos"/>
                <a:cs typeface="Aptos"/>
              </a:rPr>
              <a:t>Classical baselines</a:t>
            </a:r>
          </a:p>
        </p:txBody>
      </p:sp>
      <p:sp>
        <p:nvSpPr>
          <p:cNvPr id="19" name="">
            <a:extLst xmlns:a="http://schemas.openxmlformats.org/drawingml/2006/main">
              <a:ext uri="{FF2B5EF4-FFF2-40B4-BE49-F238E27FC236}">
                <a16:creationId xmlns:a16="http://schemas.microsoft.com/office/drawing/2014/main" id="{06E41804-6E3C-48E7-9E86-7FABFE50A95D}"/>
              </a:ext>
            </a:extLst>
          </p:cNvPr>
          <p:cNvSpPr>
            <a:spLocks xmlns:a="http://schemas.openxmlformats.org/drawingml/2006/main" noGrp="1"/>
          </p:cNvSpPr>
          <p:nvPr/>
        </p:nvSpPr>
        <p:spPr>
          <a:xfrm xmlns:a="http://schemas.openxmlformats.org/drawingml/2006/main">
            <a:off x="6477000" y="2457450"/>
            <a:ext cx="4286250" cy="247650"/>
          </a:xfrm>
          <a:prstGeom xmlns:a="http://schemas.openxmlformats.org/drawingml/2006/main" prst="rect">
            <a:avLst/>
          </a:prstGeom>
          <a:solidFill xmlns:a="http://schemas.openxmlformats.org/drawingml/2006/main">
            <a:srgbClr val="E7ECE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385A768-B7F8-43EA-A570-6683BC42F10C}"/>
              </a:ext>
            </a:extLst>
          </p:cNvPr>
          <p:cNvSpPr>
            <a:spLocks xmlns:a="http://schemas.openxmlformats.org/drawingml/2006/main" noGrp="1"/>
          </p:cNvSpPr>
          <p:nvPr/>
        </p:nvSpPr>
        <p:spPr>
          <a:xfrm xmlns:a="http://schemas.openxmlformats.org/drawingml/2006/main">
            <a:off x="7462838" y="2457450"/>
            <a:ext cx="1543050" cy="247650"/>
          </a:xfrm>
          <a:prstGeom xmlns:a="http://schemas.openxmlformats.org/drawingml/2006/main" prst="rect">
            <a:avLst/>
          </a:prstGeom>
          <a:solidFill xmlns:a="http://schemas.openxmlformats.org/drawingml/2006/main">
            <a:srgbClr val="137B7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9DA1F9E-0816-4B14-82FE-5121DC581461}"/>
              </a:ext>
            </a:extLst>
          </p:cNvPr>
          <p:cNvSpPr>
            <a:spLocks xmlns:a="http://schemas.openxmlformats.org/drawingml/2006/main" noGrp="1"/>
          </p:cNvSpPr>
          <p:nvPr/>
        </p:nvSpPr>
        <p:spPr>
          <a:xfrm xmlns:a="http://schemas.openxmlformats.org/drawingml/2006/main" rot="0">
            <a:off x="7462838" y="2743200"/>
            <a:ext cx="1543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i="0">
                <a:solidFill>
                  <a:srgbClr val="137B77"/>
                </a:solidFill>
                <a:latin typeface="Aptos"/>
                <a:ea typeface="Aptos"/>
                <a:cs typeface="Aptos"/>
              </a:defRPr>
            </a:pPr>
            <a:r>
              <a:rPr sz="1050" b="1" i="0">
                <a:solidFill>
                  <a:srgbClr val="137B77"/>
                </a:solidFill>
                <a:latin typeface="Aptos"/>
                <a:ea typeface="Aptos"/>
                <a:cs typeface="Aptos"/>
              </a:rPr>
              <a:t>0.23 - 0.59</a:t>
            </a:r>
          </a:p>
        </p:txBody>
      </p:sp>
      <p:sp>
        <p:nvSpPr>
          <p:cNvPr id="22" name="">
            <a:extLst xmlns:a="http://schemas.openxmlformats.org/drawingml/2006/main">
              <a:ext uri="{FF2B5EF4-FFF2-40B4-BE49-F238E27FC236}">
                <a16:creationId xmlns:a16="http://schemas.microsoft.com/office/drawing/2014/main" id="{9D81BC8E-BEBC-4EE8-993D-CCE68297330C}"/>
              </a:ext>
            </a:extLst>
          </p:cNvPr>
          <p:cNvSpPr>
            <a:spLocks xmlns:a="http://schemas.openxmlformats.org/drawingml/2006/main" noGrp="1"/>
          </p:cNvSpPr>
          <p:nvPr/>
        </p:nvSpPr>
        <p:spPr>
          <a:xfrm xmlns:a="http://schemas.openxmlformats.org/drawingml/2006/main" rot="0">
            <a:off x="4476750" y="3028950"/>
            <a:ext cx="1762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350" b="1" i="0">
                <a:solidFill>
                  <a:srgbClr val="142632"/>
                </a:solidFill>
                <a:latin typeface="Aptos"/>
                <a:ea typeface="Aptos"/>
                <a:cs typeface="Aptos"/>
              </a:defRPr>
            </a:pPr>
            <a:r>
              <a:rPr sz="1350" b="1" i="0">
                <a:solidFill>
                  <a:srgbClr val="142632"/>
                </a:solidFill>
                <a:latin typeface="Aptos"/>
                <a:ea typeface="Aptos"/>
                <a:cs typeface="Aptos"/>
              </a:rPr>
              <a:t>Trained Pointer</a:t>
            </a:r>
          </a:p>
        </p:txBody>
      </p:sp>
      <p:sp>
        <p:nvSpPr>
          <p:cNvPr id="23" name="">
            <a:extLst xmlns:a="http://schemas.openxmlformats.org/drawingml/2006/main">
              <a:ext uri="{FF2B5EF4-FFF2-40B4-BE49-F238E27FC236}">
                <a16:creationId xmlns:a16="http://schemas.microsoft.com/office/drawing/2014/main" id="{AE398297-C3FB-452D-8E04-16490B913073}"/>
              </a:ext>
            </a:extLst>
          </p:cNvPr>
          <p:cNvSpPr>
            <a:spLocks xmlns:a="http://schemas.openxmlformats.org/drawingml/2006/main" noGrp="1"/>
          </p:cNvSpPr>
          <p:nvPr/>
        </p:nvSpPr>
        <p:spPr>
          <a:xfrm xmlns:a="http://schemas.openxmlformats.org/drawingml/2006/main">
            <a:off x="6477000" y="3048000"/>
            <a:ext cx="4286250" cy="247650"/>
          </a:xfrm>
          <a:prstGeom xmlns:a="http://schemas.openxmlformats.org/drawingml/2006/main" prst="rect">
            <a:avLst/>
          </a:prstGeom>
          <a:solidFill xmlns:a="http://schemas.openxmlformats.org/drawingml/2006/main">
            <a:srgbClr val="E7ECE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4E2ADD6-AE12-42AD-8E8B-C2BE2C386E7C}"/>
              </a:ext>
            </a:extLst>
          </p:cNvPr>
          <p:cNvSpPr>
            <a:spLocks xmlns:a="http://schemas.openxmlformats.org/drawingml/2006/main" noGrp="1"/>
          </p:cNvSpPr>
          <p:nvPr/>
        </p:nvSpPr>
        <p:spPr>
          <a:xfrm xmlns:a="http://schemas.openxmlformats.org/drawingml/2006/main">
            <a:off x="7805738" y="3048000"/>
            <a:ext cx="771525" cy="247650"/>
          </a:xfrm>
          <a:prstGeom xmlns:a="http://schemas.openxmlformats.org/drawingml/2006/main" prst="rect">
            <a:avLst/>
          </a:prstGeom>
          <a:solidFill xmlns:a="http://schemas.openxmlformats.org/drawingml/2006/main">
            <a:srgbClr val="F28C4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4D2884A-1E51-490A-845C-C1544FABF8AA}"/>
              </a:ext>
            </a:extLst>
          </p:cNvPr>
          <p:cNvSpPr>
            <a:spLocks xmlns:a="http://schemas.openxmlformats.org/drawingml/2006/main" noGrp="1"/>
          </p:cNvSpPr>
          <p:nvPr/>
        </p:nvSpPr>
        <p:spPr>
          <a:xfrm xmlns:a="http://schemas.openxmlformats.org/drawingml/2006/main" rot="0">
            <a:off x="7805738" y="3333750"/>
            <a:ext cx="1000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i="0">
                <a:solidFill>
                  <a:srgbClr val="F28C45"/>
                </a:solidFill>
                <a:latin typeface="Aptos"/>
                <a:ea typeface="Aptos"/>
                <a:cs typeface="Aptos"/>
              </a:defRPr>
            </a:pPr>
            <a:r>
              <a:rPr sz="1050" b="1" i="0">
                <a:solidFill>
                  <a:srgbClr val="F28C45"/>
                </a:solidFill>
                <a:latin typeface="Aptos"/>
                <a:ea typeface="Aptos"/>
                <a:cs typeface="Aptos"/>
              </a:rPr>
              <a:t>0.31 - 0.49</a:t>
            </a:r>
          </a:p>
        </p:txBody>
      </p:sp>
      <p:sp>
        <p:nvSpPr>
          <p:cNvPr id="26" name="">
            <a:extLst xmlns:a="http://schemas.openxmlformats.org/drawingml/2006/main">
              <a:ext uri="{FF2B5EF4-FFF2-40B4-BE49-F238E27FC236}">
                <a16:creationId xmlns:a16="http://schemas.microsoft.com/office/drawing/2014/main" id="{2929E70C-E5C0-4EBF-9D41-6BC2AB738C32}"/>
              </a:ext>
            </a:extLst>
          </p:cNvPr>
          <p:cNvSpPr>
            <a:spLocks xmlns:a="http://schemas.openxmlformats.org/drawingml/2006/main" noGrp="1"/>
          </p:cNvSpPr>
          <p:nvPr/>
        </p:nvSpPr>
        <p:spPr>
          <a:xfrm xmlns:a="http://schemas.openxmlformats.org/drawingml/2006/main" rot="0">
            <a:off x="4476750" y="3619500"/>
            <a:ext cx="1762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350" b="1" i="0">
                <a:solidFill>
                  <a:srgbClr val="142632"/>
                </a:solidFill>
                <a:latin typeface="Aptos"/>
                <a:ea typeface="Aptos"/>
                <a:cs typeface="Aptos"/>
              </a:defRPr>
            </a:pPr>
            <a:r>
              <a:rPr sz="1350" b="1" i="0">
                <a:solidFill>
                  <a:srgbClr val="142632"/>
                </a:solidFill>
                <a:latin typeface="Aptos"/>
                <a:ea typeface="Aptos"/>
                <a:cs typeface="Aptos"/>
              </a:rPr>
              <a:t>SelfTrip / AR-Trip</a:t>
            </a:r>
          </a:p>
        </p:txBody>
      </p:sp>
      <p:sp>
        <p:nvSpPr>
          <p:cNvPr id="27" name="">
            <a:extLst xmlns:a="http://schemas.openxmlformats.org/drawingml/2006/main">
              <a:ext uri="{FF2B5EF4-FFF2-40B4-BE49-F238E27FC236}">
                <a16:creationId xmlns:a16="http://schemas.microsoft.com/office/drawing/2014/main" id="{A4618D3F-696B-404D-B91F-D91263AC0D01}"/>
              </a:ext>
            </a:extLst>
          </p:cNvPr>
          <p:cNvSpPr>
            <a:spLocks xmlns:a="http://schemas.openxmlformats.org/drawingml/2006/main" noGrp="1"/>
          </p:cNvSpPr>
          <p:nvPr/>
        </p:nvSpPr>
        <p:spPr>
          <a:xfrm xmlns:a="http://schemas.openxmlformats.org/drawingml/2006/main">
            <a:off x="6477000" y="3638550"/>
            <a:ext cx="4286250" cy="247650"/>
          </a:xfrm>
          <a:prstGeom xmlns:a="http://schemas.openxmlformats.org/drawingml/2006/main" prst="rect">
            <a:avLst/>
          </a:prstGeom>
          <a:solidFill xmlns:a="http://schemas.openxmlformats.org/drawingml/2006/main">
            <a:srgbClr val="E7ECE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5503FD6-825C-4E6A-81D4-3EA096BCC71E}"/>
              </a:ext>
            </a:extLst>
          </p:cNvPr>
          <p:cNvSpPr>
            <a:spLocks xmlns:a="http://schemas.openxmlformats.org/drawingml/2006/main" noGrp="1"/>
          </p:cNvSpPr>
          <p:nvPr/>
        </p:nvSpPr>
        <p:spPr>
          <a:xfrm xmlns:a="http://schemas.openxmlformats.org/drawingml/2006/main">
            <a:off x="9820275" y="3638550"/>
            <a:ext cx="300037" cy="247650"/>
          </a:xfrm>
          <a:prstGeom xmlns:a="http://schemas.openxmlformats.org/drawingml/2006/main" prst="rect">
            <a:avLst/>
          </a:prstGeom>
          <a:solidFill xmlns:a="http://schemas.openxmlformats.org/drawingml/2006/main">
            <a:srgbClr val="153B5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2EB2015-DCFC-4CA1-A510-B2C695E13FA2}"/>
              </a:ext>
            </a:extLst>
          </p:cNvPr>
          <p:cNvSpPr>
            <a:spLocks xmlns:a="http://schemas.openxmlformats.org/drawingml/2006/main" noGrp="1"/>
          </p:cNvSpPr>
          <p:nvPr/>
        </p:nvSpPr>
        <p:spPr>
          <a:xfrm xmlns:a="http://schemas.openxmlformats.org/drawingml/2006/main" rot="0">
            <a:off x="9820275" y="3924300"/>
            <a:ext cx="1000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i="0">
                <a:solidFill>
                  <a:srgbClr val="153B5B"/>
                </a:solidFill>
                <a:latin typeface="Aptos"/>
                <a:ea typeface="Aptos"/>
                <a:cs typeface="Aptos"/>
              </a:defRPr>
            </a:pPr>
            <a:r>
              <a:rPr sz="1050" b="1" i="0">
                <a:solidFill>
                  <a:srgbClr val="153B5B"/>
                </a:solidFill>
                <a:latin typeface="Aptos"/>
                <a:ea typeface="Aptos"/>
                <a:cs typeface="Aptos"/>
              </a:rPr>
              <a:t>0.78 - 0.85</a:t>
            </a:r>
          </a:p>
        </p:txBody>
      </p:sp>
      <p:sp>
        <p:nvSpPr>
          <p:cNvPr id="30" name="">
            <a:extLst xmlns:a="http://schemas.openxmlformats.org/drawingml/2006/main">
              <a:ext uri="{FF2B5EF4-FFF2-40B4-BE49-F238E27FC236}">
                <a16:creationId xmlns:a16="http://schemas.microsoft.com/office/drawing/2014/main" id="{94DBC0C4-7B8B-4CB1-85F4-E1B7DCBF47A2}"/>
              </a:ext>
            </a:extLst>
          </p:cNvPr>
          <p:cNvSpPr>
            <a:spLocks xmlns:a="http://schemas.openxmlformats.org/drawingml/2006/main" noGrp="1"/>
          </p:cNvSpPr>
          <p:nvPr/>
        </p:nvSpPr>
        <p:spPr>
          <a:xfrm xmlns:a="http://schemas.openxmlformats.org/drawingml/2006/main" rot="0">
            <a:off x="4524375" y="4000500"/>
            <a:ext cx="657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i="0">
                <a:solidFill>
                  <a:srgbClr val="0B1F33"/>
                </a:solidFill>
                <a:latin typeface="Aptos"/>
                <a:ea typeface="Aptos"/>
                <a:cs typeface="Aptos"/>
              </a:defRPr>
            </a:pPr>
            <a:r>
              <a:rPr sz="1200" b="1" i="0">
                <a:solidFill>
                  <a:srgbClr val="0B1F33"/>
                </a:solidFill>
                <a:latin typeface="Aptos"/>
                <a:ea typeface="Aptos"/>
                <a:cs typeface="Aptos"/>
              </a:rPr>
              <a:t>Our reproduced baselines reach the published scale; neural SOTA remains clearly ahead.</a:t>
            </a:r>
          </a:p>
        </p:txBody>
      </p:sp>
      <p:sp>
        <p:nvSpPr>
          <p:cNvPr id="31" name="">
            <a:extLst xmlns:a="http://schemas.openxmlformats.org/drawingml/2006/main">
              <a:ext uri="{FF2B5EF4-FFF2-40B4-BE49-F238E27FC236}">
                <a16:creationId xmlns:a16="http://schemas.microsoft.com/office/drawing/2014/main" id="{25213AFE-A6FE-41D0-B9EC-6F943C60CAB3}"/>
              </a:ext>
            </a:extLst>
          </p:cNvPr>
          <p:cNvSpPr>
            <a:spLocks xmlns:a="http://schemas.openxmlformats.org/drawingml/2006/main" noGrp="1"/>
          </p:cNvSpPr>
          <p:nvPr/>
        </p:nvSpPr>
        <p:spPr>
          <a:xfrm xmlns:a="http://schemas.openxmlformats.org/drawingml/2006/main">
            <a:off x="4143375" y="4524375"/>
            <a:ext cx="7381875" cy="1285875"/>
          </a:xfrm>
          <a:prstGeom xmlns:a="http://schemas.openxmlformats.org/drawingml/2006/main" prst="roundRect">
            <a:avLst>
              <a:gd name="adj" fmla="val 14815"/>
            </a:avLst>
          </a:prstGeom>
          <a:solidFill xmlns:a="http://schemas.openxmlformats.org/drawingml/2006/main">
            <a:srgbClr val="EDF2F5"/>
          </a:solidFill>
          <a:ln xmlns:a="http://schemas.openxmlformats.org/drawingml/2006/main" w="9525">
            <a:solidFill>
              <a:srgbClr val="DCE4E9"/>
            </a:solidFill>
            <a:prstDash val="solid"/>
          </a:ln>
        </p:spPr>
      </p:sp>
      <p:sp>
        <p:nvSpPr>
          <p:cNvPr id="32" name="">
            <a:extLst xmlns:a="http://schemas.openxmlformats.org/drawingml/2006/main">
              <a:ext uri="{FF2B5EF4-FFF2-40B4-BE49-F238E27FC236}">
                <a16:creationId xmlns:a16="http://schemas.microsoft.com/office/drawing/2014/main" id="{0990BE18-B818-4ED3-9291-15408906F46E}"/>
              </a:ext>
            </a:extLst>
          </p:cNvPr>
          <p:cNvSpPr>
            <a:spLocks xmlns:a="http://schemas.openxmlformats.org/drawingml/2006/main" noGrp="1"/>
          </p:cNvSpPr>
          <p:nvPr/>
        </p:nvSpPr>
        <p:spPr>
          <a:xfrm xmlns:a="http://schemas.openxmlformats.org/drawingml/2006/main" rot="0">
            <a:off x="4429125" y="4705350"/>
            <a:ext cx="3524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1" i="0">
                <a:solidFill>
                  <a:srgbClr val="0B1F33"/>
                </a:solidFill>
                <a:latin typeface="Aptos"/>
                <a:ea typeface="Aptos"/>
                <a:cs typeface="Aptos"/>
              </a:defRPr>
            </a:pPr>
            <a:r>
              <a:rPr sz="1200" b="1" i="0">
                <a:solidFill>
                  <a:srgbClr val="0B1F33"/>
                </a:solidFill>
                <a:latin typeface="Aptos"/>
                <a:ea typeface="Aptos"/>
                <a:cs typeface="Aptos"/>
              </a:rPr>
              <a:t>SEPARATE USER-EMBEDDING ABLATION</a:t>
            </a:r>
          </a:p>
        </p:txBody>
      </p:sp>
      <p:sp>
        <p:nvSpPr>
          <p:cNvPr id="33" name="">
            <a:extLst xmlns:a="http://schemas.openxmlformats.org/drawingml/2006/main">
              <a:ext uri="{FF2B5EF4-FFF2-40B4-BE49-F238E27FC236}">
                <a16:creationId xmlns:a16="http://schemas.microsoft.com/office/drawing/2014/main" id="{F54C8594-3583-47E9-AC55-A6BC28B4A70E}"/>
              </a:ext>
            </a:extLst>
          </p:cNvPr>
          <p:cNvSpPr>
            <a:spLocks xmlns:a="http://schemas.openxmlformats.org/drawingml/2006/main" noGrp="1"/>
          </p:cNvSpPr>
          <p:nvPr/>
        </p:nvSpPr>
        <p:spPr>
          <a:xfrm xmlns:a="http://schemas.openxmlformats.org/drawingml/2006/main" rot="0">
            <a:off x="4476750" y="5048250"/>
            <a:ext cx="1257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i="0">
                <a:solidFill>
                  <a:srgbClr val="3B8F68"/>
                </a:solidFill>
                <a:latin typeface="Aptos"/>
                <a:ea typeface="Aptos"/>
                <a:cs typeface="Aptos"/>
              </a:defRPr>
            </a:pPr>
            <a:r>
              <a:rPr sz="1725" b="1" i="0">
                <a:solidFill>
                  <a:srgbClr val="3B8F68"/>
                </a:solidFill>
                <a:latin typeface="Aptos"/>
                <a:ea typeface="Aptos"/>
                <a:cs typeface="Aptos"/>
              </a:rPr>
              <a:t>+0.038</a:t>
            </a:r>
          </a:p>
        </p:txBody>
      </p:sp>
      <p:sp>
        <p:nvSpPr>
          <p:cNvPr id="34" name="">
            <a:extLst xmlns:a="http://schemas.openxmlformats.org/drawingml/2006/main">
              <a:ext uri="{FF2B5EF4-FFF2-40B4-BE49-F238E27FC236}">
                <a16:creationId xmlns:a16="http://schemas.microsoft.com/office/drawing/2014/main" id="{F617A158-8244-428F-9FE3-21E33EDB1748}"/>
              </a:ext>
            </a:extLst>
          </p:cNvPr>
          <p:cNvSpPr>
            <a:spLocks xmlns:a="http://schemas.openxmlformats.org/drawingml/2006/main" noGrp="1"/>
          </p:cNvSpPr>
          <p:nvPr/>
        </p:nvSpPr>
        <p:spPr>
          <a:xfrm xmlns:a="http://schemas.openxmlformats.org/drawingml/2006/main" rot="0">
            <a:off x="4476750" y="5353050"/>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0" i="0">
                <a:solidFill>
                  <a:srgbClr val="142632"/>
                </a:solidFill>
                <a:latin typeface="Aptos"/>
                <a:ea typeface="Aptos"/>
                <a:cs typeface="Aptos"/>
              </a:defRPr>
            </a:pPr>
            <a:r>
              <a:rPr sz="1050" b="0" i="0">
                <a:solidFill>
                  <a:srgbClr val="142632"/>
                </a:solidFill>
                <a:latin typeface="Aptos"/>
                <a:ea typeface="Aptos"/>
                <a:cs typeface="Aptos"/>
              </a:rPr>
              <a:t>Glasgow</a:t>
            </a:r>
          </a:p>
        </p:txBody>
      </p:sp>
      <p:sp>
        <p:nvSpPr>
          <p:cNvPr id="35" name="">
            <a:extLst xmlns:a="http://schemas.openxmlformats.org/drawingml/2006/main">
              <a:ext uri="{FF2B5EF4-FFF2-40B4-BE49-F238E27FC236}">
                <a16:creationId xmlns:a16="http://schemas.microsoft.com/office/drawing/2014/main" id="{D3E27AEC-E36A-4404-B885-DAE38B684305}"/>
              </a:ext>
            </a:extLst>
          </p:cNvPr>
          <p:cNvSpPr>
            <a:spLocks xmlns:a="http://schemas.openxmlformats.org/drawingml/2006/main" noGrp="1"/>
          </p:cNvSpPr>
          <p:nvPr/>
        </p:nvSpPr>
        <p:spPr>
          <a:xfrm xmlns:a="http://schemas.openxmlformats.org/drawingml/2006/main" rot="0">
            <a:off x="5905500" y="5048250"/>
            <a:ext cx="1257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i="0">
                <a:solidFill>
                  <a:srgbClr val="F28C45"/>
                </a:solidFill>
                <a:latin typeface="Aptos"/>
                <a:ea typeface="Aptos"/>
                <a:cs typeface="Aptos"/>
              </a:defRPr>
            </a:pPr>
            <a:r>
              <a:rPr sz="1725" b="1" i="0">
                <a:solidFill>
                  <a:srgbClr val="F28C45"/>
                </a:solidFill>
                <a:latin typeface="Aptos"/>
                <a:ea typeface="Aptos"/>
                <a:cs typeface="Aptos"/>
              </a:rPr>
              <a:t>-0.007</a:t>
            </a:r>
          </a:p>
        </p:txBody>
      </p:sp>
      <p:sp>
        <p:nvSpPr>
          <p:cNvPr id="36" name="">
            <a:extLst xmlns:a="http://schemas.openxmlformats.org/drawingml/2006/main">
              <a:ext uri="{FF2B5EF4-FFF2-40B4-BE49-F238E27FC236}">
                <a16:creationId xmlns:a16="http://schemas.microsoft.com/office/drawing/2014/main" id="{DB04F373-B37C-4D7F-9144-937E07C5DFC9}"/>
              </a:ext>
            </a:extLst>
          </p:cNvPr>
          <p:cNvSpPr>
            <a:spLocks xmlns:a="http://schemas.openxmlformats.org/drawingml/2006/main" noGrp="1"/>
          </p:cNvSpPr>
          <p:nvPr/>
        </p:nvSpPr>
        <p:spPr>
          <a:xfrm xmlns:a="http://schemas.openxmlformats.org/drawingml/2006/main" rot="0">
            <a:off x="5905500" y="5353050"/>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0" i="0">
                <a:solidFill>
                  <a:srgbClr val="142632"/>
                </a:solidFill>
                <a:latin typeface="Aptos"/>
                <a:ea typeface="Aptos"/>
                <a:cs typeface="Aptos"/>
              </a:defRPr>
            </a:pPr>
            <a:r>
              <a:rPr sz="1050" b="0" i="0">
                <a:solidFill>
                  <a:srgbClr val="142632"/>
                </a:solidFill>
                <a:latin typeface="Aptos"/>
                <a:ea typeface="Aptos"/>
                <a:cs typeface="Aptos"/>
              </a:rPr>
              <a:t>Osaka</a:t>
            </a:r>
          </a:p>
        </p:txBody>
      </p:sp>
      <p:sp>
        <p:nvSpPr>
          <p:cNvPr id="37" name="">
            <a:extLst xmlns:a="http://schemas.openxmlformats.org/drawingml/2006/main">
              <a:ext uri="{FF2B5EF4-FFF2-40B4-BE49-F238E27FC236}">
                <a16:creationId xmlns:a16="http://schemas.microsoft.com/office/drawing/2014/main" id="{2F5175F1-8AEB-4E49-9B00-7A1DCE9E80DB}"/>
              </a:ext>
            </a:extLst>
          </p:cNvPr>
          <p:cNvSpPr>
            <a:spLocks xmlns:a="http://schemas.openxmlformats.org/drawingml/2006/main" noGrp="1"/>
          </p:cNvSpPr>
          <p:nvPr/>
        </p:nvSpPr>
        <p:spPr>
          <a:xfrm xmlns:a="http://schemas.openxmlformats.org/drawingml/2006/main" rot="0">
            <a:off x="7334250" y="5048250"/>
            <a:ext cx="1257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i="0">
                <a:solidFill>
                  <a:srgbClr val="C94F4F"/>
                </a:solidFill>
                <a:latin typeface="Aptos"/>
                <a:ea typeface="Aptos"/>
                <a:cs typeface="Aptos"/>
              </a:defRPr>
            </a:pPr>
            <a:r>
              <a:rPr sz="1725" b="1" i="0">
                <a:solidFill>
                  <a:srgbClr val="C94F4F"/>
                </a:solidFill>
                <a:latin typeface="Aptos"/>
                <a:ea typeface="Aptos"/>
                <a:cs typeface="Aptos"/>
              </a:rPr>
              <a:t>-0.017</a:t>
            </a:r>
          </a:p>
        </p:txBody>
      </p:sp>
      <p:sp>
        <p:nvSpPr>
          <p:cNvPr id="38" name="">
            <a:extLst xmlns:a="http://schemas.openxmlformats.org/drawingml/2006/main">
              <a:ext uri="{FF2B5EF4-FFF2-40B4-BE49-F238E27FC236}">
                <a16:creationId xmlns:a16="http://schemas.microsoft.com/office/drawing/2014/main" id="{D0882A3B-CE16-4E02-9099-20E55C73C21F}"/>
              </a:ext>
            </a:extLst>
          </p:cNvPr>
          <p:cNvSpPr>
            <a:spLocks xmlns:a="http://schemas.openxmlformats.org/drawingml/2006/main" noGrp="1"/>
          </p:cNvSpPr>
          <p:nvPr/>
        </p:nvSpPr>
        <p:spPr>
          <a:xfrm xmlns:a="http://schemas.openxmlformats.org/drawingml/2006/main" rot="0">
            <a:off x="7334250" y="5353050"/>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0" i="0">
                <a:solidFill>
                  <a:srgbClr val="142632"/>
                </a:solidFill>
                <a:latin typeface="Aptos"/>
                <a:ea typeface="Aptos"/>
                <a:cs typeface="Aptos"/>
              </a:defRPr>
            </a:pPr>
            <a:r>
              <a:rPr sz="1050" b="0" i="0">
                <a:solidFill>
                  <a:srgbClr val="142632"/>
                </a:solidFill>
                <a:latin typeface="Aptos"/>
                <a:ea typeface="Aptos"/>
                <a:cs typeface="Aptos"/>
              </a:rPr>
              <a:t>Toronto</a:t>
            </a:r>
          </a:p>
        </p:txBody>
      </p:sp>
      <p:sp>
        <p:nvSpPr>
          <p:cNvPr id="39" name="">
            <a:extLst xmlns:a="http://schemas.openxmlformats.org/drawingml/2006/main">
              <a:ext uri="{FF2B5EF4-FFF2-40B4-BE49-F238E27FC236}">
                <a16:creationId xmlns:a16="http://schemas.microsoft.com/office/drawing/2014/main" id="{D2D5988A-6964-4310-B7C0-90A4A3B163E0}"/>
              </a:ext>
            </a:extLst>
          </p:cNvPr>
          <p:cNvSpPr>
            <a:spLocks xmlns:a="http://schemas.openxmlformats.org/drawingml/2006/main" noGrp="1"/>
          </p:cNvSpPr>
          <p:nvPr/>
        </p:nvSpPr>
        <p:spPr>
          <a:xfrm xmlns:a="http://schemas.openxmlformats.org/drawingml/2006/main" rot="0">
            <a:off x="8763000" y="5000625"/>
            <a:ext cx="2333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i="0">
                <a:solidFill>
                  <a:srgbClr val="142632"/>
                </a:solidFill>
                <a:latin typeface="Aptos"/>
                <a:ea typeface="Aptos"/>
                <a:cs typeface="Aptos"/>
              </a:defRPr>
            </a:pPr>
            <a:r>
              <a:rPr sz="1275" b="1" i="0">
                <a:solidFill>
                  <a:srgbClr val="142632"/>
                </a:solidFill>
                <a:latin typeface="Aptos"/>
                <a:ea typeface="Aptos"/>
                <a:cs typeface="Aptos"/>
              </a:rPr>
              <a:t>Sparse leave-one-out history creates cold-start.</a:t>
            </a:r>
          </a:p>
        </p:txBody>
      </p:sp>
      <p:sp>
        <p:nvSpPr>
          <p:cNvPr id="40" name="">
            <a:extLst xmlns:a="http://schemas.openxmlformats.org/drawingml/2006/main">
              <a:ext uri="{FF2B5EF4-FFF2-40B4-BE49-F238E27FC236}">
                <a16:creationId xmlns:a16="http://schemas.microsoft.com/office/drawing/2014/main" id="{E5E8D55C-C42C-4BA5-9D71-E4D0AED3C629}"/>
              </a:ext>
            </a:extLst>
          </p:cNvPr>
          <p:cNvSpPr>
            <a:spLocks xmlns:a="http://schemas.openxmlformats.org/drawingml/2006/main" noGrp="1"/>
          </p:cNvSpPr>
          <p:nvPr/>
        </p:nvSpPr>
        <p:spPr>
          <a:xfrm xmlns:a="http://schemas.openxmlformats.org/drawingml/2006/main" rot="0">
            <a:off x="609600" y="6210300"/>
            <a:ext cx="10668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50" b="0" i="1">
                <a:solidFill>
                  <a:srgbClr val="5A6C79"/>
                </a:solidFill>
                <a:latin typeface="Aptos"/>
                <a:ea typeface="Aptos"/>
                <a:cs typeface="Aptos"/>
              </a:defRPr>
            </a:pPr>
            <a:r>
              <a:rPr sz="750" b="0" i="1">
                <a:solidFill>
                  <a:srgbClr val="5A6C79"/>
                </a:solidFill>
                <a:latin typeface="Aptos"/>
                <a:ea typeface="Aptos"/>
                <a:cs typeface="Aptos"/>
              </a:rPr>
              <a:t>Source: Thesis Tables 3.4-3.8 and Figures 3.4-3.5. NYC and Flickr scores are never compared directly.</a:t>
            </a:r>
          </a:p>
        </p:txBody>
      </p:sp>
    </p:spTree>
    <p:extLst>
      <p:ext uri="{BB962C8B-B14F-4D97-AF65-F5344CB8AC3E}">
        <p14:creationId xmlns:p14="http://schemas.microsoft.com/office/powerpoint/2010/main" val="2023126362"/>
      </p:ext>
    </p:extLst>
  </p:cSld>
</p:sld>
</file>

<file path=ppt/slides/slide10.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51ACB8B-7048-4D59-93F1-72A751031B48}"/>
              </a:ext>
            </a:extLst>
          </p:cNvPr>
          <p:cNvSpPr>
            <a:spLocks xmlns:a="http://schemas.openxmlformats.org/drawingml/2006/main" noGrp="1"/>
          </p:cNvSpPr>
          <p:nvPr/>
        </p:nvSpPr>
        <p:spPr>
          <a:xfrm xmlns:a="http://schemas.openxmlformats.org/drawingml/2006/main" rot="0">
            <a:off x="647700" y="4381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1" i="0">
                <a:solidFill>
                  <a:srgbClr val="F28C45"/>
                </a:solidFill>
                <a:latin typeface="Aptos"/>
                <a:ea typeface="Aptos"/>
                <a:cs typeface="Aptos"/>
              </a:defRPr>
            </a:pPr>
            <a:r>
              <a:rPr sz="1200" b="1" i="0">
                <a:solidFill>
                  <a:srgbClr val="F28C45"/>
                </a:solidFill>
                <a:latin typeface="Aptos"/>
                <a:ea typeface="Aptos"/>
                <a:cs typeface="Aptos"/>
              </a:rPr>
              <a:t>5 · CONCLUSION</a:t>
            </a:r>
          </a:p>
        </p:txBody>
      </p:sp>
      <p:sp>
        <p:nvSpPr>
          <p:cNvPr id="2" name="">
            <a:extLst xmlns:a="http://schemas.openxmlformats.org/drawingml/2006/main">
              <a:ext uri="{FF2B5EF4-FFF2-40B4-BE49-F238E27FC236}">
                <a16:creationId xmlns:a16="http://schemas.microsoft.com/office/drawing/2014/main" id="{EE385667-57D6-42DB-B5FD-DC3A71796008}"/>
              </a:ext>
            </a:extLst>
          </p:cNvPr>
          <p:cNvSpPr>
            <a:spLocks xmlns:a="http://schemas.openxmlformats.org/drawingml/2006/main" noGrp="1"/>
          </p:cNvSpPr>
          <p:nvPr/>
        </p:nvSpPr>
        <p:spPr>
          <a:xfrm xmlns:a="http://schemas.openxmlformats.org/drawingml/2006/main" rot="0">
            <a:off x="647700" y="876300"/>
            <a:ext cx="857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150" b="1" i="0">
                <a:solidFill>
                  <a:srgbClr val="FFFFFF"/>
                </a:solidFill>
                <a:latin typeface="Aptos"/>
                <a:ea typeface="Aptos"/>
                <a:cs typeface="Aptos"/>
              </a:defRPr>
            </a:pPr>
            <a:r>
              <a:rPr sz="3150" b="1" i="0">
                <a:solidFill>
                  <a:srgbClr val="FFFFFF"/>
                </a:solidFill>
                <a:latin typeface="Aptos"/>
                <a:ea typeface="Aptos"/>
                <a:cs typeface="Aptos"/>
              </a:rPr>
              <a:t>Three results to remember</a:t>
            </a:r>
          </a:p>
        </p:txBody>
      </p:sp>
      <p:sp>
        <p:nvSpPr>
          <p:cNvPr id="3" name="">
            <a:extLst xmlns:a="http://schemas.openxmlformats.org/drawingml/2006/main">
              <a:ext uri="{FF2B5EF4-FFF2-40B4-BE49-F238E27FC236}">
                <a16:creationId xmlns:a16="http://schemas.microsoft.com/office/drawing/2014/main" id="{EE3427C2-99A4-4F3F-B1D8-21AB43B777B6}"/>
              </a:ext>
            </a:extLst>
          </p:cNvPr>
          <p:cNvSpPr>
            <a:spLocks xmlns:a="http://schemas.openxmlformats.org/drawingml/2006/main" noGrp="1"/>
          </p:cNvSpPr>
          <p:nvPr/>
        </p:nvSpPr>
        <p:spPr>
          <a:xfrm xmlns:a="http://schemas.openxmlformats.org/drawingml/2006/main">
            <a:off x="1247775" y="3057525"/>
            <a:ext cx="742950" cy="742950"/>
          </a:xfrm>
          <a:prstGeom xmlns:a="http://schemas.openxmlformats.org/drawingml/2006/main" prst="ellipse">
            <a:avLst/>
          </a:prstGeom>
          <a:solidFill xmlns:a="http://schemas.openxmlformats.org/drawingml/2006/main">
            <a:srgbClr val="137B77"/>
          </a:solidFill>
          <a:ln xmlns:a="http://schemas.openxmlformats.org/drawingml/2006/main" w="28575">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250" b="1">
                <a:solidFill>
                  <a:srgbClr val="FFFFFF"/>
                </a:solidFill>
                <a:latin typeface="Aptos"/>
                <a:ea typeface="Aptos"/>
                <a:cs typeface="Aptos"/>
              </a:defRPr>
            </a:pPr>
            <a:r>
              <a:rPr sz="2250" b="1">
                <a:solidFill>
                  <a:srgbClr val="FFFFFF"/>
                </a:solidFill>
                <a:latin typeface="Aptos"/>
                <a:ea typeface="Aptos"/>
                <a:cs typeface="Aptos"/>
              </a:rPr>
              <a:t>1</a:t>
            </a:r>
          </a:p>
        </p:txBody>
      </p:sp>
      <p:sp>
        <p:nvSpPr>
          <p:cNvPr id="4" name="">
            <a:extLst xmlns:a="http://schemas.openxmlformats.org/drawingml/2006/main">
              <a:ext uri="{FF2B5EF4-FFF2-40B4-BE49-F238E27FC236}">
                <a16:creationId xmlns:a16="http://schemas.microsoft.com/office/drawing/2014/main" id="{72556A7D-73FA-4F58-8DA6-19220DDB8CC0}"/>
              </a:ext>
            </a:extLst>
          </p:cNvPr>
          <p:cNvSpPr>
            <a:spLocks xmlns:a="http://schemas.openxmlformats.org/drawingml/2006/main" noGrp="1"/>
          </p:cNvSpPr>
          <p:nvPr/>
        </p:nvSpPr>
        <p:spPr>
          <a:xfrm xmlns:a="http://schemas.openxmlformats.org/drawingml/2006/main">
            <a:off x="5724525" y="3057525"/>
            <a:ext cx="742950" cy="742950"/>
          </a:xfrm>
          <a:prstGeom xmlns:a="http://schemas.openxmlformats.org/drawingml/2006/main" prst="ellipse">
            <a:avLst/>
          </a:prstGeom>
          <a:solidFill xmlns:a="http://schemas.openxmlformats.org/drawingml/2006/main">
            <a:srgbClr val="F28C45"/>
          </a:solidFill>
          <a:ln xmlns:a="http://schemas.openxmlformats.org/drawingml/2006/main" w="28575">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250" b="1">
                <a:solidFill>
                  <a:srgbClr val="FFFFFF"/>
                </a:solidFill>
                <a:latin typeface="Aptos"/>
                <a:ea typeface="Aptos"/>
                <a:cs typeface="Aptos"/>
              </a:defRPr>
            </a:pPr>
            <a:r>
              <a:rPr sz="2250" b="1">
                <a:solidFill>
                  <a:srgbClr val="FFFFFF"/>
                </a:solidFill>
                <a:latin typeface="Aptos"/>
                <a:ea typeface="Aptos"/>
                <a:cs typeface="Aptos"/>
              </a:rPr>
              <a:t>2</a:t>
            </a:r>
          </a:p>
        </p:txBody>
      </p:sp>
      <p:sp>
        <p:nvSpPr>
          <p:cNvPr id="5" name="">
            <a:extLst xmlns:a="http://schemas.openxmlformats.org/drawingml/2006/main">
              <a:ext uri="{FF2B5EF4-FFF2-40B4-BE49-F238E27FC236}">
                <a16:creationId xmlns:a16="http://schemas.microsoft.com/office/drawing/2014/main" id="{2DD24B54-5F63-48B5-BACE-E8890FA20171}"/>
              </a:ext>
            </a:extLst>
          </p:cNvPr>
          <p:cNvSpPr>
            <a:spLocks xmlns:a="http://schemas.openxmlformats.org/drawingml/2006/main" noGrp="1"/>
          </p:cNvSpPr>
          <p:nvPr/>
        </p:nvSpPr>
        <p:spPr>
          <a:xfrm xmlns:a="http://schemas.openxmlformats.org/drawingml/2006/main">
            <a:off x="10201275" y="3057525"/>
            <a:ext cx="742950" cy="742950"/>
          </a:xfrm>
          <a:prstGeom xmlns:a="http://schemas.openxmlformats.org/drawingml/2006/main" prst="ellipse">
            <a:avLst/>
          </a:prstGeom>
          <a:solidFill xmlns:a="http://schemas.openxmlformats.org/drawingml/2006/main">
            <a:srgbClr val="1FA6A0"/>
          </a:solidFill>
          <a:ln xmlns:a="http://schemas.openxmlformats.org/drawingml/2006/main" w="28575">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250" b="1">
                <a:solidFill>
                  <a:srgbClr val="FFFFFF"/>
                </a:solidFill>
                <a:latin typeface="Aptos"/>
                <a:ea typeface="Aptos"/>
                <a:cs typeface="Aptos"/>
              </a:defRPr>
            </a:pPr>
            <a:r>
              <a:rPr sz="2250" b="1">
                <a:solidFill>
                  <a:srgbClr val="FFFFFF"/>
                </a:solidFill>
                <a:latin typeface="Aptos"/>
                <a:ea typeface="Aptos"/>
                <a:cs typeface="Aptos"/>
              </a:rPr>
              <a:t>3</a:t>
            </a:r>
          </a:p>
        </p:txBody>
      </p:sp>
      <p:cxnSp>
        <p:nvCxnSpPr>
          <p:cNvPr id="23" name=""/>
          <p:cNvCxnSpPr>
            <a:stCxn xmlns:a="http://schemas.openxmlformats.org/drawingml/2006/main" id="3" idx="6"/>
            <a:endCxn xmlns:a="http://schemas.openxmlformats.org/drawingml/2006/main" id="4" idx="2"/>
          </p:cNvCxnSpPr>
          <p:nvPr/>
        </p:nvCxnSpPr>
        <p:spPr>
          <a:xfrm xmlns:a="http://schemas.openxmlformats.org/drawingml/2006/main">
            <a:off x="1990725" y="3429000"/>
            <a:ext cx="3733800" cy="0"/>
          </a:xfrm>
          <a:prstGeom xmlns:a="http://schemas.openxmlformats.org/drawingml/2006/main" prst="straightConnector1">
            <a:avLst/>
          </a:prstGeom>
          <a:ln xmlns:a="http://schemas.openxmlformats.org/drawingml/2006/main" w="47625">
            <a:solidFill>
              <a:srgbClr val="5A7891"/>
            </a:solidFill>
            <a:prstDash val="solid"/>
            <a:headEnd type="none" w="med" len="med"/>
            <a:tailEnd type="triangle" w="sm" len="sm"/>
          </a:ln>
        </p:spPr>
      </p:cxnSp>
      <p:cxnSp>
        <p:nvCxnSpPr>
          <p:cNvPr id="24" name=""/>
          <p:cNvCxnSpPr>
            <a:stCxn xmlns:a="http://schemas.openxmlformats.org/drawingml/2006/main" id="4" idx="6"/>
            <a:endCxn xmlns:a="http://schemas.openxmlformats.org/drawingml/2006/main" id="5" idx="2"/>
          </p:cNvCxnSpPr>
          <p:nvPr/>
        </p:nvCxnSpPr>
        <p:spPr>
          <a:xfrm xmlns:a="http://schemas.openxmlformats.org/drawingml/2006/main">
            <a:off x="6467475" y="3429000"/>
            <a:ext cx="3733800" cy="0"/>
          </a:xfrm>
          <a:prstGeom xmlns:a="http://schemas.openxmlformats.org/drawingml/2006/main" prst="straightConnector1">
            <a:avLst/>
          </a:prstGeom>
          <a:ln xmlns:a="http://schemas.openxmlformats.org/drawingml/2006/main" w="47625">
            <a:solidFill>
              <a:srgbClr val="5A7891"/>
            </a:solidFill>
            <a:prstDash val="solid"/>
            <a:headEnd type="none" w="med" len="med"/>
            <a:tailEnd type="triangle" w="sm" len="sm"/>
          </a:ln>
        </p:spPr>
      </p:cxnSp>
      <p:sp>
        <p:nvSpPr>
          <p:cNvPr id="8" name="">
            <a:extLst xmlns:a="http://schemas.openxmlformats.org/drawingml/2006/main">
              <a:ext uri="{FF2B5EF4-FFF2-40B4-BE49-F238E27FC236}">
                <a16:creationId xmlns:a16="http://schemas.microsoft.com/office/drawing/2014/main" id="{0483E007-2459-4935-BB65-BAD740A6018A}"/>
              </a:ext>
            </a:extLst>
          </p:cNvPr>
          <p:cNvSpPr>
            <a:spLocks xmlns:a="http://schemas.openxmlformats.org/drawingml/2006/main" noGrp="1"/>
          </p:cNvSpPr>
          <p:nvPr/>
        </p:nvSpPr>
        <p:spPr>
          <a:xfrm xmlns:a="http://schemas.openxmlformats.org/drawingml/2006/main" rot="0">
            <a:off x="666750" y="2038350"/>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775" b="1" i="0">
                <a:solidFill>
                  <a:srgbClr val="FFFFFF"/>
                </a:solidFill>
                <a:latin typeface="Aptos"/>
                <a:ea typeface="Aptos"/>
                <a:cs typeface="Aptos"/>
              </a:defRPr>
            </a:pPr>
            <a:r>
              <a:rPr sz="2775" b="1" i="0">
                <a:solidFill>
                  <a:srgbClr val="FFFFFF"/>
                </a:solidFill>
                <a:latin typeface="Aptos"/>
                <a:ea typeface="Aptos"/>
                <a:cs typeface="Aptos"/>
              </a:rPr>
              <a:t>0.187 HR@1</a:t>
            </a:r>
          </a:p>
        </p:txBody>
      </p:sp>
      <p:sp>
        <p:nvSpPr>
          <p:cNvPr id="9" name="">
            <a:extLst xmlns:a="http://schemas.openxmlformats.org/drawingml/2006/main">
              <a:ext uri="{FF2B5EF4-FFF2-40B4-BE49-F238E27FC236}">
                <a16:creationId xmlns:a16="http://schemas.microsoft.com/office/drawing/2014/main" id="{BBB91185-998E-4F64-A694-594A089E66BD}"/>
              </a:ext>
            </a:extLst>
          </p:cNvPr>
          <p:cNvSpPr>
            <a:spLocks xmlns:a="http://schemas.openxmlformats.org/drawingml/2006/main" noGrp="1"/>
          </p:cNvSpPr>
          <p:nvPr/>
        </p:nvSpPr>
        <p:spPr>
          <a:xfrm xmlns:a="http://schemas.openxmlformats.org/drawingml/2006/main" rot="0">
            <a:off x="666750" y="445770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0" i="0">
                <a:solidFill>
                  <a:srgbClr val="D6E4EE"/>
                </a:solidFill>
                <a:latin typeface="Aptos"/>
                <a:ea typeface="Aptos"/>
                <a:cs typeface="Aptos"/>
              </a:defRPr>
            </a:pPr>
            <a:r>
              <a:rPr sz="1575" b="0" i="0">
                <a:solidFill>
                  <a:srgbClr val="D6E4EE"/>
                </a:solidFill>
                <a:latin typeface="Aptos"/>
                <a:ea typeface="Aptos"/>
                <a:cs typeface="Aptos"/>
              </a:rPr>
              <a:t>honest next-POI engine</a:t>
            </a:r>
          </a:p>
          <a:p xmlns:a="http://schemas.openxmlformats.org/drawingml/2006/main">
            <a:pPr algn="ctr">
              <a:lnSpc>
                <a:spcPct val="100000"/>
              </a:lnSpc>
              <a:buNone/>
              <a:defRPr sz="1575" b="0" i="0">
                <a:solidFill>
                  <a:srgbClr val="D6E4EE"/>
                </a:solidFill>
                <a:latin typeface="Aptos"/>
                <a:ea typeface="Aptos"/>
                <a:cs typeface="Aptos"/>
              </a:defRPr>
            </a:pPr>
            <a:r>
              <a:rPr sz="1575" b="0" i="0">
                <a:solidFill>
                  <a:srgbClr val="D6E4EE"/>
                </a:solidFill>
                <a:latin typeface="Aptos"/>
                <a:ea typeface="Aptos"/>
                <a:cs typeface="Aptos"/>
              </a:rPr>
              <a:t>~5,100 NYC candidates</a:t>
            </a:r>
          </a:p>
        </p:txBody>
      </p:sp>
      <p:sp>
        <p:nvSpPr>
          <p:cNvPr id="10" name="">
            <a:extLst xmlns:a="http://schemas.openxmlformats.org/drawingml/2006/main">
              <a:ext uri="{FF2B5EF4-FFF2-40B4-BE49-F238E27FC236}">
                <a16:creationId xmlns:a16="http://schemas.microsoft.com/office/drawing/2014/main" id="{A91C634F-B4AB-45A4-AE43-A7718F32C545}"/>
              </a:ext>
            </a:extLst>
          </p:cNvPr>
          <p:cNvSpPr>
            <a:spLocks xmlns:a="http://schemas.openxmlformats.org/drawingml/2006/main" noGrp="1"/>
          </p:cNvSpPr>
          <p:nvPr/>
        </p:nvSpPr>
        <p:spPr>
          <a:xfrm xmlns:a="http://schemas.openxmlformats.org/drawingml/2006/main" rot="0">
            <a:off x="4667250" y="2038350"/>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775" b="1" i="0">
                <a:solidFill>
                  <a:srgbClr val="FFFFFF"/>
                </a:solidFill>
                <a:latin typeface="Aptos"/>
                <a:ea typeface="Aptos"/>
                <a:cs typeface="Aptos"/>
              </a:defRPr>
            </a:pPr>
            <a:r>
              <a:rPr sz="2775" b="1" i="0">
                <a:solidFill>
                  <a:srgbClr val="FFFFFF"/>
                </a:solidFill>
                <a:latin typeface="Aptos"/>
                <a:ea typeface="Aptos"/>
                <a:cs typeface="Aptos"/>
              </a:rPr>
              <a:t>0.289 &gt; 0.259</a:t>
            </a:r>
          </a:p>
        </p:txBody>
      </p:sp>
      <p:sp>
        <p:nvSpPr>
          <p:cNvPr id="11" name="">
            <a:extLst xmlns:a="http://schemas.openxmlformats.org/drawingml/2006/main">
              <a:ext uri="{FF2B5EF4-FFF2-40B4-BE49-F238E27FC236}">
                <a16:creationId xmlns:a16="http://schemas.microsoft.com/office/drawing/2014/main" id="{3CD9FB37-5A8F-4553-BB82-D059D2F2AFFF}"/>
              </a:ext>
            </a:extLst>
          </p:cNvPr>
          <p:cNvSpPr>
            <a:spLocks xmlns:a="http://schemas.openxmlformats.org/drawingml/2006/main" noGrp="1"/>
          </p:cNvSpPr>
          <p:nvPr/>
        </p:nvSpPr>
        <p:spPr>
          <a:xfrm xmlns:a="http://schemas.openxmlformats.org/drawingml/2006/main" rot="0">
            <a:off x="4667250" y="445770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0" i="0">
                <a:solidFill>
                  <a:srgbClr val="D6E4EE"/>
                </a:solidFill>
                <a:latin typeface="Aptos"/>
                <a:ea typeface="Aptos"/>
                <a:cs typeface="Aptos"/>
              </a:defRPr>
            </a:pPr>
            <a:r>
              <a:rPr sz="1575" b="0" i="0">
                <a:solidFill>
                  <a:srgbClr val="D6E4EE"/>
                </a:solidFill>
                <a:latin typeface="Aptos"/>
                <a:ea typeface="Aptos"/>
                <a:cs typeface="Aptos"/>
              </a:rPr>
              <a:t>Frozen Rollout beats</a:t>
            </a:r>
          </a:p>
          <a:p xmlns:a="http://schemas.openxmlformats.org/drawingml/2006/main">
            <a:pPr algn="ctr">
              <a:lnSpc>
                <a:spcPct val="100000"/>
              </a:lnSpc>
              <a:buNone/>
              <a:defRPr sz="1575" b="0" i="0">
                <a:solidFill>
                  <a:srgbClr val="D6E4EE"/>
                </a:solidFill>
                <a:latin typeface="Aptos"/>
                <a:ea typeface="Aptos"/>
                <a:cs typeface="Aptos"/>
              </a:defRPr>
            </a:pPr>
            <a:r>
              <a:rPr sz="1575" b="0" i="0">
                <a:solidFill>
                  <a:srgbClr val="D6E4EE"/>
                </a:solidFill>
                <a:latin typeface="Aptos"/>
                <a:ea typeface="Aptos"/>
                <a:cs typeface="Aptos"/>
              </a:rPr>
              <a:t>the Trained Pointer</a:t>
            </a:r>
          </a:p>
        </p:txBody>
      </p:sp>
      <p:sp>
        <p:nvSpPr>
          <p:cNvPr id="12" name="">
            <a:extLst xmlns:a="http://schemas.openxmlformats.org/drawingml/2006/main">
              <a:ext uri="{FF2B5EF4-FFF2-40B4-BE49-F238E27FC236}">
                <a16:creationId xmlns:a16="http://schemas.microsoft.com/office/drawing/2014/main" id="{E16972A6-CA77-43FA-9828-76690399FCF5}"/>
              </a:ext>
            </a:extLst>
          </p:cNvPr>
          <p:cNvSpPr>
            <a:spLocks xmlns:a="http://schemas.openxmlformats.org/drawingml/2006/main" noGrp="1"/>
          </p:cNvSpPr>
          <p:nvPr/>
        </p:nvSpPr>
        <p:spPr>
          <a:xfrm xmlns:a="http://schemas.openxmlformats.org/drawingml/2006/main" rot="0">
            <a:off x="8667750" y="2038350"/>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775" b="1" i="0">
                <a:solidFill>
                  <a:srgbClr val="FFFFFF"/>
                </a:solidFill>
                <a:latin typeface="Aptos"/>
                <a:ea typeface="Aptos"/>
                <a:cs typeface="Aptos"/>
              </a:defRPr>
            </a:pPr>
            <a:r>
              <a:rPr sz="2775" b="1" i="0">
                <a:solidFill>
                  <a:srgbClr val="FFFFFF"/>
                </a:solidFill>
                <a:latin typeface="Aptos"/>
                <a:ea typeface="Aptos"/>
                <a:cs typeface="Aptos"/>
              </a:rPr>
              <a:t>max gap 0.021</a:t>
            </a:r>
          </a:p>
        </p:txBody>
      </p:sp>
      <p:sp>
        <p:nvSpPr>
          <p:cNvPr id="13" name="">
            <a:extLst xmlns:a="http://schemas.openxmlformats.org/drawingml/2006/main">
              <a:ext uri="{FF2B5EF4-FFF2-40B4-BE49-F238E27FC236}">
                <a16:creationId xmlns:a16="http://schemas.microsoft.com/office/drawing/2014/main" id="{5DAE99F7-61D0-4ADC-B30A-33EDE28441DC}"/>
              </a:ext>
            </a:extLst>
          </p:cNvPr>
          <p:cNvSpPr>
            <a:spLocks xmlns:a="http://schemas.openxmlformats.org/drawingml/2006/main" noGrp="1"/>
          </p:cNvSpPr>
          <p:nvPr/>
        </p:nvSpPr>
        <p:spPr>
          <a:xfrm xmlns:a="http://schemas.openxmlformats.org/drawingml/2006/main" rot="0">
            <a:off x="8667750" y="445770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0" i="0">
                <a:solidFill>
                  <a:srgbClr val="D6E4EE"/>
                </a:solidFill>
                <a:latin typeface="Aptos"/>
                <a:ea typeface="Aptos"/>
                <a:cs typeface="Aptos"/>
              </a:defRPr>
            </a:pPr>
            <a:r>
              <a:rPr sz="1575" b="0" i="0">
                <a:solidFill>
                  <a:srgbClr val="D6E4EE"/>
                </a:solidFill>
                <a:latin typeface="Aptos"/>
                <a:ea typeface="Aptos"/>
                <a:cs typeface="Aptos"/>
              </a:rPr>
              <a:t>Flickr Benchmark reproduces</a:t>
            </a:r>
          </a:p>
          <a:p xmlns:a="http://schemas.openxmlformats.org/drawingml/2006/main">
            <a:pPr algn="ctr">
              <a:lnSpc>
                <a:spcPct val="100000"/>
              </a:lnSpc>
              <a:buNone/>
              <a:defRPr sz="1575" b="0" i="0">
                <a:solidFill>
                  <a:srgbClr val="D6E4EE"/>
                </a:solidFill>
                <a:latin typeface="Aptos"/>
                <a:ea typeface="Aptos"/>
                <a:cs typeface="Aptos"/>
              </a:defRPr>
            </a:pPr>
            <a:r>
              <a:rPr sz="1575" b="0" i="0">
                <a:solidFill>
                  <a:srgbClr val="D6E4EE"/>
                </a:solidFill>
                <a:latin typeface="Aptos"/>
                <a:ea typeface="Aptos"/>
                <a:cs typeface="Aptos"/>
              </a:rPr>
              <a:t>Chen 2016 Random</a:t>
            </a:r>
          </a:p>
        </p:txBody>
      </p:sp>
      <p:sp>
        <p:nvSpPr>
          <p:cNvPr id="14" name="">
            <a:extLst xmlns:a="http://schemas.openxmlformats.org/drawingml/2006/main">
              <a:ext uri="{FF2B5EF4-FFF2-40B4-BE49-F238E27FC236}">
                <a16:creationId xmlns:a16="http://schemas.microsoft.com/office/drawing/2014/main" id="{2CFB03EC-B4DD-4CD7-B603-98F709F4B2D3}"/>
              </a:ext>
            </a:extLst>
          </p:cNvPr>
          <p:cNvSpPr>
            <a:spLocks xmlns:a="http://schemas.openxmlformats.org/drawingml/2006/main" noGrp="1"/>
          </p:cNvSpPr>
          <p:nvPr/>
        </p:nvSpPr>
        <p:spPr>
          <a:xfrm xmlns:a="http://schemas.openxmlformats.org/drawingml/2006/main">
            <a:off x="2095500" y="5581650"/>
            <a:ext cx="8001000" cy="476250"/>
          </a:xfrm>
          <a:prstGeom xmlns:a="http://schemas.openxmlformats.org/drawingml/2006/main" prst="roundRect">
            <a:avLst>
              <a:gd name="adj" fmla="val 36000"/>
            </a:avLst>
          </a:prstGeom>
          <a:solidFill xmlns:a="http://schemas.openxmlformats.org/drawingml/2006/main">
            <a:srgbClr val="153B5B"/>
          </a:solidFill>
          <a:ln xmlns:a="http://schemas.openxmlformats.org/drawingml/2006/main" w="9525">
            <a:solidFill>
              <a:srgbClr val="153B5B"/>
            </a:solidFill>
            <a:prstDash val="solid"/>
          </a:ln>
        </p:spPr>
      </p:sp>
      <p:sp>
        <p:nvSpPr>
          <p:cNvPr id="15" name="">
            <a:extLst xmlns:a="http://schemas.openxmlformats.org/drawingml/2006/main">
              <a:ext uri="{FF2B5EF4-FFF2-40B4-BE49-F238E27FC236}">
                <a16:creationId xmlns:a16="http://schemas.microsoft.com/office/drawing/2014/main" id="{085FD08F-870D-4199-9F39-983A273E4D8F}"/>
              </a:ext>
            </a:extLst>
          </p:cNvPr>
          <p:cNvSpPr>
            <a:spLocks xmlns:a="http://schemas.openxmlformats.org/drawingml/2006/main" noGrp="1"/>
          </p:cNvSpPr>
          <p:nvPr/>
        </p:nvSpPr>
        <p:spPr>
          <a:xfrm xmlns:a="http://schemas.openxmlformats.org/drawingml/2006/main" rot="0">
            <a:off x="2381250" y="56769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FFFFFF"/>
                </a:solidFill>
                <a:latin typeface="Aptos"/>
                <a:ea typeface="Aptos"/>
                <a:cs typeface="Aptos"/>
              </a:defRPr>
            </a:pPr>
            <a:r>
              <a:rPr sz="1575" b="1" i="0">
                <a:solidFill>
                  <a:srgbClr val="FFFFFF"/>
                </a:solidFill>
                <a:latin typeface="Aptos"/>
                <a:ea typeface="Aptos"/>
                <a:cs typeface="Aptos"/>
              </a:rPr>
              <a:t>Compare only when dataset + protocol + metric are identical</a:t>
            </a:r>
          </a:p>
        </p:txBody>
      </p:sp>
      <p:sp>
        <p:nvSpPr>
          <p:cNvPr id="16" name="">
            <a:extLst xmlns:a="http://schemas.openxmlformats.org/drawingml/2006/main">
              <a:ext uri="{FF2B5EF4-FFF2-40B4-BE49-F238E27FC236}">
                <a16:creationId xmlns:a16="http://schemas.microsoft.com/office/drawing/2014/main" id="{006F99D1-3010-48FB-A090-3D8E711A6F1D}"/>
              </a:ext>
            </a:extLst>
          </p:cNvPr>
          <p:cNvSpPr>
            <a:spLocks xmlns:a="http://schemas.openxmlformats.org/drawingml/2006/main" noGrp="1"/>
          </p:cNvSpPr>
          <p:nvPr/>
        </p:nvSpPr>
        <p:spPr>
          <a:xfrm xmlns:a="http://schemas.openxmlformats.org/drawingml/2006/main" rot="0">
            <a:off x="9810750" y="63246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350" b="1" i="0">
                <a:solidFill>
                  <a:srgbClr val="F28C45"/>
                </a:solidFill>
                <a:latin typeface="Aptos"/>
                <a:ea typeface="Aptos"/>
                <a:cs typeface="Aptos"/>
              </a:defRPr>
            </a:pPr>
            <a:r>
              <a:rPr sz="1350" b="1" i="0">
                <a:solidFill>
                  <a:srgbClr val="F28C45"/>
                </a:solidFill>
                <a:latin typeface="Aptos"/>
                <a:ea typeface="Aptos"/>
                <a:cs typeface="Aptos"/>
              </a:rPr>
              <a:t>Questions</a:t>
            </a:r>
          </a:p>
        </p:txBody>
      </p:sp>
      <p:sp>
        <p:nvSpPr>
          <p:cNvPr id="17" name="">
            <a:extLst xmlns:a="http://schemas.openxmlformats.org/drawingml/2006/main">
              <a:ext uri="{FF2B5EF4-FFF2-40B4-BE49-F238E27FC236}">
                <a16:creationId xmlns:a16="http://schemas.microsoft.com/office/drawing/2014/main" id="{36B24344-C1EF-4634-9373-C45F6EA2EFA1}"/>
              </a:ext>
            </a:extLst>
          </p:cNvPr>
          <p:cNvSpPr>
            <a:spLocks xmlns:a="http://schemas.openxmlformats.org/drawingml/2006/main" noGrp="1"/>
          </p:cNvSpPr>
          <p:nvPr/>
        </p:nvSpPr>
        <p:spPr>
          <a:xfrm xmlns:a="http://schemas.openxmlformats.org/drawingml/2006/main" rot="0">
            <a:off x="647700" y="632460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0" i="0">
                <a:solidFill>
                  <a:srgbClr val="AFC0CD"/>
                </a:solidFill>
                <a:latin typeface="Aptos"/>
                <a:ea typeface="Aptos"/>
                <a:cs typeface="Aptos"/>
              </a:defRPr>
            </a:pPr>
            <a:r>
              <a:rPr sz="975" b="0" i="0">
                <a:solidFill>
                  <a:srgbClr val="AFC0CD"/>
                </a:solidFill>
                <a:latin typeface="Aptos"/>
                <a:ea typeface="Aptos"/>
                <a:cs typeface="Aptos"/>
              </a:rPr>
              <a:t>Ayman Naaimi · ENSAM Meknes</a:t>
            </a:r>
          </a:p>
        </p:txBody>
      </p:sp>
    </p:spTree>
    <p:extLst>
      <p:ext uri="{BB962C8B-B14F-4D97-AF65-F5344CB8AC3E}">
        <p14:creationId xmlns:p14="http://schemas.microsoft.com/office/powerpoint/2010/main" val="721808300"/>
      </p:ext>
    </p:extLst>
  </p:cSld>
</p:sld>
</file>

<file path=ppt/slides/slide1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2" name="eyebrow">
            <a:extLst xmlns:a="http://schemas.openxmlformats.org/drawingml/2006/main">
              <a:ext uri="{FF2B5EF4-FFF2-40B4-BE49-F238E27FC236}">
                <a16:creationId xmlns:a16="http://schemas.microsoft.com/office/drawing/2014/main" id="{01E9291C-07F4-41F8-87ED-C10C2F2B3869}"/>
              </a:ext>
            </a:extLst>
          </p:cNvPr>
          <p:cNvSpPr>
            <a:spLocks xmlns:a="http://schemas.openxmlformats.org/drawingml/2006/main" noGrp="1"/>
          </p:cNvSpPr>
          <p:nvPr/>
        </p:nvSpPr>
        <p:spPr>
          <a:xfrm xmlns:a="http://schemas.openxmlformats.org/drawingml/2006/main" rot="0">
            <a:off x="6096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i="0">
                <a:solidFill>
                  <a:srgbClr val="F28C45"/>
                </a:solidFill>
                <a:latin typeface="Aptos"/>
                <a:ea typeface="Aptos"/>
                <a:cs typeface="Aptos"/>
              </a:defRPr>
            </a:pPr>
            <a:r>
              <a:rPr sz="975" b="1" i="0">
                <a:solidFill>
                  <a:srgbClr val="F28C45"/>
                </a:solidFill>
                <a:latin typeface="Aptos"/>
                <a:ea typeface="Aptos"/>
                <a:cs typeface="Aptos"/>
              </a:rPr>
              <a:t>BACKUP</a:t>
            </a:r>
          </a:p>
        </p:txBody>
      </p:sp>
      <p:sp>
        <p:nvSpPr>
          <p:cNvPr id="2" name="slide-title">
            <a:extLst xmlns:a="http://schemas.openxmlformats.org/drawingml/2006/main">
              <a:ext uri="{FF2B5EF4-FFF2-40B4-BE49-F238E27FC236}">
                <a16:creationId xmlns:a16="http://schemas.microsoft.com/office/drawing/2014/main" id="{737DA521-B2BE-40DC-BA12-179CD3301EC4}"/>
              </a:ext>
            </a:extLst>
          </p:cNvPr>
          <p:cNvSpPr>
            <a:spLocks xmlns:a="http://schemas.openxmlformats.org/drawingml/2006/main" noGrp="1"/>
          </p:cNvSpPr>
          <p:nvPr/>
        </p:nvSpPr>
        <p:spPr>
          <a:xfrm xmlns:a="http://schemas.openxmlformats.org/drawingml/2006/main" rot="0">
            <a:off x="609600" y="5905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850" b="1" i="0">
                <a:solidFill>
                  <a:srgbClr val="0B1F33"/>
                </a:solidFill>
                <a:latin typeface="Aptos"/>
                <a:ea typeface="Aptos"/>
                <a:cs typeface="Aptos"/>
              </a:defRPr>
            </a:pPr>
            <a:r>
              <a:rPr sz="2850" b="1" i="0">
                <a:solidFill>
                  <a:srgbClr val="0B1F33"/>
                </a:solidFill>
                <a:latin typeface="Aptos"/>
                <a:ea typeface="Aptos"/>
                <a:cs typeface="Aptos"/>
              </a:rPr>
              <a:t>Data preparation and evaluation protocols</a:t>
            </a:r>
          </a:p>
        </p:txBody>
      </p:sp>
      <p:sp>
        <p:nvSpPr>
          <p:cNvPr id="3" name="title-accent">
            <a:extLst xmlns:a="http://schemas.openxmlformats.org/drawingml/2006/main">
              <a:ext uri="{FF2B5EF4-FFF2-40B4-BE49-F238E27FC236}">
                <a16:creationId xmlns:a16="http://schemas.microsoft.com/office/drawing/2014/main" id="{2ABEC5F4-EB2E-40D3-9683-FD13C1F9DBCA}"/>
              </a:ext>
            </a:extLst>
          </p:cNvPr>
          <p:cNvSpPr>
            <a:spLocks xmlns:a="http://schemas.openxmlformats.org/drawingml/2006/main" noGrp="1"/>
          </p:cNvSpPr>
          <p:nvPr/>
        </p:nvSpPr>
        <p:spPr>
          <a:xfrm xmlns:a="http://schemas.openxmlformats.org/drawingml/2006/main">
            <a:off x="609600" y="1219200"/>
            <a:ext cx="876300" cy="47625"/>
          </a:xfrm>
          <a:prstGeom xmlns:a="http://schemas.openxmlformats.org/drawingml/2006/main" prst="rect">
            <a:avLst/>
          </a:prstGeom>
          <a:solidFill xmlns:a="http://schemas.openxmlformats.org/drawingml/2006/main">
            <a:srgbClr val="F28C4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FB24CCA-B30E-4A66-933A-E9D14A226AFA}"/>
              </a:ext>
            </a:extLst>
          </p:cNvPr>
          <p:cNvSpPr>
            <a:spLocks xmlns:a="http://schemas.openxmlformats.org/drawingml/2006/main" noGrp="1"/>
          </p:cNvSpPr>
          <p:nvPr/>
        </p:nvSpPr>
        <p:spPr>
          <a:xfrm xmlns:a="http://schemas.openxmlformats.org/drawingml/2006/main" flipV="0">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4E9"/>
            </a:solidFill>
            <a:prstDash val="solid"/>
          </a:ln>
        </p:spPr>
      </p:sp>
      <p:sp>
        <p:nvSpPr>
          <p:cNvPr id="5" name="">
            <a:extLst xmlns:a="http://schemas.openxmlformats.org/drawingml/2006/main">
              <a:ext uri="{FF2B5EF4-FFF2-40B4-BE49-F238E27FC236}">
                <a16:creationId xmlns:a16="http://schemas.microsoft.com/office/drawing/2014/main" id="{5A6DA9D8-578A-46A3-9982-40DEDAC714DC}"/>
              </a:ext>
            </a:extLst>
          </p:cNvPr>
          <p:cNvSpPr>
            <a:spLocks xmlns:a="http://schemas.openxmlformats.org/drawingml/2006/main" noGrp="1"/>
          </p:cNvSpPr>
          <p:nvPr/>
        </p:nvSpPr>
        <p:spPr>
          <a:xfrm xmlns:a="http://schemas.openxmlformats.org/drawingml/2006/main" rot="0">
            <a:off x="609600" y="655320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Ayman Naaimi · ENSAM Meknes</a:t>
            </a:r>
          </a:p>
        </p:txBody>
      </p:sp>
      <p:sp>
        <p:nvSpPr>
          <p:cNvPr id="6" name="">
            <a:extLst xmlns:a="http://schemas.openxmlformats.org/drawingml/2006/main">
              <a:ext uri="{FF2B5EF4-FFF2-40B4-BE49-F238E27FC236}">
                <a16:creationId xmlns:a16="http://schemas.microsoft.com/office/drawing/2014/main" id="{9697CAFB-A7A6-455A-8121-A7EE2E7CDFD4}"/>
              </a:ext>
            </a:extLst>
          </p:cNvPr>
          <p:cNvSpPr>
            <a:spLocks xmlns:a="http://schemas.openxmlformats.org/drawingml/2006/main" noGrp="1"/>
          </p:cNvSpPr>
          <p:nvPr/>
        </p:nvSpPr>
        <p:spPr>
          <a:xfrm xmlns:a="http://schemas.openxmlformats.org/drawingml/2006/main" rot="0">
            <a:off x="10572750" y="6553200"/>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Backup 1</a:t>
            </a:r>
          </a:p>
        </p:txBody>
      </p:sp>
      <p:sp>
        <p:nvSpPr>
          <p:cNvPr id="7" name="">
            <a:extLst xmlns:a="http://schemas.openxmlformats.org/drawingml/2006/main">
              <a:ext uri="{FF2B5EF4-FFF2-40B4-BE49-F238E27FC236}">
                <a16:creationId xmlns:a16="http://schemas.microsoft.com/office/drawing/2014/main" id="{44F11CB3-ED6E-4071-943D-5B3DBA78DF07}"/>
              </a:ext>
            </a:extLst>
          </p:cNvPr>
          <p:cNvSpPr>
            <a:spLocks xmlns:a="http://schemas.openxmlformats.org/drawingml/2006/main" noGrp="1"/>
          </p:cNvSpPr>
          <p:nvPr/>
        </p:nvSpPr>
        <p:spPr>
          <a:xfrm xmlns:a="http://schemas.openxmlformats.org/drawingml/2006/main" rot="0">
            <a:off x="666750" y="15811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425" b="1" i="0">
                <a:solidFill>
                  <a:srgbClr val="0B1F33"/>
                </a:solidFill>
                <a:latin typeface="Aptos"/>
                <a:ea typeface="Aptos"/>
                <a:cs typeface="Aptos"/>
              </a:defRPr>
            </a:pPr>
            <a:r>
              <a:rPr sz="1425" b="1" i="0">
                <a:solidFill>
                  <a:srgbClr val="0B1F33"/>
                </a:solidFill>
                <a:latin typeface="Aptos"/>
                <a:ea typeface="Aptos"/>
                <a:cs typeface="Aptos"/>
              </a:rPr>
              <a:t>PHASE 1 · FOURSQUARE NYC</a:t>
            </a:r>
          </a:p>
        </p:txBody>
      </p:sp>
      <p:sp>
        <p:nvSpPr>
          <p:cNvPr id="8" name="">
            <a:extLst xmlns:a="http://schemas.openxmlformats.org/drawingml/2006/main">
              <a:ext uri="{FF2B5EF4-FFF2-40B4-BE49-F238E27FC236}">
                <a16:creationId xmlns:a16="http://schemas.microsoft.com/office/drawing/2014/main" id="{865336C1-E6A4-41B8-A138-DD88B48DFD6B}"/>
              </a:ext>
            </a:extLst>
          </p:cNvPr>
          <p:cNvSpPr>
            <a:spLocks xmlns:a="http://schemas.openxmlformats.org/drawingml/2006/main" noGrp="1"/>
          </p:cNvSpPr>
          <p:nvPr/>
        </p:nvSpPr>
        <p:spPr>
          <a:xfrm xmlns:a="http://schemas.openxmlformats.org/drawingml/2006/main">
            <a:off x="733425" y="2076450"/>
            <a:ext cx="266700" cy="266700"/>
          </a:xfrm>
          <a:prstGeom xmlns:a="http://schemas.openxmlformats.org/drawingml/2006/main" prst="ellipse">
            <a:avLst/>
          </a:prstGeom>
          <a:solidFill xmlns:a="http://schemas.openxmlformats.org/drawingml/2006/main">
            <a:srgbClr val="137B77"/>
          </a:solidFill>
          <a:ln xmlns:a="http://schemas.openxmlformats.org/drawingml/2006/main" w="28575">
            <a:solidFill>
              <a:srgbClr val="FFFFFF"/>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1ABC6B35-F8D7-4BB6-A893-D4C60E6D45F8}"/>
              </a:ext>
            </a:extLst>
          </p:cNvPr>
          <p:cNvSpPr>
            <a:spLocks xmlns:a="http://schemas.openxmlformats.org/drawingml/2006/main" noGrp="1"/>
          </p:cNvSpPr>
          <p:nvPr/>
        </p:nvSpPr>
        <p:spPr>
          <a:xfrm xmlns:a="http://schemas.openxmlformats.org/drawingml/2006/main" rot="0">
            <a:off x="1123950" y="200025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0B1F33"/>
                </a:solidFill>
                <a:latin typeface="Aptos"/>
                <a:ea typeface="Aptos"/>
                <a:cs typeface="Aptos"/>
              </a:defRPr>
            </a:pPr>
            <a:r>
              <a:rPr sz="1275" b="1" i="0">
                <a:solidFill>
                  <a:srgbClr val="0B1F33"/>
                </a:solidFill>
                <a:latin typeface="Aptos"/>
                <a:ea typeface="Aptos"/>
                <a:cs typeface="Aptos"/>
              </a:rPr>
              <a:t>Raw data</a:t>
            </a:r>
          </a:p>
        </p:txBody>
      </p:sp>
      <p:sp>
        <p:nvSpPr>
          <p:cNvPr id="10" name="">
            <a:extLst xmlns:a="http://schemas.openxmlformats.org/drawingml/2006/main">
              <a:ext uri="{FF2B5EF4-FFF2-40B4-BE49-F238E27FC236}">
                <a16:creationId xmlns:a16="http://schemas.microsoft.com/office/drawing/2014/main" id="{6B415BA4-8821-4411-980B-EFF88B074C0B}"/>
              </a:ext>
            </a:extLst>
          </p:cNvPr>
          <p:cNvSpPr>
            <a:spLocks xmlns:a="http://schemas.openxmlformats.org/drawingml/2006/main" noGrp="1"/>
          </p:cNvSpPr>
          <p:nvPr/>
        </p:nvSpPr>
        <p:spPr>
          <a:xfrm xmlns:a="http://schemas.openxmlformats.org/drawingml/2006/main" rot="0">
            <a:off x="2324100" y="2000250"/>
            <a:ext cx="32194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0" i="0">
                <a:solidFill>
                  <a:srgbClr val="142632"/>
                </a:solidFill>
                <a:latin typeface="Aptos"/>
                <a:ea typeface="Aptos"/>
                <a:cs typeface="Aptos"/>
              </a:defRPr>
            </a:pPr>
            <a:r>
              <a:rPr sz="1200" b="0" i="0">
                <a:solidFill>
                  <a:srgbClr val="142632"/>
                </a:solidFill>
                <a:latin typeface="Aptos"/>
                <a:ea typeface="Aptos"/>
                <a:cs typeface="Aptos"/>
              </a:rPr>
              <a:t>~227K check-ins · ~1.08K users · ~38K venues</a:t>
            </a:r>
          </a:p>
        </p:txBody>
      </p:sp>
      <p:sp>
        <p:nvSpPr>
          <p:cNvPr id="11" name="">
            <a:extLst xmlns:a="http://schemas.openxmlformats.org/drawingml/2006/main">
              <a:ext uri="{FF2B5EF4-FFF2-40B4-BE49-F238E27FC236}">
                <a16:creationId xmlns:a16="http://schemas.microsoft.com/office/drawing/2014/main" id="{EB3397C1-0E5E-4567-81DA-EA4B45D750B4}"/>
              </a:ext>
            </a:extLst>
          </p:cNvPr>
          <p:cNvSpPr>
            <a:spLocks xmlns:a="http://schemas.openxmlformats.org/drawingml/2006/main" noGrp="1"/>
          </p:cNvSpPr>
          <p:nvPr/>
        </p:nvSpPr>
        <p:spPr>
          <a:xfrm xmlns:a="http://schemas.openxmlformats.org/drawingml/2006/main">
            <a:off x="733425" y="2667000"/>
            <a:ext cx="266700" cy="266700"/>
          </a:xfrm>
          <a:prstGeom xmlns:a="http://schemas.openxmlformats.org/drawingml/2006/main" prst="ellipse">
            <a:avLst/>
          </a:prstGeom>
          <a:solidFill xmlns:a="http://schemas.openxmlformats.org/drawingml/2006/main">
            <a:srgbClr val="137B77"/>
          </a:solidFill>
          <a:ln xmlns:a="http://schemas.openxmlformats.org/drawingml/2006/main" w="28575">
            <a:solidFill>
              <a:srgbClr val="FFFFFF"/>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3D3F098B-7E26-426E-A86C-A70FDC67F378}"/>
              </a:ext>
            </a:extLst>
          </p:cNvPr>
          <p:cNvSpPr>
            <a:spLocks xmlns:a="http://schemas.openxmlformats.org/drawingml/2006/main" noGrp="1"/>
          </p:cNvSpPr>
          <p:nvPr/>
        </p:nvSpPr>
        <p:spPr>
          <a:xfrm xmlns:a="http://schemas.openxmlformats.org/drawingml/2006/main" rot="0">
            <a:off x="1123950" y="259080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0B1F33"/>
                </a:solidFill>
                <a:latin typeface="Aptos"/>
                <a:ea typeface="Aptos"/>
                <a:cs typeface="Aptos"/>
              </a:defRPr>
            </a:pPr>
            <a:r>
              <a:rPr sz="1275" b="1" i="0">
                <a:solidFill>
                  <a:srgbClr val="0B1F33"/>
                </a:solidFill>
                <a:latin typeface="Aptos"/>
                <a:ea typeface="Aptos"/>
                <a:cs typeface="Aptos"/>
              </a:rPr>
              <a:t>Filter</a:t>
            </a:r>
          </a:p>
        </p:txBody>
      </p:sp>
      <p:sp>
        <p:nvSpPr>
          <p:cNvPr id="13" name="">
            <a:extLst xmlns:a="http://schemas.openxmlformats.org/drawingml/2006/main">
              <a:ext uri="{FF2B5EF4-FFF2-40B4-BE49-F238E27FC236}">
                <a16:creationId xmlns:a16="http://schemas.microsoft.com/office/drawing/2014/main" id="{6A44534B-4FA6-48A0-A1FF-3A5CEFDBA346}"/>
              </a:ext>
            </a:extLst>
          </p:cNvPr>
          <p:cNvSpPr>
            <a:spLocks xmlns:a="http://schemas.openxmlformats.org/drawingml/2006/main" noGrp="1"/>
          </p:cNvSpPr>
          <p:nvPr/>
        </p:nvSpPr>
        <p:spPr>
          <a:xfrm xmlns:a="http://schemas.openxmlformats.org/drawingml/2006/main" rot="0">
            <a:off x="2324100" y="2590800"/>
            <a:ext cx="32194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0" i="0">
                <a:solidFill>
                  <a:srgbClr val="142632"/>
                </a:solidFill>
                <a:latin typeface="Aptos"/>
                <a:ea typeface="Aptos"/>
                <a:cs typeface="Aptos"/>
              </a:defRPr>
            </a:pPr>
            <a:r>
              <a:rPr sz="1200" b="0" i="0">
                <a:solidFill>
                  <a:srgbClr val="142632"/>
                </a:solidFill>
                <a:latin typeface="Aptos"/>
                <a:ea typeface="Aptos"/>
                <a:cs typeface="Aptos"/>
              </a:rPr>
              <a:t>Iterative user/POI count &gt;= 10</a:t>
            </a:r>
          </a:p>
        </p:txBody>
      </p:sp>
      <p:sp>
        <p:nvSpPr>
          <p:cNvPr id="14" name="">
            <a:extLst xmlns:a="http://schemas.openxmlformats.org/drawingml/2006/main">
              <a:ext uri="{FF2B5EF4-FFF2-40B4-BE49-F238E27FC236}">
                <a16:creationId xmlns:a16="http://schemas.microsoft.com/office/drawing/2014/main" id="{268D679C-17D5-4844-8AB4-FB03EB609665}"/>
              </a:ext>
            </a:extLst>
          </p:cNvPr>
          <p:cNvSpPr>
            <a:spLocks xmlns:a="http://schemas.openxmlformats.org/drawingml/2006/main" noGrp="1"/>
          </p:cNvSpPr>
          <p:nvPr/>
        </p:nvSpPr>
        <p:spPr>
          <a:xfrm xmlns:a="http://schemas.openxmlformats.org/drawingml/2006/main">
            <a:off x="733425" y="3257550"/>
            <a:ext cx="266700" cy="266700"/>
          </a:xfrm>
          <a:prstGeom xmlns:a="http://schemas.openxmlformats.org/drawingml/2006/main" prst="ellipse">
            <a:avLst/>
          </a:prstGeom>
          <a:solidFill xmlns:a="http://schemas.openxmlformats.org/drawingml/2006/main">
            <a:srgbClr val="137B77"/>
          </a:solidFill>
          <a:ln xmlns:a="http://schemas.openxmlformats.org/drawingml/2006/main" w="28575">
            <a:solidFill>
              <a:srgbClr val="FFFFFF"/>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3C9A1350-1313-415D-A737-368B49AD9B94}"/>
              </a:ext>
            </a:extLst>
          </p:cNvPr>
          <p:cNvSpPr>
            <a:spLocks xmlns:a="http://schemas.openxmlformats.org/drawingml/2006/main" noGrp="1"/>
          </p:cNvSpPr>
          <p:nvPr/>
        </p:nvSpPr>
        <p:spPr>
          <a:xfrm xmlns:a="http://schemas.openxmlformats.org/drawingml/2006/main" rot="0">
            <a:off x="1123950" y="318135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0B1F33"/>
                </a:solidFill>
                <a:latin typeface="Aptos"/>
                <a:ea typeface="Aptos"/>
                <a:cs typeface="Aptos"/>
              </a:defRPr>
            </a:pPr>
            <a:r>
              <a:rPr sz="1275" b="1" i="0">
                <a:solidFill>
                  <a:srgbClr val="0B1F33"/>
                </a:solidFill>
                <a:latin typeface="Aptos"/>
                <a:ea typeface="Aptos"/>
                <a:cs typeface="Aptos"/>
              </a:rPr>
              <a:t>Final catalog</a:t>
            </a:r>
          </a:p>
        </p:txBody>
      </p:sp>
      <p:sp>
        <p:nvSpPr>
          <p:cNvPr id="16" name="">
            <a:extLst xmlns:a="http://schemas.openxmlformats.org/drawingml/2006/main">
              <a:ext uri="{FF2B5EF4-FFF2-40B4-BE49-F238E27FC236}">
                <a16:creationId xmlns:a16="http://schemas.microsoft.com/office/drawing/2014/main" id="{86301139-C145-42FB-AB2D-7C60A6F740D9}"/>
              </a:ext>
            </a:extLst>
          </p:cNvPr>
          <p:cNvSpPr>
            <a:spLocks xmlns:a="http://schemas.openxmlformats.org/drawingml/2006/main" noGrp="1"/>
          </p:cNvSpPr>
          <p:nvPr/>
        </p:nvSpPr>
        <p:spPr>
          <a:xfrm xmlns:a="http://schemas.openxmlformats.org/drawingml/2006/main" rot="0">
            <a:off x="2324100" y="3181350"/>
            <a:ext cx="32194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0" i="0">
                <a:solidFill>
                  <a:srgbClr val="142632"/>
                </a:solidFill>
                <a:latin typeface="Aptos"/>
                <a:ea typeface="Aptos"/>
                <a:cs typeface="Aptos"/>
              </a:defRPr>
            </a:pPr>
            <a:r>
              <a:rPr sz="1200" b="0" i="0">
                <a:solidFill>
                  <a:srgbClr val="142632"/>
                </a:solidFill>
                <a:latin typeface="Aptos"/>
                <a:ea typeface="Aptos"/>
                <a:cs typeface="Aptos"/>
              </a:rPr>
              <a:t>~5,100 POIs · ~1,000 users</a:t>
            </a:r>
          </a:p>
        </p:txBody>
      </p:sp>
      <p:sp>
        <p:nvSpPr>
          <p:cNvPr id="17" name="">
            <a:extLst xmlns:a="http://schemas.openxmlformats.org/drawingml/2006/main">
              <a:ext uri="{FF2B5EF4-FFF2-40B4-BE49-F238E27FC236}">
                <a16:creationId xmlns:a16="http://schemas.microsoft.com/office/drawing/2014/main" id="{11658D51-ADC9-47C5-9822-1442D2FC3C84}"/>
              </a:ext>
            </a:extLst>
          </p:cNvPr>
          <p:cNvSpPr>
            <a:spLocks xmlns:a="http://schemas.openxmlformats.org/drawingml/2006/main" noGrp="1"/>
          </p:cNvSpPr>
          <p:nvPr/>
        </p:nvSpPr>
        <p:spPr>
          <a:xfrm xmlns:a="http://schemas.openxmlformats.org/drawingml/2006/main">
            <a:off x="733425" y="3848100"/>
            <a:ext cx="266700" cy="266700"/>
          </a:xfrm>
          <a:prstGeom xmlns:a="http://schemas.openxmlformats.org/drawingml/2006/main" prst="ellipse">
            <a:avLst/>
          </a:prstGeom>
          <a:solidFill xmlns:a="http://schemas.openxmlformats.org/drawingml/2006/main">
            <a:srgbClr val="137B77"/>
          </a:solidFill>
          <a:ln xmlns:a="http://schemas.openxmlformats.org/drawingml/2006/main" w="28575">
            <a:solidFill>
              <a:srgbClr val="FFFFFF"/>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4</a:t>
            </a:r>
          </a:p>
        </p:txBody>
      </p:sp>
      <p:sp>
        <p:nvSpPr>
          <p:cNvPr id="18" name="">
            <a:extLst xmlns:a="http://schemas.openxmlformats.org/drawingml/2006/main">
              <a:ext uri="{FF2B5EF4-FFF2-40B4-BE49-F238E27FC236}">
                <a16:creationId xmlns:a16="http://schemas.microsoft.com/office/drawing/2014/main" id="{4C8BD041-677F-42C2-AC00-78FACEC2862F}"/>
              </a:ext>
            </a:extLst>
          </p:cNvPr>
          <p:cNvSpPr>
            <a:spLocks xmlns:a="http://schemas.openxmlformats.org/drawingml/2006/main" noGrp="1"/>
          </p:cNvSpPr>
          <p:nvPr/>
        </p:nvSpPr>
        <p:spPr>
          <a:xfrm xmlns:a="http://schemas.openxmlformats.org/drawingml/2006/main" rot="0">
            <a:off x="1123950" y="377190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0B1F33"/>
                </a:solidFill>
                <a:latin typeface="Aptos"/>
                <a:ea typeface="Aptos"/>
                <a:cs typeface="Aptos"/>
              </a:defRPr>
            </a:pPr>
            <a:r>
              <a:rPr sz="1275" b="1" i="0">
                <a:solidFill>
                  <a:srgbClr val="0B1F33"/>
                </a:solidFill>
                <a:latin typeface="Aptos"/>
                <a:ea typeface="Aptos"/>
                <a:cs typeface="Aptos"/>
              </a:rPr>
              <a:t>Sessions</a:t>
            </a:r>
          </a:p>
        </p:txBody>
      </p:sp>
      <p:sp>
        <p:nvSpPr>
          <p:cNvPr id="19" name="">
            <a:extLst xmlns:a="http://schemas.openxmlformats.org/drawingml/2006/main">
              <a:ext uri="{FF2B5EF4-FFF2-40B4-BE49-F238E27FC236}">
                <a16:creationId xmlns:a16="http://schemas.microsoft.com/office/drawing/2014/main" id="{6CA06C1F-66C6-47AC-B9AF-76CF3752D7E7}"/>
              </a:ext>
            </a:extLst>
          </p:cNvPr>
          <p:cNvSpPr>
            <a:spLocks xmlns:a="http://schemas.openxmlformats.org/drawingml/2006/main" noGrp="1"/>
          </p:cNvSpPr>
          <p:nvPr/>
        </p:nvSpPr>
        <p:spPr>
          <a:xfrm xmlns:a="http://schemas.openxmlformats.org/drawingml/2006/main" rot="0">
            <a:off x="2324100" y="3771900"/>
            <a:ext cx="32194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0" i="0">
                <a:solidFill>
                  <a:srgbClr val="142632"/>
                </a:solidFill>
                <a:latin typeface="Aptos"/>
                <a:ea typeface="Aptos"/>
                <a:cs typeface="Aptos"/>
              </a:defRPr>
            </a:pPr>
            <a:r>
              <a:rPr sz="1200" b="0" i="0">
                <a:solidFill>
                  <a:srgbClr val="142632"/>
                </a:solidFill>
                <a:latin typeface="Aptos"/>
                <a:ea typeface="Aptos"/>
                <a:cs typeface="Aptos"/>
              </a:rPr>
              <a:t>Split after &gt;24 h silence</a:t>
            </a:r>
          </a:p>
        </p:txBody>
      </p:sp>
      <p:sp>
        <p:nvSpPr>
          <p:cNvPr id="20" name="">
            <a:extLst xmlns:a="http://schemas.openxmlformats.org/drawingml/2006/main">
              <a:ext uri="{FF2B5EF4-FFF2-40B4-BE49-F238E27FC236}">
                <a16:creationId xmlns:a16="http://schemas.microsoft.com/office/drawing/2014/main" id="{AC6E6C56-3650-4C8E-829C-5ACF3F126BA9}"/>
              </a:ext>
            </a:extLst>
          </p:cNvPr>
          <p:cNvSpPr>
            <a:spLocks xmlns:a="http://schemas.openxmlformats.org/drawingml/2006/main" noGrp="1"/>
          </p:cNvSpPr>
          <p:nvPr/>
        </p:nvSpPr>
        <p:spPr>
          <a:xfrm xmlns:a="http://schemas.openxmlformats.org/drawingml/2006/main">
            <a:off x="733425" y="4438650"/>
            <a:ext cx="266700" cy="266700"/>
          </a:xfrm>
          <a:prstGeom xmlns:a="http://schemas.openxmlformats.org/drawingml/2006/main" prst="ellipse">
            <a:avLst/>
          </a:prstGeom>
          <a:solidFill xmlns:a="http://schemas.openxmlformats.org/drawingml/2006/main">
            <a:srgbClr val="137B77"/>
          </a:solidFill>
          <a:ln xmlns:a="http://schemas.openxmlformats.org/drawingml/2006/main" w="28575">
            <a:solidFill>
              <a:srgbClr val="FFFFFF"/>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5</a:t>
            </a:r>
          </a:p>
        </p:txBody>
      </p:sp>
      <p:sp>
        <p:nvSpPr>
          <p:cNvPr id="21" name="">
            <a:extLst xmlns:a="http://schemas.openxmlformats.org/drawingml/2006/main">
              <a:ext uri="{FF2B5EF4-FFF2-40B4-BE49-F238E27FC236}">
                <a16:creationId xmlns:a16="http://schemas.microsoft.com/office/drawing/2014/main" id="{A2A6D277-EDEA-44F8-A6A0-CBFA7ED7C0BC}"/>
              </a:ext>
            </a:extLst>
          </p:cNvPr>
          <p:cNvSpPr>
            <a:spLocks xmlns:a="http://schemas.openxmlformats.org/drawingml/2006/main" noGrp="1"/>
          </p:cNvSpPr>
          <p:nvPr/>
        </p:nvSpPr>
        <p:spPr>
          <a:xfrm xmlns:a="http://schemas.openxmlformats.org/drawingml/2006/main" rot="0">
            <a:off x="1123950" y="436245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0B1F33"/>
                </a:solidFill>
                <a:latin typeface="Aptos"/>
                <a:ea typeface="Aptos"/>
                <a:cs typeface="Aptos"/>
              </a:defRPr>
            </a:pPr>
            <a:r>
              <a:rPr sz="1275" b="1" i="0">
                <a:solidFill>
                  <a:srgbClr val="0B1F33"/>
                </a:solidFill>
                <a:latin typeface="Aptos"/>
                <a:ea typeface="Aptos"/>
                <a:cs typeface="Aptos"/>
              </a:rPr>
              <a:t>Split</a:t>
            </a:r>
          </a:p>
        </p:txBody>
      </p:sp>
      <p:sp>
        <p:nvSpPr>
          <p:cNvPr id="22" name="">
            <a:extLst xmlns:a="http://schemas.openxmlformats.org/drawingml/2006/main">
              <a:ext uri="{FF2B5EF4-FFF2-40B4-BE49-F238E27FC236}">
                <a16:creationId xmlns:a16="http://schemas.microsoft.com/office/drawing/2014/main" id="{B9CCA5D2-8B28-4403-B895-BF305B76F06B}"/>
              </a:ext>
            </a:extLst>
          </p:cNvPr>
          <p:cNvSpPr>
            <a:spLocks xmlns:a="http://schemas.openxmlformats.org/drawingml/2006/main" noGrp="1"/>
          </p:cNvSpPr>
          <p:nvPr/>
        </p:nvSpPr>
        <p:spPr>
          <a:xfrm xmlns:a="http://schemas.openxmlformats.org/drawingml/2006/main" rot="0">
            <a:off x="2324100" y="4362450"/>
            <a:ext cx="32194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0" i="0">
                <a:solidFill>
                  <a:srgbClr val="142632"/>
                </a:solidFill>
                <a:latin typeface="Aptos"/>
                <a:ea typeface="Aptos"/>
                <a:cs typeface="Aptos"/>
              </a:defRPr>
            </a:pPr>
            <a:r>
              <a:rPr sz="1200" b="0" i="0">
                <a:solidFill>
                  <a:srgbClr val="142632"/>
                </a:solidFill>
                <a:latin typeface="Aptos"/>
                <a:ea typeface="Aptos"/>
                <a:cs typeface="Aptos"/>
              </a:rPr>
              <a:t>Chronological per user: 70 / 10 / 20</a:t>
            </a:r>
          </a:p>
        </p:txBody>
      </p:sp>
      <p:sp>
        <p:nvSpPr>
          <p:cNvPr id="23" name="">
            <a:extLst xmlns:a="http://schemas.openxmlformats.org/drawingml/2006/main">
              <a:ext uri="{FF2B5EF4-FFF2-40B4-BE49-F238E27FC236}">
                <a16:creationId xmlns:a16="http://schemas.microsoft.com/office/drawing/2014/main" id="{0B2D49D0-B9DC-4302-AA20-53913B7CED73}"/>
              </a:ext>
            </a:extLst>
          </p:cNvPr>
          <p:cNvSpPr>
            <a:spLocks xmlns:a="http://schemas.openxmlformats.org/drawingml/2006/main" noGrp="1"/>
          </p:cNvSpPr>
          <p:nvPr/>
        </p:nvSpPr>
        <p:spPr>
          <a:xfrm xmlns:a="http://schemas.openxmlformats.org/drawingml/2006/main">
            <a:off x="733425" y="5029200"/>
            <a:ext cx="266700" cy="266700"/>
          </a:xfrm>
          <a:prstGeom xmlns:a="http://schemas.openxmlformats.org/drawingml/2006/main" prst="ellipse">
            <a:avLst/>
          </a:prstGeom>
          <a:solidFill xmlns:a="http://schemas.openxmlformats.org/drawingml/2006/main">
            <a:srgbClr val="F28C45"/>
          </a:solidFill>
          <a:ln xmlns:a="http://schemas.openxmlformats.org/drawingml/2006/main" w="28575">
            <a:solidFill>
              <a:srgbClr val="FFFFFF"/>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6</a:t>
            </a:r>
          </a:p>
        </p:txBody>
      </p:sp>
      <p:sp>
        <p:nvSpPr>
          <p:cNvPr id="24" name="">
            <a:extLst xmlns:a="http://schemas.openxmlformats.org/drawingml/2006/main">
              <a:ext uri="{FF2B5EF4-FFF2-40B4-BE49-F238E27FC236}">
                <a16:creationId xmlns:a16="http://schemas.microsoft.com/office/drawing/2014/main" id="{63DCBFD1-F7D4-445F-9936-F13D9FDDA0E8}"/>
              </a:ext>
            </a:extLst>
          </p:cNvPr>
          <p:cNvSpPr>
            <a:spLocks xmlns:a="http://schemas.openxmlformats.org/drawingml/2006/main" noGrp="1"/>
          </p:cNvSpPr>
          <p:nvPr/>
        </p:nvSpPr>
        <p:spPr>
          <a:xfrm xmlns:a="http://schemas.openxmlformats.org/drawingml/2006/main" rot="0">
            <a:off x="1123950" y="495300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0B1F33"/>
                </a:solidFill>
                <a:latin typeface="Aptos"/>
                <a:ea typeface="Aptos"/>
                <a:cs typeface="Aptos"/>
              </a:defRPr>
            </a:pPr>
            <a:r>
              <a:rPr sz="1275" b="1" i="0">
                <a:solidFill>
                  <a:srgbClr val="0B1F33"/>
                </a:solidFill>
                <a:latin typeface="Aptos"/>
                <a:ea typeface="Aptos"/>
                <a:cs typeface="Aptos"/>
              </a:rPr>
              <a:t>Evaluation</a:t>
            </a:r>
          </a:p>
        </p:txBody>
      </p:sp>
      <p:sp>
        <p:nvSpPr>
          <p:cNvPr id="25" name="">
            <a:extLst xmlns:a="http://schemas.openxmlformats.org/drawingml/2006/main">
              <a:ext uri="{FF2B5EF4-FFF2-40B4-BE49-F238E27FC236}">
                <a16:creationId xmlns:a16="http://schemas.microsoft.com/office/drawing/2014/main" id="{F5A3BCDF-29BE-43F4-92E6-CBFAA6658A4D}"/>
              </a:ext>
            </a:extLst>
          </p:cNvPr>
          <p:cNvSpPr>
            <a:spLocks xmlns:a="http://schemas.openxmlformats.org/drawingml/2006/main" noGrp="1"/>
          </p:cNvSpPr>
          <p:nvPr/>
        </p:nvSpPr>
        <p:spPr>
          <a:xfrm xmlns:a="http://schemas.openxmlformats.org/drawingml/2006/main" rot="0">
            <a:off x="2324100" y="4953000"/>
            <a:ext cx="32194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0" i="0">
                <a:solidFill>
                  <a:srgbClr val="142632"/>
                </a:solidFill>
                <a:latin typeface="Aptos"/>
                <a:ea typeface="Aptos"/>
                <a:cs typeface="Aptos"/>
              </a:defRPr>
            </a:pPr>
            <a:r>
              <a:rPr sz="1200" b="0" i="0">
                <a:solidFill>
                  <a:srgbClr val="142632"/>
                </a:solidFill>
                <a:latin typeface="Aptos"/>
                <a:ea typeface="Aptos"/>
                <a:cs typeface="Aptos"/>
              </a:rPr>
              <a:t>Full vocabulary · no sampled negatives</a:t>
            </a:r>
          </a:p>
        </p:txBody>
      </p:sp>
      <p:sp>
        <p:nvSpPr>
          <p:cNvPr id="26" name="">
            <a:extLst xmlns:a="http://schemas.openxmlformats.org/drawingml/2006/main">
              <a:ext uri="{FF2B5EF4-FFF2-40B4-BE49-F238E27FC236}">
                <a16:creationId xmlns:a16="http://schemas.microsoft.com/office/drawing/2014/main" id="{5E16A1C5-491D-4D12-863B-55A48430266D}"/>
              </a:ext>
            </a:extLst>
          </p:cNvPr>
          <p:cNvSpPr>
            <a:spLocks xmlns:a="http://schemas.openxmlformats.org/drawingml/2006/main" noGrp="1"/>
          </p:cNvSpPr>
          <p:nvPr/>
        </p:nvSpPr>
        <p:spPr>
          <a:xfrm xmlns:a="http://schemas.openxmlformats.org/drawingml/2006/main" rot="0">
            <a:off x="6191250" y="15811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425" b="1" i="0">
                <a:solidFill>
                  <a:srgbClr val="F28C45"/>
                </a:solidFill>
                <a:latin typeface="Aptos"/>
                <a:ea typeface="Aptos"/>
                <a:cs typeface="Aptos"/>
              </a:defRPr>
            </a:pPr>
            <a:r>
              <a:rPr sz="1425" b="1" i="0">
                <a:solidFill>
                  <a:srgbClr val="F28C45"/>
                </a:solidFill>
                <a:latin typeface="Aptos"/>
                <a:ea typeface="Aptos"/>
                <a:cs typeface="Aptos"/>
              </a:rPr>
              <a:t>PHASE 2 · FLICKR BENCHMARK</a:t>
            </a:r>
          </a:p>
        </p:txBody>
      </p:sp>
      <p:graphicFrame>
        <p:nvGraphicFramePr>
          <p:cNvPr id="58" name=""/>
          <p:cNvGraphicFramePr/>
          <p:nvPr/>
        </p:nvGraphicFramePr>
        <p:xfrm>
          <a:off xmlns:a="http://schemas.openxmlformats.org/drawingml/2006/main" x="6191250" y="2000250"/>
          <a:ext xmlns:a="http://schemas.openxmlformats.org/drawingml/2006/main" cx="5334000" cy="2476500"/>
        </p:xfrm>
        <a:graphic xmlns:a="http://schemas.openxmlformats.org/drawingml/2006/main">
          <a:graphicData uri="http://schemas.openxmlformats.org/drawingml/2006/table">
            <a:tbl>
              <a:tblPr/>
              <a:tblGrid>
                <a:gridCol w="1619250"/>
                <a:gridCol w="762000"/>
                <a:gridCol w="952500"/>
                <a:gridCol w="952500"/>
                <a:gridCol w="1047750"/>
              </a:tblGrid>
              <a:tr h="412750">
                <a:tc>
                  <a:txBody>
                    <a:bodyPr anchor="ctr">
                      <a:normAutofit/>
                    </a:bodyPr>
                    <a:lstStyle/>
                    <a:p>
                      <a:pPr algn="l"/>
                      <a:r>
                        <a:rPr sz="1125" b="1">
                          <a:solidFill>
                            <a:srgbClr val="FFFFFF"/>
                          </a:solidFill>
                          <a:latin typeface="Aptos"/>
                          <a:ea typeface="Aptos"/>
                          <a:cs typeface="Aptos"/>
                        </a:rPr>
                        <a:t>City</a:t>
                      </a:r>
                    </a:p>
                  </a:txBody>
                  <a:tcPr marL="91440" marR="91440" marT="45720" marB="45720">
                    <a:solidFill>
                      <a:srgbClr val="F28C45"/>
                    </a:solidFill>
                  </a:tcPr>
                </a:tc>
                <a:tc>
                  <a:txBody>
                    <a:bodyPr anchor="ctr">
                      <a:normAutofit/>
                    </a:bodyPr>
                    <a:lstStyle/>
                    <a:p>
                      <a:pPr algn="ctr"/>
                      <a:r>
                        <a:rPr sz="1125" b="1">
                          <a:solidFill>
                            <a:srgbClr val="FFFFFF"/>
                          </a:solidFill>
                          <a:latin typeface="Aptos"/>
                          <a:ea typeface="Aptos"/>
                          <a:cs typeface="Aptos"/>
                        </a:rPr>
                        <a:t>POIs</a:t>
                      </a:r>
                    </a:p>
                  </a:txBody>
                  <a:tcPr marL="91440" marR="91440" marT="45720" marB="45720">
                    <a:solidFill>
                      <a:srgbClr val="F28C45"/>
                    </a:solidFill>
                  </a:tcPr>
                </a:tc>
                <a:tc>
                  <a:txBody>
                    <a:bodyPr anchor="ctr">
                      <a:normAutofit/>
                    </a:bodyPr>
                    <a:lstStyle/>
                    <a:p>
                      <a:pPr algn="ctr"/>
                      <a:r>
                        <a:rPr sz="1125" b="1">
                          <a:solidFill>
                            <a:srgbClr val="FFFFFF"/>
                          </a:solidFill>
                          <a:latin typeface="Aptos"/>
                          <a:ea typeface="Aptos"/>
                          <a:cs typeface="Aptos"/>
                        </a:rPr>
                        <a:t>Users</a:t>
                      </a:r>
                    </a:p>
                  </a:txBody>
                  <a:tcPr marL="91440" marR="91440" marT="45720" marB="45720">
                    <a:solidFill>
                      <a:srgbClr val="F28C45"/>
                    </a:solidFill>
                  </a:tcPr>
                </a:tc>
                <a:tc>
                  <a:txBody>
                    <a:bodyPr anchor="ctr">
                      <a:normAutofit/>
                    </a:bodyPr>
                    <a:lstStyle/>
                    <a:p>
                      <a:pPr algn="ctr"/>
                      <a:r>
                        <a:rPr sz="1125" b="1">
                          <a:solidFill>
                            <a:srgbClr val="FFFFFF"/>
                          </a:solidFill>
                          <a:latin typeface="Aptos"/>
                          <a:ea typeface="Aptos"/>
                          <a:cs typeface="Aptos"/>
                        </a:rPr>
                        <a:t>Traj.</a:t>
                      </a:r>
                    </a:p>
                  </a:txBody>
                  <a:tcPr marL="91440" marR="91440" marT="45720" marB="45720">
                    <a:solidFill>
                      <a:srgbClr val="F28C45"/>
                    </a:solidFill>
                  </a:tcPr>
                </a:tc>
                <a:tc>
                  <a:txBody>
                    <a:bodyPr anchor="ctr">
                      <a:normAutofit/>
                    </a:bodyPr>
                    <a:lstStyle/>
                    <a:p>
                      <a:pPr algn="ctr"/>
                      <a:r>
                        <a:rPr sz="1125" b="1">
                          <a:solidFill>
                            <a:srgbClr val="FFFFFF"/>
                          </a:solidFill>
                          <a:latin typeface="Aptos"/>
                          <a:ea typeface="Aptos"/>
                          <a:cs typeface="Aptos"/>
                        </a:rPr>
                        <a:t>Eval. &gt;=3</a:t>
                      </a:r>
                    </a:p>
                  </a:txBody>
                  <a:tcPr marL="91440" marR="91440" marT="45720" marB="45720">
                    <a:solidFill>
                      <a:srgbClr val="F28C45"/>
                    </a:solidFill>
                  </a:tcPr>
                </a:tc>
              </a:tr>
              <a:tr h="412750">
                <a:tc>
                  <a:txBody>
                    <a:bodyPr anchor="ctr">
                      <a:normAutofit/>
                    </a:bodyPr>
                    <a:lstStyle/>
                    <a:p>
                      <a:pPr algn="l"/>
                      <a:r>
                        <a:rPr sz="1125" b="1">
                          <a:solidFill>
                            <a:srgbClr val="142632"/>
                          </a:solidFill>
                          <a:latin typeface="Aptos"/>
                          <a:ea typeface="Aptos"/>
                          <a:cs typeface="Aptos"/>
                        </a:rPr>
                        <a:t>Toronto</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29</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1,395</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6,057</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335</a:t>
                      </a:r>
                    </a:p>
                  </a:txBody>
                  <a:tcPr marL="91440" marR="91440" marT="45720" marB="45720">
                    <a:solidFill>
                      <a:srgbClr val="FFFFFF"/>
                    </a:solidFill>
                  </a:tcPr>
                </a:tc>
              </a:tr>
              <a:tr h="412750">
                <a:tc>
                  <a:txBody>
                    <a:bodyPr anchor="ctr">
                      <a:normAutofit/>
                    </a:bodyPr>
                    <a:lstStyle/>
                    <a:p>
                      <a:pPr algn="l"/>
                      <a:r>
                        <a:rPr sz="1125" b="1">
                          <a:solidFill>
                            <a:srgbClr val="142632"/>
                          </a:solidFill>
                          <a:latin typeface="Aptos"/>
                          <a:ea typeface="Aptos"/>
                          <a:cs typeface="Aptos"/>
                        </a:rPr>
                        <a:t>Osaka</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27</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450</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1,115</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47</a:t>
                      </a:r>
                    </a:p>
                  </a:txBody>
                  <a:tcPr marL="91440" marR="91440" marT="45720" marB="45720">
                    <a:solidFill>
                      <a:srgbClr val="EDF2F5"/>
                    </a:solidFill>
                  </a:tcPr>
                </a:tc>
              </a:tr>
              <a:tr h="412750">
                <a:tc>
                  <a:txBody>
                    <a:bodyPr anchor="ctr">
                      <a:normAutofit/>
                    </a:bodyPr>
                    <a:lstStyle/>
                    <a:p>
                      <a:pPr algn="l"/>
                      <a:r>
                        <a:rPr sz="1125" b="1">
                          <a:solidFill>
                            <a:srgbClr val="142632"/>
                          </a:solidFill>
                          <a:latin typeface="Aptos"/>
                          <a:ea typeface="Aptos"/>
                          <a:cs typeface="Aptos"/>
                        </a:rPr>
                        <a:t>Glasgow</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27</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601</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2,227</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112</a:t>
                      </a:r>
                    </a:p>
                  </a:txBody>
                  <a:tcPr marL="91440" marR="91440" marT="45720" marB="45720">
                    <a:solidFill>
                      <a:srgbClr val="FFFFFF"/>
                    </a:solidFill>
                  </a:tcPr>
                </a:tc>
              </a:tr>
              <a:tr h="412750">
                <a:tc>
                  <a:txBody>
                    <a:bodyPr anchor="ctr">
                      <a:normAutofit/>
                    </a:bodyPr>
                    <a:lstStyle/>
                    <a:p>
                      <a:pPr algn="l"/>
                      <a:r>
                        <a:rPr sz="1125" b="1">
                          <a:solidFill>
                            <a:srgbClr val="142632"/>
                          </a:solidFill>
                          <a:latin typeface="Aptos"/>
                          <a:ea typeface="Aptos"/>
                          <a:cs typeface="Aptos"/>
                        </a:rPr>
                        <a:t>Edinburgh</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28</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1,454</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5,028</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634</a:t>
                      </a:r>
                    </a:p>
                  </a:txBody>
                  <a:tcPr marL="91440" marR="91440" marT="45720" marB="45720">
                    <a:solidFill>
                      <a:srgbClr val="EDF2F5"/>
                    </a:solidFill>
                  </a:tcPr>
                </a:tc>
              </a:tr>
              <a:tr h="412750">
                <a:tc>
                  <a:txBody>
                    <a:bodyPr anchor="ctr">
                      <a:normAutofit/>
                    </a:bodyPr>
                    <a:lstStyle/>
                    <a:p>
                      <a:pPr algn="l"/>
                      <a:r>
                        <a:rPr sz="1125" b="1">
                          <a:solidFill>
                            <a:srgbClr val="142632"/>
                          </a:solidFill>
                          <a:latin typeface="Aptos"/>
                          <a:ea typeface="Aptos"/>
                          <a:cs typeface="Aptos"/>
                        </a:rPr>
                        <a:t>Melbourne</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88</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1,000</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5,106</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442</a:t>
                      </a:r>
                    </a:p>
                  </a:txBody>
                  <a:tcPr marL="91440" marR="91440" marT="45720" marB="45720">
                    <a:solidFill>
                      <a:srgbClr val="FFFFFF"/>
                    </a:solidFill>
                  </a:tcPr>
                </a:tc>
              </a:tr>
            </a:tbl>
          </a:graphicData>
        </a:graphic>
      </p:graphicFrame>
      <p:sp>
        <p:nvSpPr>
          <p:cNvPr id="28" name="">
            <a:extLst xmlns:a="http://schemas.openxmlformats.org/drawingml/2006/main">
              <a:ext uri="{FF2B5EF4-FFF2-40B4-BE49-F238E27FC236}">
                <a16:creationId xmlns:a16="http://schemas.microsoft.com/office/drawing/2014/main" id="{0E5A46ED-591D-442C-8E82-E4D617698720}"/>
              </a:ext>
            </a:extLst>
          </p:cNvPr>
          <p:cNvSpPr>
            <a:spLocks xmlns:a="http://schemas.openxmlformats.org/drawingml/2006/main" noGrp="1"/>
          </p:cNvSpPr>
          <p:nvPr/>
        </p:nvSpPr>
        <p:spPr>
          <a:xfrm xmlns:a="http://schemas.openxmlformats.org/drawingml/2006/main">
            <a:off x="6191250" y="4762500"/>
            <a:ext cx="5334000" cy="1009650"/>
          </a:xfrm>
          <a:prstGeom xmlns:a="http://schemas.openxmlformats.org/drawingml/2006/main" prst="roundRect">
            <a:avLst>
              <a:gd name="adj" fmla="val 16981"/>
            </a:avLst>
          </a:prstGeom>
          <a:solidFill xmlns:a="http://schemas.openxmlformats.org/drawingml/2006/main">
            <a:srgbClr val="FCE8D9"/>
          </a:solidFill>
          <a:ln xmlns:a="http://schemas.openxmlformats.org/drawingml/2006/main" w="9525">
            <a:solidFill>
              <a:srgbClr val="F3C49D"/>
            </a:solidFill>
            <a:prstDash val="solid"/>
          </a:ln>
        </p:spPr>
      </p:sp>
      <p:sp>
        <p:nvSpPr>
          <p:cNvPr id="29" name="">
            <a:extLst xmlns:a="http://schemas.openxmlformats.org/drawingml/2006/main">
              <a:ext uri="{FF2B5EF4-FFF2-40B4-BE49-F238E27FC236}">
                <a16:creationId xmlns:a16="http://schemas.microsoft.com/office/drawing/2014/main" id="{EBAD482B-263D-43DF-8687-6730A3BE4715}"/>
              </a:ext>
            </a:extLst>
          </p:cNvPr>
          <p:cNvSpPr>
            <a:spLocks xmlns:a="http://schemas.openxmlformats.org/drawingml/2006/main" noGrp="1"/>
          </p:cNvSpPr>
          <p:nvPr/>
        </p:nvSpPr>
        <p:spPr>
          <a:xfrm xmlns:a="http://schemas.openxmlformats.org/drawingml/2006/main" rot="0">
            <a:off x="6429375" y="490537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i="0">
                <a:solidFill>
                  <a:srgbClr val="F28C45"/>
                </a:solidFill>
                <a:latin typeface="Aptos"/>
                <a:ea typeface="Aptos"/>
                <a:cs typeface="Aptos"/>
              </a:defRPr>
            </a:pPr>
            <a:r>
              <a:rPr sz="1350" b="1" i="0">
                <a:solidFill>
                  <a:srgbClr val="F28C45"/>
                </a:solidFill>
                <a:latin typeface="Aptos"/>
                <a:ea typeface="Aptos"/>
                <a:cs typeface="Aptos"/>
              </a:rPr>
              <a:t>Chen-2016 protocol</a:t>
            </a:r>
          </a:p>
        </p:txBody>
      </p:sp>
      <p:sp>
        <p:nvSpPr>
          <p:cNvPr id="30" name="">
            <a:extLst xmlns:a="http://schemas.openxmlformats.org/drawingml/2006/main">
              <a:ext uri="{FF2B5EF4-FFF2-40B4-BE49-F238E27FC236}">
                <a16:creationId xmlns:a16="http://schemas.microsoft.com/office/drawing/2014/main" id="{372F2751-287B-4E14-95EB-D0D0B9948E15}"/>
              </a:ext>
            </a:extLst>
          </p:cNvPr>
          <p:cNvSpPr>
            <a:spLocks xmlns:a="http://schemas.openxmlformats.org/drawingml/2006/main" noGrp="1"/>
          </p:cNvSpPr>
          <p:nvPr/>
        </p:nvSpPr>
        <p:spPr>
          <a:xfrm xmlns:a="http://schemas.openxmlformats.org/drawingml/2006/main" rot="0">
            <a:off x="6429375" y="5219700"/>
            <a:ext cx="4810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Leave one trajectory out · first + last POI + length given</a:t>
            </a:r>
          </a:p>
          <a:p xmlns:a="http://schemas.openxmlformats.org/drawingml/2006/main">
            <a:pPr algn="l">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length &gt;= 3 · loop-free · pairs-F1</a:t>
            </a:r>
          </a:p>
        </p:txBody>
      </p:sp>
      <p:sp>
        <p:nvSpPr>
          <p:cNvPr id="31" name="">
            <a:extLst xmlns:a="http://schemas.openxmlformats.org/drawingml/2006/main">
              <a:ext uri="{FF2B5EF4-FFF2-40B4-BE49-F238E27FC236}">
                <a16:creationId xmlns:a16="http://schemas.microsoft.com/office/drawing/2014/main" id="{FADA156A-563B-4D52-9B93-EEC316FB0F0C}"/>
              </a:ext>
            </a:extLst>
          </p:cNvPr>
          <p:cNvSpPr>
            <a:spLocks xmlns:a="http://schemas.openxmlformats.org/drawingml/2006/main" noGrp="1"/>
          </p:cNvSpPr>
          <p:nvPr/>
        </p:nvSpPr>
        <p:spPr>
          <a:xfrm xmlns:a="http://schemas.openxmlformats.org/drawingml/2006/main" rot="0">
            <a:off x="609600" y="6210300"/>
            <a:ext cx="10668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50" b="0" i="1">
                <a:solidFill>
                  <a:srgbClr val="5A6C79"/>
                </a:solidFill>
                <a:latin typeface="Aptos"/>
                <a:ea typeface="Aptos"/>
                <a:cs typeface="Aptos"/>
              </a:defRPr>
            </a:pPr>
            <a:r>
              <a:rPr sz="750" b="0" i="1">
                <a:solidFill>
                  <a:srgbClr val="5A6C79"/>
                </a:solidFill>
                <a:latin typeface="Aptos"/>
                <a:ea typeface="Aptos"/>
                <a:cs typeface="Aptos"/>
              </a:rPr>
              <a:t>Source: Thesis Sections 3.3 and 3.6; Table 3.4.</a:t>
            </a:r>
          </a:p>
        </p:txBody>
      </p:sp>
    </p:spTree>
    <p:extLst>
      <p:ext uri="{BB962C8B-B14F-4D97-AF65-F5344CB8AC3E}">
        <p14:creationId xmlns:p14="http://schemas.microsoft.com/office/powerpoint/2010/main" val="594952929"/>
      </p:ext>
    </p:extLst>
  </p:cSld>
</p:sld>
</file>

<file path=ppt/slides/slide1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7" name="eyebrow">
            <a:extLst xmlns:a="http://schemas.openxmlformats.org/drawingml/2006/main">
              <a:ext uri="{FF2B5EF4-FFF2-40B4-BE49-F238E27FC236}">
                <a16:creationId xmlns:a16="http://schemas.microsoft.com/office/drawing/2014/main" id="{75070741-1268-47A9-9FDE-93FA7E722A65}"/>
              </a:ext>
            </a:extLst>
          </p:cNvPr>
          <p:cNvSpPr>
            <a:spLocks xmlns:a="http://schemas.openxmlformats.org/drawingml/2006/main" noGrp="1"/>
          </p:cNvSpPr>
          <p:nvPr/>
        </p:nvSpPr>
        <p:spPr>
          <a:xfrm xmlns:a="http://schemas.openxmlformats.org/drawingml/2006/main" rot="0">
            <a:off x="6096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i="0">
                <a:solidFill>
                  <a:srgbClr val="F28C45"/>
                </a:solidFill>
                <a:latin typeface="Aptos"/>
                <a:ea typeface="Aptos"/>
                <a:cs typeface="Aptos"/>
              </a:defRPr>
            </a:pPr>
            <a:r>
              <a:rPr sz="975" b="1" i="0">
                <a:solidFill>
                  <a:srgbClr val="F28C45"/>
                </a:solidFill>
                <a:latin typeface="Aptos"/>
                <a:ea typeface="Aptos"/>
                <a:cs typeface="Aptos"/>
              </a:rPr>
              <a:t>BACKUP</a:t>
            </a:r>
          </a:p>
        </p:txBody>
      </p:sp>
      <p:sp>
        <p:nvSpPr>
          <p:cNvPr id="2" name="slide-title">
            <a:extLst xmlns:a="http://schemas.openxmlformats.org/drawingml/2006/main">
              <a:ext uri="{FF2B5EF4-FFF2-40B4-BE49-F238E27FC236}">
                <a16:creationId xmlns:a16="http://schemas.microsoft.com/office/drawing/2014/main" id="{7E8EF411-D032-41F2-BE8D-F4B0B4DF61AE}"/>
              </a:ext>
            </a:extLst>
          </p:cNvPr>
          <p:cNvSpPr>
            <a:spLocks xmlns:a="http://schemas.openxmlformats.org/drawingml/2006/main" noGrp="1"/>
          </p:cNvSpPr>
          <p:nvPr/>
        </p:nvSpPr>
        <p:spPr>
          <a:xfrm xmlns:a="http://schemas.openxmlformats.org/drawingml/2006/main" rot="0">
            <a:off x="609600" y="5905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850" b="1" i="0">
                <a:solidFill>
                  <a:srgbClr val="0B1F33"/>
                </a:solidFill>
                <a:latin typeface="Aptos"/>
                <a:ea typeface="Aptos"/>
                <a:cs typeface="Aptos"/>
              </a:defRPr>
            </a:pPr>
            <a:r>
              <a:rPr sz="2850" b="1" i="0">
                <a:solidFill>
                  <a:srgbClr val="0B1F33"/>
                </a:solidFill>
                <a:latin typeface="Aptos"/>
                <a:ea typeface="Aptos"/>
                <a:cs typeface="Aptos"/>
              </a:rPr>
              <a:t>Metric definitions and complete result tables</a:t>
            </a:r>
          </a:p>
        </p:txBody>
      </p:sp>
      <p:sp>
        <p:nvSpPr>
          <p:cNvPr id="3" name="title-accent">
            <a:extLst xmlns:a="http://schemas.openxmlformats.org/drawingml/2006/main">
              <a:ext uri="{FF2B5EF4-FFF2-40B4-BE49-F238E27FC236}">
                <a16:creationId xmlns:a16="http://schemas.microsoft.com/office/drawing/2014/main" id="{C21173F5-EDB8-4BF7-9C98-B02ECE6DFCA5}"/>
              </a:ext>
            </a:extLst>
          </p:cNvPr>
          <p:cNvSpPr>
            <a:spLocks xmlns:a="http://schemas.openxmlformats.org/drawingml/2006/main" noGrp="1"/>
          </p:cNvSpPr>
          <p:nvPr/>
        </p:nvSpPr>
        <p:spPr>
          <a:xfrm xmlns:a="http://schemas.openxmlformats.org/drawingml/2006/main">
            <a:off x="609600" y="1219200"/>
            <a:ext cx="876300" cy="47625"/>
          </a:xfrm>
          <a:prstGeom xmlns:a="http://schemas.openxmlformats.org/drawingml/2006/main" prst="rect">
            <a:avLst/>
          </a:prstGeom>
          <a:solidFill xmlns:a="http://schemas.openxmlformats.org/drawingml/2006/main">
            <a:srgbClr val="F28C4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6BA189F-A8F2-4DB6-940C-37777BB8BE22}"/>
              </a:ext>
            </a:extLst>
          </p:cNvPr>
          <p:cNvSpPr>
            <a:spLocks xmlns:a="http://schemas.openxmlformats.org/drawingml/2006/main" noGrp="1"/>
          </p:cNvSpPr>
          <p:nvPr/>
        </p:nvSpPr>
        <p:spPr>
          <a:xfrm xmlns:a="http://schemas.openxmlformats.org/drawingml/2006/main" flipV="0">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4E9"/>
            </a:solidFill>
            <a:prstDash val="solid"/>
          </a:ln>
        </p:spPr>
      </p:sp>
      <p:sp>
        <p:nvSpPr>
          <p:cNvPr id="5" name="">
            <a:extLst xmlns:a="http://schemas.openxmlformats.org/drawingml/2006/main">
              <a:ext uri="{FF2B5EF4-FFF2-40B4-BE49-F238E27FC236}">
                <a16:creationId xmlns:a16="http://schemas.microsoft.com/office/drawing/2014/main" id="{D7D6604C-42A5-4563-AC79-009207119D0D}"/>
              </a:ext>
            </a:extLst>
          </p:cNvPr>
          <p:cNvSpPr>
            <a:spLocks xmlns:a="http://schemas.openxmlformats.org/drawingml/2006/main" noGrp="1"/>
          </p:cNvSpPr>
          <p:nvPr/>
        </p:nvSpPr>
        <p:spPr>
          <a:xfrm xmlns:a="http://schemas.openxmlformats.org/drawingml/2006/main" rot="0">
            <a:off x="609600" y="655320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Ayman Naaimi · ENSAM Meknes</a:t>
            </a:r>
          </a:p>
        </p:txBody>
      </p:sp>
      <p:sp>
        <p:nvSpPr>
          <p:cNvPr id="6" name="">
            <a:extLst xmlns:a="http://schemas.openxmlformats.org/drawingml/2006/main">
              <a:ext uri="{FF2B5EF4-FFF2-40B4-BE49-F238E27FC236}">
                <a16:creationId xmlns:a16="http://schemas.microsoft.com/office/drawing/2014/main" id="{0918C1A1-F615-4BCE-8701-4264CA735693}"/>
              </a:ext>
            </a:extLst>
          </p:cNvPr>
          <p:cNvSpPr>
            <a:spLocks xmlns:a="http://schemas.openxmlformats.org/drawingml/2006/main" noGrp="1"/>
          </p:cNvSpPr>
          <p:nvPr/>
        </p:nvSpPr>
        <p:spPr>
          <a:xfrm xmlns:a="http://schemas.openxmlformats.org/drawingml/2006/main" rot="0">
            <a:off x="10572750" y="6553200"/>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Backup 2</a:t>
            </a:r>
          </a:p>
        </p:txBody>
      </p:sp>
      <p:sp>
        <p:nvSpPr>
          <p:cNvPr id="7" name="">
            <a:extLst xmlns:a="http://schemas.openxmlformats.org/drawingml/2006/main">
              <a:ext uri="{FF2B5EF4-FFF2-40B4-BE49-F238E27FC236}">
                <a16:creationId xmlns:a16="http://schemas.microsoft.com/office/drawing/2014/main" id="{83ED1DDF-0726-4362-865B-136DC3EC4AC4}"/>
              </a:ext>
            </a:extLst>
          </p:cNvPr>
          <p:cNvSpPr>
            <a:spLocks xmlns:a="http://schemas.openxmlformats.org/drawingml/2006/main" noGrp="1"/>
          </p:cNvSpPr>
          <p:nvPr/>
        </p:nvSpPr>
        <p:spPr>
          <a:xfrm xmlns:a="http://schemas.openxmlformats.org/drawingml/2006/main" rot="0">
            <a:off x="62865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i="0">
                <a:solidFill>
                  <a:srgbClr val="0B1F33"/>
                </a:solidFill>
                <a:latin typeface="Aptos"/>
                <a:ea typeface="Aptos"/>
                <a:cs typeface="Aptos"/>
              </a:defRPr>
            </a:pPr>
            <a:r>
              <a:rPr sz="1350" b="1" i="0">
                <a:solidFill>
                  <a:srgbClr val="0B1F33"/>
                </a:solidFill>
                <a:latin typeface="Aptos"/>
                <a:ea typeface="Aptos"/>
                <a:cs typeface="Aptos"/>
              </a:rPr>
              <a:t>NEXT-POI · NYC</a:t>
            </a:r>
          </a:p>
        </p:txBody>
      </p:sp>
      <p:graphicFrame>
        <p:nvGraphicFramePr>
          <p:cNvPr id="24" name=""/>
          <p:cNvGraphicFramePr/>
          <p:nvPr/>
        </p:nvGraphicFramePr>
        <p:xfrm>
          <a:off xmlns:a="http://schemas.openxmlformats.org/drawingml/2006/main" x="628650" y="1847850"/>
          <a:ext xmlns:a="http://schemas.openxmlformats.org/drawingml/2006/main" cx="2571750" cy="2514600"/>
        </p:xfrm>
        <a:graphic xmlns:a="http://schemas.openxmlformats.org/drawingml/2006/main">
          <a:graphicData uri="http://schemas.openxmlformats.org/drawingml/2006/table">
            <a:tbl>
              <a:tblPr/>
              <a:tblGrid>
                <a:gridCol w="1543050"/>
                <a:gridCol w="1028700"/>
              </a:tblGrid>
              <a:tr h="359229">
                <a:tc>
                  <a:txBody>
                    <a:bodyPr anchor="ctr">
                      <a:normAutofit/>
                    </a:bodyPr>
                    <a:lstStyle/>
                    <a:p>
                      <a:pPr algn="l"/>
                      <a:r>
                        <a:rPr sz="1125" b="1">
                          <a:solidFill>
                            <a:srgbClr val="FFFFFF"/>
                          </a:solidFill>
                          <a:latin typeface="Aptos"/>
                          <a:ea typeface="Aptos"/>
                          <a:cs typeface="Aptos"/>
                        </a:rPr>
                        <a:t>Metric</a:t>
                      </a:r>
                    </a:p>
                  </a:txBody>
                  <a:tcPr marL="91440" marR="91440" marT="45720" marB="45720">
                    <a:solidFill>
                      <a:srgbClr val="0B1F33"/>
                    </a:solidFill>
                  </a:tcPr>
                </a:tc>
                <a:tc>
                  <a:txBody>
                    <a:bodyPr anchor="ctr">
                      <a:normAutofit/>
                    </a:bodyPr>
                    <a:lstStyle/>
                    <a:p>
                      <a:pPr algn="ctr"/>
                      <a:r>
                        <a:rPr sz="1125" b="1">
                          <a:solidFill>
                            <a:srgbClr val="FFFFFF"/>
                          </a:solidFill>
                          <a:latin typeface="Aptos"/>
                          <a:ea typeface="Aptos"/>
                          <a:cs typeface="Aptos"/>
                        </a:rPr>
                        <a:t>Score</a:t>
                      </a:r>
                    </a:p>
                  </a:txBody>
                  <a:tcPr marL="91440" marR="91440" marT="45720" marB="45720">
                    <a:solidFill>
                      <a:srgbClr val="0B1F33"/>
                    </a:solidFill>
                  </a:tcPr>
                </a:tc>
              </a:tr>
              <a:tr h="359229">
                <a:tc>
                  <a:txBody>
                    <a:bodyPr anchor="ctr">
                      <a:normAutofit/>
                    </a:bodyPr>
                    <a:lstStyle/>
                    <a:p>
                      <a:pPr algn="l"/>
                      <a:r>
                        <a:rPr sz="1125" b="1">
                          <a:solidFill>
                            <a:srgbClr val="142632"/>
                          </a:solidFill>
                          <a:latin typeface="Aptos"/>
                          <a:ea typeface="Aptos"/>
                          <a:cs typeface="Aptos"/>
                        </a:rPr>
                        <a:t>HR@1</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0.187</a:t>
                      </a:r>
                    </a:p>
                  </a:txBody>
                  <a:tcPr marL="91440" marR="91440" marT="45720" marB="45720">
                    <a:solidFill>
                      <a:srgbClr val="FFFFFF"/>
                    </a:solidFill>
                  </a:tcPr>
                </a:tc>
              </a:tr>
              <a:tr h="359229">
                <a:tc>
                  <a:txBody>
                    <a:bodyPr anchor="ctr">
                      <a:normAutofit/>
                    </a:bodyPr>
                    <a:lstStyle/>
                    <a:p>
                      <a:pPr algn="l"/>
                      <a:r>
                        <a:rPr sz="1125" b="1">
                          <a:solidFill>
                            <a:srgbClr val="142632"/>
                          </a:solidFill>
                          <a:latin typeface="Aptos"/>
                          <a:ea typeface="Aptos"/>
                          <a:cs typeface="Aptos"/>
                        </a:rPr>
                        <a:t>HR@5</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0.476</a:t>
                      </a:r>
                    </a:p>
                  </a:txBody>
                  <a:tcPr marL="91440" marR="91440" marT="45720" marB="45720">
                    <a:solidFill>
                      <a:srgbClr val="EDF2F5"/>
                    </a:solidFill>
                  </a:tcPr>
                </a:tc>
              </a:tr>
              <a:tr h="359229">
                <a:tc>
                  <a:txBody>
                    <a:bodyPr anchor="ctr">
                      <a:normAutofit/>
                    </a:bodyPr>
                    <a:lstStyle/>
                    <a:p>
                      <a:pPr algn="l"/>
                      <a:r>
                        <a:rPr sz="1125" b="1">
                          <a:solidFill>
                            <a:srgbClr val="142632"/>
                          </a:solidFill>
                          <a:latin typeface="Aptos"/>
                          <a:ea typeface="Aptos"/>
                          <a:cs typeface="Aptos"/>
                        </a:rPr>
                        <a:t>HR@10</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0.588</a:t>
                      </a:r>
                    </a:p>
                  </a:txBody>
                  <a:tcPr marL="91440" marR="91440" marT="45720" marB="45720">
                    <a:solidFill>
                      <a:srgbClr val="FFFFFF"/>
                    </a:solidFill>
                  </a:tcPr>
                </a:tc>
              </a:tr>
              <a:tr h="359229">
                <a:tc>
                  <a:txBody>
                    <a:bodyPr anchor="ctr">
                      <a:normAutofit/>
                    </a:bodyPr>
                    <a:lstStyle/>
                    <a:p>
                      <a:pPr algn="l"/>
                      <a:r>
                        <a:rPr sz="1125" b="1">
                          <a:solidFill>
                            <a:srgbClr val="142632"/>
                          </a:solidFill>
                          <a:latin typeface="Aptos"/>
                          <a:ea typeface="Aptos"/>
                          <a:cs typeface="Aptos"/>
                        </a:rPr>
                        <a:t>NDCG@5</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0.339</a:t>
                      </a:r>
                    </a:p>
                  </a:txBody>
                  <a:tcPr marL="91440" marR="91440" marT="45720" marB="45720">
                    <a:solidFill>
                      <a:srgbClr val="EDF2F5"/>
                    </a:solidFill>
                  </a:tcPr>
                </a:tc>
              </a:tr>
              <a:tr h="359229">
                <a:tc>
                  <a:txBody>
                    <a:bodyPr anchor="ctr">
                      <a:normAutofit/>
                    </a:bodyPr>
                    <a:lstStyle/>
                    <a:p>
                      <a:pPr algn="l"/>
                      <a:r>
                        <a:rPr sz="1125" b="1">
                          <a:solidFill>
                            <a:srgbClr val="142632"/>
                          </a:solidFill>
                          <a:latin typeface="Aptos"/>
                          <a:ea typeface="Aptos"/>
                          <a:cs typeface="Aptos"/>
                        </a:rPr>
                        <a:t>NDCG@10</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0.375</a:t>
                      </a:r>
                    </a:p>
                  </a:txBody>
                  <a:tcPr marL="91440" marR="91440" marT="45720" marB="45720">
                    <a:solidFill>
                      <a:srgbClr val="FFFFFF"/>
                    </a:solidFill>
                  </a:tcPr>
                </a:tc>
              </a:tr>
              <a:tr h="359229">
                <a:tc>
                  <a:txBody>
                    <a:bodyPr anchor="ctr">
                      <a:normAutofit/>
                    </a:bodyPr>
                    <a:lstStyle/>
                    <a:p>
                      <a:pPr algn="l"/>
                      <a:r>
                        <a:rPr sz="1125" b="1">
                          <a:solidFill>
                            <a:srgbClr val="142632"/>
                          </a:solidFill>
                          <a:latin typeface="Aptos"/>
                          <a:ea typeface="Aptos"/>
                          <a:cs typeface="Aptos"/>
                        </a:rPr>
                        <a:t>MRR</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0.316</a:t>
                      </a:r>
                    </a:p>
                  </a:txBody>
                  <a:tcPr marL="91440" marR="91440" marT="45720" marB="45720">
                    <a:solidFill>
                      <a:srgbClr val="EDF2F5"/>
                    </a:solidFill>
                  </a:tcPr>
                </a:tc>
              </a:tr>
            </a:tbl>
          </a:graphicData>
        </a:graphic>
      </p:graphicFrame>
      <p:sp>
        <p:nvSpPr>
          <p:cNvPr id="9" name="">
            <a:extLst xmlns:a="http://schemas.openxmlformats.org/drawingml/2006/main">
              <a:ext uri="{FF2B5EF4-FFF2-40B4-BE49-F238E27FC236}">
                <a16:creationId xmlns:a16="http://schemas.microsoft.com/office/drawing/2014/main" id="{63626957-5B10-4FA3-9195-0FA63A8AEA61}"/>
              </a:ext>
            </a:extLst>
          </p:cNvPr>
          <p:cNvSpPr>
            <a:spLocks xmlns:a="http://schemas.openxmlformats.org/drawingml/2006/main" noGrp="1"/>
          </p:cNvSpPr>
          <p:nvPr/>
        </p:nvSpPr>
        <p:spPr>
          <a:xfrm xmlns:a="http://schemas.openxmlformats.org/drawingml/2006/main" rot="0">
            <a:off x="628650" y="462915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i="0">
                <a:solidFill>
                  <a:srgbClr val="F28C45"/>
                </a:solidFill>
                <a:latin typeface="Aptos"/>
                <a:ea typeface="Aptos"/>
                <a:cs typeface="Aptos"/>
              </a:defRPr>
            </a:pPr>
            <a:r>
              <a:rPr sz="1350" b="1" i="0">
                <a:solidFill>
                  <a:srgbClr val="F28C45"/>
                </a:solidFill>
                <a:latin typeface="Aptos"/>
                <a:ea typeface="Aptos"/>
                <a:cs typeface="Aptos"/>
              </a:rPr>
              <a:t>ITINERARY · NYC</a:t>
            </a:r>
          </a:p>
        </p:txBody>
      </p:sp>
      <p:graphicFrame>
        <p:nvGraphicFramePr>
          <p:cNvPr id="26" name=""/>
          <p:cNvGraphicFramePr/>
          <p:nvPr/>
        </p:nvGraphicFramePr>
        <p:xfrm>
          <a:off xmlns:a="http://schemas.openxmlformats.org/drawingml/2006/main" x="628650" y="4953000"/>
          <a:ext xmlns:a="http://schemas.openxmlformats.org/drawingml/2006/main" cx="4476750" cy="1181100"/>
        </p:xfrm>
        <a:graphic xmlns:a="http://schemas.openxmlformats.org/drawingml/2006/main">
          <a:graphicData uri="http://schemas.openxmlformats.org/drawingml/2006/table">
            <a:tbl>
              <a:tblPr/>
              <a:tblGrid>
                <a:gridCol w="2141054"/>
                <a:gridCol w="778565"/>
                <a:gridCol w="778565"/>
                <a:gridCol w="778565"/>
              </a:tblGrid>
              <a:tr h="236220">
                <a:tc>
                  <a:txBody>
                    <a:bodyPr anchor="ctr">
                      <a:normAutofit/>
                    </a:bodyPr>
                    <a:lstStyle/>
                    <a:p>
                      <a:pPr algn="l"/>
                      <a:r>
                        <a:rPr sz="1050" b="1">
                          <a:solidFill>
                            <a:srgbClr val="FFFFFF"/>
                          </a:solidFill>
                          <a:latin typeface="Aptos"/>
                          <a:ea typeface="Aptos"/>
                          <a:cs typeface="Aptos"/>
                        </a:rPr>
                        <a:t>Method</a:t>
                      </a:r>
                    </a:p>
                  </a:txBody>
                  <a:tcPr marL="91440" marR="91440" marT="45720" marB="45720">
                    <a:solidFill>
                      <a:srgbClr val="F28C45"/>
                    </a:solidFill>
                  </a:tcPr>
                </a:tc>
                <a:tc>
                  <a:txBody>
                    <a:bodyPr anchor="ctr">
                      <a:normAutofit/>
                    </a:bodyPr>
                    <a:lstStyle/>
                    <a:p>
                      <a:pPr algn="ctr"/>
                      <a:r>
                        <a:rPr sz="1050" b="1">
                          <a:solidFill>
                            <a:srgbClr val="FFFFFF"/>
                          </a:solidFill>
                          <a:latin typeface="Aptos"/>
                          <a:ea typeface="Aptos"/>
                          <a:cs typeface="Aptos"/>
                        </a:rPr>
                        <a:t>pairs</a:t>
                      </a:r>
                    </a:p>
                  </a:txBody>
                  <a:tcPr marL="91440" marR="91440" marT="45720" marB="45720">
                    <a:solidFill>
                      <a:srgbClr val="F28C45"/>
                    </a:solidFill>
                  </a:tcPr>
                </a:tc>
                <a:tc>
                  <a:txBody>
                    <a:bodyPr anchor="ctr">
                      <a:normAutofit/>
                    </a:bodyPr>
                    <a:lstStyle/>
                    <a:p>
                      <a:pPr algn="ctr"/>
                      <a:r>
                        <a:rPr sz="1050" b="1">
                          <a:solidFill>
                            <a:srgbClr val="FFFFFF"/>
                          </a:solidFill>
                          <a:latin typeface="Aptos"/>
                          <a:ea typeface="Aptos"/>
                          <a:cs typeface="Aptos"/>
                        </a:rPr>
                        <a:t>set</a:t>
                      </a:r>
                    </a:p>
                  </a:txBody>
                  <a:tcPr marL="91440" marR="91440" marT="45720" marB="45720">
                    <a:solidFill>
                      <a:srgbClr val="F28C45"/>
                    </a:solidFill>
                  </a:tcPr>
                </a:tc>
                <a:tc>
                  <a:txBody>
                    <a:bodyPr anchor="ctr">
                      <a:normAutofit/>
                    </a:bodyPr>
                    <a:lstStyle/>
                    <a:p>
                      <a:pPr algn="ctr"/>
                      <a:r>
                        <a:rPr sz="1050" b="1">
                          <a:solidFill>
                            <a:srgbClr val="FFFFFF"/>
                          </a:solidFill>
                          <a:latin typeface="Aptos"/>
                          <a:ea typeface="Aptos"/>
                          <a:cs typeface="Aptos"/>
                        </a:rPr>
                        <a:t>exact</a:t>
                      </a:r>
                    </a:p>
                  </a:txBody>
                  <a:tcPr marL="91440" marR="91440" marT="45720" marB="45720">
                    <a:solidFill>
                      <a:srgbClr val="F28C45"/>
                    </a:solidFill>
                  </a:tcPr>
                </a:tc>
              </a:tr>
              <a:tr h="236220">
                <a:tc>
                  <a:txBody>
                    <a:bodyPr anchor="ctr">
                      <a:normAutofit/>
                    </a:bodyPr>
                    <a:lstStyle/>
                    <a:p>
                      <a:pPr algn="l"/>
                      <a:r>
                        <a:rPr sz="1050" b="1">
                          <a:solidFill>
                            <a:srgbClr val="142632"/>
                          </a:solidFill>
                          <a:latin typeface="Aptos"/>
                          <a:ea typeface="Aptos"/>
                          <a:cs typeface="Aptos"/>
                        </a:rPr>
                        <a:t>Frozen Rollout · greedy</a:t>
                      </a:r>
                    </a:p>
                  </a:txBody>
                  <a:tcPr marL="91440" marR="91440" marT="45720" marB="45720">
                    <a:solidFill>
                      <a:srgbClr val="FFFFFF"/>
                    </a:solidFill>
                  </a:tcPr>
                </a:tc>
                <a:tc>
                  <a:txBody>
                    <a:bodyPr anchor="ctr">
                      <a:normAutofit/>
                    </a:bodyPr>
                    <a:lstStyle/>
                    <a:p>
                      <a:pPr algn="ctr"/>
                      <a:r>
                        <a:rPr sz="1050" b="0">
                          <a:solidFill>
                            <a:srgbClr val="142632"/>
                          </a:solidFill>
                          <a:latin typeface="Aptos"/>
                          <a:ea typeface="Aptos"/>
                          <a:cs typeface="Aptos"/>
                        </a:rPr>
                        <a:t>.289</a:t>
                      </a:r>
                    </a:p>
                  </a:txBody>
                  <a:tcPr marL="91440" marR="91440" marT="45720" marB="45720">
                    <a:solidFill>
                      <a:srgbClr val="FFFFFF"/>
                    </a:solidFill>
                  </a:tcPr>
                </a:tc>
                <a:tc>
                  <a:txBody>
                    <a:bodyPr anchor="ctr">
                      <a:normAutofit/>
                    </a:bodyPr>
                    <a:lstStyle/>
                    <a:p>
                      <a:pPr algn="ctr"/>
                      <a:r>
                        <a:rPr sz="1050" b="0">
                          <a:solidFill>
                            <a:srgbClr val="142632"/>
                          </a:solidFill>
                          <a:latin typeface="Aptos"/>
                          <a:ea typeface="Aptos"/>
                          <a:cs typeface="Aptos"/>
                        </a:rPr>
                        <a:t>.609</a:t>
                      </a:r>
                    </a:p>
                  </a:txBody>
                  <a:tcPr marL="91440" marR="91440" marT="45720" marB="45720">
                    <a:solidFill>
                      <a:srgbClr val="FFFFFF"/>
                    </a:solidFill>
                  </a:tcPr>
                </a:tc>
                <a:tc>
                  <a:txBody>
                    <a:bodyPr anchor="ctr">
                      <a:normAutofit/>
                    </a:bodyPr>
                    <a:lstStyle/>
                    <a:p>
                      <a:pPr algn="ctr"/>
                      <a:r>
                        <a:rPr sz="1050" b="0">
                          <a:solidFill>
                            <a:srgbClr val="142632"/>
                          </a:solidFill>
                          <a:latin typeface="Aptos"/>
                          <a:ea typeface="Aptos"/>
                          <a:cs typeface="Aptos"/>
                        </a:rPr>
                        <a:t>.054</a:t>
                      </a:r>
                    </a:p>
                  </a:txBody>
                  <a:tcPr marL="91440" marR="91440" marT="45720" marB="45720">
                    <a:solidFill>
                      <a:srgbClr val="FFFFFF"/>
                    </a:solidFill>
                  </a:tcPr>
                </a:tc>
              </a:tr>
              <a:tr h="236220">
                <a:tc>
                  <a:txBody>
                    <a:bodyPr anchor="ctr">
                      <a:normAutofit/>
                    </a:bodyPr>
                    <a:lstStyle/>
                    <a:p>
                      <a:pPr algn="l"/>
                      <a:r>
                        <a:rPr sz="1050" b="1">
                          <a:solidFill>
                            <a:srgbClr val="142632"/>
                          </a:solidFill>
                          <a:latin typeface="Aptos"/>
                          <a:ea typeface="Aptos"/>
                          <a:cs typeface="Aptos"/>
                        </a:rPr>
                        <a:t>Frozen Rollout · beam 3</a:t>
                      </a:r>
                    </a:p>
                  </a:txBody>
                  <a:tcPr marL="91440" marR="91440" marT="45720" marB="45720">
                    <a:solidFill>
                      <a:srgbClr val="EDF2F5"/>
                    </a:solidFill>
                  </a:tcPr>
                </a:tc>
                <a:tc>
                  <a:txBody>
                    <a:bodyPr anchor="ctr">
                      <a:normAutofit/>
                    </a:bodyPr>
                    <a:lstStyle/>
                    <a:p>
                      <a:pPr algn="ctr"/>
                      <a:r>
                        <a:rPr sz="1050" b="0">
                          <a:solidFill>
                            <a:srgbClr val="142632"/>
                          </a:solidFill>
                          <a:latin typeface="Aptos"/>
                          <a:ea typeface="Aptos"/>
                          <a:cs typeface="Aptos"/>
                        </a:rPr>
                        <a:t>.290</a:t>
                      </a:r>
                    </a:p>
                  </a:txBody>
                  <a:tcPr marL="91440" marR="91440" marT="45720" marB="45720">
                    <a:solidFill>
                      <a:srgbClr val="EDF2F5"/>
                    </a:solidFill>
                  </a:tcPr>
                </a:tc>
                <a:tc>
                  <a:txBody>
                    <a:bodyPr anchor="ctr">
                      <a:normAutofit/>
                    </a:bodyPr>
                    <a:lstStyle/>
                    <a:p>
                      <a:pPr algn="ctr"/>
                      <a:r>
                        <a:rPr sz="1050" b="0">
                          <a:solidFill>
                            <a:srgbClr val="142632"/>
                          </a:solidFill>
                          <a:latin typeface="Aptos"/>
                          <a:ea typeface="Aptos"/>
                          <a:cs typeface="Aptos"/>
                        </a:rPr>
                        <a:t>.610</a:t>
                      </a:r>
                    </a:p>
                  </a:txBody>
                  <a:tcPr marL="91440" marR="91440" marT="45720" marB="45720">
                    <a:solidFill>
                      <a:srgbClr val="EDF2F5"/>
                    </a:solidFill>
                  </a:tcPr>
                </a:tc>
                <a:tc>
                  <a:txBody>
                    <a:bodyPr anchor="ctr">
                      <a:normAutofit/>
                    </a:bodyPr>
                    <a:lstStyle/>
                    <a:p>
                      <a:pPr algn="ctr"/>
                      <a:r>
                        <a:rPr sz="1050" b="0">
                          <a:solidFill>
                            <a:srgbClr val="142632"/>
                          </a:solidFill>
                          <a:latin typeface="Aptos"/>
                          <a:ea typeface="Aptos"/>
                          <a:cs typeface="Aptos"/>
                        </a:rPr>
                        <a:t>.057</a:t>
                      </a:r>
                    </a:p>
                  </a:txBody>
                  <a:tcPr marL="91440" marR="91440" marT="45720" marB="45720">
                    <a:solidFill>
                      <a:srgbClr val="EDF2F5"/>
                    </a:solidFill>
                  </a:tcPr>
                </a:tc>
              </a:tr>
              <a:tr h="236220">
                <a:tc>
                  <a:txBody>
                    <a:bodyPr anchor="ctr">
                      <a:normAutofit/>
                    </a:bodyPr>
                    <a:lstStyle/>
                    <a:p>
                      <a:pPr algn="l"/>
                      <a:r>
                        <a:rPr sz="1050" b="1">
                          <a:solidFill>
                            <a:srgbClr val="142632"/>
                          </a:solidFill>
                          <a:latin typeface="Aptos"/>
                          <a:ea typeface="Aptos"/>
                          <a:cs typeface="Aptos"/>
                        </a:rPr>
                        <a:t>Trained Pointer · v1</a:t>
                      </a:r>
                    </a:p>
                  </a:txBody>
                  <a:tcPr marL="91440" marR="91440" marT="45720" marB="45720">
                    <a:solidFill>
                      <a:srgbClr val="FFFFFF"/>
                    </a:solidFill>
                  </a:tcPr>
                </a:tc>
                <a:tc>
                  <a:txBody>
                    <a:bodyPr anchor="ctr">
                      <a:normAutofit/>
                    </a:bodyPr>
                    <a:lstStyle/>
                    <a:p>
                      <a:pPr algn="ctr"/>
                      <a:r>
                        <a:rPr sz="1050" b="0">
                          <a:solidFill>
                            <a:srgbClr val="142632"/>
                          </a:solidFill>
                          <a:latin typeface="Aptos"/>
                          <a:ea typeface="Aptos"/>
                          <a:cs typeface="Aptos"/>
                        </a:rPr>
                        <a:t>.259</a:t>
                      </a:r>
                    </a:p>
                  </a:txBody>
                  <a:tcPr marL="91440" marR="91440" marT="45720" marB="45720">
                    <a:solidFill>
                      <a:srgbClr val="FFFFFF"/>
                    </a:solidFill>
                  </a:tcPr>
                </a:tc>
                <a:tc>
                  <a:txBody>
                    <a:bodyPr anchor="ctr">
                      <a:normAutofit/>
                    </a:bodyPr>
                    <a:lstStyle/>
                    <a:p>
                      <a:pPr algn="ctr"/>
                      <a:r>
                        <a:rPr sz="1050" b="0">
                          <a:solidFill>
                            <a:srgbClr val="142632"/>
                          </a:solidFill>
                          <a:latin typeface="Aptos"/>
                          <a:ea typeface="Aptos"/>
                          <a:cs typeface="Aptos"/>
                        </a:rPr>
                        <a:t>.578</a:t>
                      </a:r>
                    </a:p>
                  </a:txBody>
                  <a:tcPr marL="91440" marR="91440" marT="45720" marB="45720">
                    <a:solidFill>
                      <a:srgbClr val="FFFFFF"/>
                    </a:solidFill>
                  </a:tcPr>
                </a:tc>
                <a:tc>
                  <a:txBody>
                    <a:bodyPr anchor="ctr">
                      <a:normAutofit/>
                    </a:bodyPr>
                    <a:lstStyle/>
                    <a:p>
                      <a:pPr algn="ctr"/>
                      <a:r>
                        <a:rPr sz="1050" b="0">
                          <a:solidFill>
                            <a:srgbClr val="142632"/>
                          </a:solidFill>
                          <a:latin typeface="Aptos"/>
                          <a:ea typeface="Aptos"/>
                          <a:cs typeface="Aptos"/>
                        </a:rPr>
                        <a:t>.043</a:t>
                      </a:r>
                    </a:p>
                  </a:txBody>
                  <a:tcPr marL="91440" marR="91440" marT="45720" marB="45720">
                    <a:solidFill>
                      <a:srgbClr val="FFFFFF"/>
                    </a:solidFill>
                  </a:tcPr>
                </a:tc>
              </a:tr>
              <a:tr h="236220">
                <a:tc>
                  <a:txBody>
                    <a:bodyPr anchor="ctr">
                      <a:normAutofit/>
                    </a:bodyPr>
                    <a:lstStyle/>
                    <a:p>
                      <a:pPr algn="l"/>
                      <a:r>
                        <a:rPr sz="1050" b="1">
                          <a:solidFill>
                            <a:srgbClr val="142632"/>
                          </a:solidFill>
                          <a:latin typeface="Aptos"/>
                          <a:ea typeface="Aptos"/>
                          <a:cs typeface="Aptos"/>
                        </a:rPr>
                        <a:t>Trained Pointer · v2 +ctx</a:t>
                      </a:r>
                    </a:p>
                  </a:txBody>
                  <a:tcPr marL="91440" marR="91440" marT="45720" marB="45720">
                    <a:solidFill>
                      <a:srgbClr val="EDF2F5"/>
                    </a:solidFill>
                  </a:tcPr>
                </a:tc>
                <a:tc>
                  <a:txBody>
                    <a:bodyPr anchor="ctr">
                      <a:normAutofit/>
                    </a:bodyPr>
                    <a:lstStyle/>
                    <a:p>
                      <a:pPr algn="ctr"/>
                      <a:r>
                        <a:rPr sz="1050" b="0">
                          <a:solidFill>
                            <a:srgbClr val="142632"/>
                          </a:solidFill>
                          <a:latin typeface="Aptos"/>
                          <a:ea typeface="Aptos"/>
                          <a:cs typeface="Aptos"/>
                        </a:rPr>
                        <a:t>.261</a:t>
                      </a:r>
                    </a:p>
                  </a:txBody>
                  <a:tcPr marL="91440" marR="91440" marT="45720" marB="45720">
                    <a:solidFill>
                      <a:srgbClr val="EDF2F5"/>
                    </a:solidFill>
                  </a:tcPr>
                </a:tc>
                <a:tc>
                  <a:txBody>
                    <a:bodyPr anchor="ctr">
                      <a:normAutofit/>
                    </a:bodyPr>
                    <a:lstStyle/>
                    <a:p>
                      <a:pPr algn="ctr"/>
                      <a:r>
                        <a:rPr sz="1050" b="0">
                          <a:solidFill>
                            <a:srgbClr val="142632"/>
                          </a:solidFill>
                          <a:latin typeface="Aptos"/>
                          <a:ea typeface="Aptos"/>
                          <a:cs typeface="Aptos"/>
                        </a:rPr>
                        <a:t>-</a:t>
                      </a:r>
                    </a:p>
                  </a:txBody>
                  <a:tcPr marL="91440" marR="91440" marT="45720" marB="45720">
                    <a:solidFill>
                      <a:srgbClr val="EDF2F5"/>
                    </a:solidFill>
                  </a:tcPr>
                </a:tc>
                <a:tc>
                  <a:txBody>
                    <a:bodyPr anchor="ctr">
                      <a:normAutofit/>
                    </a:bodyPr>
                    <a:lstStyle/>
                    <a:p>
                      <a:pPr algn="ctr"/>
                      <a:r>
                        <a:rPr sz="1050" b="0">
                          <a:solidFill>
                            <a:srgbClr val="142632"/>
                          </a:solidFill>
                          <a:latin typeface="Aptos"/>
                          <a:ea typeface="Aptos"/>
                          <a:cs typeface="Aptos"/>
                        </a:rPr>
                        <a:t>-</a:t>
                      </a:r>
                    </a:p>
                  </a:txBody>
                  <a:tcPr marL="91440" marR="91440" marT="45720" marB="45720">
                    <a:solidFill>
                      <a:srgbClr val="EDF2F5"/>
                    </a:solidFill>
                  </a:tcPr>
                </a:tc>
              </a:tr>
            </a:tbl>
          </a:graphicData>
        </a:graphic>
      </p:graphicFrame>
      <p:sp>
        <p:nvSpPr>
          <p:cNvPr id="11" name="">
            <a:extLst xmlns:a="http://schemas.openxmlformats.org/drawingml/2006/main">
              <a:ext uri="{FF2B5EF4-FFF2-40B4-BE49-F238E27FC236}">
                <a16:creationId xmlns:a16="http://schemas.microsoft.com/office/drawing/2014/main" id="{21E82F7B-A532-4ADC-AB95-454DC6845CBB}"/>
              </a:ext>
            </a:extLst>
          </p:cNvPr>
          <p:cNvSpPr>
            <a:spLocks xmlns:a="http://schemas.openxmlformats.org/drawingml/2006/main" noGrp="1"/>
          </p:cNvSpPr>
          <p:nvPr/>
        </p:nvSpPr>
        <p:spPr>
          <a:xfrm xmlns:a="http://schemas.openxmlformats.org/drawingml/2006/main" rot="0">
            <a:off x="3524250" y="1524000"/>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i="0">
                <a:solidFill>
                  <a:srgbClr val="137B77"/>
                </a:solidFill>
                <a:latin typeface="Aptos"/>
                <a:ea typeface="Aptos"/>
                <a:cs typeface="Aptos"/>
              </a:defRPr>
            </a:pPr>
            <a:r>
              <a:rPr sz="1350" b="1" i="0">
                <a:solidFill>
                  <a:srgbClr val="137B77"/>
                </a:solidFill>
                <a:latin typeface="Aptos"/>
                <a:ea typeface="Aptos"/>
                <a:cs typeface="Aptos"/>
              </a:rPr>
              <a:t>FLICKR BENCHMARK · PAIRS-F1</a:t>
            </a:r>
          </a:p>
        </p:txBody>
      </p:sp>
      <p:graphicFrame>
        <p:nvGraphicFramePr>
          <p:cNvPr id="28" name=""/>
          <p:cNvGraphicFramePr/>
          <p:nvPr/>
        </p:nvGraphicFramePr>
        <p:xfrm>
          <a:off xmlns:a="http://schemas.openxmlformats.org/drawingml/2006/main" x="3524250" y="1847850"/>
          <a:ext xmlns:a="http://schemas.openxmlformats.org/drawingml/2006/main" cx="8001000" cy="2514600"/>
        </p:xfrm>
        <a:graphic xmlns:a="http://schemas.openxmlformats.org/drawingml/2006/main">
          <a:graphicData uri="http://schemas.openxmlformats.org/drawingml/2006/table">
            <a:tbl>
              <a:tblPr/>
              <a:tblGrid>
                <a:gridCol w="2286000"/>
                <a:gridCol w="1143000"/>
                <a:gridCol w="1143000"/>
                <a:gridCol w="1143000"/>
                <a:gridCol w="1143000"/>
                <a:gridCol w="1143000"/>
              </a:tblGrid>
              <a:tr h="419100">
                <a:tc>
                  <a:txBody>
                    <a:bodyPr anchor="ctr">
                      <a:normAutofit/>
                    </a:bodyPr>
                    <a:lstStyle/>
                    <a:p>
                      <a:pPr algn="l"/>
                      <a:r>
                        <a:rPr sz="1125" b="1">
                          <a:solidFill>
                            <a:srgbClr val="FFFFFF"/>
                          </a:solidFill>
                          <a:latin typeface="Aptos"/>
                          <a:ea typeface="Aptos"/>
                          <a:cs typeface="Aptos"/>
                        </a:rPr>
                        <a:t>Method</a:t>
                      </a:r>
                    </a:p>
                  </a:txBody>
                  <a:tcPr marL="91440" marR="91440" marT="45720" marB="45720">
                    <a:solidFill>
                      <a:srgbClr val="137B77"/>
                    </a:solidFill>
                  </a:tcPr>
                </a:tc>
                <a:tc>
                  <a:txBody>
                    <a:bodyPr anchor="ctr">
                      <a:normAutofit/>
                    </a:bodyPr>
                    <a:lstStyle/>
                    <a:p>
                      <a:pPr algn="ctr"/>
                      <a:r>
                        <a:rPr sz="1125" b="1">
                          <a:solidFill>
                            <a:srgbClr val="FFFFFF"/>
                          </a:solidFill>
                          <a:latin typeface="Aptos"/>
                          <a:ea typeface="Aptos"/>
                          <a:cs typeface="Aptos"/>
                        </a:rPr>
                        <a:t>Toronto</a:t>
                      </a:r>
                    </a:p>
                  </a:txBody>
                  <a:tcPr marL="91440" marR="91440" marT="45720" marB="45720">
                    <a:solidFill>
                      <a:srgbClr val="137B77"/>
                    </a:solidFill>
                  </a:tcPr>
                </a:tc>
                <a:tc>
                  <a:txBody>
                    <a:bodyPr anchor="ctr">
                      <a:normAutofit/>
                    </a:bodyPr>
                    <a:lstStyle/>
                    <a:p>
                      <a:pPr algn="ctr"/>
                      <a:r>
                        <a:rPr sz="1125" b="1">
                          <a:solidFill>
                            <a:srgbClr val="FFFFFF"/>
                          </a:solidFill>
                          <a:latin typeface="Aptos"/>
                          <a:ea typeface="Aptos"/>
                          <a:cs typeface="Aptos"/>
                        </a:rPr>
                        <a:t>Osaka</a:t>
                      </a:r>
                    </a:p>
                  </a:txBody>
                  <a:tcPr marL="91440" marR="91440" marT="45720" marB="45720">
                    <a:solidFill>
                      <a:srgbClr val="137B77"/>
                    </a:solidFill>
                  </a:tcPr>
                </a:tc>
                <a:tc>
                  <a:txBody>
                    <a:bodyPr anchor="ctr">
                      <a:normAutofit/>
                    </a:bodyPr>
                    <a:lstStyle/>
                    <a:p>
                      <a:pPr algn="ctr"/>
                      <a:r>
                        <a:rPr sz="1125" b="1">
                          <a:solidFill>
                            <a:srgbClr val="FFFFFF"/>
                          </a:solidFill>
                          <a:latin typeface="Aptos"/>
                          <a:ea typeface="Aptos"/>
                          <a:cs typeface="Aptos"/>
                        </a:rPr>
                        <a:t>Glasgow</a:t>
                      </a:r>
                    </a:p>
                  </a:txBody>
                  <a:tcPr marL="91440" marR="91440" marT="45720" marB="45720">
                    <a:solidFill>
                      <a:srgbClr val="137B77"/>
                    </a:solidFill>
                  </a:tcPr>
                </a:tc>
                <a:tc>
                  <a:txBody>
                    <a:bodyPr anchor="ctr">
                      <a:normAutofit/>
                    </a:bodyPr>
                    <a:lstStyle/>
                    <a:p>
                      <a:pPr algn="ctr"/>
                      <a:r>
                        <a:rPr sz="1125" b="1">
                          <a:solidFill>
                            <a:srgbClr val="FFFFFF"/>
                          </a:solidFill>
                          <a:latin typeface="Aptos"/>
                          <a:ea typeface="Aptos"/>
                          <a:cs typeface="Aptos"/>
                        </a:rPr>
                        <a:t>Edin.</a:t>
                      </a:r>
                    </a:p>
                  </a:txBody>
                  <a:tcPr marL="91440" marR="91440" marT="45720" marB="45720">
                    <a:solidFill>
                      <a:srgbClr val="137B77"/>
                    </a:solidFill>
                  </a:tcPr>
                </a:tc>
                <a:tc>
                  <a:txBody>
                    <a:bodyPr anchor="ctr">
                      <a:normAutofit/>
                    </a:bodyPr>
                    <a:lstStyle/>
                    <a:p>
                      <a:pPr algn="ctr"/>
                      <a:r>
                        <a:rPr sz="1125" b="1">
                          <a:solidFill>
                            <a:srgbClr val="FFFFFF"/>
                          </a:solidFill>
                          <a:latin typeface="Aptos"/>
                          <a:ea typeface="Aptos"/>
                          <a:cs typeface="Aptos"/>
                        </a:rPr>
                        <a:t>Melb.</a:t>
                      </a:r>
                    </a:p>
                  </a:txBody>
                  <a:tcPr marL="91440" marR="91440" marT="45720" marB="45720">
                    <a:solidFill>
                      <a:srgbClr val="137B77"/>
                    </a:solidFill>
                  </a:tcPr>
                </a:tc>
              </a:tr>
              <a:tr h="419100">
                <a:tc>
                  <a:txBody>
                    <a:bodyPr anchor="ctr">
                      <a:normAutofit/>
                    </a:bodyPr>
                    <a:lstStyle/>
                    <a:p>
                      <a:pPr algn="l"/>
                      <a:r>
                        <a:rPr sz="1125" b="1">
                          <a:solidFill>
                            <a:srgbClr val="142632"/>
                          </a:solidFill>
                          <a:latin typeface="Aptos"/>
                          <a:ea typeface="Aptos"/>
                          <a:cs typeface="Aptos"/>
                        </a:rPr>
                        <a:t>Random</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.298</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.301</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.301</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.270</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.227</a:t>
                      </a:r>
                    </a:p>
                  </a:txBody>
                  <a:tcPr marL="91440" marR="91440" marT="45720" marB="45720">
                    <a:solidFill>
                      <a:srgbClr val="FFFFFF"/>
                    </a:solidFill>
                  </a:tcPr>
                </a:tc>
              </a:tr>
              <a:tr h="419100">
                <a:tc>
                  <a:txBody>
                    <a:bodyPr anchor="ctr">
                      <a:normAutofit/>
                    </a:bodyPr>
                    <a:lstStyle/>
                    <a:p>
                      <a:pPr algn="l"/>
                      <a:r>
                        <a:rPr sz="1125" b="1">
                          <a:solidFill>
                            <a:srgbClr val="142632"/>
                          </a:solidFill>
                          <a:latin typeface="Aptos"/>
                          <a:ea typeface="Aptos"/>
                          <a:cs typeface="Aptos"/>
                        </a:rPr>
                        <a:t>PoiPopularity</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.443</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.413</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.510</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.439</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.320</a:t>
                      </a:r>
                    </a:p>
                  </a:txBody>
                  <a:tcPr marL="91440" marR="91440" marT="45720" marB="45720">
                    <a:solidFill>
                      <a:srgbClr val="EDF2F5"/>
                    </a:solidFill>
                  </a:tcPr>
                </a:tc>
              </a:tr>
              <a:tr h="419100">
                <a:tc>
                  <a:txBody>
                    <a:bodyPr anchor="ctr">
                      <a:normAutofit/>
                    </a:bodyPr>
                    <a:lstStyle/>
                    <a:p>
                      <a:pPr algn="l"/>
                      <a:r>
                        <a:rPr sz="1125" b="1">
                          <a:solidFill>
                            <a:srgbClr val="142632"/>
                          </a:solidFill>
                          <a:latin typeface="Aptos"/>
                          <a:ea typeface="Aptos"/>
                          <a:cs typeface="Aptos"/>
                        </a:rPr>
                        <a:t>Markov</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.504</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.421</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.587</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.449</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.333</a:t>
                      </a:r>
                    </a:p>
                  </a:txBody>
                  <a:tcPr marL="91440" marR="91440" marT="45720" marB="45720">
                    <a:solidFill>
                      <a:srgbClr val="FFFFFF"/>
                    </a:solidFill>
                  </a:tcPr>
                </a:tc>
              </a:tr>
              <a:tr h="419100">
                <a:tc>
                  <a:txBody>
                    <a:bodyPr anchor="ctr">
                      <a:normAutofit/>
                    </a:bodyPr>
                    <a:lstStyle/>
                    <a:p>
                      <a:pPr algn="l"/>
                      <a:r>
                        <a:rPr sz="1125" b="1">
                          <a:solidFill>
                            <a:srgbClr val="142632"/>
                          </a:solidFill>
                          <a:latin typeface="Aptos"/>
                          <a:ea typeface="Aptos"/>
                          <a:cs typeface="Aptos"/>
                        </a:rPr>
                        <a:t>MarkovPath</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.528</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.398</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.543</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.452</a:t>
                      </a:r>
                    </a:p>
                  </a:txBody>
                  <a:tcPr marL="91440" marR="91440" marT="45720" marB="45720">
                    <a:solidFill>
                      <a:srgbClr val="EDF2F5"/>
                    </a:solidFill>
                  </a:tcPr>
                </a:tc>
                <a:tc>
                  <a:txBody>
                    <a:bodyPr anchor="ctr">
                      <a:normAutofit/>
                    </a:bodyPr>
                    <a:lstStyle/>
                    <a:p>
                      <a:pPr algn="ctr"/>
                      <a:r>
                        <a:rPr sz="1125" b="0">
                          <a:solidFill>
                            <a:srgbClr val="142632"/>
                          </a:solidFill>
                          <a:latin typeface="Aptos"/>
                          <a:ea typeface="Aptos"/>
                          <a:cs typeface="Aptos"/>
                        </a:rPr>
                        <a:t>.346</a:t>
                      </a:r>
                    </a:p>
                  </a:txBody>
                  <a:tcPr marL="91440" marR="91440" marT="45720" marB="45720">
                    <a:solidFill>
                      <a:srgbClr val="EDF2F5"/>
                    </a:solidFill>
                  </a:tcPr>
                </a:tc>
              </a:tr>
              <a:tr h="419100">
                <a:tc>
                  <a:txBody>
                    <a:bodyPr anchor="ctr">
                      <a:normAutofit/>
                    </a:bodyPr>
                    <a:lstStyle/>
                    <a:p>
                      <a:pPr algn="l"/>
                      <a:r>
                        <a:rPr sz="1125" b="1">
                          <a:solidFill>
                            <a:srgbClr val="142632"/>
                          </a:solidFill>
                          <a:latin typeface="Aptos"/>
                          <a:ea typeface="Aptos"/>
                          <a:cs typeface="Aptos"/>
                        </a:rPr>
                        <a:t>Trained Pointer · beam 3</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.431</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.399</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.489</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.414</a:t>
                      </a:r>
                    </a:p>
                  </a:txBody>
                  <a:tcPr marL="91440" marR="91440" marT="45720" marB="45720">
                    <a:solidFill>
                      <a:srgbClr val="FFFFFF"/>
                    </a:solidFill>
                  </a:tcPr>
                </a:tc>
                <a:tc>
                  <a:txBody>
                    <a:bodyPr anchor="ctr">
                      <a:normAutofit/>
                    </a:bodyPr>
                    <a:lstStyle/>
                    <a:p>
                      <a:pPr algn="ctr"/>
                      <a:r>
                        <a:rPr sz="1125" b="0">
                          <a:solidFill>
                            <a:srgbClr val="142632"/>
                          </a:solidFill>
                          <a:latin typeface="Aptos"/>
                          <a:ea typeface="Aptos"/>
                          <a:cs typeface="Aptos"/>
                        </a:rPr>
                        <a:t>.312</a:t>
                      </a:r>
                    </a:p>
                  </a:txBody>
                  <a:tcPr marL="91440" marR="91440" marT="45720" marB="45720">
                    <a:solidFill>
                      <a:srgbClr val="FFFFFF"/>
                    </a:solidFill>
                  </a:tcPr>
                </a:tc>
              </a:tr>
            </a:tbl>
          </a:graphicData>
        </a:graphic>
      </p:graphicFrame>
      <p:sp>
        <p:nvSpPr>
          <p:cNvPr id="13" name="">
            <a:extLst xmlns:a="http://schemas.openxmlformats.org/drawingml/2006/main">
              <a:ext uri="{FF2B5EF4-FFF2-40B4-BE49-F238E27FC236}">
                <a16:creationId xmlns:a16="http://schemas.microsoft.com/office/drawing/2014/main" id="{9C6E7302-4D60-41F0-82EF-0B252EF2EC60}"/>
              </a:ext>
            </a:extLst>
          </p:cNvPr>
          <p:cNvSpPr>
            <a:spLocks xmlns:a="http://schemas.openxmlformats.org/drawingml/2006/main" noGrp="1"/>
          </p:cNvSpPr>
          <p:nvPr/>
        </p:nvSpPr>
        <p:spPr>
          <a:xfrm xmlns:a="http://schemas.openxmlformats.org/drawingml/2006/main">
            <a:off x="5505450" y="4762500"/>
            <a:ext cx="6019800" cy="1371600"/>
          </a:xfrm>
          <a:prstGeom xmlns:a="http://schemas.openxmlformats.org/drawingml/2006/main" prst="roundRect">
            <a:avLst>
              <a:gd name="adj" fmla="val 12500"/>
            </a:avLst>
          </a:prstGeom>
          <a:solidFill xmlns:a="http://schemas.openxmlformats.org/drawingml/2006/main">
            <a:srgbClr val="0B1F33"/>
          </a:solidFill>
          <a:ln xmlns:a="http://schemas.openxmlformats.org/drawingml/2006/main" w="9525">
            <a:solidFill>
              <a:srgbClr val="0B1F33"/>
            </a:solidFill>
            <a:prstDash val="solid"/>
          </a:ln>
        </p:spPr>
      </p:sp>
      <p:sp>
        <p:nvSpPr>
          <p:cNvPr id="14" name="">
            <a:extLst xmlns:a="http://schemas.openxmlformats.org/drawingml/2006/main">
              <a:ext uri="{FF2B5EF4-FFF2-40B4-BE49-F238E27FC236}">
                <a16:creationId xmlns:a16="http://schemas.microsoft.com/office/drawing/2014/main" id="{6ED348EF-B369-40F1-B7F2-9C7F53328EA3}"/>
              </a:ext>
            </a:extLst>
          </p:cNvPr>
          <p:cNvSpPr>
            <a:spLocks xmlns:a="http://schemas.openxmlformats.org/drawingml/2006/main" noGrp="1"/>
          </p:cNvSpPr>
          <p:nvPr/>
        </p:nvSpPr>
        <p:spPr>
          <a:xfrm xmlns:a="http://schemas.openxmlformats.org/drawingml/2006/main" rot="0">
            <a:off x="5753100" y="48958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1" i="0">
                <a:solidFill>
                  <a:srgbClr val="F28C45"/>
                </a:solidFill>
                <a:latin typeface="Aptos"/>
                <a:ea typeface="Aptos"/>
                <a:cs typeface="Aptos"/>
              </a:defRPr>
            </a:pPr>
            <a:r>
              <a:rPr sz="1200" b="1" i="0">
                <a:solidFill>
                  <a:srgbClr val="F28C45"/>
                </a:solidFill>
                <a:latin typeface="Aptos"/>
                <a:ea typeface="Aptos"/>
                <a:cs typeface="Aptos"/>
              </a:rPr>
              <a:t>METRIC BOUNDARY</a:t>
            </a:r>
          </a:p>
        </p:txBody>
      </p:sp>
      <p:sp>
        <p:nvSpPr>
          <p:cNvPr id="15" name="">
            <a:extLst xmlns:a="http://schemas.openxmlformats.org/drawingml/2006/main">
              <a:ext uri="{FF2B5EF4-FFF2-40B4-BE49-F238E27FC236}">
                <a16:creationId xmlns:a16="http://schemas.microsoft.com/office/drawing/2014/main" id="{35E33053-4A51-402D-B157-B0BD7CDD0392}"/>
              </a:ext>
            </a:extLst>
          </p:cNvPr>
          <p:cNvSpPr>
            <a:spLocks xmlns:a="http://schemas.openxmlformats.org/drawingml/2006/main" noGrp="1"/>
          </p:cNvSpPr>
          <p:nvPr/>
        </p:nvSpPr>
        <p:spPr>
          <a:xfrm xmlns:a="http://schemas.openxmlformats.org/drawingml/2006/main" rot="0">
            <a:off x="5753100" y="5219700"/>
            <a:ext cx="55054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0" i="0">
                <a:solidFill>
                  <a:srgbClr val="FFFFFF"/>
                </a:solidFill>
                <a:latin typeface="Aptos"/>
                <a:ea typeface="Aptos"/>
                <a:cs typeface="Aptos"/>
              </a:defRPr>
            </a:pPr>
            <a:r>
              <a:rPr sz="1275" b="0" i="0">
                <a:solidFill>
                  <a:srgbClr val="FFFFFF"/>
                </a:solidFill>
                <a:latin typeface="Aptos"/>
                <a:ea typeface="Aptos"/>
                <a:cs typeface="Aptos"/>
              </a:rPr>
              <a:t>HR@k / NDCG / MRR rank one next POI.</a:t>
            </a:r>
          </a:p>
          <a:p xmlns:a="http://schemas.openxmlformats.org/drawingml/2006/main">
            <a:pPr algn="l">
              <a:lnSpc>
                <a:spcPct val="100000"/>
              </a:lnSpc>
              <a:buNone/>
              <a:defRPr sz="1275" b="0" i="0">
                <a:solidFill>
                  <a:srgbClr val="FFFFFF"/>
                </a:solidFill>
                <a:latin typeface="Aptos"/>
                <a:ea typeface="Aptos"/>
                <a:cs typeface="Aptos"/>
              </a:defRPr>
            </a:pPr>
            <a:r>
              <a:rPr sz="1275" b="0" i="0">
                <a:solidFill>
                  <a:srgbClr val="FFFFFF"/>
                </a:solidFill>
                <a:latin typeface="Aptos"/>
                <a:ea typeface="Aptos"/>
                <a:cs typeface="Aptos"/>
              </a:rPr>
              <a:t>set-F1 measures recovered places. pairs-F1 measures order.</a:t>
            </a:r>
          </a:p>
          <a:p xmlns:a="http://schemas.openxmlformats.org/drawingml/2006/main">
            <a:pPr algn="l">
              <a:lnSpc>
                <a:spcPct val="100000"/>
              </a:lnSpc>
              <a:buNone/>
              <a:defRPr sz="1275" b="0" i="0">
                <a:solidFill>
                  <a:srgbClr val="FFFFFF"/>
                </a:solidFill>
                <a:latin typeface="Aptos"/>
                <a:ea typeface="Aptos"/>
                <a:cs typeface="Aptos"/>
              </a:defRPr>
            </a:pPr>
            <a:r>
              <a:rPr sz="1275" b="0" i="0">
                <a:solidFill>
                  <a:srgbClr val="FFFFFF"/>
                </a:solidFill>
                <a:latin typeface="Aptos"/>
                <a:ea typeface="Aptos"/>
                <a:cs typeface="Aptos"/>
              </a:rPr>
              <a:t>These values never share one leaderboard.</a:t>
            </a:r>
          </a:p>
        </p:txBody>
      </p:sp>
      <p:sp>
        <p:nvSpPr>
          <p:cNvPr id="16" name="">
            <a:extLst xmlns:a="http://schemas.openxmlformats.org/drawingml/2006/main">
              <a:ext uri="{FF2B5EF4-FFF2-40B4-BE49-F238E27FC236}">
                <a16:creationId xmlns:a16="http://schemas.microsoft.com/office/drawing/2014/main" id="{A8810E3A-0B22-4E60-BC83-322A6C9FA1EC}"/>
              </a:ext>
            </a:extLst>
          </p:cNvPr>
          <p:cNvSpPr>
            <a:spLocks xmlns:a="http://schemas.openxmlformats.org/drawingml/2006/main" noGrp="1"/>
          </p:cNvSpPr>
          <p:nvPr/>
        </p:nvSpPr>
        <p:spPr>
          <a:xfrm xmlns:a="http://schemas.openxmlformats.org/drawingml/2006/main" rot="0">
            <a:off x="609600" y="6210300"/>
            <a:ext cx="10668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50" b="0" i="1">
                <a:solidFill>
                  <a:srgbClr val="5A6C79"/>
                </a:solidFill>
                <a:latin typeface="Aptos"/>
                <a:ea typeface="Aptos"/>
                <a:cs typeface="Aptos"/>
              </a:defRPr>
            </a:pPr>
            <a:r>
              <a:rPr sz="750" b="0" i="1">
                <a:solidFill>
                  <a:srgbClr val="5A6C79"/>
                </a:solidFill>
                <a:latin typeface="Aptos"/>
                <a:ea typeface="Aptos"/>
                <a:cs typeface="Aptos"/>
              </a:rPr>
              <a:t>Source: Thesis Tables 3.2, 3.3 and 3.6. Dashes mean unreported, not zero.</a:t>
            </a:r>
          </a:p>
        </p:txBody>
      </p:sp>
    </p:spTree>
    <p:extLst>
      <p:ext uri="{BB962C8B-B14F-4D97-AF65-F5344CB8AC3E}">
        <p14:creationId xmlns:p14="http://schemas.microsoft.com/office/powerpoint/2010/main" val="500447787"/>
      </p:ext>
    </p:extLst>
  </p:cSld>
</p:sld>
</file>

<file path=ppt/slides/slide1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7" name="eyebrow">
            <a:extLst xmlns:a="http://schemas.openxmlformats.org/drawingml/2006/main">
              <a:ext uri="{FF2B5EF4-FFF2-40B4-BE49-F238E27FC236}">
                <a16:creationId xmlns:a16="http://schemas.microsoft.com/office/drawing/2014/main" id="{212D6237-2A53-43AF-88D6-A5F1828610D2}"/>
              </a:ext>
            </a:extLst>
          </p:cNvPr>
          <p:cNvSpPr>
            <a:spLocks xmlns:a="http://schemas.openxmlformats.org/drawingml/2006/main" noGrp="1"/>
          </p:cNvSpPr>
          <p:nvPr/>
        </p:nvSpPr>
        <p:spPr>
          <a:xfrm xmlns:a="http://schemas.openxmlformats.org/drawingml/2006/main" rot="0">
            <a:off x="6096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i="0">
                <a:solidFill>
                  <a:srgbClr val="F28C45"/>
                </a:solidFill>
                <a:latin typeface="Aptos"/>
                <a:ea typeface="Aptos"/>
                <a:cs typeface="Aptos"/>
              </a:defRPr>
            </a:pPr>
            <a:r>
              <a:rPr sz="975" b="1" i="0">
                <a:solidFill>
                  <a:srgbClr val="F28C45"/>
                </a:solidFill>
                <a:latin typeface="Aptos"/>
                <a:ea typeface="Aptos"/>
                <a:cs typeface="Aptos"/>
              </a:rPr>
              <a:t>BACKUP</a:t>
            </a:r>
          </a:p>
        </p:txBody>
      </p:sp>
      <p:sp>
        <p:nvSpPr>
          <p:cNvPr id="2" name="slide-title">
            <a:extLst xmlns:a="http://schemas.openxmlformats.org/drawingml/2006/main">
              <a:ext uri="{FF2B5EF4-FFF2-40B4-BE49-F238E27FC236}">
                <a16:creationId xmlns:a16="http://schemas.microsoft.com/office/drawing/2014/main" id="{C42B02FC-F805-4A64-8E1F-277E2336A4FD}"/>
              </a:ext>
            </a:extLst>
          </p:cNvPr>
          <p:cNvSpPr>
            <a:spLocks xmlns:a="http://schemas.openxmlformats.org/drawingml/2006/main" noGrp="1"/>
          </p:cNvSpPr>
          <p:nvPr/>
        </p:nvSpPr>
        <p:spPr>
          <a:xfrm xmlns:a="http://schemas.openxmlformats.org/drawingml/2006/main" rot="0">
            <a:off x="609600" y="5905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850" b="1" i="0">
                <a:solidFill>
                  <a:srgbClr val="0B1F33"/>
                </a:solidFill>
                <a:latin typeface="Aptos"/>
                <a:ea typeface="Aptos"/>
                <a:cs typeface="Aptos"/>
              </a:defRPr>
            </a:pPr>
            <a:r>
              <a:rPr sz="2850" b="1" i="0">
                <a:solidFill>
                  <a:srgbClr val="0B1F33"/>
                </a:solidFill>
                <a:latin typeface="Aptos"/>
                <a:ea typeface="Aptos"/>
                <a:cs typeface="Aptos"/>
              </a:rPr>
              <a:t>Detailed architecture, dimensions, and training controls</a:t>
            </a:r>
          </a:p>
        </p:txBody>
      </p:sp>
      <p:sp>
        <p:nvSpPr>
          <p:cNvPr id="3" name="title-accent">
            <a:extLst xmlns:a="http://schemas.openxmlformats.org/drawingml/2006/main">
              <a:ext uri="{FF2B5EF4-FFF2-40B4-BE49-F238E27FC236}">
                <a16:creationId xmlns:a16="http://schemas.microsoft.com/office/drawing/2014/main" id="{D100798E-02D8-4066-96C9-A4DE69DE2CD9}"/>
              </a:ext>
            </a:extLst>
          </p:cNvPr>
          <p:cNvSpPr>
            <a:spLocks xmlns:a="http://schemas.openxmlformats.org/drawingml/2006/main" noGrp="1"/>
          </p:cNvSpPr>
          <p:nvPr/>
        </p:nvSpPr>
        <p:spPr>
          <a:xfrm xmlns:a="http://schemas.openxmlformats.org/drawingml/2006/main">
            <a:off x="609600" y="1219200"/>
            <a:ext cx="876300" cy="47625"/>
          </a:xfrm>
          <a:prstGeom xmlns:a="http://schemas.openxmlformats.org/drawingml/2006/main" prst="rect">
            <a:avLst/>
          </a:prstGeom>
          <a:solidFill xmlns:a="http://schemas.openxmlformats.org/drawingml/2006/main">
            <a:srgbClr val="F28C4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3F6CE66-BD25-4FCB-AFF3-768065E91FF4}"/>
              </a:ext>
            </a:extLst>
          </p:cNvPr>
          <p:cNvSpPr>
            <a:spLocks xmlns:a="http://schemas.openxmlformats.org/drawingml/2006/main" noGrp="1"/>
          </p:cNvSpPr>
          <p:nvPr/>
        </p:nvSpPr>
        <p:spPr>
          <a:xfrm xmlns:a="http://schemas.openxmlformats.org/drawingml/2006/main" flipV="0">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4E9"/>
            </a:solidFill>
            <a:prstDash val="solid"/>
          </a:ln>
        </p:spPr>
      </p:sp>
      <p:sp>
        <p:nvSpPr>
          <p:cNvPr id="5" name="">
            <a:extLst xmlns:a="http://schemas.openxmlformats.org/drawingml/2006/main">
              <a:ext uri="{FF2B5EF4-FFF2-40B4-BE49-F238E27FC236}">
                <a16:creationId xmlns:a16="http://schemas.microsoft.com/office/drawing/2014/main" id="{77F41E8B-1C01-4579-841C-A7B1F38F1369}"/>
              </a:ext>
            </a:extLst>
          </p:cNvPr>
          <p:cNvSpPr>
            <a:spLocks xmlns:a="http://schemas.openxmlformats.org/drawingml/2006/main" noGrp="1"/>
          </p:cNvSpPr>
          <p:nvPr/>
        </p:nvSpPr>
        <p:spPr>
          <a:xfrm xmlns:a="http://schemas.openxmlformats.org/drawingml/2006/main" rot="0">
            <a:off x="609600" y="655320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Ayman Naaimi · ENSAM Meknes</a:t>
            </a:r>
          </a:p>
        </p:txBody>
      </p:sp>
      <p:sp>
        <p:nvSpPr>
          <p:cNvPr id="6" name="">
            <a:extLst xmlns:a="http://schemas.openxmlformats.org/drawingml/2006/main">
              <a:ext uri="{FF2B5EF4-FFF2-40B4-BE49-F238E27FC236}">
                <a16:creationId xmlns:a16="http://schemas.microsoft.com/office/drawing/2014/main" id="{0D672DBE-C55A-4A7B-ACAF-BECFC2763C6D}"/>
              </a:ext>
            </a:extLst>
          </p:cNvPr>
          <p:cNvSpPr>
            <a:spLocks xmlns:a="http://schemas.openxmlformats.org/drawingml/2006/main" noGrp="1"/>
          </p:cNvSpPr>
          <p:nvPr/>
        </p:nvSpPr>
        <p:spPr>
          <a:xfrm xmlns:a="http://schemas.openxmlformats.org/drawingml/2006/main" rot="0">
            <a:off x="10572750" y="6553200"/>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Backup 3</a:t>
            </a:r>
          </a:p>
        </p:txBody>
      </p:sp>
      <p:sp>
        <p:nvSpPr>
          <p:cNvPr id="7" name="">
            <a:extLst xmlns:a="http://schemas.openxmlformats.org/drawingml/2006/main">
              <a:ext uri="{FF2B5EF4-FFF2-40B4-BE49-F238E27FC236}">
                <a16:creationId xmlns:a16="http://schemas.microsoft.com/office/drawing/2014/main" id="{CABB9883-B40E-4E15-9ADE-B008CED16A81}"/>
              </a:ext>
            </a:extLst>
          </p:cNvPr>
          <p:cNvSpPr>
            <a:spLocks xmlns:a="http://schemas.openxmlformats.org/drawingml/2006/main" noGrp="1"/>
          </p:cNvSpPr>
          <p:nvPr/>
        </p:nvSpPr>
        <p:spPr>
          <a:xfrm xmlns:a="http://schemas.openxmlformats.org/drawingml/2006/main">
            <a:off x="666750" y="2000250"/>
            <a:ext cx="1905000" cy="990600"/>
          </a:xfrm>
          <a:prstGeom xmlns:a="http://schemas.openxmlformats.org/drawingml/2006/main" prst="roundRect">
            <a:avLst>
              <a:gd name="adj" fmla="val 17308"/>
            </a:avLst>
          </a:prstGeom>
          <a:solidFill xmlns:a="http://schemas.openxmlformats.org/drawingml/2006/main">
            <a:srgbClr val="DDF3F1"/>
          </a:solidFill>
          <a:ln xmlns:a="http://schemas.openxmlformats.org/drawingml/2006/main" w="9525">
            <a:solidFill>
              <a:srgbClr val="A8D7D2"/>
            </a:solidFill>
            <a:prstDash val="solid"/>
          </a:ln>
        </p:spPr>
      </p:sp>
      <p:sp>
        <p:nvSpPr>
          <p:cNvPr id="8" name="">
            <a:extLst xmlns:a="http://schemas.openxmlformats.org/drawingml/2006/main">
              <a:ext uri="{FF2B5EF4-FFF2-40B4-BE49-F238E27FC236}">
                <a16:creationId xmlns:a16="http://schemas.microsoft.com/office/drawing/2014/main" id="{988D607C-F25C-4020-B7E9-EAE2A1C0F0F1}"/>
              </a:ext>
            </a:extLst>
          </p:cNvPr>
          <p:cNvSpPr>
            <a:spLocks xmlns:a="http://schemas.openxmlformats.org/drawingml/2006/main" noGrp="1"/>
          </p:cNvSpPr>
          <p:nvPr/>
        </p:nvSpPr>
        <p:spPr>
          <a:xfrm xmlns:a="http://schemas.openxmlformats.org/drawingml/2006/main">
            <a:off x="666750" y="3390900"/>
            <a:ext cx="1905000" cy="990600"/>
          </a:xfrm>
          <a:prstGeom xmlns:a="http://schemas.openxmlformats.org/drawingml/2006/main" prst="roundRect">
            <a:avLst>
              <a:gd name="adj" fmla="val 17308"/>
            </a:avLst>
          </a:prstGeom>
          <a:solidFill xmlns:a="http://schemas.openxmlformats.org/drawingml/2006/main">
            <a:srgbClr val="FCE8D9"/>
          </a:solidFill>
          <a:ln xmlns:a="http://schemas.openxmlformats.org/drawingml/2006/main" w="9525">
            <a:solidFill>
              <a:srgbClr val="F3C49D"/>
            </a:solidFill>
            <a:prstDash val="solid"/>
          </a:ln>
        </p:spPr>
      </p:sp>
      <p:sp>
        <p:nvSpPr>
          <p:cNvPr id="9" name="">
            <a:extLst xmlns:a="http://schemas.openxmlformats.org/drawingml/2006/main">
              <a:ext uri="{FF2B5EF4-FFF2-40B4-BE49-F238E27FC236}">
                <a16:creationId xmlns:a16="http://schemas.microsoft.com/office/drawing/2014/main" id="{B4B1C55F-0AA2-41C5-82F5-71E3839667EC}"/>
              </a:ext>
            </a:extLst>
          </p:cNvPr>
          <p:cNvSpPr>
            <a:spLocks xmlns:a="http://schemas.openxmlformats.org/drawingml/2006/main" noGrp="1"/>
          </p:cNvSpPr>
          <p:nvPr/>
        </p:nvSpPr>
        <p:spPr>
          <a:xfrm xmlns:a="http://schemas.openxmlformats.org/drawingml/2006/main">
            <a:off x="666750" y="4781550"/>
            <a:ext cx="1905000" cy="800100"/>
          </a:xfrm>
          <a:prstGeom xmlns:a="http://schemas.openxmlformats.org/drawingml/2006/main" prst="roundRect">
            <a:avLst>
              <a:gd name="adj" fmla="val 21429"/>
            </a:avLst>
          </a:prstGeom>
          <a:solidFill xmlns:a="http://schemas.openxmlformats.org/drawingml/2006/main">
            <a:srgbClr val="EDF2F5"/>
          </a:solidFill>
          <a:ln xmlns:a="http://schemas.openxmlformats.org/drawingml/2006/main" w="9525">
            <a:solidFill>
              <a:srgbClr val="DCE4E9"/>
            </a:solidFill>
            <a:prstDash val="solid"/>
          </a:ln>
        </p:spPr>
      </p:sp>
      <p:sp>
        <p:nvSpPr>
          <p:cNvPr id="10" name="">
            <a:extLst xmlns:a="http://schemas.openxmlformats.org/drawingml/2006/main">
              <a:ext uri="{FF2B5EF4-FFF2-40B4-BE49-F238E27FC236}">
                <a16:creationId xmlns:a16="http://schemas.microsoft.com/office/drawing/2014/main" id="{FAD656DB-609D-4EDE-9F98-05843A80832D}"/>
              </a:ext>
            </a:extLst>
          </p:cNvPr>
          <p:cNvSpPr>
            <a:spLocks xmlns:a="http://schemas.openxmlformats.org/drawingml/2006/main" noGrp="1"/>
          </p:cNvSpPr>
          <p:nvPr/>
        </p:nvSpPr>
        <p:spPr>
          <a:xfrm xmlns:a="http://schemas.openxmlformats.org/drawingml/2006/main">
            <a:off x="3714750" y="2667000"/>
            <a:ext cx="2095500" cy="1428750"/>
          </a:xfrm>
          <a:prstGeom xmlns:a="http://schemas.openxmlformats.org/drawingml/2006/main" prst="roundRect">
            <a:avLst>
              <a:gd name="adj" fmla="val 14667"/>
            </a:avLst>
          </a:prstGeom>
          <a:solidFill xmlns:a="http://schemas.openxmlformats.org/drawingml/2006/main">
            <a:srgbClr val="0B1F33"/>
          </a:solidFill>
          <a:ln xmlns:a="http://schemas.openxmlformats.org/drawingml/2006/main" w="9525">
            <a:solidFill>
              <a:srgbClr val="0B1F33"/>
            </a:solidFill>
            <a:prstDash val="solid"/>
          </a:ln>
        </p:spPr>
      </p:sp>
      <p:sp>
        <p:nvSpPr>
          <p:cNvPr id="11" name="">
            <a:extLst xmlns:a="http://schemas.openxmlformats.org/drawingml/2006/main">
              <a:ext uri="{FF2B5EF4-FFF2-40B4-BE49-F238E27FC236}">
                <a16:creationId xmlns:a16="http://schemas.microsoft.com/office/drawing/2014/main" id="{88F1AA81-5242-4121-9B36-65CB4E5A1FFC}"/>
              </a:ext>
            </a:extLst>
          </p:cNvPr>
          <p:cNvSpPr>
            <a:spLocks xmlns:a="http://schemas.openxmlformats.org/drawingml/2006/main" noGrp="1"/>
          </p:cNvSpPr>
          <p:nvPr/>
        </p:nvSpPr>
        <p:spPr>
          <a:xfrm xmlns:a="http://schemas.openxmlformats.org/drawingml/2006/main">
            <a:off x="6953250" y="2667000"/>
            <a:ext cx="2095500" cy="1428750"/>
          </a:xfrm>
          <a:prstGeom xmlns:a="http://schemas.openxmlformats.org/drawingml/2006/main" prst="roundRect">
            <a:avLst>
              <a:gd name="adj" fmla="val 14667"/>
            </a:avLst>
          </a:prstGeom>
          <a:solidFill xmlns:a="http://schemas.openxmlformats.org/drawingml/2006/main">
            <a:srgbClr val="137B77"/>
          </a:solidFill>
          <a:ln xmlns:a="http://schemas.openxmlformats.org/drawingml/2006/main" w="9525">
            <a:solidFill>
              <a:srgbClr val="137B77"/>
            </a:solidFill>
            <a:prstDash val="solid"/>
          </a:ln>
        </p:spPr>
      </p:sp>
      <p:sp>
        <p:nvSpPr>
          <p:cNvPr id="12" name="">
            <a:extLst xmlns:a="http://schemas.openxmlformats.org/drawingml/2006/main">
              <a:ext uri="{FF2B5EF4-FFF2-40B4-BE49-F238E27FC236}">
                <a16:creationId xmlns:a16="http://schemas.microsoft.com/office/drawing/2014/main" id="{486C58BB-6053-49D7-84F7-4839E595327D}"/>
              </a:ext>
            </a:extLst>
          </p:cNvPr>
          <p:cNvSpPr>
            <a:spLocks xmlns:a="http://schemas.openxmlformats.org/drawingml/2006/main" noGrp="1"/>
          </p:cNvSpPr>
          <p:nvPr/>
        </p:nvSpPr>
        <p:spPr>
          <a:xfrm xmlns:a="http://schemas.openxmlformats.org/drawingml/2006/main" rot="0">
            <a:off x="895350" y="2190750"/>
            <a:ext cx="1447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37B77"/>
                </a:solidFill>
                <a:latin typeface="Aptos"/>
                <a:ea typeface="Aptos"/>
                <a:cs typeface="Aptos"/>
              </a:defRPr>
            </a:pPr>
            <a:r>
              <a:rPr sz="1575" b="1" i="0">
                <a:solidFill>
                  <a:srgbClr val="137B77"/>
                </a:solidFill>
                <a:latin typeface="Aptos"/>
                <a:ea typeface="Aptos"/>
                <a:cs typeface="Aptos"/>
              </a:rPr>
              <a:t>2-layer GCN</a:t>
            </a:r>
          </a:p>
          <a:p xmlns:a="http://schemas.openxmlformats.org/drawingml/2006/main">
            <a:pPr algn="ctr">
              <a:lnSpc>
                <a:spcPct val="100000"/>
              </a:lnSpc>
              <a:buNone/>
              <a:defRPr sz="1575" b="1" i="0">
                <a:solidFill>
                  <a:srgbClr val="137B77"/>
                </a:solidFill>
                <a:latin typeface="Aptos"/>
                <a:ea typeface="Aptos"/>
                <a:cs typeface="Aptos"/>
              </a:defRPr>
            </a:pPr>
            <a:r>
              <a:rPr sz="1575" b="1" i="0">
                <a:solidFill>
                  <a:srgbClr val="137B77"/>
                </a:solidFill>
                <a:latin typeface="Aptos"/>
                <a:ea typeface="Aptos"/>
                <a:cs typeface="Aptos"/>
              </a:rPr>
              <a:t>POI dim = 128</a:t>
            </a:r>
          </a:p>
        </p:txBody>
      </p:sp>
      <p:sp>
        <p:nvSpPr>
          <p:cNvPr id="13" name="">
            <a:extLst xmlns:a="http://schemas.openxmlformats.org/drawingml/2006/main">
              <a:ext uri="{FF2B5EF4-FFF2-40B4-BE49-F238E27FC236}">
                <a16:creationId xmlns:a16="http://schemas.microsoft.com/office/drawing/2014/main" id="{E1930342-EC9D-41ED-966A-240DAB20C9B4}"/>
              </a:ext>
            </a:extLst>
          </p:cNvPr>
          <p:cNvSpPr>
            <a:spLocks xmlns:a="http://schemas.openxmlformats.org/drawingml/2006/main" noGrp="1"/>
          </p:cNvSpPr>
          <p:nvPr/>
        </p:nvSpPr>
        <p:spPr>
          <a:xfrm xmlns:a="http://schemas.openxmlformats.org/drawingml/2006/main" rot="0">
            <a:off x="895350" y="3581400"/>
            <a:ext cx="1447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588"/>
          </a:bodyPr>
          <a:lstStyle xmlns:a="http://schemas.openxmlformats.org/drawingml/2006/main"/>
          <a:p xmlns:a="http://schemas.openxmlformats.org/drawingml/2006/main">
            <a:pPr algn="ctr">
              <a:lnSpc>
                <a:spcPct val="100000"/>
              </a:lnSpc>
              <a:buNone/>
              <a:defRPr sz="1575" b="1" i="0">
                <a:solidFill>
                  <a:srgbClr val="142632"/>
                </a:solidFill>
                <a:latin typeface="Aptos"/>
                <a:ea typeface="Aptos"/>
                <a:cs typeface="Aptos"/>
              </a:defRPr>
            </a:pPr>
            <a:r>
              <a:rPr sz="1575" b="1" i="0">
                <a:solidFill>
                  <a:srgbClr val="142632"/>
                </a:solidFill>
                <a:latin typeface="Aptos"/>
                <a:ea typeface="Aptos"/>
                <a:cs typeface="Aptos"/>
              </a:rPr>
              <a:t>Δd · Δt MLPs</a:t>
            </a:r>
          </a:p>
          <a:p xmlns:a="http://schemas.openxmlformats.org/drawingml/2006/main">
            <a:pPr algn="ctr">
              <a:lnSpc>
                <a:spcPct val="100000"/>
              </a:lnSpc>
              <a:buNone/>
              <a:defRPr sz="1575" b="1" i="0">
                <a:solidFill>
                  <a:srgbClr val="142632"/>
                </a:solidFill>
                <a:latin typeface="Aptos"/>
                <a:ea typeface="Aptos"/>
                <a:cs typeface="Aptos"/>
              </a:defRPr>
            </a:pPr>
            <a:r>
              <a:rPr sz="1575" b="1" i="0">
                <a:solidFill>
                  <a:srgbClr val="142632"/>
                </a:solidFill>
                <a:latin typeface="Aptos"/>
                <a:ea typeface="Aptos"/>
                <a:cs typeface="Aptos"/>
              </a:rPr>
              <a:t>context dim = 32</a:t>
            </a:r>
          </a:p>
        </p:txBody>
      </p:sp>
      <p:sp>
        <p:nvSpPr>
          <p:cNvPr id="14" name="">
            <a:extLst xmlns:a="http://schemas.openxmlformats.org/drawingml/2006/main">
              <a:ext uri="{FF2B5EF4-FFF2-40B4-BE49-F238E27FC236}">
                <a16:creationId xmlns:a16="http://schemas.microsoft.com/office/drawing/2014/main" id="{156B7CBE-AA6C-4FBE-A24A-84396705A8BC}"/>
              </a:ext>
            </a:extLst>
          </p:cNvPr>
          <p:cNvSpPr>
            <a:spLocks xmlns:a="http://schemas.openxmlformats.org/drawingml/2006/main" noGrp="1"/>
          </p:cNvSpPr>
          <p:nvPr/>
        </p:nvSpPr>
        <p:spPr>
          <a:xfrm xmlns:a="http://schemas.openxmlformats.org/drawingml/2006/main" rot="0">
            <a:off x="895350" y="4895850"/>
            <a:ext cx="1447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0B1F33"/>
                </a:solidFill>
                <a:latin typeface="Aptos"/>
                <a:ea typeface="Aptos"/>
                <a:cs typeface="Aptos"/>
              </a:defRPr>
            </a:pPr>
            <a:r>
              <a:rPr sz="1500" b="1" i="0">
                <a:solidFill>
                  <a:srgbClr val="0B1F33"/>
                </a:solidFill>
                <a:latin typeface="Aptos"/>
                <a:ea typeface="Aptos"/>
                <a:cs typeface="Aptos"/>
              </a:rPr>
              <a:t>User embedding</a:t>
            </a:r>
          </a:p>
          <a:p xmlns:a="http://schemas.openxmlformats.org/drawingml/2006/main">
            <a:pPr algn="ctr">
              <a:lnSpc>
                <a:spcPct val="100000"/>
              </a:lnSpc>
              <a:buNone/>
              <a:defRPr sz="1500" b="1" i="0">
                <a:solidFill>
                  <a:srgbClr val="0B1F33"/>
                </a:solidFill>
                <a:latin typeface="Aptos"/>
                <a:ea typeface="Aptos"/>
                <a:cs typeface="Aptos"/>
              </a:defRPr>
            </a:pPr>
            <a:r>
              <a:rPr sz="1500" b="1" i="0">
                <a:solidFill>
                  <a:srgbClr val="0B1F33"/>
                </a:solidFill>
                <a:latin typeface="Aptos"/>
                <a:ea typeface="Aptos"/>
                <a:cs typeface="Aptos"/>
              </a:rPr>
              <a:t>dim = 64</a:t>
            </a:r>
          </a:p>
        </p:txBody>
      </p:sp>
      <p:sp>
        <p:nvSpPr>
          <p:cNvPr id="15" name="">
            <a:extLst xmlns:a="http://schemas.openxmlformats.org/drawingml/2006/main">
              <a:ext uri="{FF2B5EF4-FFF2-40B4-BE49-F238E27FC236}">
                <a16:creationId xmlns:a16="http://schemas.microsoft.com/office/drawing/2014/main" id="{F94EB272-85D6-4316-99D5-9168BACC113D}"/>
              </a:ext>
            </a:extLst>
          </p:cNvPr>
          <p:cNvSpPr>
            <a:spLocks xmlns:a="http://schemas.openxmlformats.org/drawingml/2006/main" noGrp="1"/>
          </p:cNvSpPr>
          <p:nvPr/>
        </p:nvSpPr>
        <p:spPr>
          <a:xfrm xmlns:a="http://schemas.openxmlformats.org/drawingml/2006/main" rot="0">
            <a:off x="3981450" y="2971800"/>
            <a:ext cx="15621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2593"/>
          </a:bodyPr>
          <a:lstStyle xmlns:a="http://schemas.openxmlformats.org/drawingml/2006/main"/>
          <a:p xmlns:a="http://schemas.openxmlformats.org/drawingml/2006/main">
            <a:pPr algn="ctr">
              <a:lnSpc>
                <a:spcPct val="100000"/>
              </a:lnSpc>
              <a:buNone/>
              <a:defRPr sz="1800" b="1" i="0">
                <a:solidFill>
                  <a:srgbClr val="FFFFFF"/>
                </a:solidFill>
                <a:latin typeface="Aptos"/>
                <a:ea typeface="Aptos"/>
                <a:cs typeface="Aptos"/>
              </a:defRPr>
            </a:pPr>
            <a:r>
              <a:rPr sz="1800" b="1" i="0">
                <a:solidFill>
                  <a:srgbClr val="FFFFFF"/>
                </a:solidFill>
                <a:latin typeface="Aptos"/>
                <a:ea typeface="Aptos"/>
                <a:cs typeface="Aptos"/>
              </a:rPr>
              <a:t>GRU</a:t>
            </a:r>
          </a:p>
          <a:p xmlns:a="http://schemas.openxmlformats.org/drawingml/2006/main">
            <a:pPr algn="ctr">
              <a:lnSpc>
                <a:spcPct val="100000"/>
              </a:lnSpc>
              <a:buNone/>
              <a:defRPr sz="1800" b="1" i="0">
                <a:solidFill>
                  <a:srgbClr val="FFFFFF"/>
                </a:solidFill>
                <a:latin typeface="Aptos"/>
                <a:ea typeface="Aptos"/>
                <a:cs typeface="Aptos"/>
              </a:defRPr>
            </a:pPr>
            <a:r>
              <a:rPr sz="1800" b="1" i="0">
                <a:solidFill>
                  <a:srgbClr val="FFFFFF"/>
                </a:solidFill>
                <a:latin typeface="Aptos"/>
                <a:ea typeface="Aptos"/>
                <a:cs typeface="Aptos"/>
              </a:rPr>
              <a:t>hidden dim = 128</a:t>
            </a:r>
          </a:p>
        </p:txBody>
      </p:sp>
      <p:sp>
        <p:nvSpPr>
          <p:cNvPr id="16" name="">
            <a:extLst xmlns:a="http://schemas.openxmlformats.org/drawingml/2006/main">
              <a:ext uri="{FF2B5EF4-FFF2-40B4-BE49-F238E27FC236}">
                <a16:creationId xmlns:a16="http://schemas.microsoft.com/office/drawing/2014/main" id="{C07B7727-3ECC-4982-B5FB-9ABE8AA3B5D4}"/>
              </a:ext>
            </a:extLst>
          </p:cNvPr>
          <p:cNvSpPr>
            <a:spLocks xmlns:a="http://schemas.openxmlformats.org/drawingml/2006/main" noGrp="1"/>
          </p:cNvSpPr>
          <p:nvPr/>
        </p:nvSpPr>
        <p:spPr>
          <a:xfrm xmlns:a="http://schemas.openxmlformats.org/drawingml/2006/main" rot="0">
            <a:off x="7219950" y="2971800"/>
            <a:ext cx="15621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i="0">
                <a:solidFill>
                  <a:srgbClr val="FFFFFF"/>
                </a:solidFill>
                <a:latin typeface="Aptos"/>
                <a:ea typeface="Aptos"/>
                <a:cs typeface="Aptos"/>
              </a:defRPr>
            </a:pPr>
            <a:r>
              <a:rPr sz="1725" b="1" i="0">
                <a:solidFill>
                  <a:srgbClr val="FFFFFF"/>
                </a:solidFill>
                <a:latin typeface="Aptos"/>
                <a:ea typeface="Aptos"/>
                <a:cs typeface="Aptos"/>
              </a:rPr>
              <a:t>MLP + softmax</a:t>
            </a:r>
          </a:p>
          <a:p xmlns:a="http://schemas.openxmlformats.org/drawingml/2006/main">
            <a:pPr algn="ctr">
              <a:lnSpc>
                <a:spcPct val="100000"/>
              </a:lnSpc>
              <a:buNone/>
              <a:defRPr sz="1725" b="1" i="0">
                <a:solidFill>
                  <a:srgbClr val="FFFFFF"/>
                </a:solidFill>
                <a:latin typeface="Aptos"/>
                <a:ea typeface="Aptos"/>
                <a:cs typeface="Aptos"/>
              </a:defRPr>
            </a:pPr>
            <a:r>
              <a:rPr sz="1725" b="1" i="0">
                <a:solidFill>
                  <a:srgbClr val="FFFFFF"/>
                </a:solidFill>
                <a:latin typeface="Aptos"/>
                <a:ea typeface="Aptos"/>
                <a:cs typeface="Aptos"/>
              </a:rPr>
              <a:t>~5,100 classes</a:t>
            </a:r>
          </a:p>
        </p:txBody>
      </p:sp>
      <p:cxnSp>
        <p:nvCxnSpPr>
          <p:cNvPr id="43" name=""/>
          <p:cNvCxnSpPr>
            <a:stCxn xmlns:a="http://schemas.openxmlformats.org/drawingml/2006/main" id="7" idx="3"/>
            <a:endCxn xmlns:a="http://schemas.openxmlformats.org/drawingml/2006/main" id="10" idx="1"/>
          </p:cNvCxnSpPr>
          <p:nvPr/>
        </p:nvCxnSpPr>
        <p:spPr>
          <a:xfrm xmlns:a="http://schemas.openxmlformats.org/drawingml/2006/main">
            <a:off x="2571750" y="2495550"/>
            <a:ext cx="1143000" cy="885825"/>
          </a:xfrm>
          <a:prstGeom xmlns:a="http://schemas.openxmlformats.org/drawingml/2006/main" prst="straightConnector1">
            <a:avLst/>
          </a:prstGeom>
          <a:ln xmlns:a="http://schemas.openxmlformats.org/drawingml/2006/main" w="38100">
            <a:solidFill>
              <a:srgbClr val="137B77"/>
            </a:solidFill>
            <a:prstDash val="solid"/>
            <a:headEnd type="none" w="med" len="med"/>
            <a:tailEnd type="triangle" w="sm" len="sm"/>
          </a:ln>
        </p:spPr>
      </p:cxnSp>
      <p:cxnSp>
        <p:nvCxnSpPr>
          <p:cNvPr id="44" name=""/>
          <p:cNvCxnSpPr>
            <a:stCxn xmlns:a="http://schemas.openxmlformats.org/drawingml/2006/main" id="8" idx="3"/>
            <a:endCxn xmlns:a="http://schemas.openxmlformats.org/drawingml/2006/main" id="10" idx="1"/>
          </p:cNvCxnSpPr>
          <p:nvPr/>
        </p:nvCxnSpPr>
        <p:spPr>
          <a:xfrm xmlns:a="http://schemas.openxmlformats.org/drawingml/2006/main" flipV="1">
            <a:off x="2571750" y="3381375"/>
            <a:ext cx="1143000" cy="504825"/>
          </a:xfrm>
          <a:prstGeom xmlns:a="http://schemas.openxmlformats.org/drawingml/2006/main" prst="straightConnector1">
            <a:avLst/>
          </a:prstGeom>
          <a:ln xmlns:a="http://schemas.openxmlformats.org/drawingml/2006/main" w="38100">
            <a:solidFill>
              <a:srgbClr val="F28C45"/>
            </a:solidFill>
            <a:prstDash val="solid"/>
            <a:headEnd type="none" w="med" len="med"/>
            <a:tailEnd type="triangle" w="sm" len="sm"/>
          </a:ln>
        </p:spPr>
      </p:cxnSp>
      <p:cxnSp>
        <p:nvCxnSpPr>
          <p:cNvPr id="45" name=""/>
          <p:cNvCxnSpPr>
            <a:stCxn xmlns:a="http://schemas.openxmlformats.org/drawingml/2006/main" id="10" idx="3"/>
            <a:endCxn xmlns:a="http://schemas.openxmlformats.org/drawingml/2006/main" id="11" idx="1"/>
          </p:cNvCxnSpPr>
          <p:nvPr/>
        </p:nvCxnSpPr>
        <p:spPr>
          <a:xfrm xmlns:a="http://schemas.openxmlformats.org/drawingml/2006/main">
            <a:off x="5810250" y="3381375"/>
            <a:ext cx="1143000" cy="0"/>
          </a:xfrm>
          <a:prstGeom xmlns:a="http://schemas.openxmlformats.org/drawingml/2006/main" prst="straightConnector1">
            <a:avLst/>
          </a:prstGeom>
          <a:ln xmlns:a="http://schemas.openxmlformats.org/drawingml/2006/main" w="38100">
            <a:solidFill>
              <a:srgbClr val="153B5B"/>
            </a:solidFill>
            <a:prstDash val="solid"/>
            <a:headEnd type="none" w="med" len="med"/>
            <a:tailEnd type="triangle" w="sm" len="sm"/>
          </a:ln>
        </p:spPr>
      </p:cxnSp>
      <p:cxnSp>
        <p:nvCxnSpPr>
          <p:cNvPr id="46" name=""/>
          <p:cNvCxnSpPr>
            <a:stCxn xmlns:a="http://schemas.openxmlformats.org/drawingml/2006/main" id="9" idx="3"/>
            <a:endCxn xmlns:a="http://schemas.openxmlformats.org/drawingml/2006/main" id="11" idx="2"/>
          </p:cNvCxnSpPr>
          <p:nvPr/>
        </p:nvCxnSpPr>
        <p:spPr>
          <a:xfrm xmlns:a="http://schemas.openxmlformats.org/drawingml/2006/main" flipV="1">
            <a:off x="2571750" y="4095750"/>
            <a:ext cx="5429250" cy="1085850"/>
          </a:xfrm>
          <a:prstGeom xmlns:a="http://schemas.openxmlformats.org/drawingml/2006/main" prst="bentConnector2">
            <a:avLst/>
          </a:prstGeom>
          <a:ln xmlns:a="http://schemas.openxmlformats.org/drawingml/2006/main" w="38100">
            <a:solidFill>
              <a:srgbClr val="5A6C79"/>
            </a:solidFill>
            <a:prstDash val="solid"/>
            <a:headEnd type="none" w="med" len="med"/>
            <a:tailEnd type="triangle" w="sm" len="sm"/>
          </a:ln>
        </p:spPr>
      </p:cxnSp>
      <p:sp>
        <p:nvSpPr>
          <p:cNvPr id="21" name="">
            <a:extLst xmlns:a="http://schemas.openxmlformats.org/drawingml/2006/main">
              <a:ext uri="{FF2B5EF4-FFF2-40B4-BE49-F238E27FC236}">
                <a16:creationId xmlns:a16="http://schemas.microsoft.com/office/drawing/2014/main" id="{27348902-33C3-444F-8761-52F9DD7621D3}"/>
              </a:ext>
            </a:extLst>
          </p:cNvPr>
          <p:cNvSpPr>
            <a:spLocks xmlns:a="http://schemas.openxmlformats.org/drawingml/2006/main" noGrp="1"/>
          </p:cNvSpPr>
          <p:nvPr/>
        </p:nvSpPr>
        <p:spPr>
          <a:xfrm xmlns:a="http://schemas.openxmlformats.org/drawingml/2006/main">
            <a:off x="9572625" y="1847850"/>
            <a:ext cx="1952625" cy="37147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CE4E9"/>
            </a:solidFill>
            <a:prstDash val="solid"/>
          </a:ln>
        </p:spPr>
      </p:sp>
      <p:sp>
        <p:nvSpPr>
          <p:cNvPr id="22" name="">
            <a:extLst xmlns:a="http://schemas.openxmlformats.org/drawingml/2006/main">
              <a:ext uri="{FF2B5EF4-FFF2-40B4-BE49-F238E27FC236}">
                <a16:creationId xmlns:a16="http://schemas.microsoft.com/office/drawing/2014/main" id="{ED29E42D-4DB3-4400-BD66-8A78D07006B5}"/>
              </a:ext>
            </a:extLst>
          </p:cNvPr>
          <p:cNvSpPr>
            <a:spLocks xmlns:a="http://schemas.openxmlformats.org/drawingml/2006/main" noGrp="1"/>
          </p:cNvSpPr>
          <p:nvPr/>
        </p:nvSpPr>
        <p:spPr>
          <a:xfrm xmlns:a="http://schemas.openxmlformats.org/drawingml/2006/main" rot="0">
            <a:off x="9782175" y="2057400"/>
            <a:ext cx="1543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i="0">
                <a:solidFill>
                  <a:srgbClr val="F28C45"/>
                </a:solidFill>
                <a:latin typeface="Aptos"/>
                <a:ea typeface="Aptos"/>
                <a:cs typeface="Aptos"/>
              </a:defRPr>
            </a:pPr>
            <a:r>
              <a:rPr sz="1200" b="1" i="0">
                <a:solidFill>
                  <a:srgbClr val="F28C45"/>
                </a:solidFill>
                <a:latin typeface="Aptos"/>
                <a:ea typeface="Aptos"/>
                <a:cs typeface="Aptos"/>
              </a:rPr>
              <a:t>IMPLEMENTED SETTINGS</a:t>
            </a:r>
          </a:p>
        </p:txBody>
      </p:sp>
      <p:sp>
        <p:nvSpPr>
          <p:cNvPr id="23" name="">
            <a:extLst xmlns:a="http://schemas.openxmlformats.org/drawingml/2006/main">
              <a:ext uri="{FF2B5EF4-FFF2-40B4-BE49-F238E27FC236}">
                <a16:creationId xmlns:a16="http://schemas.microsoft.com/office/drawing/2014/main" id="{C9FF91C3-1E92-4870-901E-F3BC508175F3}"/>
              </a:ext>
            </a:extLst>
          </p:cNvPr>
          <p:cNvSpPr>
            <a:spLocks xmlns:a="http://schemas.openxmlformats.org/drawingml/2006/main" noGrp="1"/>
          </p:cNvSpPr>
          <p:nvPr/>
        </p:nvSpPr>
        <p:spPr>
          <a:xfrm xmlns:a="http://schemas.openxmlformats.org/drawingml/2006/main" rot="0">
            <a:off x="9829800" y="2590800"/>
            <a:ext cx="1447800" cy="2743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Graph</a:t>
            </a:r>
          </a:p>
          <a:p xmlns:a="http://schemas.openxmlformats.org/drawingml/2006/main">
            <a:pPr algn="ctr">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co-visits &gt;= 3</a:t>
            </a:r>
          </a:p>
          <a:p xmlns:a="http://schemas.openxmlformats.org/drawingml/2006/main">
            <a:pPr algn="ctr">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+ 10 nearest POIs</a:t>
            </a:r>
          </a:p>
          <a:p xmlns:a="http://schemas.openxmlformats.org/drawingml/2006/main">
            <a:r>
              <a:t/>
            </a:r>
          </a:p>
          <a:p xmlns:a="http://schemas.openxmlformats.org/drawingml/2006/main">
            <a:pPr algn="ctr">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Context bounds</a:t>
            </a:r>
          </a:p>
          <a:p xmlns:a="http://schemas.openxmlformats.org/drawingml/2006/main">
            <a:pPr algn="ctr">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Δd: 0-100 km</a:t>
            </a:r>
          </a:p>
          <a:p xmlns:a="http://schemas.openxmlformats.org/drawingml/2006/main">
            <a:pPr algn="ctr">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Δt: 0-24 h</a:t>
            </a:r>
          </a:p>
          <a:p xmlns:a="http://schemas.openxmlformats.org/drawingml/2006/main">
            <a:r>
              <a:t/>
            </a:r>
          </a:p>
          <a:p xmlns:a="http://schemas.openxmlformats.org/drawingml/2006/main">
            <a:pPr algn="ctr">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Training</a:t>
            </a:r>
          </a:p>
          <a:p xmlns:a="http://schemas.openxmlformats.org/drawingml/2006/main">
            <a:pPr algn="ctr">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cross-entropy</a:t>
            </a:r>
          </a:p>
          <a:p xmlns:a="http://schemas.openxmlformats.org/drawingml/2006/main">
            <a:pPr algn="ctr">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Adam · clipping · dropout</a:t>
            </a:r>
          </a:p>
          <a:p xmlns:a="http://schemas.openxmlformats.org/drawingml/2006/main">
            <a:pPr algn="ctr">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early stop on HR@10</a:t>
            </a:r>
          </a:p>
        </p:txBody>
      </p:sp>
      <p:sp>
        <p:nvSpPr>
          <p:cNvPr id="24" name="">
            <a:extLst xmlns:a="http://schemas.openxmlformats.org/drawingml/2006/main">
              <a:ext uri="{FF2B5EF4-FFF2-40B4-BE49-F238E27FC236}">
                <a16:creationId xmlns:a16="http://schemas.microsoft.com/office/drawing/2014/main" id="{265A170A-A306-4942-AF40-21474102FC9A}"/>
              </a:ext>
            </a:extLst>
          </p:cNvPr>
          <p:cNvSpPr>
            <a:spLocks xmlns:a="http://schemas.openxmlformats.org/drawingml/2006/main" noGrp="1"/>
          </p:cNvSpPr>
          <p:nvPr/>
        </p:nvSpPr>
        <p:spPr>
          <a:xfrm xmlns:a="http://schemas.openxmlformats.org/drawingml/2006/main">
            <a:off x="3238500" y="4857750"/>
            <a:ext cx="5905500" cy="723900"/>
          </a:xfrm>
          <a:prstGeom xmlns:a="http://schemas.openxmlformats.org/drawingml/2006/main" prst="roundRect">
            <a:avLst>
              <a:gd name="adj" fmla="val 23684"/>
            </a:avLst>
          </a:prstGeom>
          <a:solidFill xmlns:a="http://schemas.openxmlformats.org/drawingml/2006/main">
            <a:srgbClr val="0B1F33"/>
          </a:solidFill>
          <a:ln xmlns:a="http://schemas.openxmlformats.org/drawingml/2006/main" w="9525">
            <a:solidFill>
              <a:srgbClr val="0B1F33"/>
            </a:solidFill>
            <a:prstDash val="solid"/>
          </a:ln>
        </p:spPr>
      </p:sp>
      <p:sp>
        <p:nvSpPr>
          <p:cNvPr id="25" name="">
            <a:extLst xmlns:a="http://schemas.openxmlformats.org/drawingml/2006/main">
              <a:ext uri="{FF2B5EF4-FFF2-40B4-BE49-F238E27FC236}">
                <a16:creationId xmlns:a16="http://schemas.microsoft.com/office/drawing/2014/main" id="{7D0FE7CF-E8F6-43F7-947A-9AEA9D5E2F68}"/>
              </a:ext>
            </a:extLst>
          </p:cNvPr>
          <p:cNvSpPr>
            <a:spLocks xmlns:a="http://schemas.openxmlformats.org/drawingml/2006/main" noGrp="1"/>
          </p:cNvSpPr>
          <p:nvPr/>
        </p:nvSpPr>
        <p:spPr>
          <a:xfrm xmlns:a="http://schemas.openxmlformats.org/drawingml/2006/main" rot="0">
            <a:off x="3505200" y="5010150"/>
            <a:ext cx="5372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FFFFFF"/>
                </a:solidFill>
                <a:latin typeface="Aptos"/>
                <a:ea typeface="Aptos"/>
                <a:cs typeface="Aptos"/>
              </a:defRPr>
            </a:pPr>
            <a:r>
              <a:rPr sz="1350" b="1" i="0">
                <a:solidFill>
                  <a:srgbClr val="FFFFFF"/>
                </a:solidFill>
                <a:latin typeface="Aptos"/>
                <a:ea typeface="Aptos"/>
                <a:cs typeface="Aptos"/>
              </a:rPr>
              <a:t>Training-only co-visitation edges prevent validation and test leakage.</a:t>
            </a:r>
          </a:p>
        </p:txBody>
      </p:sp>
      <p:sp>
        <p:nvSpPr>
          <p:cNvPr id="26" name="">
            <a:extLst xmlns:a="http://schemas.openxmlformats.org/drawingml/2006/main">
              <a:ext uri="{FF2B5EF4-FFF2-40B4-BE49-F238E27FC236}">
                <a16:creationId xmlns:a16="http://schemas.microsoft.com/office/drawing/2014/main" id="{BAF7CEDD-B3FD-422B-84D0-2EB9F642C647}"/>
              </a:ext>
            </a:extLst>
          </p:cNvPr>
          <p:cNvSpPr>
            <a:spLocks xmlns:a="http://schemas.openxmlformats.org/drawingml/2006/main" noGrp="1"/>
          </p:cNvSpPr>
          <p:nvPr/>
        </p:nvSpPr>
        <p:spPr>
          <a:xfrm xmlns:a="http://schemas.openxmlformats.org/drawingml/2006/main" rot="0">
            <a:off x="609600" y="6210300"/>
            <a:ext cx="10668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50" b="0" i="1">
                <a:solidFill>
                  <a:srgbClr val="5A6C79"/>
                </a:solidFill>
                <a:latin typeface="Aptos"/>
                <a:ea typeface="Aptos"/>
                <a:cs typeface="Aptos"/>
              </a:defRPr>
            </a:pPr>
            <a:r>
              <a:rPr sz="750" b="0" i="1">
                <a:solidFill>
                  <a:srgbClr val="5A6C79"/>
                </a:solidFill>
                <a:latin typeface="Aptos"/>
                <a:ea typeface="Aptos"/>
                <a:cs typeface="Aptos"/>
              </a:rPr>
              <a:t>Source: Thesis Sections 3.3-3.4. Co-visitation edges are computed from training data only.</a:t>
            </a:r>
          </a:p>
        </p:txBody>
      </p:sp>
    </p:spTree>
    <p:extLst>
      <p:ext uri="{BB962C8B-B14F-4D97-AF65-F5344CB8AC3E}">
        <p14:creationId xmlns:p14="http://schemas.microsoft.com/office/powerpoint/2010/main" val="187516267"/>
      </p:ext>
    </p:extLst>
  </p:cSld>
</p:sld>
</file>

<file path=ppt/slides/slide1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1" name="eyebrow">
            <a:extLst xmlns:a="http://schemas.openxmlformats.org/drawingml/2006/main">
              <a:ext uri="{FF2B5EF4-FFF2-40B4-BE49-F238E27FC236}">
                <a16:creationId xmlns:a16="http://schemas.microsoft.com/office/drawing/2014/main" id="{356F766F-8DE4-4502-B7DA-F5118DBB71B5}"/>
              </a:ext>
            </a:extLst>
          </p:cNvPr>
          <p:cNvSpPr>
            <a:spLocks xmlns:a="http://schemas.openxmlformats.org/drawingml/2006/main" noGrp="1"/>
          </p:cNvSpPr>
          <p:nvPr/>
        </p:nvSpPr>
        <p:spPr>
          <a:xfrm xmlns:a="http://schemas.openxmlformats.org/drawingml/2006/main" rot="0">
            <a:off x="6096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i="0">
                <a:solidFill>
                  <a:srgbClr val="F28C45"/>
                </a:solidFill>
                <a:latin typeface="Aptos"/>
                <a:ea typeface="Aptos"/>
                <a:cs typeface="Aptos"/>
              </a:defRPr>
            </a:pPr>
            <a:r>
              <a:rPr sz="975" b="1" i="0">
                <a:solidFill>
                  <a:srgbClr val="F28C45"/>
                </a:solidFill>
                <a:latin typeface="Aptos"/>
                <a:ea typeface="Aptos"/>
                <a:cs typeface="Aptos"/>
              </a:rPr>
              <a:t>BACKUP</a:t>
            </a:r>
          </a:p>
        </p:txBody>
      </p:sp>
      <p:sp>
        <p:nvSpPr>
          <p:cNvPr id="2" name="slide-title">
            <a:extLst xmlns:a="http://schemas.openxmlformats.org/drawingml/2006/main">
              <a:ext uri="{FF2B5EF4-FFF2-40B4-BE49-F238E27FC236}">
                <a16:creationId xmlns:a16="http://schemas.microsoft.com/office/drawing/2014/main" id="{25ADEA79-AFDE-4145-A1F6-E0B03681DAD1}"/>
              </a:ext>
            </a:extLst>
          </p:cNvPr>
          <p:cNvSpPr>
            <a:spLocks xmlns:a="http://schemas.openxmlformats.org/drawingml/2006/main" noGrp="1"/>
          </p:cNvSpPr>
          <p:nvPr/>
        </p:nvSpPr>
        <p:spPr>
          <a:xfrm xmlns:a="http://schemas.openxmlformats.org/drawingml/2006/main" rot="0">
            <a:off x="609600" y="5905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850" b="1" i="0">
                <a:solidFill>
                  <a:srgbClr val="0B1F33"/>
                </a:solidFill>
                <a:latin typeface="Aptos"/>
                <a:ea typeface="Aptos"/>
                <a:cs typeface="Aptos"/>
              </a:defRPr>
            </a:pPr>
            <a:r>
              <a:rPr sz="2850" b="1" i="0">
                <a:solidFill>
                  <a:srgbClr val="0B1F33"/>
                </a:solidFill>
                <a:latin typeface="Aptos"/>
                <a:ea typeface="Aptos"/>
                <a:cs typeface="Aptos"/>
              </a:rPr>
              <a:t>Why the Trained Pointer loses - limitations and next steps</a:t>
            </a:r>
          </a:p>
        </p:txBody>
      </p:sp>
      <p:sp>
        <p:nvSpPr>
          <p:cNvPr id="3" name="title-accent">
            <a:extLst xmlns:a="http://schemas.openxmlformats.org/drawingml/2006/main">
              <a:ext uri="{FF2B5EF4-FFF2-40B4-BE49-F238E27FC236}">
                <a16:creationId xmlns:a16="http://schemas.microsoft.com/office/drawing/2014/main" id="{139A3A01-5A5B-44C5-B332-ED36DE569370}"/>
              </a:ext>
            </a:extLst>
          </p:cNvPr>
          <p:cNvSpPr>
            <a:spLocks xmlns:a="http://schemas.openxmlformats.org/drawingml/2006/main" noGrp="1"/>
          </p:cNvSpPr>
          <p:nvPr/>
        </p:nvSpPr>
        <p:spPr>
          <a:xfrm xmlns:a="http://schemas.openxmlformats.org/drawingml/2006/main">
            <a:off x="609600" y="1219200"/>
            <a:ext cx="876300" cy="47625"/>
          </a:xfrm>
          <a:prstGeom xmlns:a="http://schemas.openxmlformats.org/drawingml/2006/main" prst="rect">
            <a:avLst/>
          </a:prstGeom>
          <a:solidFill xmlns:a="http://schemas.openxmlformats.org/drawingml/2006/main">
            <a:srgbClr val="F28C4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72285E1-CADA-456E-8A83-19D41DD0918E}"/>
              </a:ext>
            </a:extLst>
          </p:cNvPr>
          <p:cNvSpPr>
            <a:spLocks xmlns:a="http://schemas.openxmlformats.org/drawingml/2006/main" noGrp="1"/>
          </p:cNvSpPr>
          <p:nvPr/>
        </p:nvSpPr>
        <p:spPr>
          <a:xfrm xmlns:a="http://schemas.openxmlformats.org/drawingml/2006/main" flipV="0">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4E9"/>
            </a:solidFill>
            <a:prstDash val="solid"/>
          </a:ln>
        </p:spPr>
      </p:sp>
      <p:sp>
        <p:nvSpPr>
          <p:cNvPr id="5" name="">
            <a:extLst xmlns:a="http://schemas.openxmlformats.org/drawingml/2006/main">
              <a:ext uri="{FF2B5EF4-FFF2-40B4-BE49-F238E27FC236}">
                <a16:creationId xmlns:a16="http://schemas.microsoft.com/office/drawing/2014/main" id="{661808BB-E305-4B62-880F-AB465D2D8283}"/>
              </a:ext>
            </a:extLst>
          </p:cNvPr>
          <p:cNvSpPr>
            <a:spLocks xmlns:a="http://schemas.openxmlformats.org/drawingml/2006/main" noGrp="1"/>
          </p:cNvSpPr>
          <p:nvPr/>
        </p:nvSpPr>
        <p:spPr>
          <a:xfrm xmlns:a="http://schemas.openxmlformats.org/drawingml/2006/main" rot="0">
            <a:off x="609600" y="6553200"/>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Ayman Naaimi · ENSAM Meknes</a:t>
            </a:r>
          </a:p>
        </p:txBody>
      </p:sp>
      <p:sp>
        <p:nvSpPr>
          <p:cNvPr id="6" name="">
            <a:extLst xmlns:a="http://schemas.openxmlformats.org/drawingml/2006/main">
              <a:ext uri="{FF2B5EF4-FFF2-40B4-BE49-F238E27FC236}">
                <a16:creationId xmlns:a16="http://schemas.microsoft.com/office/drawing/2014/main" id="{741CABA1-D9E6-4622-B5E5-D2F6CBE7CD72}"/>
              </a:ext>
            </a:extLst>
          </p:cNvPr>
          <p:cNvSpPr>
            <a:spLocks xmlns:a="http://schemas.openxmlformats.org/drawingml/2006/main" noGrp="1"/>
          </p:cNvSpPr>
          <p:nvPr/>
        </p:nvSpPr>
        <p:spPr>
          <a:xfrm xmlns:a="http://schemas.openxmlformats.org/drawingml/2006/main" rot="0">
            <a:off x="10572750" y="6553200"/>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825" b="0" i="0">
                <a:solidFill>
                  <a:srgbClr val="5A6C79"/>
                </a:solidFill>
                <a:latin typeface="Aptos"/>
                <a:ea typeface="Aptos"/>
                <a:cs typeface="Aptos"/>
              </a:defRPr>
            </a:pPr>
            <a:r>
              <a:rPr sz="825" b="0" i="0">
                <a:solidFill>
                  <a:srgbClr val="5A6C79"/>
                </a:solidFill>
                <a:latin typeface="Aptos"/>
                <a:ea typeface="Aptos"/>
                <a:cs typeface="Aptos"/>
              </a:rPr>
              <a:t>Backup 4</a:t>
            </a:r>
          </a:p>
        </p:txBody>
      </p:sp>
      <p:sp>
        <p:nvSpPr>
          <p:cNvPr id="7" name="">
            <a:extLst xmlns:a="http://schemas.openxmlformats.org/drawingml/2006/main">
              <a:ext uri="{FF2B5EF4-FFF2-40B4-BE49-F238E27FC236}">
                <a16:creationId xmlns:a16="http://schemas.microsoft.com/office/drawing/2014/main" id="{77D036F7-7039-4176-A26E-2B699D509D96}"/>
              </a:ext>
            </a:extLst>
          </p:cNvPr>
          <p:cNvSpPr>
            <a:spLocks xmlns:a="http://schemas.openxmlformats.org/drawingml/2006/main" noGrp="1"/>
          </p:cNvSpPr>
          <p:nvPr/>
        </p:nvSpPr>
        <p:spPr>
          <a:xfrm xmlns:a="http://schemas.openxmlformats.org/drawingml/2006/main" rot="0">
            <a:off x="666750" y="15621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i="0">
                <a:solidFill>
                  <a:srgbClr val="137B77"/>
                </a:solidFill>
                <a:latin typeface="Aptos"/>
                <a:ea typeface="Aptos"/>
                <a:cs typeface="Aptos"/>
              </a:defRPr>
            </a:pPr>
            <a:r>
              <a:rPr sz="1350" b="1" i="0">
                <a:solidFill>
                  <a:srgbClr val="137B77"/>
                </a:solidFill>
                <a:latin typeface="Aptos"/>
                <a:ea typeface="Aptos"/>
                <a:cs typeface="Aptos"/>
              </a:rPr>
              <a:t>TRAINING CONTROLS</a:t>
            </a:r>
          </a:p>
        </p:txBody>
      </p:sp>
      <p:sp>
        <p:nvSpPr>
          <p:cNvPr id="8" name="">
            <a:extLst xmlns:a="http://schemas.openxmlformats.org/drawingml/2006/main">
              <a:ext uri="{FF2B5EF4-FFF2-40B4-BE49-F238E27FC236}">
                <a16:creationId xmlns:a16="http://schemas.microsoft.com/office/drawing/2014/main" id="{CC8F5976-CDCD-448C-8384-545D75952DEF}"/>
              </a:ext>
            </a:extLst>
          </p:cNvPr>
          <p:cNvSpPr>
            <a:spLocks xmlns:a="http://schemas.openxmlformats.org/drawingml/2006/main" noGrp="1"/>
          </p:cNvSpPr>
          <p:nvPr/>
        </p:nvSpPr>
        <p:spPr>
          <a:xfrm xmlns:a="http://schemas.openxmlformats.org/drawingml/2006/main">
            <a:off x="666750" y="1962150"/>
            <a:ext cx="3333750" cy="3352800"/>
          </a:xfrm>
          <a:prstGeom xmlns:a="http://schemas.openxmlformats.org/drawingml/2006/main" prst="roundRect">
            <a:avLst>
              <a:gd name="adj" fmla="val 6286"/>
            </a:avLst>
          </a:prstGeom>
          <a:solidFill xmlns:a="http://schemas.openxmlformats.org/drawingml/2006/main">
            <a:srgbClr val="DDF3F1"/>
          </a:solidFill>
          <a:ln xmlns:a="http://schemas.openxmlformats.org/drawingml/2006/main" w="9525">
            <a:solidFill>
              <a:srgbClr val="A8D7D2"/>
            </a:solidFill>
            <a:prstDash val="solid"/>
          </a:ln>
        </p:spPr>
      </p:sp>
      <p:sp>
        <p:nvSpPr>
          <p:cNvPr id="9" name="">
            <a:extLst xmlns:a="http://schemas.openxmlformats.org/drawingml/2006/main">
              <a:ext uri="{FF2B5EF4-FFF2-40B4-BE49-F238E27FC236}">
                <a16:creationId xmlns:a16="http://schemas.microsoft.com/office/drawing/2014/main" id="{FAE056AC-DAF4-4487-AAF5-16B786F5F8DE}"/>
              </a:ext>
            </a:extLst>
          </p:cNvPr>
          <p:cNvSpPr>
            <a:spLocks xmlns:a="http://schemas.openxmlformats.org/drawingml/2006/main" noGrp="1"/>
          </p:cNvSpPr>
          <p:nvPr/>
        </p:nvSpPr>
        <p:spPr>
          <a:xfrm xmlns:a="http://schemas.openxmlformats.org/drawingml/2006/main" rot="0">
            <a:off x="933450" y="2228850"/>
            <a:ext cx="2800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925" b="1" i="0">
                <a:solidFill>
                  <a:srgbClr val="0B1F33"/>
                </a:solidFill>
                <a:latin typeface="Aptos"/>
                <a:ea typeface="Aptos"/>
                <a:cs typeface="Aptos"/>
              </a:defRPr>
            </a:pPr>
            <a:r>
              <a:rPr sz="2925" b="1" i="0">
                <a:solidFill>
                  <a:srgbClr val="0B1F33"/>
                </a:solidFill>
                <a:latin typeface="Aptos"/>
                <a:ea typeface="Aptos"/>
                <a:cs typeface="Aptos"/>
              </a:rPr>
              <a:t>0.259 → 0.261</a:t>
            </a:r>
          </a:p>
        </p:txBody>
      </p:sp>
      <p:sp>
        <p:nvSpPr>
          <p:cNvPr id="10" name="">
            <a:extLst xmlns:a="http://schemas.openxmlformats.org/drawingml/2006/main">
              <a:ext uri="{FF2B5EF4-FFF2-40B4-BE49-F238E27FC236}">
                <a16:creationId xmlns:a16="http://schemas.microsoft.com/office/drawing/2014/main" id="{569A9D00-90B5-40AD-BACB-F9D23205D062}"/>
              </a:ext>
            </a:extLst>
          </p:cNvPr>
          <p:cNvSpPr>
            <a:spLocks xmlns:a="http://schemas.openxmlformats.org/drawingml/2006/main" noGrp="1"/>
          </p:cNvSpPr>
          <p:nvPr/>
        </p:nvSpPr>
        <p:spPr>
          <a:xfrm xmlns:a="http://schemas.openxmlformats.org/drawingml/2006/main" rot="0">
            <a:off x="933450" y="283845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37B77"/>
                </a:solidFill>
                <a:latin typeface="Aptos"/>
                <a:ea typeface="Aptos"/>
                <a:cs typeface="Aptos"/>
              </a:defRPr>
            </a:pPr>
            <a:r>
              <a:rPr sz="1350" b="1" i="0">
                <a:solidFill>
                  <a:srgbClr val="137B77"/>
                </a:solidFill>
                <a:latin typeface="Aptos"/>
                <a:ea typeface="Aptos"/>
                <a:cs typeface="Aptos"/>
              </a:rPr>
              <a:t>Adding context recovers only +0.002</a:t>
            </a:r>
          </a:p>
        </p:txBody>
      </p:sp>
      <p:sp>
        <p:nvSpPr>
          <p:cNvPr id="11" name="">
            <a:extLst xmlns:a="http://schemas.openxmlformats.org/drawingml/2006/main">
              <a:ext uri="{FF2B5EF4-FFF2-40B4-BE49-F238E27FC236}">
                <a16:creationId xmlns:a16="http://schemas.microsoft.com/office/drawing/2014/main" id="{568EA678-0ECA-4B66-AFA0-946DFA7F6BC2}"/>
              </a:ext>
            </a:extLst>
          </p:cNvPr>
          <p:cNvSpPr>
            <a:spLocks xmlns:a="http://schemas.openxmlformats.org/drawingml/2006/main" noGrp="1"/>
          </p:cNvSpPr>
          <p:nvPr/>
        </p:nvSpPr>
        <p:spPr>
          <a:xfrm xmlns:a="http://schemas.openxmlformats.org/drawingml/2006/main" rot="0">
            <a:off x="990600" y="3371850"/>
            <a:ext cx="26860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771"/>
          </a:bodyPr>
          <a:lstStyle xmlns:a="http://schemas.openxmlformats.org/drawingml/2006/main"/>
          <a:p xmlns:a="http://schemas.openxmlformats.org/drawingml/2006/main">
            <a:pPr algn="l">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 validation pairs-F1 reaches a real peak</a:t>
            </a:r>
          </a:p>
          <a:p xmlns:a="http://schemas.openxmlformats.org/drawingml/2006/main">
            <a:pPr algn="l">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 early stopping applied</a:t>
            </a:r>
          </a:p>
          <a:p xmlns:a="http://schemas.openxmlformats.org/drawingml/2006/main">
            <a:pPr algn="l">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 context-aware variant tested</a:t>
            </a:r>
          </a:p>
          <a:p xmlns:a="http://schemas.openxmlformats.org/drawingml/2006/main">
            <a:pPr algn="l">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 Trained Pointer also trails Markov on the Flickr Benchmark</a:t>
            </a:r>
          </a:p>
          <a:p xmlns:a="http://schemas.openxmlformats.org/drawingml/2006/main">
            <a:r>
              <a:t/>
            </a:r>
          </a:p>
          <a:p xmlns:a="http://schemas.openxmlformats.org/drawingml/2006/main">
            <a:pPr algn="l">
              <a:lnSpc>
                <a:spcPct val="100000"/>
              </a:lnSpc>
              <a:buNone/>
              <a:defRPr sz="1275" b="0" i="0">
                <a:solidFill>
                  <a:srgbClr val="142632"/>
                </a:solidFill>
                <a:latin typeface="Aptos"/>
                <a:ea typeface="Aptos"/>
                <a:cs typeface="Aptos"/>
              </a:defRPr>
            </a:pPr>
            <a:r>
              <a:rPr sz="1275" b="0" i="0">
                <a:solidFill>
                  <a:srgbClr val="142632"/>
                </a:solidFill>
                <a:latin typeface="Aptos"/>
                <a:ea typeface="Aptos"/>
                <a:cs typeface="Aptos"/>
              </a:rPr>
              <a:t>Conclusion: a genuine negative result for this tested setup, not a universal claim about all itinerary models.</a:t>
            </a:r>
          </a:p>
        </p:txBody>
      </p:sp>
      <p:sp>
        <p:nvSpPr>
          <p:cNvPr id="12" name="">
            <a:extLst xmlns:a="http://schemas.openxmlformats.org/drawingml/2006/main">
              <a:ext uri="{FF2B5EF4-FFF2-40B4-BE49-F238E27FC236}">
                <a16:creationId xmlns:a16="http://schemas.microsoft.com/office/drawing/2014/main" id="{DFBCC2C7-C353-47EB-B114-B5B7521C29D5}"/>
              </a:ext>
            </a:extLst>
          </p:cNvPr>
          <p:cNvSpPr>
            <a:spLocks xmlns:a="http://schemas.openxmlformats.org/drawingml/2006/main" noGrp="1"/>
          </p:cNvSpPr>
          <p:nvPr/>
        </p:nvSpPr>
        <p:spPr>
          <a:xfrm xmlns:a="http://schemas.openxmlformats.org/drawingml/2006/main" rot="0">
            <a:off x="4400550" y="15621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i="0">
                <a:solidFill>
                  <a:srgbClr val="F28C45"/>
                </a:solidFill>
                <a:latin typeface="Aptos"/>
                <a:ea typeface="Aptos"/>
                <a:cs typeface="Aptos"/>
              </a:defRPr>
            </a:pPr>
            <a:r>
              <a:rPr sz="1350" b="1" i="0">
                <a:solidFill>
                  <a:srgbClr val="F28C45"/>
                </a:solidFill>
                <a:latin typeface="Aptos"/>
                <a:ea typeface="Aptos"/>
                <a:cs typeface="Aptos"/>
              </a:rPr>
              <a:t>MAIN LIMITATIONS</a:t>
            </a:r>
          </a:p>
        </p:txBody>
      </p:sp>
      <p:sp>
        <p:nvSpPr>
          <p:cNvPr id="13" name="">
            <a:extLst xmlns:a="http://schemas.openxmlformats.org/drawingml/2006/main">
              <a:ext uri="{FF2B5EF4-FFF2-40B4-BE49-F238E27FC236}">
                <a16:creationId xmlns:a16="http://schemas.microsoft.com/office/drawing/2014/main" id="{0E064F1C-2A0F-4204-A3A9-579CFCB2F012}"/>
              </a:ext>
            </a:extLst>
          </p:cNvPr>
          <p:cNvSpPr>
            <a:spLocks xmlns:a="http://schemas.openxmlformats.org/drawingml/2006/main" noGrp="1"/>
          </p:cNvSpPr>
          <p:nvPr/>
        </p:nvSpPr>
        <p:spPr>
          <a:xfrm xmlns:a="http://schemas.openxmlformats.org/drawingml/2006/main">
            <a:off x="4400550" y="1962150"/>
            <a:ext cx="3333750" cy="3352800"/>
          </a:xfrm>
          <a:prstGeom xmlns:a="http://schemas.openxmlformats.org/drawingml/2006/main" prst="roundRect">
            <a:avLst>
              <a:gd name="adj" fmla="val 6286"/>
            </a:avLst>
          </a:prstGeom>
          <a:solidFill xmlns:a="http://schemas.openxmlformats.org/drawingml/2006/main">
            <a:srgbClr val="FCE8D9"/>
          </a:solidFill>
          <a:ln xmlns:a="http://schemas.openxmlformats.org/drawingml/2006/main" w="9525">
            <a:solidFill>
              <a:srgbClr val="F3C49D"/>
            </a:solidFill>
            <a:prstDash val="solid"/>
          </a:ln>
        </p:spPr>
      </p:sp>
      <p:sp>
        <p:nvSpPr>
          <p:cNvPr id="14" name="">
            <a:extLst xmlns:a="http://schemas.openxmlformats.org/drawingml/2006/main">
              <a:ext uri="{FF2B5EF4-FFF2-40B4-BE49-F238E27FC236}">
                <a16:creationId xmlns:a16="http://schemas.microsoft.com/office/drawing/2014/main" id="{265AB9A2-D111-44B4-867B-082D833AB8C2}"/>
              </a:ext>
            </a:extLst>
          </p:cNvPr>
          <p:cNvSpPr>
            <a:spLocks xmlns:a="http://schemas.openxmlformats.org/drawingml/2006/main" noGrp="1"/>
          </p:cNvSpPr>
          <p:nvPr/>
        </p:nvSpPr>
        <p:spPr>
          <a:xfrm xmlns:a="http://schemas.openxmlformats.org/drawingml/2006/main" rot="0">
            <a:off x="4762500" y="2305050"/>
            <a:ext cx="2609850"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 below neural / LLM SOTA</a:t>
            </a:r>
          </a:p>
          <a:p xmlns:a="http://schemas.openxmlformats.org/drawingml/2006/main">
            <a:pPr algn="l">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 scorer remains locally myopic</a:t>
            </a:r>
          </a:p>
          <a:p xmlns:a="http://schemas.openxmlformats.org/drawingml/2006/main">
            <a:pPr algn="l">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 context only uses Δd and Δt</a:t>
            </a:r>
          </a:p>
          <a:p xmlns:a="http://schemas.openxmlformats.org/drawingml/2006/main">
            <a:pPr algn="l">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 decode-time Δt is assumed</a:t>
            </a:r>
          </a:p>
          <a:p xmlns:a="http://schemas.openxmlformats.org/drawingml/2006/main">
            <a:pPr algn="l">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 no opening hours or time windows</a:t>
            </a:r>
          </a:p>
          <a:p xmlns:a="http://schemas.openxmlformats.org/drawingml/2006/main">
            <a:pPr algn="l">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 one next-POI city</a:t>
            </a:r>
          </a:p>
          <a:p xmlns:a="http://schemas.openxmlformats.org/drawingml/2006/main">
            <a:pPr algn="l">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 offline evaluation only</a:t>
            </a:r>
          </a:p>
          <a:p xmlns:a="http://schemas.openxmlformats.org/drawingml/2006/main">
            <a:pPr algn="l">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 no deployment or user study</a:t>
            </a:r>
          </a:p>
        </p:txBody>
      </p:sp>
      <p:sp>
        <p:nvSpPr>
          <p:cNvPr id="15" name="">
            <a:extLst xmlns:a="http://schemas.openxmlformats.org/drawingml/2006/main">
              <a:ext uri="{FF2B5EF4-FFF2-40B4-BE49-F238E27FC236}">
                <a16:creationId xmlns:a16="http://schemas.microsoft.com/office/drawing/2014/main" id="{78B60024-EFA1-4CCD-9302-A9844A495B4B}"/>
              </a:ext>
            </a:extLst>
          </p:cNvPr>
          <p:cNvSpPr>
            <a:spLocks xmlns:a="http://schemas.openxmlformats.org/drawingml/2006/main" noGrp="1"/>
          </p:cNvSpPr>
          <p:nvPr/>
        </p:nvSpPr>
        <p:spPr>
          <a:xfrm xmlns:a="http://schemas.openxmlformats.org/drawingml/2006/main" rot="0">
            <a:off x="8115300" y="15621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i="0">
                <a:solidFill>
                  <a:srgbClr val="0B1F33"/>
                </a:solidFill>
                <a:latin typeface="Aptos"/>
                <a:ea typeface="Aptos"/>
                <a:cs typeface="Aptos"/>
              </a:defRPr>
            </a:pPr>
            <a:r>
              <a:rPr sz="1350" b="1" i="0">
                <a:solidFill>
                  <a:srgbClr val="0B1F33"/>
                </a:solidFill>
                <a:latin typeface="Aptos"/>
                <a:ea typeface="Aptos"/>
                <a:cs typeface="Aptos"/>
              </a:rPr>
              <a:t>NEXT STEPS</a:t>
            </a:r>
          </a:p>
        </p:txBody>
      </p:sp>
      <p:sp>
        <p:nvSpPr>
          <p:cNvPr id="16" name="">
            <a:extLst xmlns:a="http://schemas.openxmlformats.org/drawingml/2006/main">
              <a:ext uri="{FF2B5EF4-FFF2-40B4-BE49-F238E27FC236}">
                <a16:creationId xmlns:a16="http://schemas.microsoft.com/office/drawing/2014/main" id="{76C9243C-0863-4F52-8280-778B4D46E7F7}"/>
              </a:ext>
            </a:extLst>
          </p:cNvPr>
          <p:cNvSpPr>
            <a:spLocks xmlns:a="http://schemas.openxmlformats.org/drawingml/2006/main" noGrp="1"/>
          </p:cNvSpPr>
          <p:nvPr/>
        </p:nvSpPr>
        <p:spPr>
          <a:xfrm xmlns:a="http://schemas.openxmlformats.org/drawingml/2006/main">
            <a:off x="8115300" y="1962150"/>
            <a:ext cx="3409950" cy="3352800"/>
          </a:xfrm>
          <a:prstGeom xmlns:a="http://schemas.openxmlformats.org/drawingml/2006/main" prst="roundRect">
            <a:avLst>
              <a:gd name="adj" fmla="val 6250"/>
            </a:avLst>
          </a:prstGeom>
          <a:solidFill xmlns:a="http://schemas.openxmlformats.org/drawingml/2006/main">
            <a:srgbClr val="EDF2F5"/>
          </a:solidFill>
          <a:ln xmlns:a="http://schemas.openxmlformats.org/drawingml/2006/main" w="9525">
            <a:solidFill>
              <a:srgbClr val="DCE4E9"/>
            </a:solidFill>
            <a:prstDash val="solid"/>
          </a:ln>
        </p:spPr>
      </p:sp>
      <p:sp>
        <p:nvSpPr>
          <p:cNvPr id="17" name="">
            <a:extLst xmlns:a="http://schemas.openxmlformats.org/drawingml/2006/main">
              <a:ext uri="{FF2B5EF4-FFF2-40B4-BE49-F238E27FC236}">
                <a16:creationId xmlns:a16="http://schemas.microsoft.com/office/drawing/2014/main" id="{146C20D9-ABB2-44FB-A314-33B13524BE08}"/>
              </a:ext>
            </a:extLst>
          </p:cNvPr>
          <p:cNvSpPr>
            <a:spLocks xmlns:a="http://schemas.openxmlformats.org/drawingml/2006/main" noGrp="1"/>
          </p:cNvSpPr>
          <p:nvPr/>
        </p:nvSpPr>
        <p:spPr>
          <a:xfrm xmlns:a="http://schemas.openxmlformats.org/drawingml/2006/main" rot="0">
            <a:off x="8458200" y="2305050"/>
            <a:ext cx="27241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 weather and time-of-day context</a:t>
            </a:r>
          </a:p>
          <a:p xmlns:a="http://schemas.openxmlformats.org/drawingml/2006/main">
            <a:pPr algn="l">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 persona/content cold-start encoder</a:t>
            </a:r>
          </a:p>
          <a:p xmlns:a="http://schemas.openxmlformats.org/drawingml/2006/main">
            <a:pPr algn="l">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 travel cost and opening hours</a:t>
            </a:r>
          </a:p>
          <a:p xmlns:a="http://schemas.openxmlformats.org/drawingml/2006/main">
            <a:pPr algn="l">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 schedule-aware constrained decoding</a:t>
            </a:r>
          </a:p>
          <a:p xmlns:a="http://schemas.openxmlformats.org/drawingml/2006/main">
            <a:pPr algn="l">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 pre-training and trajectory augmentation</a:t>
            </a:r>
          </a:p>
          <a:p xmlns:a="http://schemas.openxmlformats.org/drawingml/2006/main">
            <a:pPr algn="l">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 multi-city validation</a:t>
            </a:r>
          </a:p>
          <a:p xmlns:a="http://schemas.openxmlformats.org/drawingml/2006/main">
            <a:pPr algn="l">
              <a:lnSpc>
                <a:spcPct val="100000"/>
              </a:lnSpc>
              <a:buNone/>
              <a:defRPr sz="1350" b="0" i="0">
                <a:solidFill>
                  <a:srgbClr val="142632"/>
                </a:solidFill>
                <a:latin typeface="Aptos"/>
                <a:ea typeface="Aptos"/>
                <a:cs typeface="Aptos"/>
              </a:defRPr>
            </a:pPr>
            <a:r>
              <a:rPr sz="1350" b="0" i="0">
                <a:solidFill>
                  <a:srgbClr val="142632"/>
                </a:solidFill>
                <a:latin typeface="Aptos"/>
                <a:ea typeface="Aptos"/>
                <a:cs typeface="Aptos"/>
              </a:rPr>
              <a:t>• user study</a:t>
            </a:r>
          </a:p>
        </p:txBody>
      </p:sp>
      <p:sp>
        <p:nvSpPr>
          <p:cNvPr id="18" name="">
            <a:extLst xmlns:a="http://schemas.openxmlformats.org/drawingml/2006/main">
              <a:ext uri="{FF2B5EF4-FFF2-40B4-BE49-F238E27FC236}">
                <a16:creationId xmlns:a16="http://schemas.microsoft.com/office/drawing/2014/main" id="{5B852F51-39D0-4C3E-8DDC-4D9DEC135E19}"/>
              </a:ext>
            </a:extLst>
          </p:cNvPr>
          <p:cNvSpPr>
            <a:spLocks xmlns:a="http://schemas.openxmlformats.org/drawingml/2006/main" noGrp="1"/>
          </p:cNvSpPr>
          <p:nvPr/>
        </p:nvSpPr>
        <p:spPr>
          <a:xfrm xmlns:a="http://schemas.openxmlformats.org/drawingml/2006/main">
            <a:off x="8401050" y="4667250"/>
            <a:ext cx="2838450" cy="457200"/>
          </a:xfrm>
          <a:prstGeom xmlns:a="http://schemas.openxmlformats.org/drawingml/2006/main" prst="roundRect">
            <a:avLst>
              <a:gd name="adj" fmla="val 29167"/>
            </a:avLst>
          </a:prstGeom>
          <a:solidFill xmlns:a="http://schemas.openxmlformats.org/drawingml/2006/main">
            <a:srgbClr val="0B1F33"/>
          </a:solidFill>
          <a:ln xmlns:a="http://schemas.openxmlformats.org/drawingml/2006/main" w="9525">
            <a:solidFill>
              <a:srgbClr val="0B1F33"/>
            </a:solidFill>
            <a:prstDash val="solid"/>
          </a:ln>
        </p:spPr>
      </p:sp>
      <p:sp>
        <p:nvSpPr>
          <p:cNvPr id="19" name="">
            <a:extLst xmlns:a="http://schemas.openxmlformats.org/drawingml/2006/main">
              <a:ext uri="{FF2B5EF4-FFF2-40B4-BE49-F238E27FC236}">
                <a16:creationId xmlns:a16="http://schemas.microsoft.com/office/drawing/2014/main" id="{36180D84-A537-492E-B2D3-6E166790417D}"/>
              </a:ext>
            </a:extLst>
          </p:cNvPr>
          <p:cNvSpPr>
            <a:spLocks xmlns:a="http://schemas.openxmlformats.org/drawingml/2006/main" noGrp="1"/>
          </p:cNvSpPr>
          <p:nvPr/>
        </p:nvSpPr>
        <p:spPr>
          <a:xfrm xmlns:a="http://schemas.openxmlformats.org/drawingml/2006/main" rot="0">
            <a:off x="8534400" y="475297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2372"/>
          </a:bodyPr>
          <a:lstStyle xmlns:a="http://schemas.openxmlformats.org/drawingml/2006/main"/>
          <a:p xmlns:a="http://schemas.openxmlformats.org/drawingml/2006/main">
            <a:pPr algn="ctr">
              <a:lnSpc>
                <a:spcPct val="100000"/>
              </a:lnSpc>
              <a:buNone/>
              <a:defRPr sz="1200" b="1" i="0">
                <a:solidFill>
                  <a:srgbClr val="FFFFFF"/>
                </a:solidFill>
                <a:latin typeface="Aptos"/>
                <a:ea typeface="Aptos"/>
                <a:cs typeface="Aptos"/>
              </a:defRPr>
            </a:pPr>
            <a:r>
              <a:rPr sz="1200" b="1" i="0">
                <a:solidFill>
                  <a:srgbClr val="FFFFFF"/>
                </a:solidFill>
                <a:latin typeface="Aptos"/>
                <a:ea typeface="Aptos"/>
                <a:cs typeface="Aptos"/>
              </a:rPr>
              <a:t>Orienteering / ILS: scoped, NOT implemented</a:t>
            </a:r>
          </a:p>
        </p:txBody>
      </p:sp>
      <p:sp>
        <p:nvSpPr>
          <p:cNvPr id="20" name="">
            <a:extLst xmlns:a="http://schemas.openxmlformats.org/drawingml/2006/main">
              <a:ext uri="{FF2B5EF4-FFF2-40B4-BE49-F238E27FC236}">
                <a16:creationId xmlns:a16="http://schemas.microsoft.com/office/drawing/2014/main" id="{CCD10AD0-5299-49E4-9330-D2BDAD35BBCB}"/>
              </a:ext>
            </a:extLst>
          </p:cNvPr>
          <p:cNvSpPr>
            <a:spLocks xmlns:a="http://schemas.openxmlformats.org/drawingml/2006/main" noGrp="1"/>
          </p:cNvSpPr>
          <p:nvPr/>
        </p:nvSpPr>
        <p:spPr>
          <a:xfrm xmlns:a="http://schemas.openxmlformats.org/drawingml/2006/main" rot="0">
            <a:off x="609600" y="6210300"/>
            <a:ext cx="10668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50" b="0" i="1">
                <a:solidFill>
                  <a:srgbClr val="5A6C79"/>
                </a:solidFill>
                <a:latin typeface="Aptos"/>
                <a:ea typeface="Aptos"/>
                <a:cs typeface="Aptos"/>
              </a:defRPr>
            </a:pPr>
            <a:r>
              <a:rPr sz="750" b="0" i="1">
                <a:solidFill>
                  <a:srgbClr val="5A6C79"/>
                </a:solidFill>
                <a:latin typeface="Aptos"/>
                <a:ea typeface="Aptos"/>
                <a:cs typeface="Aptos"/>
              </a:rPr>
              <a:t>Source: Thesis Sections 3.7.5 and General Conclusion. Reader-facing method names are used throughout.</a:t>
            </a:r>
          </a:p>
        </p:txBody>
      </p:sp>
    </p:spTree>
    <p:extLst>
      <p:ext uri="{BB962C8B-B14F-4D97-AF65-F5344CB8AC3E}">
        <p14:creationId xmlns:p14="http://schemas.microsoft.com/office/powerpoint/2010/main" val="12743656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2026-07-18T00:01:11.7710000Z</dcterms:created>
  <dcterms:modified xsi:type="dcterms:W3CDTF">2026-07-18T00:01:11.7710000Z</dcterms:modified>
</coreProperties>
</file>