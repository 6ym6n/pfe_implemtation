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Model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 Personalized, Context-Aware Itinerary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9FC0C0"/>
                </a:solidFill>
                <a:latin typeface="Calibri"/>
              </a:rPr>
              <a:t>A next-POI engine — GCN + GRU + user embedding +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…decoded into full tourist itineraries (Frozen Rollout)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FC7D9"/>
                </a:solidFill>
                <a:latin typeface="Calibri"/>
              </a:rPr>
              <a:t>Master's thesis · [Your name]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tourist with limited time wants a </a:t>
            </a:r>
            <a:r>
              <a:rPr sz="1800" b="1">
                <a:solidFill>
                  <a:srgbClr val="1B2A4E"/>
                </a:solidFill>
                <a:latin typeface="Calibri"/>
              </a:rPr>
              <a:t>personalized day plan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an </a:t>
            </a:r>
            <a:r>
              <a:rPr sz="1800" b="1">
                <a:solidFill>
                  <a:srgbClr val="1B2A4E"/>
                </a:solidFill>
                <a:latin typeface="Calibri"/>
              </a:rPr>
              <a:t>ordered route</a:t>
            </a:r>
            <a:r>
              <a:rPr sz="1800" b="0">
                <a:solidFill>
                  <a:srgbClr val="555555"/>
                </a:solidFill>
                <a:latin typeface="Calibri"/>
              </a:rPr>
              <a:t> of places to visit.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The plan must reflect </a:t>
            </a:r>
            <a:r>
              <a:rPr sz="1800" b="1">
                <a:solidFill>
                  <a:srgbClr val="1B2A4E"/>
                </a:solidFill>
                <a:latin typeface="Calibri"/>
              </a:rPr>
              <a:t>who they are</a:t>
            </a:r>
            <a:r>
              <a:rPr sz="1800" b="0">
                <a:solidFill>
                  <a:srgbClr val="555555"/>
                </a:solidFill>
                <a:latin typeface="Calibri"/>
              </a:rPr>
              <a:t> (preferences) and </a:t>
            </a:r>
            <a:r>
              <a:rPr sz="1800" b="1">
                <a:solidFill>
                  <a:srgbClr val="1B2A4E"/>
                </a:solidFill>
                <a:latin typeface="Calibri"/>
              </a:rPr>
              <a:t>context</a:t>
            </a:r>
            <a:r>
              <a:rPr sz="1800" b="0">
                <a:solidFill>
                  <a:srgbClr val="555555"/>
                </a:solidFill>
                <a:latin typeface="Calibri"/>
              </a:rPr>
              <a:t> (distances, time).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206240"/>
            <a:ext cx="9235440" cy="12801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My approach: one model does both —</a:t>
            </a:r>
          </a:p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a personalized next-POI engine, decoded into an itinerary.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approach — two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86868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3F51B5"/>
                </a:solidFill>
                <a:latin typeface="Calibri"/>
              </a:rPr>
              <a:t>the next-POI engine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Calibri"/>
              </a:rPr>
              <a:t>GCN + GRU + user + context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00400" y="2194560"/>
            <a:ext cx="2286000" cy="5943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788920"/>
            <a:ext cx="5212080" cy="246888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PILLAR 1</a:t>
            </a:r>
          </a:p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Frozen Rollout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build the itinerary —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decode the engine, loop-free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(Foursquare NYC)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88920"/>
            <a:ext cx="5212080" cy="24688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PILLAR 2</a:t>
            </a:r>
          </a:p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Flickr Benchmark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validate vs the literature —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same dataset + protocol</a:t>
            </a:r>
          </a:p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as the published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Pillar 2 is the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only valid bridge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to other papers' numbers — same scale, same rules. (NYC scores cannot be compared directly to the literature.)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108960" cy="9144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POI graph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kNN ∪ co-visit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108960" cy="9144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Δdistance, Δtime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371600"/>
            <a:ext cx="3108960" cy="9144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560320"/>
            <a:ext cx="3108960" cy="6858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2-layer GCN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2560320"/>
            <a:ext cx="3108960" cy="6858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 MLPs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39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59" y="2560320"/>
            <a:ext cx="3108960" cy="6858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 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6400800" cy="7772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concat per step → GRU → h_T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3995928"/>
            <a:ext cx="8229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3611880"/>
            <a:ext cx="3657600" cy="7772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[h_T ; user] → MLP 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4800600"/>
            <a:ext cx="6675120" cy="7772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1B2A4E"/>
                </a:solidFill>
                <a:latin typeface="Calibri"/>
              </a:rPr>
              <a:t>→ a score for every POI (what to visit next)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4389120"/>
            <a:ext cx="0" cy="41148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Three signals → graph + sequence + user → a next-POI score.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This is the model I built.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each part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model,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POI graph + GCN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places are linked if they're close or often visited together; the GCN gives each POI a “fingerprint” aware of its neighbourhood.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Context (Δd, Δt)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how far and how long since the last place; small networks turn these into vectors.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User embedding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a small “taste profile” per tourist → the title's user preferences.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0E7C7B"/>
                </a:solidFill>
                <a:latin typeface="Calibri"/>
              </a:rPr>
              <a:t>GRU sequence model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reads the places visited so far and summarises them into one state.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Scoring head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combines the state + the user, and scores every POI for “what to visit next”.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carries the thesis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why this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Calibri"/>
              </a:rPr>
              <a:t>“Personalized Tourist Itinerary Recommendation Based on </a:t>
            </a:r>
            <a:r>
              <a:rPr sz="1700" b="1" i="1">
                <a:solidFill>
                  <a:srgbClr val="3F51B5"/>
                </a:solidFill>
                <a:latin typeface="Calibri"/>
              </a:rPr>
              <a:t>User Preferences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 and </a:t>
            </a:r>
            <a:r>
              <a:rPr sz="1700" b="1" i="1">
                <a:solidFill>
                  <a:srgbClr val="E07A1F"/>
                </a:solidFill>
                <a:latin typeface="Calibri"/>
              </a:rPr>
              <a:t>Contextual Data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5120640" cy="219456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User preferences</a:t>
            </a:r>
          </a:p>
          <a:p>
            <a:pPr algn="ctr"/>
            <a:r>
              <a:rPr sz="6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the user embedding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 learned taste profile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for each tourist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120640" cy="21945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Contextual data</a:t>
            </a:r>
          </a:p>
          <a:p>
            <a:pPr algn="ctr"/>
            <a:r>
              <a:rPr sz="6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Δdistance and Δtime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spatial + temporal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gaps between 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Both are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inside the model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— so the title is a description of the architecture, not an aspiration.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Next-POI engine — comparison with published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Foursquare NYC, HR@1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20240" y="1417320"/>
          <a:ext cx="8321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sequence (RNN)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STGCN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spatio-temporal 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Ours (GCN+GRU+user)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STAN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self-attention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GETNext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STHGCN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hypergraph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LLM4POI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frozen LLM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Full-vocabulary HR@1 on Foursquare NYC, against the LLM4POI benchmark table.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Our engine sits in the LSTM/STGCN tier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— an honest, leakage-free baseline, below the transformer / LLM state of the 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turning the engine into an itinerary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my itinerary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Roll the engine out: build the route one POI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68880" cy="118872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route = [start]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103120"/>
            <a:ext cx="2468880" cy="118872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engine scores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all POIs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2103120"/>
            <a:ext cx="2468880" cy="118872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mask visited;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reserve the 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697480"/>
            <a:ext cx="411479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19" y="2103120"/>
            <a:ext cx="2468880" cy="118872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append the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best POI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0412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83080" y="3749039"/>
            <a:ext cx="8321040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8308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3794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0E7C7B"/>
                </a:solidFill>
                <a:latin typeface="Calibri"/>
              </a:rPr>
              <a:t>repeat until length K, ending at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No new training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reuse the frozen engine; the itinerary is an inference-time decoder.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Always valid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loop-free, exactly K stops, starts at s and ends at 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worked example (Edinburgh)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how it builds a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840480" cy="109728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3F51B5"/>
                </a:solidFill>
                <a:latin typeface="Calibri"/>
              </a:rPr>
              <a:t>QUERY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start 15 · end 16 · K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83464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346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7033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last hop → reserved end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79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40679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matches the real trip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results (Foursquare NYC)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pillar 1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Decoder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0.609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beam (3)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Simplest, most interpretable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an inference-time decoder over the frozen engine; no extra training.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Reuses the personalized engine directly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the itinerary inherits user preferences + context.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Beam barely beats greedy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the engine is myopic; better decoding can't fix that (motivates Pillar 2 +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Note: these NYC numbers are </a:t>
            </a:r>
            <a:r>
              <a:rPr sz="1400" b="1" i="1">
                <a:solidFill>
                  <a:srgbClr val="C0392B"/>
                </a:solidFill>
                <a:latin typeface="Calibri"/>
              </a:rPr>
              <a:t>not comparable to the papers</a:t>
            </a:r>
            <a:r>
              <a:rPr sz="1400" b="0" i="1">
                <a:solidFill>
                  <a:srgbClr val="555555"/>
                </a:solidFill>
                <a:latin typeface="Calibri"/>
              </a:rPr>
              <a:t> — that is Pillar 2's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Validation — my approach is on the literature's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rigor</a:t>
            </a:r>
          </a:p>
        </p:txBody>
      </p:sp>
      <p:pic>
        <p:nvPicPr>
          <p:cNvPr id="6" name="Picture 5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955279" cy="4066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5544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Reproduces Chen 2016</a:t>
            </a:r>
            <a:r>
              <a:rPr sz="1400" b="0">
                <a:solidFill>
                  <a:srgbClr val="555555"/>
                </a:solidFill>
                <a:latin typeface="Calibri"/>
              </a:rPr>
              <a:t> (Random baseline) → the setup is fair.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On the published</a:t>
            </a:r>
            <a:r>
              <a:rPr sz="1400" b="0">
                <a:solidFill>
                  <a:srgbClr val="555555"/>
                </a:solidFill>
                <a:latin typeface="Calibri"/>
              </a:rPr>
              <a:t> 0.3–0.85 pairs-F1 scale.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C0392B"/>
                </a:solidFill>
                <a:latin typeface="Calibri"/>
              </a:rPr>
              <a:t>Honest:</a:t>
            </a:r>
            <a:r>
              <a:rPr sz="1400" b="0">
                <a:solidFill>
                  <a:srgbClr val="555555"/>
                </a:solidFill>
                <a:latin typeface="Calibri"/>
              </a:rPr>
              <a:t> a simple Markov baseline is strong on tiny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The Flickr Benchmark re-runs everything on the standard Flickr datasets — validating, not replacing, the headline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Itinerary recommendation on Flickr —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pairs-F1, same protocol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Edi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Markov  (ours)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reproduces Chen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PoiRank (Chen)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Rank+Markov (Chen)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DeepTrip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CTLTR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SelfTrip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AR-Trip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All on the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same benchmark + protocol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 (Flickr, leave-one-out, endpoints given, length≥3). Our classical methods reproduce the classical literature (Chen 2016); the neural line (DeepTrip 2019 → AR-Trip 2024) is the state of the art to aim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Light context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Δd/Δt only; add time-of-day, opening hours, queuing.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No scheduling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add explicit time budgets (the DLIR direction) for realistic days.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Integrate properly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share/warm-start the engine with the trained model to lift it past A.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Stronger personalization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richer user features beyond a single embedding.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Robustness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multi-seed, more cities, component ablations.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My model — in one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97135" cy="1737360"/>
          </a:xfrm>
          <a:prstGeom prst="roundRect">
            <a:avLst/>
          </a:prstGeom>
          <a:solidFill>
            <a:srgbClr val="1B2A4E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 personalized, context-aware next-POI engine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(GCN + GRU + user + context), decoded into tourist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itineraries by rolling it out (the Frozen Rollout).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Strongest of my itinerary methods, and the simplest to explain.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Built on a validated engine; benchmarked honestly against the literature.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Integration (the Trained Pointer) and the Flickr Benchmark are experiments that support — not replace —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7A1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