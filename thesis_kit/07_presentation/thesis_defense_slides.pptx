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91695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300" b="1" i="0">
                <a:solidFill>
                  <a:srgbClr val="FFFFFF"/>
                </a:solidFill>
                <a:latin typeface="Calibri"/>
              </a:rPr>
              <a:t>Smart Visit Module for Personalized</a:t>
            </a:r>
          </a:p>
          <a:p>
            <a:pPr algn="ctr"/>
            <a:r>
              <a:rPr sz="3300" b="1" i="0">
                <a:solidFill>
                  <a:srgbClr val="FFFFFF"/>
                </a:solidFill>
                <a:latin typeface="Calibri"/>
              </a:rPr>
              <a:t>Tourist Itinerary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103628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0" i="1">
                <a:solidFill>
                  <a:srgbClr val="9FC0C0"/>
                </a:solidFill>
                <a:latin typeface="Calibri"/>
              </a:rPr>
              <a:t>Based on User Preferences and Contextual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A personalized, context-aware next-POI engine, decoded and trained into full</a:t>
            </a:r>
          </a:p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itineraries, and benchmarked against the trip-recommendation literature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BFC7D9"/>
                </a:solidFill>
                <a:latin typeface="Calibri"/>
              </a:rPr>
              <a:t>Master's thesis · [Your name] · Supervisor: [name]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>
                <a:solidFill>
                  <a:srgbClr val="0E7C7B"/>
                </a:solidFill>
              </a:rPr>
              <a:t>▸  </a:t>
            </a:r>
            <a:r>
              <a:rPr sz="1800" b="0">
                <a:solidFill>
                  <a:srgbClr val="555555"/>
                </a:solidFill>
                <a:latin typeface="Calibri"/>
              </a:rPr>
              <a:t>A tourist with limited time faces hundreds of POIs and wants a </a:t>
            </a:r>
            <a:r>
              <a:rPr sz="1800" b="1">
                <a:solidFill>
                  <a:srgbClr val="1B2A4E"/>
                </a:solidFill>
                <a:latin typeface="Calibri"/>
              </a:rPr>
              <a:t>personalized day plan</a:t>
            </a:r>
            <a:r>
              <a:rPr sz="1800" b="0">
                <a:solidFill>
                  <a:srgbClr val="555555"/>
                </a:solidFill>
                <a:latin typeface="Calibri"/>
              </a:rPr>
              <a:t> — an </a:t>
            </a:r>
            <a:r>
              <a:rPr sz="1800" b="1">
                <a:solidFill>
                  <a:srgbClr val="1B2A4E"/>
                </a:solidFill>
                <a:latin typeface="Calibri"/>
              </a:rPr>
              <a:t>ordered route</a:t>
            </a:r>
            <a:r>
              <a:rPr sz="1800" b="0">
                <a:solidFill>
                  <a:srgbClr val="555555"/>
                </a:solidFill>
                <a:latin typeface="Calibri"/>
              </a:rPr>
              <a:t> of places to visit, not just a single suggestion.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>
                <a:solidFill>
                  <a:srgbClr val="0E7C7B"/>
                </a:solidFill>
              </a:rPr>
              <a:t>▸  </a:t>
            </a:r>
            <a:r>
              <a:rPr sz="1800" b="0">
                <a:solidFill>
                  <a:srgbClr val="555555"/>
                </a:solidFill>
                <a:latin typeface="Calibri"/>
              </a:rPr>
              <a:t>A good plan depends on </a:t>
            </a:r>
            <a:r>
              <a:rPr sz="1800" b="1">
                <a:solidFill>
                  <a:srgbClr val="1B2A4E"/>
                </a:solidFill>
                <a:latin typeface="Calibri"/>
              </a:rPr>
              <a:t>who they are</a:t>
            </a:r>
            <a:r>
              <a:rPr sz="1800" b="0">
                <a:solidFill>
                  <a:srgbClr val="555555"/>
                </a:solidFill>
                <a:latin typeface="Calibri"/>
              </a:rPr>
              <a:t> (preferences) and </a:t>
            </a:r>
            <a:r>
              <a:rPr sz="1800" b="1">
                <a:solidFill>
                  <a:srgbClr val="1B2A4E"/>
                </a:solidFill>
                <a:latin typeface="Calibri"/>
              </a:rPr>
              <a:t>context</a:t>
            </a:r>
            <a:r>
              <a:rPr sz="1800" b="0">
                <a:solidFill>
                  <a:srgbClr val="555555"/>
                </a:solidFill>
                <a:latin typeface="Calibri"/>
              </a:rPr>
              <a:t> (where they are, how far apart places are, time of day).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>
                <a:solidFill>
                  <a:srgbClr val="0E7C7B"/>
                </a:solidFill>
              </a:rPr>
              <a:t>▸  </a:t>
            </a:r>
            <a:r>
              <a:rPr sz="1800" b="0">
                <a:solidFill>
                  <a:srgbClr val="555555"/>
                </a:solidFill>
                <a:latin typeface="Calibri"/>
              </a:rPr>
              <a:t>This is </a:t>
            </a:r>
            <a:r>
              <a:rPr sz="1800" b="1">
                <a:solidFill>
                  <a:srgbClr val="1B2A4E"/>
                </a:solidFill>
                <a:latin typeface="Calibri"/>
              </a:rPr>
              <a:t>itinerary recommendation</a:t>
            </a:r>
            <a:r>
              <a:rPr sz="1800" b="0">
                <a:solidFill>
                  <a:srgbClr val="555555"/>
                </a:solidFill>
                <a:latin typeface="Calibri"/>
              </a:rPr>
              <a:t> — a different problem from predicting the single next place (next-POI).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4480560"/>
            <a:ext cx="9235440" cy="1280160"/>
          </a:xfrm>
          <a:prstGeom prst="roundRect">
            <a:avLst/>
          </a:prstGeom>
          <a:solidFill>
            <a:srgbClr val="E8F5E9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1B2A4E"/>
                </a:solidFill>
                <a:latin typeface="Calibri"/>
              </a:rPr>
              <a:t>Goal: a “Smart Visit Module” that recommends a personalized, context-aware itinerary —</a:t>
            </a:r>
          </a:p>
          <a:p>
            <a:pPr algn="ctr"/>
            <a:r>
              <a:rPr sz="1800" b="1">
                <a:solidFill>
                  <a:srgbClr val="1B2A4E"/>
                </a:solidFill>
                <a:latin typeface="Calibri"/>
              </a:rPr>
              <a:t>the right places, in the right order, for this user.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Smart Visit Module — Personalized Tourist Itinerary Recommendation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Two sub-problems — and the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background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120640" cy="1737360"/>
          </a:xfrm>
          <a:prstGeom prst="roundRect">
            <a:avLst/>
          </a:prstGeom>
          <a:solidFill>
            <a:srgbClr val="E3F2FD"/>
          </a:solidFill>
          <a:ln w="22225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700" b="1">
                <a:solidFill>
                  <a:srgbClr val="3F51B5"/>
                </a:solidFill>
                <a:latin typeface="Calibri"/>
              </a:rPr>
              <a:t>Next-POI prediction</a:t>
            </a:r>
          </a:p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predict the single NEXT place</a:t>
            </a:r>
          </a:p>
          <a:p>
            <a:pPr algn="ctr"/>
            <a:r>
              <a:rPr sz="1200" b="0">
                <a:solidFill>
                  <a:srgbClr val="888888"/>
                </a:solidFill>
                <a:latin typeface="Calibri"/>
              </a:rPr>
              <a:t>(a building block)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54480"/>
            <a:ext cx="5120640" cy="1737360"/>
          </a:xfrm>
          <a:prstGeom prst="roundRect">
            <a:avLst/>
          </a:prstGeom>
          <a:solidFill>
            <a:srgbClr val="E8F5E9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700" b="1">
                <a:solidFill>
                  <a:srgbClr val="0E7C7B"/>
                </a:solidFill>
                <a:latin typeface="Calibri"/>
              </a:rPr>
              <a:t>Itinerary recommendation</a:t>
            </a:r>
          </a:p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produce the WHOLE ordered route</a:t>
            </a:r>
          </a:p>
          <a:p>
            <a:pPr algn="ctr"/>
            <a:r>
              <a:rPr sz="1200" b="0">
                <a:solidFill>
                  <a:srgbClr val="888888"/>
                </a:solidFill>
                <a:latin typeface="Calibri"/>
              </a:rPr>
              <a:t>(the actual goal)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60720" y="2423160"/>
            <a:ext cx="640080" cy="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463040" y="4023360"/>
            <a:ext cx="9235440" cy="1737360"/>
          </a:xfrm>
          <a:prstGeom prst="roundRect">
            <a:avLst/>
          </a:prstGeom>
          <a:solidFill>
            <a:srgbClr val="FFF3E0"/>
          </a:solidFill>
          <a:ln w="2222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>
                <a:solidFill>
                  <a:srgbClr val="1B2A4E"/>
                </a:solidFill>
                <a:latin typeface="Calibri"/>
              </a:rPr>
              <a:t>The field's question (Halder 2024 survey; DLIR 2025):</a:t>
            </a:r>
          </a:p>
          <a:p>
            <a:pPr algn="ctr"/>
            <a:r>
              <a:rPr sz="1600" b="1">
                <a:solidFill>
                  <a:srgbClr val="1B2A4E"/>
                </a:solidFill>
                <a:latin typeface="Calibri"/>
              </a:rPr>
              <a:t>should POI scoring and itinerary construction be SEPARATE steps, or INTEGRATED?</a:t>
            </a:r>
          </a:p>
          <a:p>
            <a:pPr algn="ctr"/>
            <a:r>
              <a:rPr sz="1400" b="1">
                <a:solidFill>
                  <a:srgbClr val="E07A1F"/>
                </a:solidFill>
                <a:latin typeface="Calibri"/>
              </a:rPr>
              <a:t>DLIR argues separate → sub-optimal; integration helps. We test this directly.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Smart Visit Module — Personalized Tourist Itinerary Recommendation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Research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800"/>
              </a:spcAft>
            </a:pPr>
            <a:r>
              <a:rPr sz="1900" b="1">
                <a:solidFill>
                  <a:srgbClr val="0E7C7B"/>
                </a:solidFill>
              </a:rPr>
              <a:t>▸  </a:t>
            </a:r>
            <a:r>
              <a:rPr sz="1900" b="1">
                <a:solidFill>
                  <a:srgbClr val="3F51B5"/>
                </a:solidFill>
                <a:latin typeface="Calibri"/>
              </a:rPr>
              <a:t>RQ1</a:t>
            </a:r>
            <a:r>
              <a:rPr sz="1900" b="0">
                <a:solidFill>
                  <a:srgbClr val="555555"/>
                </a:solidFill>
                <a:latin typeface="Calibri"/>
              </a:rPr>
              <a:t> — Can a personalized, context-aware next-POI model (graph + sequence + user) reach a competitive tier on a standard check-in benchmark?</a:t>
            </a:r>
          </a:p>
          <a:p>
            <a:pPr>
              <a:spcBef>
                <a:spcPts val="200"/>
              </a:spcBef>
              <a:spcAft>
                <a:spcPts val="1800"/>
              </a:spcAft>
            </a:pPr>
            <a:r>
              <a:rPr sz="1900" b="1">
                <a:solidFill>
                  <a:srgbClr val="0E7C7B"/>
                </a:solidFill>
              </a:rPr>
              <a:t>▸  </a:t>
            </a:r>
            <a:r>
              <a:rPr sz="1900" b="1">
                <a:solidFill>
                  <a:srgbClr val="3F51B5"/>
                </a:solidFill>
                <a:latin typeface="Calibri"/>
              </a:rPr>
              <a:t>RQ2</a:t>
            </a:r>
            <a:r>
              <a:rPr sz="1900" b="0">
                <a:solidFill>
                  <a:srgbClr val="555555"/>
                </a:solidFill>
                <a:latin typeface="Calibri"/>
              </a:rPr>
              <a:t> — Can that model be decoded into coherent, loop-free itineraries without dedicated itinerary training? (the decoupled approach)</a:t>
            </a:r>
          </a:p>
          <a:p>
            <a:pPr>
              <a:spcBef>
                <a:spcPts val="200"/>
              </a:spcBef>
              <a:spcAft>
                <a:spcPts val="1800"/>
              </a:spcAft>
            </a:pPr>
            <a:r>
              <a:rPr sz="1900" b="1">
                <a:solidFill>
                  <a:srgbClr val="0E7C7B"/>
                </a:solidFill>
              </a:rPr>
              <a:t>▸  </a:t>
            </a:r>
            <a:r>
              <a:rPr sz="1900" b="1">
                <a:solidFill>
                  <a:srgbClr val="3F51B5"/>
                </a:solidFill>
                <a:latin typeface="Calibri"/>
              </a:rPr>
              <a:t>RQ3</a:t>
            </a:r>
            <a:r>
              <a:rPr sz="1900" b="0">
                <a:solidFill>
                  <a:srgbClr val="555555"/>
                </a:solidFill>
                <a:latin typeface="Calibri"/>
              </a:rPr>
              <a:t> — Does an integrated, end-to-end itinerary model improve over the decoupled decoding — i.e. does the integration hypothesis hold on our data?</a:t>
            </a:r>
          </a:p>
          <a:p>
            <a:pPr>
              <a:spcBef>
                <a:spcPts val="200"/>
              </a:spcBef>
              <a:spcAft>
                <a:spcPts val="1800"/>
              </a:spcAft>
            </a:pPr>
            <a:r>
              <a:rPr sz="1900" b="1">
                <a:solidFill>
                  <a:srgbClr val="0E7C7B"/>
                </a:solidFill>
              </a:rPr>
              <a:t>▸  </a:t>
            </a:r>
            <a:r>
              <a:rPr sz="1900" b="1">
                <a:solidFill>
                  <a:srgbClr val="3F51B5"/>
                </a:solidFill>
                <a:latin typeface="Calibri"/>
              </a:rPr>
              <a:t>RQ4</a:t>
            </a:r>
            <a:r>
              <a:rPr sz="1900" b="0">
                <a:solidFill>
                  <a:srgbClr val="555555"/>
                </a:solidFill>
                <a:latin typeface="Calibri"/>
              </a:rPr>
              <a:t> — Where do our itinerary models stand against the published literature, under the exact comparable protocol?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Smart Visit Module — Personalized Tourist Itinerary Recommendation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what's new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600"/>
              </a:spcAft>
            </a:pPr>
            <a:r>
              <a:rPr sz="1800" b="1">
                <a:solidFill>
                  <a:srgbClr val="0E7C7B"/>
                </a:solidFill>
              </a:rPr>
              <a:t>▸  </a:t>
            </a:r>
            <a:r>
              <a:rPr sz="1800" b="0">
                <a:solidFill>
                  <a:srgbClr val="555555"/>
                </a:solidFill>
                <a:latin typeface="Calibri"/>
              </a:rPr>
              <a:t>A reproducible, honest </a:t>
            </a:r>
            <a:r>
              <a:rPr sz="1800" b="1">
                <a:solidFill>
                  <a:srgbClr val="1B2A4E"/>
                </a:solidFill>
                <a:latin typeface="Calibri"/>
              </a:rPr>
              <a:t>personalized context-aware next-POI engine</a:t>
            </a:r>
            <a:r>
              <a:rPr sz="1800" b="0">
                <a:solidFill>
                  <a:srgbClr val="555555"/>
                </a:solidFill>
                <a:latin typeface="Calibri"/>
              </a:rPr>
              <a:t> (graph + spatio-temporal context + user embedding) on Foursquare NYC.</a:t>
            </a:r>
          </a:p>
          <a:p>
            <a:pPr>
              <a:spcBef>
                <a:spcPts val="200"/>
              </a:spcBef>
              <a:spcAft>
                <a:spcPts val="1600"/>
              </a:spcAft>
            </a:pPr>
            <a:r>
              <a:rPr sz="1800" b="1">
                <a:solidFill>
                  <a:srgbClr val="0E7C7B"/>
                </a:solidFill>
              </a:rPr>
              <a:t>▸  </a:t>
            </a:r>
            <a:r>
              <a:rPr sz="1800" b="0">
                <a:solidFill>
                  <a:srgbClr val="555555"/>
                </a:solidFill>
                <a:latin typeface="Calibri"/>
              </a:rPr>
              <a:t>Two itinerary strategies and a </a:t>
            </a:r>
            <a:r>
              <a:rPr sz="1800" b="1">
                <a:solidFill>
                  <a:srgbClr val="1B2A4E"/>
                </a:solidFill>
                <a:latin typeface="Calibri"/>
              </a:rPr>
              <a:t>controlled decoupled-vs-integrated comparison</a:t>
            </a:r>
            <a:r>
              <a:rPr sz="1800" b="0">
                <a:solidFill>
                  <a:srgbClr val="555555"/>
                </a:solidFill>
                <a:latin typeface="Calibri"/>
              </a:rPr>
              <a:t> (Strategy A: decode the frozen engine; Strategy B: train an integrated pointer).</a:t>
            </a:r>
          </a:p>
          <a:p>
            <a:pPr>
              <a:spcBef>
                <a:spcPts val="200"/>
              </a:spcBef>
              <a:spcAft>
                <a:spcPts val="1600"/>
              </a:spcAft>
            </a:pPr>
            <a:r>
              <a:rPr sz="1800" b="1">
                <a:solidFill>
                  <a:srgbClr val="0E7C7B"/>
                </a:solidFill>
              </a:rPr>
              <a:t>▸  </a:t>
            </a:r>
            <a:r>
              <a:rPr sz="1800" b="0">
                <a:solidFill>
                  <a:srgbClr val="555555"/>
                </a:solidFill>
                <a:latin typeface="Calibri"/>
              </a:rPr>
              <a:t>A </a:t>
            </a:r>
            <a:r>
              <a:rPr sz="1800" b="1">
                <a:solidFill>
                  <a:srgbClr val="1B2A4E"/>
                </a:solidFill>
                <a:latin typeface="Calibri"/>
              </a:rPr>
              <a:t>literature-comparable Flickr benchmark</a:t>
            </a:r>
            <a:r>
              <a:rPr sz="1800" b="0">
                <a:solidFill>
                  <a:srgbClr val="555555"/>
                </a:solidFill>
                <a:latin typeface="Calibri"/>
              </a:rPr>
              <a:t> (Strategy D) with a pairs-F1 harness validated by reproducing Chen 2016.</a:t>
            </a:r>
          </a:p>
          <a:p>
            <a:pPr>
              <a:spcBef>
                <a:spcPts val="200"/>
              </a:spcBef>
              <a:spcAft>
                <a:spcPts val="1600"/>
              </a:spcAft>
            </a:pPr>
            <a:r>
              <a:rPr sz="1800" b="1">
                <a:solidFill>
                  <a:srgbClr val="0E7C7B"/>
                </a:solidFill>
              </a:rPr>
              <a:t>▸  </a:t>
            </a:r>
            <a:r>
              <a:rPr sz="1800" b="0">
                <a:solidFill>
                  <a:srgbClr val="555555"/>
                </a:solidFill>
                <a:latin typeface="Calibri"/>
              </a:rPr>
              <a:t>An </a:t>
            </a:r>
            <a:r>
              <a:rPr sz="1800" b="1">
                <a:solidFill>
                  <a:srgbClr val="1B2A4E"/>
                </a:solidFill>
                <a:latin typeface="Calibri"/>
              </a:rPr>
              <a:t>honest analysis</a:t>
            </a:r>
            <a:r>
              <a:rPr sz="1800" b="0">
                <a:solidFill>
                  <a:srgbClr val="555555"/>
                </a:solidFill>
                <a:latin typeface="Calibri"/>
              </a:rPr>
              <a:t> of where simple baselines suffice and where integration/personalization help — and a clear path toward a full DLIR-style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Smart Visit Module — Personalized Tourist Itinerary Recommendation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Phase 1 — the personalized, context-aware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next-POI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Calibri"/>
              </a:rPr>
              <a:t>A next-POI model fuses three signals into a score over all POIs: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3108960" cy="1051560"/>
          </a:xfrm>
          <a:prstGeom prst="roundRect">
            <a:avLst/>
          </a:prstGeom>
          <a:solidFill>
            <a:srgbClr val="E3F2FD"/>
          </a:solidFill>
          <a:ln w="22225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3F51B5"/>
                </a:solidFill>
                <a:latin typeface="Calibri"/>
              </a:rPr>
              <a:t>POI graph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kNN ∪ co-visit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108960" cy="1051560"/>
          </a:xfrm>
          <a:prstGeom prst="roundRect">
            <a:avLst/>
          </a:prstGeom>
          <a:solidFill>
            <a:srgbClr val="FFF3E0"/>
          </a:solidFill>
          <a:ln w="2222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E07A1F"/>
                </a:solidFill>
                <a:latin typeface="Calibri"/>
              </a:rPr>
              <a:t>context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Δdistance, Δtime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59" y="1920240"/>
            <a:ext cx="3108960" cy="1051560"/>
          </a:xfrm>
          <a:prstGeom prst="roundRect">
            <a:avLst/>
          </a:prstGeom>
          <a:solidFill>
            <a:srgbClr val="F3E5F5"/>
          </a:solidFill>
          <a:ln w="22225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3F51B5"/>
                </a:solidFill>
                <a:latin typeface="Calibri"/>
              </a:rPr>
              <a:t>user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embedding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94560" y="2971800"/>
            <a:ext cx="0" cy="27432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" y="3246120"/>
            <a:ext cx="3108960" cy="731520"/>
          </a:xfrm>
          <a:prstGeom prst="roundRect">
            <a:avLst/>
          </a:prstGeom>
          <a:solidFill>
            <a:srgbClr val="E3F2FD"/>
          </a:solidFill>
          <a:ln w="22225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3F51B5"/>
                </a:solidFill>
                <a:latin typeface="Calibri"/>
              </a:rPr>
              <a:t>2-layer GCN → POI features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0" y="2971800"/>
            <a:ext cx="0" cy="27432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89120" y="3246120"/>
            <a:ext cx="3108960" cy="731520"/>
          </a:xfrm>
          <a:prstGeom prst="roundRect">
            <a:avLst/>
          </a:prstGeom>
          <a:solidFill>
            <a:srgbClr val="FFF3E0"/>
          </a:solidFill>
          <a:ln w="2222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E07A1F"/>
                </a:solidFill>
                <a:latin typeface="Calibri"/>
              </a:rPr>
              <a:t>context MLPs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92639" y="2971800"/>
            <a:ext cx="0" cy="27432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138159" y="3246120"/>
            <a:ext cx="3108960" cy="731520"/>
          </a:xfrm>
          <a:prstGeom prst="roundRect">
            <a:avLst/>
          </a:prstGeom>
          <a:solidFill>
            <a:srgbClr val="F3E5F5"/>
          </a:solidFill>
          <a:ln w="22225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3F51B5"/>
                </a:solidFill>
                <a:latin typeface="Calibri"/>
              </a:rPr>
              <a:t>user vector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297680"/>
            <a:ext cx="6400800" cy="822960"/>
          </a:xfrm>
          <a:prstGeom prst="roundRect">
            <a:avLst/>
          </a:prstGeom>
          <a:solidFill>
            <a:srgbClr val="E8F5E9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0E7C7B"/>
                </a:solidFill>
                <a:latin typeface="Calibri"/>
              </a:rPr>
              <a:t>concat per step → GRU sequence model → h_T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011680" y="3977639"/>
            <a:ext cx="0" cy="320041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760720" y="3977639"/>
            <a:ext cx="0" cy="320041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040880" y="4709160"/>
            <a:ext cx="731520" cy="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772400" y="4297680"/>
            <a:ext cx="3749039" cy="822960"/>
          </a:xfrm>
          <a:prstGeom prst="roundRect">
            <a:avLst/>
          </a:prstGeom>
          <a:solidFill>
            <a:srgbClr val="FFEBEE"/>
          </a:solidFill>
          <a:ln w="2222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E07A1F"/>
                </a:solidFill>
                <a:latin typeface="Calibri"/>
              </a:rPr>
              <a:t>[h_T ; user] → MLP head</a:t>
            </a:r>
          </a:p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→ score over all POIs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046720" y="3977639"/>
            <a:ext cx="0" cy="320041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2920" y="54406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Calibri"/>
              </a:rPr>
              <a:t>This single model carries the thesis's </a:t>
            </a:r>
            <a:r>
              <a:rPr sz="1500" b="1" i="0">
                <a:solidFill>
                  <a:srgbClr val="1B2A4E"/>
                </a:solidFill>
                <a:latin typeface="Calibri"/>
              </a:rPr>
              <a:t>“user preferences”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 (the user embedding) and </a:t>
            </a:r>
            <a:r>
              <a:rPr sz="1500" b="1" i="0">
                <a:solidFill>
                  <a:srgbClr val="1B2A4E"/>
                </a:solidFill>
                <a:latin typeface="Calibri"/>
              </a:rPr>
              <a:t>“contextual data”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 (spatial Δd and temporal Δt). It is the engine the itinerary models reuse.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Smart Visit Module — Personalized Tourist Itinerary Recommendation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Phase 1 — results (Foursquare NYC, full vocab)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RQ1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3840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</a:tblGrid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HR@1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0.187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HR@5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0.476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HR@10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0.588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NDCG@10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0.375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MRR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0.316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937760" y="1417320"/>
          <a:ext cx="6583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29184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HR@1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LSTM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0.130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STGCN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0.180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Ours (GCN+GRU+user)</a:t>
                      </a:r>
                    </a:p>
                  </a:txBody>
                  <a:tcPr marT="38100" marB="38100" anchor="ctr"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0.187</a:t>
                      </a:r>
                    </a:p>
                  </a:txBody>
                  <a:tcPr marT="38100" marB="38100" anchor="ctr">
                    <a:solidFill>
                      <a:srgbClr val="0E7C7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STAN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0.220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GETNext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0.240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STHGCN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0.270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LLM4POI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0.340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02920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Calibri"/>
              </a:rPr>
              <a:t>HR@1 = 0.187 sits in the </a:t>
            </a:r>
            <a:r>
              <a:rPr sz="1600" b="1" i="0">
                <a:solidFill>
                  <a:srgbClr val="1B2A4E"/>
                </a:solidFill>
                <a:latin typeface="Calibri"/>
              </a:rPr>
              <a:t>LSTM / STGCN tier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 of the LLM4POI benchmark — an honest baseline, below the transformer/LLM SOTA but a strong, leakage-free engine.</a:t>
            </a:r>
          </a:p>
          <a:p>
            <a:pPr algn="l"/>
            <a:r>
              <a:rPr sz="1300" b="0" i="1">
                <a:solidFill>
                  <a:srgbClr val="888888"/>
                </a:solidFill>
                <a:latin typeface="Calibri"/>
              </a:rPr>
              <a:t>(RQ1: yes — a competitive personalized engine.)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Smart Visit Module — Personalized Tourist Itinerary Recommendation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From engine to itinerary — two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RQ2 / RQ3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17320"/>
            <a:ext cx="3383280" cy="914400"/>
          </a:xfrm>
          <a:prstGeom prst="roundRect">
            <a:avLst/>
          </a:prstGeom>
          <a:solidFill>
            <a:srgbClr val="E3F2FD"/>
          </a:solidFill>
          <a:ln w="22225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500" b="1">
                <a:solidFill>
                  <a:srgbClr val="3F51B5"/>
                </a:solidFill>
                <a:latin typeface="Calibri"/>
              </a:rPr>
              <a:t>the next-POI engine</a:t>
            </a:r>
          </a:p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(Phase 1)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3200400" y="2331720"/>
            <a:ext cx="1554480" cy="77724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406640" y="2331720"/>
            <a:ext cx="1554480" cy="77724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" y="3108960"/>
            <a:ext cx="4937760" cy="2011680"/>
          </a:xfrm>
          <a:prstGeom prst="roundRect">
            <a:avLst/>
          </a:prstGeom>
          <a:solidFill>
            <a:srgbClr val="FFEBEE"/>
          </a:solidFill>
          <a:ln w="2222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>
                <a:solidFill>
                  <a:srgbClr val="E07A1F"/>
                </a:solidFill>
                <a:latin typeface="Calibri"/>
              </a:rPr>
              <a:t>Strategy A — DECOUPLED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decode the FROZEN engine</a:t>
            </a:r>
          </a:p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roll it out: mask visited,</a:t>
            </a:r>
          </a:p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reserve the end POI</a:t>
            </a:r>
          </a:p>
          <a:p>
            <a:pPr algn="ctr"/>
            <a:r>
              <a:rPr sz="1200" b="0">
                <a:solidFill>
                  <a:srgbClr val="888888"/>
                </a:solidFill>
                <a:latin typeface="Calibri"/>
              </a:rPr>
              <a:t>(no itinerary training)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3108960"/>
            <a:ext cx="4937760" cy="2011680"/>
          </a:xfrm>
          <a:prstGeom prst="roundRect">
            <a:avLst/>
          </a:prstGeom>
          <a:solidFill>
            <a:srgbClr val="E8F5E9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>
                <a:solidFill>
                  <a:srgbClr val="0E7C7B"/>
                </a:solidFill>
                <a:latin typeface="Calibri"/>
              </a:rPr>
              <a:t>Strategy B — INTEGRATED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TRAIN a pointer end-to-end</a:t>
            </a:r>
          </a:p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on whole trajectories</a:t>
            </a:r>
          </a:p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(GCN + GRU + pointer)</a:t>
            </a:r>
          </a:p>
          <a:p>
            <a:pPr algn="ctr"/>
            <a:r>
              <a:rPr sz="1200" b="0">
                <a:solidFill>
                  <a:srgbClr val="888888"/>
                </a:solidFill>
                <a:latin typeface="Calibri"/>
              </a:rPr>
              <a:t>v1 no context, v2 +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49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Calibri"/>
              </a:rPr>
              <a:t>A = Halder's “separate problems” baseline; B = the “integrated” model. </a:t>
            </a:r>
            <a:r>
              <a:rPr sz="1500" b="1" i="0">
                <a:solidFill>
                  <a:srgbClr val="1B2A4E"/>
                </a:solidFill>
                <a:latin typeface="Calibri"/>
              </a:rPr>
              <a:t>Comparing them tests the integration hypothesis directly.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Smart Visit Module — Personalized Tourist Itinerary Recommendation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The integration experiment — A vs B (NYC, len≥3)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RQ3 — an honest result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73152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pairs-F1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kind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 — frozen rollout (greedy)</a:t>
                      </a:r>
                    </a:p>
                  </a:txBody>
                  <a:tcPr marT="38100" marB="38100" anchor="ctr"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0.289</a:t>
                      </a:r>
                    </a:p>
                  </a:txBody>
                  <a:tcPr marT="38100" marB="38100" anchor="ctr"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decoupled</a:t>
                      </a:r>
                    </a:p>
                  </a:txBody>
                  <a:tcPr marT="38100" marB="38100" anchor="ctr">
                    <a:solidFill>
                      <a:srgbClr val="0E7C7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A — frozen rollout (beam 3)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0.290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decoupled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B-v1 — pointer (no context)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0.259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integrated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B-v2 — pointer (+ context)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0.261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integrated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0" y="1417320"/>
            <a:ext cx="3291840" cy="2103120"/>
          </a:xfrm>
          <a:prstGeom prst="roundRect">
            <a:avLst/>
          </a:prstGeom>
          <a:solidFill>
            <a:srgbClr val="FFEBEE"/>
          </a:solidFill>
          <a:ln w="222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>
                <a:solidFill>
                  <a:srgbClr val="C0392B"/>
                </a:solidFill>
                <a:latin typeface="Calibri"/>
              </a:rPr>
              <a:t>Finding</a:t>
            </a:r>
          </a:p>
          <a:p>
            <a:pPr algn="ctr"/>
            <a:r>
              <a:rPr sz="1300" b="1">
                <a:solidFill>
                  <a:srgbClr val="555555"/>
                </a:solidFill>
                <a:latin typeface="Calibri"/>
              </a:rPr>
              <a:t>the INTEGRATED model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did NOT beat the</a:t>
            </a:r>
          </a:p>
          <a:p>
            <a:pPr algn="ctr"/>
            <a:r>
              <a:rPr sz="1300" b="1">
                <a:solidFill>
                  <a:srgbClr val="555555"/>
                </a:solidFill>
                <a:latin typeface="Calibri"/>
              </a:rPr>
              <a:t>decoupled rollout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on NYC.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109728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B2A4E"/>
                </a:solidFill>
                <a:latin typeface="Calibri"/>
              </a:rPr>
              <a:t>Contrary to the integration hypothesis, the trained pointer (B) trailed the frozen rollout (A) by ~0.03 pairs-F1.</a:t>
            </a:r>
          </a:p>
          <a:p>
            <a:pPr algn="l"/>
            <a:r>
              <a:rPr sz="1500" b="0" i="0">
                <a:solidFill>
                  <a:srgbClr val="555555"/>
                </a:solidFill>
                <a:latin typeface="Calibri"/>
              </a:rPr>
              <a:t>Why: the next-POI engine was trained on ~75k prefix→next examples; the integrated pointer saw only ~10k whole trajectories.</a:t>
            </a:r>
          </a:p>
          <a:p>
            <a:pPr algn="l"/>
            <a:r>
              <a:rPr sz="1500" b="0" i="0">
                <a:solidFill>
                  <a:srgbClr val="555555"/>
                </a:solidFill>
                <a:latin typeface="Calibri"/>
              </a:rPr>
              <a:t>Lesson: integration does not automatically win — supervision density matters. This nuances Halder/DLIR rather than contradicting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Smart Visit Module — Personalized Tourist Itinerary Recommendation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But are these numbers comparable?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the catch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Calibri"/>
              </a:rPr>
              <a:t>Our NYC itinerary pairs-F1 (~0.29) looks far below the literature's ~0.6–0.8 — but it's a </a:t>
            </a:r>
            <a:r>
              <a:rPr sz="1600" b="1" i="0">
                <a:solidFill>
                  <a:srgbClr val="1B2A4E"/>
                </a:solidFill>
                <a:latin typeface="Calibri"/>
              </a:rPr>
              <a:t>different benchmark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.</a:t>
            </a:r>
          </a:p>
        </p:txBody>
      </p:sp>
      <p:pic>
        <p:nvPicPr>
          <p:cNvPr id="7" name="Picture 6" descr="chart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1680"/>
            <a:ext cx="9418320" cy="307968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85216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555555"/>
                </a:solidFill>
                <a:latin typeface="Calibri"/>
              </a:rPr>
              <a:t>Comparable needs the same dataset + protocol + metric. The literature uses the small </a:t>
            </a:r>
            <a:r>
              <a:rPr sz="1500" b="1" i="0">
                <a:solidFill>
                  <a:srgbClr val="0E7C7B"/>
                </a:solidFill>
                <a:latin typeface="Calibri"/>
              </a:rPr>
              <a:t>Flickr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 datasets → Strategy 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Smart Visit Module — Personalized Tourist Itinerary Recommendation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Strategy D — the literature-comparable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RQ4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50" b="1">
                <a:solidFill>
                  <a:srgbClr val="0E7C7B"/>
                </a:solidFill>
              </a:rPr>
              <a:t>▸  </a:t>
            </a:r>
            <a:r>
              <a:rPr sz="1550" b="1">
                <a:solidFill>
                  <a:srgbClr val="1B2A4E"/>
                </a:solidFill>
                <a:latin typeface="Calibri"/>
              </a:rPr>
              <a:t>Data: </a:t>
            </a:r>
            <a:r>
              <a:rPr sz="1550" b="0">
                <a:solidFill>
                  <a:srgbClr val="555555"/>
                </a:solidFill>
                <a:latin typeface="Calibri"/>
              </a:rPr>
              <a:t>5 Flickr photo-trajectory cities (27–88 POIs), Chen 2016's own files → trajectories identical to the literature's.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50" b="1">
                <a:solidFill>
                  <a:srgbClr val="0E7C7B"/>
                </a:solidFill>
              </a:rPr>
              <a:t>▸  </a:t>
            </a:r>
            <a:r>
              <a:rPr sz="1550" b="1">
                <a:solidFill>
                  <a:srgbClr val="1B2A4E"/>
                </a:solidFill>
                <a:latin typeface="Calibri"/>
              </a:rPr>
              <a:t>Protocol: </a:t>
            </a:r>
            <a:r>
              <a:rPr sz="1550" b="0">
                <a:solidFill>
                  <a:srgbClr val="555555"/>
                </a:solidFill>
                <a:latin typeface="Calibri"/>
              </a:rPr>
              <a:t>leave-one-trajectory-out CV, first + last POI given, length ≥ 3.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50" b="1">
                <a:solidFill>
                  <a:srgbClr val="0E7C7B"/>
                </a:solidFill>
              </a:rPr>
              <a:t>▸  </a:t>
            </a:r>
            <a:r>
              <a:rPr sz="1550" b="1">
                <a:solidFill>
                  <a:srgbClr val="1B2A4E"/>
                </a:solidFill>
                <a:latin typeface="Calibri"/>
              </a:rPr>
              <a:t>Metric: </a:t>
            </a:r>
            <a:r>
              <a:rPr sz="1550" b="0">
                <a:solidFill>
                  <a:srgbClr val="555555"/>
                </a:solidFill>
                <a:latin typeface="Calibri"/>
              </a:rPr>
              <a:t>point-F1 and order-aware pairs-F1 (Chen 2016).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50" b="1">
                <a:solidFill>
                  <a:srgbClr val="0E7C7B"/>
                </a:solidFill>
              </a:rPr>
              <a:t>▸  </a:t>
            </a:r>
            <a:r>
              <a:rPr sz="1550" b="1">
                <a:solidFill>
                  <a:srgbClr val="1B2A4E"/>
                </a:solidFill>
                <a:latin typeface="Calibri"/>
              </a:rPr>
              <a:t>Methods: </a:t>
            </a:r>
            <a:r>
              <a:rPr sz="1550" b="0">
                <a:solidFill>
                  <a:srgbClr val="555555"/>
                </a:solidFill>
                <a:latin typeface="Calibri"/>
              </a:rPr>
              <a:t>classical baselines (Random / Popularity / Markov) + the GCN-pointer.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98079" y="1463040"/>
          <a:ext cx="40233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120"/>
                <a:gridCol w="1341120"/>
                <a:gridCol w="1341120"/>
              </a:tblGrid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City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#POIs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#traj≥3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Toronto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335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Osaka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Glasgow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112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Edinburgh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634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Melbourne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442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2120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888888"/>
                </a:solidFill>
                <a:latin typeface="Calibri"/>
              </a:rPr>
              <a:t>Small vocabularies → pairs-F1 can reach 0.5–0.85 here, vs ~0.29 on NYC's ~5,000 POIs (the “easier exam”).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Smart Visit Module — Personalized Tourist Itinerary Recommendation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Validation — we reproduce Chen 2016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is the comparison fair?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60350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Calibri"/>
              </a:rPr>
              <a:t>A </a:t>
            </a:r>
            <a:r>
              <a:rPr sz="1500" b="1" i="0">
                <a:solidFill>
                  <a:srgbClr val="1B2A4E"/>
                </a:solidFill>
                <a:latin typeface="Calibri"/>
              </a:rPr>
              <a:t>Random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 baseline has no modelling choices — it can only match Chen 2016 if our data, protocol and metric are identical. They match within noise.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3200400"/>
          <a:ext cx="60350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pairs-F1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Tor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Osa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Gla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Edi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Mel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Random ours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0.298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0.301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0.301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0.270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0.227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Random Chen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0.310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0.304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0.320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0.261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0.248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PoiPopularity ours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0.443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0.413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0.510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0.439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0.320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PoiPopularity Chen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0.384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0.365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0.507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0.436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0.316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chart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280160"/>
            <a:ext cx="4754880" cy="45016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Smart Visit Module — Personalized Tourist Itinerary Recommendation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Strategy D — results on the literature's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RQ4</a:t>
            </a:r>
          </a:p>
        </p:txBody>
      </p:sp>
      <p:pic>
        <p:nvPicPr>
          <p:cNvPr id="6" name="Picture 5" descr="char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8138160" cy="416048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915400" y="1463040"/>
            <a:ext cx="2834640" cy="3931920"/>
          </a:xfrm>
          <a:prstGeom prst="roundRect">
            <a:avLst/>
          </a:prstGeom>
          <a:solidFill>
            <a:srgbClr val="ECEEF3"/>
          </a:solidFill>
          <a:ln w="22225">
            <a:solidFill>
              <a:srgbClr val="1B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>
                <a:solidFill>
                  <a:srgbClr val="1B2A4E"/>
                </a:solidFill>
                <a:latin typeface="Calibri"/>
              </a:rPr>
              <a:t>Headline</a:t>
            </a:r>
          </a:p>
          <a:p>
            <a:pPr algn="ctr"/>
            <a:r>
              <a:rPr sz="600" b="0">
                <a:solidFill>
                  <a:srgbClr val="1B2A4E"/>
                </a:solidFill>
                <a:latin typeface="Calibri"/>
              </a:rPr>
              <a:t/>
            </a:r>
          </a:p>
          <a:p>
            <a:pPr algn="ctr"/>
            <a:r>
              <a:rPr sz="1300" b="1">
                <a:solidFill>
                  <a:srgbClr val="555555"/>
                </a:solidFill>
                <a:latin typeface="Calibri"/>
              </a:rPr>
              <a:t>classical</a:t>
            </a:r>
          </a:p>
          <a:p>
            <a:pPr algn="ctr"/>
            <a:r>
              <a:rPr sz="2000" b="1">
                <a:solidFill>
                  <a:srgbClr val="0E7C7B"/>
                </a:solidFill>
                <a:latin typeface="Calibri"/>
              </a:rPr>
              <a:t>0.23 – 0.59</a:t>
            </a:r>
          </a:p>
          <a:p>
            <a:pPr algn="ctr"/>
            <a:r>
              <a:rPr sz="500" b="0">
                <a:solidFill>
                  <a:srgbClr val="1B2A4E"/>
                </a:solidFill>
                <a:latin typeface="Calibri"/>
              </a:rPr>
              <a:t/>
            </a:r>
          </a:p>
          <a:p>
            <a:pPr algn="ctr"/>
            <a:r>
              <a:rPr sz="1300" b="1">
                <a:solidFill>
                  <a:srgbClr val="555555"/>
                </a:solidFill>
                <a:latin typeface="Calibri"/>
              </a:rPr>
              <a:t>pointer</a:t>
            </a:r>
          </a:p>
          <a:p>
            <a:pPr algn="ctr"/>
            <a:r>
              <a:rPr sz="2000" b="1">
                <a:solidFill>
                  <a:srgbClr val="E07A1F"/>
                </a:solidFill>
                <a:latin typeface="Calibri"/>
              </a:rPr>
              <a:t>0.31 – 0.49</a:t>
            </a:r>
          </a:p>
          <a:p>
            <a:pPr algn="ctr"/>
            <a:r>
              <a:rPr sz="500" b="0">
                <a:solidFill>
                  <a:srgbClr val="1B2A4E"/>
                </a:solidFill>
                <a:latin typeface="Calibri"/>
              </a:rPr>
              <a:t/>
            </a:r>
          </a:p>
          <a:p>
            <a:pPr algn="ctr"/>
            <a:r>
              <a:rPr sz="1300" b="1">
                <a:solidFill>
                  <a:srgbClr val="555555"/>
                </a:solidFill>
                <a:latin typeface="Calibri"/>
              </a:rPr>
              <a:t>vs NYC</a:t>
            </a:r>
          </a:p>
          <a:p>
            <a:pPr algn="ctr"/>
            <a:r>
              <a:rPr sz="1700" b="1">
                <a:solidFill>
                  <a:srgbClr val="C0392B"/>
                </a:solidFill>
                <a:latin typeface="Calibri"/>
              </a:rPr>
              <a:t>0.26 – 0.29</a:t>
            </a:r>
          </a:p>
          <a:p>
            <a:pPr algn="ctr"/>
            <a:r>
              <a:rPr sz="500" b="0">
                <a:solidFill>
                  <a:srgbClr val="1B2A4E"/>
                </a:solidFill>
                <a:latin typeface="Calibri"/>
              </a:rPr>
              <a:t/>
            </a:r>
          </a:p>
          <a:p>
            <a:pPr algn="ctr"/>
            <a:r>
              <a:rPr sz="1300" b="1">
                <a:solidFill>
                  <a:srgbClr val="555555"/>
                </a:solidFill>
                <a:latin typeface="Calibri"/>
              </a:rPr>
              <a:t>published</a:t>
            </a:r>
          </a:p>
          <a:p>
            <a:pPr algn="ctr"/>
            <a:r>
              <a:rPr sz="1500" b="1">
                <a:solidFill>
                  <a:srgbClr val="1B2A4E"/>
                </a:solidFill>
                <a:latin typeface="Calibri"/>
              </a:rPr>
              <a:t>0.26 – 0.85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97880"/>
            <a:ext cx="8229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On the standard benchmark our methods are on the published scale; the simple Markov baseline is strong and the learned pointer reaches the scale but doesn't beat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Smart Visit Module — Personalized Tourist Itinerary Recommendation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Positioning vs Halder / DLIR (2024–2025)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engaging the field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94960" cy="2194560"/>
          </a:xfrm>
          <a:prstGeom prst="roundRect">
            <a:avLst/>
          </a:prstGeom>
          <a:solidFill>
            <a:srgbClr val="E3F2FD"/>
          </a:solidFill>
          <a:ln w="22225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>
                <a:solidFill>
                  <a:srgbClr val="3F51B5"/>
                </a:solidFill>
                <a:latin typeface="Calibri"/>
              </a:rPr>
              <a:t>Halder / DLIR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integrate POI scoring + itinerary</a:t>
            </a:r>
          </a:p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+ dynamic temporal interest</a:t>
            </a:r>
          </a:p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+ queuing time + time budget</a:t>
            </a:r>
          </a:p>
          <a:p>
            <a:pPr algn="ctr"/>
            <a:r>
              <a:rPr sz="1200" b="0">
                <a:solidFill>
                  <a:srgbClr val="888888"/>
                </a:solidFill>
                <a:latin typeface="Calibri"/>
              </a:rPr>
              <a:t>(Transformer + co-visit GCN)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03520" cy="2194560"/>
          </a:xfrm>
          <a:prstGeom prst="roundRect">
            <a:avLst/>
          </a:prstGeom>
          <a:solidFill>
            <a:srgbClr val="E8F5E9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>
                <a:solidFill>
                  <a:srgbClr val="0E7C7B"/>
                </a:solidFill>
                <a:latin typeface="Calibri"/>
              </a:rPr>
              <a:t>This thesis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tests decoupled (A) vs integrated (B)</a:t>
            </a:r>
          </a:p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user embedding + Δd/Δt context</a:t>
            </a:r>
          </a:p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validated pairs-F1 on Flickr</a:t>
            </a:r>
          </a:p>
          <a:p>
            <a:pPr algn="ctr"/>
            <a:r>
              <a:rPr sz="1200" b="0">
                <a:solidFill>
                  <a:srgbClr val="888888"/>
                </a:solidFill>
                <a:latin typeface="Calibri"/>
              </a:rPr>
              <a:t>(GCN + GRU pointer)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600" b="1">
                <a:solidFill>
                  <a:srgbClr val="0E7C7B"/>
                </a:solidFill>
              </a:rPr>
              <a:t>▸  </a:t>
            </a:r>
            <a:r>
              <a:rPr sz="1600" b="1">
                <a:solidFill>
                  <a:srgbClr val="1B2A4E"/>
                </a:solidFill>
                <a:latin typeface="Calibri"/>
              </a:rPr>
              <a:t>We engage Halder's central claim directly</a:t>
            </a:r>
            <a:r>
              <a:rPr sz="1600" b="0">
                <a:solidFill>
                  <a:srgbClr val="555555"/>
                </a:solidFill>
                <a:latin typeface="Calibri"/>
              </a:rPr>
              <a:t> — and find integration did not automatically win on our data (a nuance, not a contradiction).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600" b="1">
                <a:solidFill>
                  <a:srgbClr val="0E7C7B"/>
                </a:solidFill>
              </a:rPr>
              <a:t>▸  </a:t>
            </a:r>
            <a:r>
              <a:rPr sz="1600" b="1">
                <a:solidFill>
                  <a:srgbClr val="1B2A4E"/>
                </a:solidFill>
                <a:latin typeface="Calibri"/>
              </a:rPr>
              <a:t>We deliberately scope smaller</a:t>
            </a:r>
            <a:r>
              <a:rPr sz="1600" b="0">
                <a:solidFill>
                  <a:srgbClr val="555555"/>
                </a:solidFill>
                <a:latin typeface="Calibri"/>
              </a:rPr>
              <a:t>: we do not yet model queuing, explicit time budgets, or dynamic time-of-day interest.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Smart Visit Module — Personalized Tourist Itinerary Recommendation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Honest findings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self-critique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1">
                <a:solidFill>
                  <a:srgbClr val="0E7C7B"/>
                </a:solidFill>
              </a:rPr>
              <a:t>▸  </a:t>
            </a:r>
            <a:r>
              <a:rPr sz="1700" b="1">
                <a:solidFill>
                  <a:srgbClr val="1B2A4E"/>
                </a:solidFill>
                <a:latin typeface="Calibri"/>
              </a:rPr>
              <a:t>Integration didn't beat decoupling on NYC</a:t>
            </a:r>
            <a:r>
              <a:rPr sz="1700" b="0">
                <a:solidFill>
                  <a:srgbClr val="555555"/>
                </a:solidFill>
                <a:latin typeface="Calibri"/>
              </a:rPr>
              <a:t> — driven by supervision density, not a refutation of the idea.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1">
                <a:solidFill>
                  <a:srgbClr val="0E7C7B"/>
                </a:solidFill>
              </a:rPr>
              <a:t>▸  </a:t>
            </a:r>
            <a:r>
              <a:rPr sz="1700" b="1">
                <a:solidFill>
                  <a:srgbClr val="1B2A4E"/>
                </a:solidFill>
                <a:latin typeface="Calibri"/>
              </a:rPr>
              <a:t>Personalization is uneven</a:t>
            </a:r>
            <a:r>
              <a:rPr sz="1700" b="0">
                <a:solidFill>
                  <a:srgbClr val="555555"/>
                </a:solidFill>
                <a:latin typeface="Calibri"/>
              </a:rPr>
              <a:t> — strong on Foursquare (user embedding), weak in the comparable Flickr results.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1">
                <a:solidFill>
                  <a:srgbClr val="0E7C7B"/>
                </a:solidFill>
              </a:rPr>
              <a:t>▸  </a:t>
            </a:r>
            <a:r>
              <a:rPr sz="1700" b="1">
                <a:solidFill>
                  <a:srgbClr val="1B2A4E"/>
                </a:solidFill>
                <a:latin typeface="Calibri"/>
              </a:rPr>
              <a:t>Context is light</a:t>
            </a:r>
            <a:r>
              <a:rPr sz="1700" b="0">
                <a:solidFill>
                  <a:srgbClr val="555555"/>
                </a:solidFill>
                <a:latin typeface="Calibri"/>
              </a:rPr>
              <a:t> — spatial Δd + temporal Δt only; no time-of-day dynamics, queuing, or budgets (cf. DLIR).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1">
                <a:solidFill>
                  <a:srgbClr val="0E7C7B"/>
                </a:solidFill>
              </a:rPr>
              <a:t>▸  </a:t>
            </a:r>
            <a:r>
              <a:rPr sz="1700" b="1">
                <a:solidFill>
                  <a:srgbClr val="1B2A4E"/>
                </a:solidFill>
                <a:latin typeface="Calibri"/>
              </a:rPr>
              <a:t>Markov is a hard baseline</a:t>
            </a:r>
            <a:r>
              <a:rPr sz="1700" b="0">
                <a:solidFill>
                  <a:srgbClr val="555555"/>
                </a:solidFill>
                <a:latin typeface="Calibri"/>
              </a:rPr>
              <a:t> — on tiny data, a simple transition model beats the neural pointer.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1">
                <a:solidFill>
                  <a:srgbClr val="0E7C7B"/>
                </a:solidFill>
              </a:rPr>
              <a:t>▸  </a:t>
            </a:r>
            <a:r>
              <a:rPr sz="1700" b="1">
                <a:solidFill>
                  <a:srgbClr val="1B2A4E"/>
                </a:solidFill>
                <a:latin typeface="Calibri"/>
              </a:rPr>
              <a:t>Single seed; NYC only for Phase 1</a:t>
            </a:r>
            <a:r>
              <a:rPr sz="1700" b="0">
                <a:solidFill>
                  <a:srgbClr val="555555"/>
                </a:solidFill>
                <a:latin typeface="Calibri"/>
              </a:rPr>
              <a:t> — multi-seed and TKY runs are planned.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Smart Visit Module — Personalized Tourist Itinerary Recommendation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Future work — toward the full Smart Visit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1">
                <a:solidFill>
                  <a:srgbClr val="0E7C7B"/>
                </a:solidFill>
              </a:rPr>
              <a:t>▸  </a:t>
            </a:r>
            <a:r>
              <a:rPr sz="1700" b="1">
                <a:solidFill>
                  <a:srgbClr val="1B2A4E"/>
                </a:solidFill>
                <a:latin typeface="Calibri"/>
              </a:rPr>
              <a:t>Integrate properly</a:t>
            </a:r>
            <a:r>
              <a:rPr sz="1700" b="0">
                <a:solidFill>
                  <a:srgbClr val="555555"/>
                </a:solidFill>
                <a:latin typeface="Calibri"/>
              </a:rPr>
              <a:t> — warm-start / share the engine with the pointer; emit prefix sub-trajectories to match supervision density.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1">
                <a:solidFill>
                  <a:srgbClr val="0E7C7B"/>
                </a:solidFill>
              </a:rPr>
              <a:t>▸  </a:t>
            </a:r>
            <a:r>
              <a:rPr sz="1700" b="1">
                <a:solidFill>
                  <a:srgbClr val="1B2A4E"/>
                </a:solidFill>
                <a:latin typeface="Calibri"/>
              </a:rPr>
              <a:t>Turn on personalization in the itinerary</a:t>
            </a:r>
            <a:r>
              <a:rPr sz="1700" b="0">
                <a:solidFill>
                  <a:srgbClr val="555555"/>
                </a:solidFill>
                <a:latin typeface="Calibri"/>
              </a:rPr>
              <a:t> — the pointer's user-embedding lever; report personalized-vs-not pairs-F1.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1">
                <a:solidFill>
                  <a:srgbClr val="0E7C7B"/>
                </a:solidFill>
              </a:rPr>
              <a:t>▸  </a:t>
            </a:r>
            <a:r>
              <a:rPr sz="1700" b="1">
                <a:solidFill>
                  <a:srgbClr val="1B2A4E"/>
                </a:solidFill>
                <a:latin typeface="Calibri"/>
              </a:rPr>
              <a:t>Richer context</a:t>
            </a:r>
            <a:r>
              <a:rPr sz="1700" b="0">
                <a:solidFill>
                  <a:srgbClr val="555555"/>
                </a:solidFill>
                <a:latin typeface="Calibri"/>
              </a:rPr>
              <a:t> — time-of-day / day-of-week dynamic interest, opening hours.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1">
                <a:solidFill>
                  <a:srgbClr val="0E7C7B"/>
                </a:solidFill>
              </a:rPr>
              <a:t>▸  </a:t>
            </a:r>
            <a:r>
              <a:rPr sz="1700" b="1">
                <a:solidFill>
                  <a:srgbClr val="1B2A4E"/>
                </a:solidFill>
                <a:latin typeface="Calibri"/>
              </a:rPr>
              <a:t>Add scheduling</a:t>
            </a:r>
            <a:r>
              <a:rPr sz="1700" b="0">
                <a:solidFill>
                  <a:srgbClr val="555555"/>
                </a:solidFill>
                <a:latin typeface="Calibri"/>
              </a:rPr>
              <a:t> — explicit time budget + queuing time (the DLIR direction) for realistic day plans.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1">
                <a:solidFill>
                  <a:srgbClr val="0E7C7B"/>
                </a:solidFill>
              </a:rPr>
              <a:t>▸  </a:t>
            </a:r>
            <a:r>
              <a:rPr sz="1700" b="1">
                <a:solidFill>
                  <a:srgbClr val="1B2A4E"/>
                </a:solidFill>
                <a:latin typeface="Calibri"/>
              </a:rPr>
              <a:t>Robustness</a:t>
            </a:r>
            <a:r>
              <a:rPr sz="1700" b="0">
                <a:solidFill>
                  <a:srgbClr val="555555"/>
                </a:solidFill>
                <a:latin typeface="Calibri"/>
              </a:rPr>
              <a:t> — multi-seed, more cities, ablations of each component.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Smart Visit Module — Personalized Tourist Itinerary Recommendation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0"/>
            <a:ext cx="12191695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72865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E7C7B"/>
                </a:solidFill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A personalized, context-aware next-POI engine (RQ1) — honest LSTM/STGCN tier on Foursquare NYC.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E7C7B"/>
                </a:solidFill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Two ways to turn it into itineraries (RQ2/RQ3): decoupled decoding vs an integrated pointer — and integration did not automatically win.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E7C7B"/>
                </a:solidFill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A validated, literature-comparable Flickr benchmark (RQ4): Random reproduces Chen 2016; our methods land on the published 0.3–0.85 scale.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E7C7B"/>
                </a:solidFill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Positioned against Halder/DLIR: we test the integration claim and chart the path to a full scheduling-aware module.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7286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E07A1F"/>
                </a:solidFill>
                <a:latin typeface="Calibri"/>
              </a:rPr>
              <a:t>Thank you — questions?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Key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1">
                <a:solidFill>
                  <a:srgbClr val="0E7C7B"/>
                </a:solidFill>
              </a:rPr>
              <a:t>▸  </a:t>
            </a:r>
            <a:r>
              <a:rPr sz="1400" b="0">
                <a:solidFill>
                  <a:srgbClr val="555555"/>
                </a:solidFill>
                <a:latin typeface="Calibri"/>
              </a:rPr>
              <a:t>Halder, Lim, Chan, Zhang. Deep Learning of Dynamic POI Generation &amp; Optimisation for Itinerary Rec (DLIR). ACM TORS 2025.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1">
                <a:solidFill>
                  <a:srgbClr val="0E7C7B"/>
                </a:solidFill>
              </a:rPr>
              <a:t>▸  </a:t>
            </a:r>
            <a:r>
              <a:rPr sz="1400" b="0">
                <a:solidFill>
                  <a:srgbClr val="555555"/>
                </a:solidFill>
                <a:latin typeface="Calibri"/>
              </a:rPr>
              <a:t>Halder et al. A survey on personalized itinerary recommendation: from optimisation to deep learning. ASOC 2024.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1">
                <a:solidFill>
                  <a:srgbClr val="0E7C7B"/>
                </a:solidFill>
              </a:rPr>
              <a:t>▸  </a:t>
            </a:r>
            <a:r>
              <a:rPr sz="1400" b="0">
                <a:solidFill>
                  <a:srgbClr val="555555"/>
                </a:solidFill>
                <a:latin typeface="Calibri"/>
              </a:rPr>
              <a:t>Chen, Ong, Xie. Learning Points and Routes to Recommend Trajectories. CIKM 2016 — pairs-F1 + our Flickr data.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1">
                <a:solidFill>
                  <a:srgbClr val="0E7C7B"/>
                </a:solidFill>
              </a:rPr>
              <a:t>▸  </a:t>
            </a:r>
            <a:r>
              <a:rPr sz="1400" b="0">
                <a:solidFill>
                  <a:srgbClr val="555555"/>
                </a:solidFill>
                <a:latin typeface="Calibri"/>
              </a:rPr>
              <a:t>Gao et al. DeepTrip (SIGSPATIAL 2019); SelfTrip (KBS 2022). · Shu et al. AR-Trip (SIGIR 2024).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1">
                <a:solidFill>
                  <a:srgbClr val="0E7C7B"/>
                </a:solidFill>
              </a:rPr>
              <a:t>▸  </a:t>
            </a:r>
            <a:r>
              <a:rPr sz="1400" b="0">
                <a:solidFill>
                  <a:srgbClr val="555555"/>
                </a:solidFill>
                <a:latin typeface="Calibri"/>
              </a:rPr>
              <a:t>Yang et al. GETNext (SIGIR 2022); Li et al. LLM4POI (SIGIR 2024) — next-POI tier we compare to.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1">
                <a:solidFill>
                  <a:srgbClr val="0E7C7B"/>
                </a:solidFill>
              </a:rPr>
              <a:t>▸  </a:t>
            </a:r>
            <a:r>
              <a:rPr sz="1400" b="0">
                <a:solidFill>
                  <a:srgbClr val="555555"/>
                </a:solidFill>
                <a:latin typeface="Calibri"/>
              </a:rPr>
              <a:t>Krichene &amp; Rendle. On Sampled Metrics for Item Recommendation. KDD 2020 — no cross-protocol comparison.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Smart Visit Module — Personalized Tourist Itinerary Recommendation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